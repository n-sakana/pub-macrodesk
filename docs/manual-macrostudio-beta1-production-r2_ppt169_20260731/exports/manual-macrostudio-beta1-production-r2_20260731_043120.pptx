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  <Relationship Id="rId2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本書は MacroStudio ベータ一・ゼロ・ゼロ版に対応した二〇二六年七月三十一日版です。表紙の画面写真は現行実装の完了画面で、キャッチコピーは置かず、製品名と対象読者を示す構成にしています。</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概要・操作・相談・参考の四区分です。旧三十四ページ版の技術・運用付録は削除し、動作要件と仕組みの要点のみ P22 に統合しています。</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役割分担は製品仕様の中核で、ツールは返答の意味を解釈しません。旧版の三ページ分（場面・役割）を一ページに統合し、事実の記述だけを残しています。</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このページが成果物の正本です。改修は五ファイル、相談は二ファイルのみで、元のブックのファイルにはどちらも書き込まない、という三つの事実を区別して記載しています。</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保護機能の四項目は実装の処理内容を利用者の言葉に直したものです。返答パッケージの機械的検査は内部仕様のため削除しました。四項目めの照合内容は SPEC 九・一の三点（書き戻したコードの一致、それ以外の不変、構造の維持）に基づき、動作の正しさを含まないことを明示しています。</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四手順と画面の対応は screens.js の画面表が正本です。相談の分岐はここで一度だけ触れ、詳細は P20 に置いています。</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サンプルは製品同梱の sample-book／sample_win32_sleep.xlsm そのものです。モジュール数・行数・Sleep 十九か所はいずれも実測値です。</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五つの構成要素の説明は平文に統一しています。画面写真は二〇二六年七月三十一日撮影の現行 UI です。</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旧版で二ページに分かれていた作業選択と読み込みを一ページに統合しています。読み込みが共有読み取りで元のブックを変更しないことは、ここと P04 の両方に記載しています。</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読み取り案内の二種類の区別は describeReadResult の実装どおりです。「一部をバイナリレベルで…」は内訳が得られない場合にも表示されるため、断定を避けた説明にし、確認先を P15 の差分確認に接続しています。</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目的カードの名前と説明文はひな形ファイルの実物です。ひな形を追加した場合はこのページの一覧も更新してください。</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モジュール単位出力は例外時のみ使用するオプションで、その位置づけを条件文で示しています。</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シート添付の推奨は画面の実文言に基づきます。コードの受け渡しが利用者の操作である旨は、P05・P22 のローカル処理の記述と対応しています。</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取り込み失敗時に状態が保持されることは、検証不合格時に何も取り込まない実装（all-or-nothing）に基づきます。</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戻る条件は「差分に想定外の変更や不足がある場合」と判断可能な形で記載しています。取り込み直しが全置き換えである点は P21 と一致させています。</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出力名の日付はブックを読み込んだ日で固定される仕様です。画面写真の例は二〇二六年七月三十一日撮影のため 20260731 になっています。</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五ファイルの一覧は完了画面の表示と一致させています。完了画面には動作確認を促す案内文が表示されます（二〇二六年七月三十一日の実装で追加）。</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ビルド検証の範囲（書き込みの正確さ）と利用者の確認範囲（業務要件どおりの動作）の境界を、冒頭の二行で明示しています。</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レポートが画面と同一実装であること、全モジュール収録であること、単体完結で通信しないことは、生成された実ファイルで確認済みです。明暗切り替えはツールバー右端のアイコンボタンです（旧版のヘッダー内ボタンから移動）。</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旧版の二ページを一ページに統合しています。成果物が二ファイルのみである点は P04 と一致させています。</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かぎ括弧の文言は画面に表示される実物です。いずれの行でも元のブックが変更されていないことが対処の前提です。</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旧版の付録八ページから、動作要件・ローカル処理・仕組みの要点のみを残したページです。ローカル処理の記述は「MacroStudio 自体」の範囲に限定し、チャット AI が外部サービスであることを明示しています。</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manual-macrostudio-beta1-production-r2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nual-macrostudio-beta1-production-r2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6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5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4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3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2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1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0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9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650" kern="1200">
          <a:solidFill>
            <a:schemeClr val="tx1"/>
          </a:solidFill>
          <a:latin typeface="+mn-lt"/>
          <a:ea typeface="+mn-ea"/>
          <a:cs typeface="+mn-cs"/>
        </a:defRPr>
      </a:lvl1pPr>
      <a:lvl2pPr marL="457200" algn="l" defTabSz="457200" rtl="0" eaLnBrk="1" latinLnBrk="0" hangingPunct="1">
        <a:defRPr sz="1550" kern="1200">
          <a:solidFill>
            <a:schemeClr val="tx1"/>
          </a:solidFill>
          <a:latin typeface="+mn-lt"/>
          <a:ea typeface="+mn-ea"/>
          <a:cs typeface="+mn-cs"/>
        </a:defRPr>
      </a:lvl2pPr>
      <a:lvl3pPr marL="914400" algn="l" defTabSz="457200" rtl="0" eaLnBrk="1" latinLnBrk="0" hangingPunct="1">
        <a:defRPr sz="1450" kern="1200">
          <a:solidFill>
            <a:schemeClr val="tx1"/>
          </a:solidFill>
          <a:latin typeface="+mn-lt"/>
          <a:ea typeface="+mn-ea"/>
          <a:cs typeface="+mn-cs"/>
        </a:defRPr>
      </a:lvl3pPr>
      <a:lvl4pPr marL="1371600" algn="l" defTabSz="457200" rtl="0" eaLnBrk="1" latinLnBrk="0" hangingPunct="1">
        <a:defRPr sz="1350" kern="1200">
          <a:solidFill>
            <a:schemeClr val="tx1"/>
          </a:solidFill>
          <a:latin typeface="+mn-lt"/>
          <a:ea typeface="+mn-ea"/>
          <a:cs typeface="+mn-cs"/>
        </a:defRPr>
      </a:lvl4pPr>
      <a:lvl5pPr marL="1828800" algn="l" defTabSz="457200" rtl="0" eaLnBrk="1" latinLnBrk="0" hangingPunct="1">
        <a:defRPr sz="1250" kern="1200">
          <a:solidFill>
            <a:schemeClr val="tx1"/>
          </a:solidFill>
          <a:latin typeface="+mn-lt"/>
          <a:ea typeface="+mn-ea"/>
          <a:cs typeface="+mn-cs"/>
        </a:defRPr>
      </a:lvl5pPr>
      <a:lvl6pPr marL="2286000" algn="l" defTabSz="457200" rtl="0" eaLnBrk="1" latinLnBrk="0" hangingPunct="1">
        <a:defRPr sz="1150" kern="1200">
          <a:solidFill>
            <a:schemeClr val="tx1"/>
          </a:solidFill>
          <a:latin typeface="+mn-lt"/>
          <a:ea typeface="+mn-ea"/>
          <a:cs typeface="+mn-cs"/>
        </a:defRPr>
      </a:lvl6pPr>
      <a:lvl7pPr marL="2743200" algn="l" defTabSz="457200" rtl="0" eaLnBrk="1" latinLnBrk="0" hangingPunct="1">
        <a:defRPr sz="1050" kern="1200">
          <a:solidFill>
            <a:schemeClr val="tx1"/>
          </a:solidFill>
          <a:latin typeface="+mn-lt"/>
          <a:ea typeface="+mn-ea"/>
          <a:cs typeface="+mn-cs"/>
        </a:defRPr>
      </a:lvl7pPr>
      <a:lvl8pPr marL="3200400" algn="l" defTabSz="457200" rtl="0" eaLnBrk="1" latinLnBrk="0" hangingPunct="1">
        <a:defRPr sz="9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03ebdd86fcfdc69.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6ef09aa21554250.jp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70a2a5b20c49738.jp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43be6822273060d.jpg"/>
  <Relationship Id="rId3" Type="http://schemas.openxmlformats.org/officeDocument/2006/relationships/image" Target="../media/image_870a2a5b20c49738.jpg"/>
  <Relationship Id="rId4"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6715f458e9ec8b3.jpg"/>
  <Relationship Id="rId3" Type="http://schemas.openxmlformats.org/officeDocument/2006/relationships/image" Target="../media/image_20403503be16bc6a.jpg"/>
  <Relationship Id="rId4"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77b6b3745aa9a95.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f9b3e87c867ba75.jpg"/>
  <Relationship Id="rId3" Type="http://schemas.openxmlformats.org/officeDocument/2006/relationships/image" Target="../media/image_c91f012672c0c793.jpg"/>
  <Relationship Id="rId4"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32a08df358af9f9.jpg"/>
  <Relationship Id="rId3" Type="http://schemas.openxmlformats.org/officeDocument/2006/relationships/image" Target="../media/image_f48caa9c49ff34d6.jpg"/>
  <Relationship Id="rId4"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76db43b10f74b40.jpg"/>
  <Relationship Id="rId3" Type="http://schemas.openxmlformats.org/officeDocument/2006/relationships/image" Target="../media/image_69055b23543a0224.jpg"/>
  <Relationship Id="rId4"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02842c179170c99.jp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49e8950b1d4ad18.jpg"/>
  <Relationship Id="rId3" Type="http://schemas.openxmlformats.org/officeDocument/2006/relationships/image" Target="../media/image_c5178be7186ebffc.jpg"/>
  <Relationship Id="rId4"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03ebdd86fcfdc69.jpg"/>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766f45bb2f4f9bb.jpg"/>
  <Relationship Id="rId3" Type="http://schemas.openxmlformats.org/officeDocument/2006/relationships/image" Target="../media/image_c95838d15c6feb6f.jpg"/>
  <Relationship Id="rId4"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bd47c2c770afa43.jpg"/>
  <Relationship Id="rId3" Type="http://schemas.openxmlformats.org/officeDocument/2006/relationships/image" Target="../media/image_847ac6130d113cf9.jpg"/>
  <Relationship Id="rId4"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Ellipse 2"/>
          <p:cNvSpPr/>
          <p:nvPr/>
        </p:nvSpPr>
        <p:spPr>
          <a:xfrm>
            <a:off x="-4572000" y="4000500"/>
            <a:ext cx="8001000" cy="8001000"/>
          </a:xfrm>
          <a:prstGeom prst="ellipse">
            <a:avLst/>
          </a:prstGeom>
          <a:solidFill>
            <a:schemeClr val="lt2"/>
          </a:solidFill>
          <a:ln>
            <a:noFill/>
          </a:ln>
        </p:spPr>
      </p:sp>
      <p:grpSp>
        <p:nvGrpSpPr>
          <p:cNvPr id="6" name="Group 6"/>
          <p:cNvGrpSpPr/>
          <p:nvPr/>
        </p:nvGrpSpPr>
        <p:grpSpPr>
          <a:xfrm>
            <a:off x="590550" y="2001202"/>
            <a:ext cx="3508279" cy="1495425"/>
            <a:chOff x="590550" y="2001202"/>
            <a:chExt cx="3508279" cy="1495425"/>
          </a:xfrm>
        </p:grpSpPr>
        <p:sp>
          <p:nvSpPr>
            <p:cNvPr id="3" name="TextBox 3"/>
            <p:cNvSpPr txBox="1"/>
            <p:nvPr/>
          </p:nvSpPr>
          <p:spPr>
            <a:xfrm>
              <a:off x="590550" y="2001202"/>
              <a:ext cx="3508279" cy="790575"/>
            </a:xfrm>
            <a:prstGeom prst="rect">
              <a:avLst/>
            </a:prstGeom>
            <a:noFill/>
            <a:ln>
              <a:noFill/>
            </a:ln>
          </p:spPr>
          <p:txBody>
            <a:bodyPr wrap="none" lIns="0" tIns="0" rIns="0" bIns="0" anchor="t" anchorCtr="0">
              <a:spAutoFit/>
            </a:bodyPr>
            <a:lstStyle/>
            <a:p>
              <a:pPr algn="l"/>
              <a:r>
                <a:rPr lang="en-US" sz="4050" b="1" dirty="0">
                  <a:solidFill>
                    <a:schemeClr val="dk1"/>
                  </a:solidFill>
                  <a:latin typeface="+mn-lt"/>
                  <a:ea typeface="+mn-ea"/>
                  <a:cs typeface="+mn-cs"/>
                </a:rPr>
                <a:t>MacroStudio</a:t>
              </a:r>
            </a:p>
          </p:txBody>
        </p:sp>
        <p:sp>
          <p:nvSpPr>
            <p:cNvPr id="4" name="TextBox 4"/>
            <p:cNvSpPr txBox="1"/>
            <p:nvPr/>
          </p:nvSpPr>
          <p:spPr>
            <a:xfrm>
              <a:off x="590550" y="2706052"/>
              <a:ext cx="2757340" cy="790575"/>
            </a:xfrm>
            <a:prstGeom prst="rect">
              <a:avLst/>
            </a:prstGeom>
            <a:noFill/>
            <a:ln>
              <a:noFill/>
            </a:ln>
          </p:spPr>
          <p:txBody>
            <a:bodyPr wrap="none" lIns="0" tIns="0" rIns="0" bIns="0" anchor="t" anchorCtr="0">
              <a:spAutoFit/>
            </a:bodyPr>
            <a:lstStyle/>
            <a:p>
              <a:pPr algn="l"/>
              <a:r>
                <a:rPr lang="zh-CN" sz="4050" b="1" dirty="0">
                  <a:solidFill>
                    <a:schemeClr val="dk1"/>
                  </a:solidFill>
                  <a:latin typeface="+mn-lt"/>
                  <a:ea typeface="+mn-ea"/>
                  <a:cs typeface="+mn-cs"/>
                </a:rPr>
                <a:t>操作マニュアル</a:t>
              </a:r>
            </a:p>
          </p:txBody>
        </p:sp>
        <p:sp>
          <p:nvSpPr>
            <p:cNvPr id="5" name="Rectangle 5"/>
            <p:cNvSpPr/>
            <p:nvPr/>
          </p:nvSpPr>
          <p:spPr>
            <a:xfrm>
              <a:off x="628650" y="3390900"/>
              <a:ext cx="838200" cy="57150"/>
            </a:xfrm>
            <a:prstGeom prst="roundRect">
              <a:avLst>
                <a:gd name="adj" fmla="val 50000"/>
              </a:avLst>
            </a:prstGeom>
            <a:solidFill>
              <a:schemeClr val="accent1"/>
            </a:solidFill>
            <a:ln>
              <a:noFill/>
            </a:ln>
          </p:spPr>
        </p:sp>
      </p:grpSp>
      <p:grpSp>
        <p:nvGrpSpPr>
          <p:cNvPr id="11" name="Group 11"/>
          <p:cNvGrpSpPr/>
          <p:nvPr/>
        </p:nvGrpSpPr>
        <p:grpSpPr>
          <a:xfrm>
            <a:off x="599694" y="3751898"/>
            <a:ext cx="3609785" cy="1351597"/>
            <a:chOff x="599694" y="3751898"/>
            <a:chExt cx="3609785" cy="1351597"/>
          </a:xfrm>
        </p:grpSpPr>
        <p:sp>
          <p:nvSpPr>
            <p:cNvPr id="7" name="TextBox 7"/>
            <p:cNvSpPr txBox="1"/>
            <p:nvPr/>
          </p:nvSpPr>
          <p:spPr>
            <a:xfrm>
              <a:off x="599694" y="3751898"/>
              <a:ext cx="3382552" cy="381381"/>
            </a:xfrm>
            <a:prstGeom prst="rect">
              <a:avLst/>
            </a:prstGeom>
            <a:noFill/>
            <a:ln>
              <a:noFill/>
            </a:ln>
          </p:spPr>
          <p:txBody>
            <a:bodyPr wrap="none" lIns="0" tIns="0" rIns="0" bIns="0" anchor="t" anchorCtr="0">
              <a:spAutoFit/>
            </a:bodyPr>
            <a:lstStyle/>
            <a:p>
              <a:pPr algn="l"/>
              <a:r>
                <a:rPr lang="zh-CN" sz="1950" b="1" dirty="0">
                  <a:solidFill>
                    <a:schemeClr val="accent1"/>
                  </a:solidFill>
                  <a:latin typeface="+mn-lt"/>
                  <a:ea typeface="+mn-ea"/>
                  <a:cs typeface="+mn-cs"/>
                </a:rPr>
                <a:t>ベータ版（beta 1.0.0 対応）</a:t>
              </a:r>
            </a:p>
          </p:txBody>
        </p:sp>
        <p:sp>
          <p:nvSpPr>
            <p:cNvPr id="8" name="TextBox 8"/>
            <p:cNvSpPr txBox="1"/>
            <p:nvPr/>
          </p:nvSpPr>
          <p:spPr>
            <a:xfrm>
              <a:off x="601980" y="4200525"/>
              <a:ext cx="3607499"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Excel マクロ（VBA）の確認・診断・改修を、</a:t>
              </a:r>
            </a:p>
          </p:txBody>
        </p:sp>
        <p:sp>
          <p:nvSpPr>
            <p:cNvPr id="9" name="TextBox 9"/>
            <p:cNvSpPr txBox="1"/>
            <p:nvPr/>
          </p:nvSpPr>
          <p:spPr>
            <a:xfrm>
              <a:off x="601980" y="4505325"/>
              <a:ext cx="352838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チャット AI と MacroStudio で行うための手順を</a:t>
              </a:r>
            </a:p>
          </p:txBody>
        </p:sp>
        <p:sp>
          <p:nvSpPr>
            <p:cNvPr id="10" name="TextBox 10"/>
            <p:cNvSpPr txBox="1"/>
            <p:nvPr/>
          </p:nvSpPr>
          <p:spPr>
            <a:xfrm>
              <a:off x="601980" y="4810125"/>
              <a:ext cx="954214"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説明します。</a:t>
              </a:r>
            </a:p>
          </p:txBody>
        </p:sp>
      </p:grpSp>
      <p:grpSp>
        <p:nvGrpSpPr>
          <p:cNvPr id="13" name="Group 13"/>
          <p:cNvGrpSpPr/>
          <p:nvPr/>
        </p:nvGrpSpPr>
        <p:grpSpPr>
          <a:xfrm>
            <a:off x="602742" y="5416868"/>
            <a:ext cx="1249528" cy="264033"/>
            <a:chOff x="602742" y="5416868"/>
            <a:chExt cx="1249528" cy="264033"/>
          </a:xfrm>
        </p:grpSpPr>
        <p:sp>
          <p:nvSpPr>
            <p:cNvPr id="12" name="TextBox 12"/>
            <p:cNvSpPr txBox="1"/>
            <p:nvPr/>
          </p:nvSpPr>
          <p:spPr>
            <a:xfrm>
              <a:off x="602742" y="5416868"/>
              <a:ext cx="1249528"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2026-07-31 版</a:t>
              </a:r>
            </a:p>
          </p:txBody>
        </p:sp>
      </p:grpSp>
      <p:grpSp>
        <p:nvGrpSpPr>
          <p:cNvPr id="18" name="Group 18"/>
          <p:cNvGrpSpPr/>
          <p:nvPr/>
        </p:nvGrpSpPr>
        <p:grpSpPr>
          <a:xfrm>
            <a:off x="6019800" y="1866900"/>
            <a:ext cx="5486400" cy="3505581"/>
            <a:chOff x="6019800" y="1866900"/>
            <a:chExt cx="5486400" cy="3505581"/>
          </a:xfrm>
        </p:grpSpPr>
        <p:sp>
          <p:nvSpPr>
            <p:cNvPr id="14" name="Rectangle 14"/>
            <p:cNvSpPr/>
            <p:nvPr/>
          </p:nvSpPr>
          <p:spPr>
            <a:xfrm>
              <a:off x="6019800" y="1866900"/>
              <a:ext cx="5486400" cy="3152775"/>
            </a:xfrm>
            <a:prstGeom prst="roundRect">
              <a:avLst>
                <a:gd name="adj" fmla="val 4230"/>
              </a:avLst>
            </a:prstGeom>
            <a:solidFill>
              <a:schemeClr val="lt2"/>
            </a:solidFill>
            <a:ln>
              <a:noFill/>
            </a:ln>
          </p:spPr>
        </p:sp>
        <p:pic>
          <p:nvPicPr>
            <p:cNvPr id="15" name="Image 15"/>
            <p:cNvPicPr>
              <a:picLocks noChangeAspect="1"/>
            </p:cNvPicPr>
            <p:nvPr/>
          </p:nvPicPr>
          <p:blipFill>
            <a:blip r:embed="rId2"/>
            <a:stretch>
              <a:fillRect/>
            </a:stretch>
          </p:blipFill>
          <p:spPr>
            <a:xfrm>
              <a:off x="6096000" y="1943100"/>
              <a:ext cx="5334000" cy="3000375"/>
            </a:xfrm>
            <a:prstGeom prst="roundRect">
              <a:avLst>
                <a:gd name="adj" fmla="val 3174"/>
              </a:avLst>
            </a:prstGeom>
          </p:spPr>
        </p:pic>
        <p:sp>
          <p:nvSpPr>
            <p:cNvPr id="16" name="Rectangle 16"/>
            <p:cNvSpPr/>
            <p:nvPr/>
          </p:nvSpPr>
          <p:spPr>
            <a:xfrm>
              <a:off x="6096000" y="1943100"/>
              <a:ext cx="5334000" cy="3000375"/>
            </a:xfrm>
            <a:prstGeom prst="roundRect">
              <a:avLst>
                <a:gd name="adj" fmla="val 3175"/>
              </a:avLst>
            </a:prstGeom>
            <a:noFill/>
            <a:ln w="14288">
              <a:solidFill>
                <a:schemeClr val="accent6"/>
              </a:solidFill>
            </a:ln>
          </p:spPr>
        </p:sp>
        <p:sp>
          <p:nvSpPr>
            <p:cNvPr id="17" name="TextBox 17"/>
            <p:cNvSpPr txBox="1"/>
            <p:nvPr/>
          </p:nvSpPr>
          <p:spPr>
            <a:xfrm>
              <a:off x="6089904" y="5137785"/>
              <a:ext cx="3679241"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改修完了時の画面。作成されたファイルの一覧が表示されます。</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65397" y="486728"/>
              <a:ext cx="30750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概要</a:t>
              </a:r>
            </a:p>
          </p:txBody>
        </p:sp>
        <p:sp>
          <p:nvSpPr>
            <p:cNvPr id="4" name="TextBox 4"/>
            <p:cNvSpPr txBox="1"/>
            <p:nvPr/>
          </p:nvSpPr>
          <p:spPr>
            <a:xfrm>
              <a:off x="441960" y="685800"/>
              <a:ext cx="195992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本書の構成</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3" name="Group 13"/>
          <p:cNvGrpSpPr/>
          <p:nvPr/>
        </p:nvGrpSpPr>
        <p:grpSpPr>
          <a:xfrm>
            <a:off x="457200" y="1447800"/>
            <a:ext cx="11277600" cy="838200"/>
            <a:chOff x="457200" y="1447800"/>
            <a:chExt cx="11277600" cy="838200"/>
          </a:xfrm>
        </p:grpSpPr>
        <p:sp>
          <p:nvSpPr>
            <p:cNvPr id="7" name="Rectangle 7"/>
            <p:cNvSpPr/>
            <p:nvPr/>
          </p:nvSpPr>
          <p:spPr>
            <a:xfrm>
              <a:off x="457200" y="1447800"/>
              <a:ext cx="11277600" cy="838200"/>
            </a:xfrm>
            <a:prstGeom prst="roundRect">
              <a:avLst>
                <a:gd name="adj" fmla="val 13636"/>
              </a:avLst>
            </a:prstGeom>
            <a:solidFill>
              <a:schemeClr val="lt2"/>
            </a:solidFill>
            <a:ln>
              <a:noFill/>
            </a:ln>
          </p:spPr>
        </p:sp>
        <p:sp>
          <p:nvSpPr>
            <p:cNvPr id="8" name="Rectangle 8"/>
            <p:cNvSpPr/>
            <p:nvPr/>
          </p:nvSpPr>
          <p:spPr>
            <a:xfrm>
              <a:off x="685800" y="1676400"/>
              <a:ext cx="914400" cy="342900"/>
            </a:xfrm>
            <a:prstGeom prst="roundRect">
              <a:avLst>
                <a:gd name="adj" fmla="val 50000"/>
              </a:avLst>
            </a:prstGeom>
            <a:solidFill>
              <a:schemeClr val="accent1"/>
            </a:solidFill>
            <a:ln>
              <a:noFill/>
            </a:ln>
          </p:spPr>
        </p:sp>
        <p:sp>
          <p:nvSpPr>
            <p:cNvPr id="9" name="TextBox 9"/>
            <p:cNvSpPr txBox="1"/>
            <p:nvPr/>
          </p:nvSpPr>
          <p:spPr>
            <a:xfrm>
              <a:off x="967283" y="1775460"/>
              <a:ext cx="35143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概要</a:t>
              </a:r>
            </a:p>
          </p:txBody>
        </p:sp>
        <p:sp>
          <p:nvSpPr>
            <p:cNvPr id="10" name="TextBox 10"/>
            <p:cNvSpPr txBox="1"/>
            <p:nvPr/>
          </p:nvSpPr>
          <p:spPr>
            <a:xfrm>
              <a:off x="1820418" y="1650682"/>
              <a:ext cx="5612963"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MacroStudioの役割分担・作業の種類と成果物・保護機能</a:t>
              </a:r>
            </a:p>
          </p:txBody>
        </p:sp>
        <p:sp>
          <p:nvSpPr>
            <p:cNvPr id="11" name="TextBox 11"/>
            <p:cNvSpPr txBox="1"/>
            <p:nvPr/>
          </p:nvSpPr>
          <p:spPr>
            <a:xfrm>
              <a:off x="1822323" y="1976914"/>
              <a:ext cx="2149643"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操作の前に把握しておく内容です。</a:t>
              </a:r>
            </a:p>
          </p:txBody>
        </p:sp>
        <p:sp>
          <p:nvSpPr>
            <p:cNvPr id="12" name="TextBox 12"/>
            <p:cNvSpPr txBox="1"/>
            <p:nvPr/>
          </p:nvSpPr>
          <p:spPr>
            <a:xfrm>
              <a:off x="10865663" y="1778318"/>
              <a:ext cx="647395" cy="264033"/>
            </a:xfrm>
            <a:prstGeom prst="rect">
              <a:avLst/>
            </a:prstGeom>
            <a:noFill/>
            <a:ln>
              <a:noFill/>
            </a:ln>
          </p:spPr>
          <p:txBody>
            <a:bodyPr wrap="none" lIns="0" tIns="0" rIns="0" bIns="0" anchor="t" anchorCtr="0">
              <a:spAutoFit/>
            </a:bodyPr>
            <a:lstStyle/>
            <a:p>
              <a:pPr algn="r"/>
              <a:r>
                <a:rPr lang="en-US" sz="1350" dirty="0">
                  <a:solidFill>
                    <a:srgbClr val="5D6B7A"/>
                  </a:solidFill>
                  <a:latin typeface="+mn-lt"/>
                  <a:ea typeface="+mn-ea"/>
                  <a:cs typeface="+mn-cs"/>
                </a:rPr>
                <a:t>P03–05</a:t>
              </a:r>
            </a:p>
          </p:txBody>
        </p:sp>
      </p:grpSp>
      <p:grpSp>
        <p:nvGrpSpPr>
          <p:cNvPr id="20" name="Group 20"/>
          <p:cNvGrpSpPr/>
          <p:nvPr/>
        </p:nvGrpSpPr>
        <p:grpSpPr>
          <a:xfrm>
            <a:off x="457200" y="2362200"/>
            <a:ext cx="11277600" cy="838200"/>
            <a:chOff x="457200" y="2362200"/>
            <a:chExt cx="11277600" cy="838200"/>
          </a:xfrm>
        </p:grpSpPr>
        <p:sp>
          <p:nvSpPr>
            <p:cNvPr id="14" name="Rectangle 14"/>
            <p:cNvSpPr/>
            <p:nvPr/>
          </p:nvSpPr>
          <p:spPr>
            <a:xfrm>
              <a:off x="457200" y="2362200"/>
              <a:ext cx="11277600" cy="838200"/>
            </a:xfrm>
            <a:prstGeom prst="roundRect">
              <a:avLst>
                <a:gd name="adj" fmla="val 13636"/>
              </a:avLst>
            </a:prstGeom>
            <a:solidFill>
              <a:schemeClr val="lt2"/>
            </a:solidFill>
            <a:ln>
              <a:noFill/>
            </a:ln>
          </p:spPr>
        </p:sp>
        <p:sp>
          <p:nvSpPr>
            <p:cNvPr id="15" name="Rectangle 15"/>
            <p:cNvSpPr/>
            <p:nvPr/>
          </p:nvSpPr>
          <p:spPr>
            <a:xfrm>
              <a:off x="685800" y="2590800"/>
              <a:ext cx="914400" cy="342900"/>
            </a:xfrm>
            <a:prstGeom prst="roundRect">
              <a:avLst>
                <a:gd name="adj" fmla="val 50000"/>
              </a:avLst>
            </a:prstGeom>
            <a:solidFill>
              <a:schemeClr val="accent1"/>
            </a:solidFill>
            <a:ln>
              <a:noFill/>
            </a:ln>
          </p:spPr>
        </p:sp>
        <p:sp>
          <p:nvSpPr>
            <p:cNvPr id="16" name="TextBox 16"/>
            <p:cNvSpPr txBox="1"/>
            <p:nvPr/>
          </p:nvSpPr>
          <p:spPr>
            <a:xfrm>
              <a:off x="967283" y="2689860"/>
              <a:ext cx="35143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操作</a:t>
              </a:r>
            </a:p>
          </p:txBody>
        </p:sp>
        <p:sp>
          <p:nvSpPr>
            <p:cNvPr id="17" name="TextBox 17"/>
            <p:cNvSpPr txBox="1"/>
            <p:nvPr/>
          </p:nvSpPr>
          <p:spPr>
            <a:xfrm>
              <a:off x="1820418" y="2565082"/>
              <a:ext cx="2827175"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サンプルブックを使った改修の全手順</a:t>
              </a:r>
            </a:p>
          </p:txBody>
        </p:sp>
        <p:sp>
          <p:nvSpPr>
            <p:cNvPr id="18" name="TextBox 18"/>
            <p:cNvSpPr txBox="1"/>
            <p:nvPr/>
          </p:nvSpPr>
          <p:spPr>
            <a:xfrm>
              <a:off x="1822323" y="2891314"/>
              <a:ext cx="4760194"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ブックの読み込みから、改修済みブックの作成と動作確認までを順に説明します。</a:t>
              </a:r>
            </a:p>
          </p:txBody>
        </p:sp>
        <p:sp>
          <p:nvSpPr>
            <p:cNvPr id="19" name="TextBox 19"/>
            <p:cNvSpPr txBox="1"/>
            <p:nvPr/>
          </p:nvSpPr>
          <p:spPr>
            <a:xfrm>
              <a:off x="10865663" y="2692718"/>
              <a:ext cx="647395" cy="264033"/>
            </a:xfrm>
            <a:prstGeom prst="rect">
              <a:avLst/>
            </a:prstGeom>
            <a:noFill/>
            <a:ln>
              <a:noFill/>
            </a:ln>
          </p:spPr>
          <p:txBody>
            <a:bodyPr wrap="none" lIns="0" tIns="0" rIns="0" bIns="0" anchor="t" anchorCtr="0">
              <a:spAutoFit/>
            </a:bodyPr>
            <a:lstStyle/>
            <a:p>
              <a:pPr algn="r"/>
              <a:r>
                <a:rPr lang="en-US" sz="1350" dirty="0">
                  <a:solidFill>
                    <a:srgbClr val="5D6B7A"/>
                  </a:solidFill>
                  <a:latin typeface="+mn-lt"/>
                  <a:ea typeface="+mn-ea"/>
                  <a:cs typeface="+mn-cs"/>
                </a:rPr>
                <a:t>P06–19</a:t>
              </a:r>
            </a:p>
          </p:txBody>
        </p:sp>
      </p:grpSp>
      <p:grpSp>
        <p:nvGrpSpPr>
          <p:cNvPr id="26" name="Group 26"/>
          <p:cNvGrpSpPr/>
          <p:nvPr/>
        </p:nvGrpSpPr>
        <p:grpSpPr>
          <a:xfrm>
            <a:off x="457200" y="3276600"/>
            <a:ext cx="11277600" cy="723900"/>
            <a:chOff x="457200" y="3276600"/>
            <a:chExt cx="11277600" cy="723900"/>
          </a:xfrm>
        </p:grpSpPr>
        <p:sp>
          <p:nvSpPr>
            <p:cNvPr id="21" name="Rectangle 21"/>
            <p:cNvSpPr/>
            <p:nvPr/>
          </p:nvSpPr>
          <p:spPr>
            <a:xfrm>
              <a:off x="457200" y="3276600"/>
              <a:ext cx="11277600" cy="723900"/>
            </a:xfrm>
            <a:prstGeom prst="roundRect">
              <a:avLst>
                <a:gd name="adj" fmla="val 15789"/>
              </a:avLst>
            </a:prstGeom>
            <a:solidFill>
              <a:schemeClr val="accent5"/>
            </a:solidFill>
            <a:ln w="9525">
              <a:solidFill>
                <a:schemeClr val="accent6"/>
              </a:solidFill>
            </a:ln>
          </p:spPr>
        </p:sp>
        <p:sp>
          <p:nvSpPr>
            <p:cNvPr id="22" name="Rectangle 22"/>
            <p:cNvSpPr/>
            <p:nvPr/>
          </p:nvSpPr>
          <p:spPr>
            <a:xfrm>
              <a:off x="685800" y="3467100"/>
              <a:ext cx="914400" cy="342900"/>
            </a:xfrm>
            <a:prstGeom prst="roundRect">
              <a:avLst>
                <a:gd name="adj" fmla="val 50000"/>
              </a:avLst>
            </a:prstGeom>
            <a:solidFill>
              <a:schemeClr val="accent3"/>
            </a:solidFill>
            <a:ln>
              <a:noFill/>
            </a:ln>
          </p:spPr>
        </p:sp>
        <p:sp>
          <p:nvSpPr>
            <p:cNvPr id="23" name="TextBox 23"/>
            <p:cNvSpPr txBox="1"/>
            <p:nvPr/>
          </p:nvSpPr>
          <p:spPr>
            <a:xfrm>
              <a:off x="967283" y="3566160"/>
              <a:ext cx="35143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相談</a:t>
              </a:r>
            </a:p>
          </p:txBody>
        </p:sp>
        <p:sp>
          <p:nvSpPr>
            <p:cNvPr id="24" name="TextBox 24"/>
            <p:cNvSpPr txBox="1"/>
            <p:nvPr/>
          </p:nvSpPr>
          <p:spPr>
            <a:xfrm>
              <a:off x="1820418" y="3555682"/>
              <a:ext cx="6171613"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 xml:space="preserve">「AIで相談する」の操作 </a:t>
              </a:r>
              <a:r>
                <a:rPr lang="zh-CN" sz="1280" dirty="0">
                  <a:solidFill>
                    <a:srgbClr val="5D6B7A"/>
                  </a:solidFill>
                  <a:latin typeface="+mn-lt"/>
                  <a:ea typeface="+mn-ea"/>
                  <a:cs typeface="+mn-cs"/>
                </a:rPr>
                <a:t xml:space="preserve">　ブックを変更せずに、診断や質問を行う場合の手順です。</a:t>
              </a:r>
            </a:p>
          </p:txBody>
        </p:sp>
        <p:sp>
          <p:nvSpPr>
            <p:cNvPr id="25" name="TextBox 25"/>
            <p:cNvSpPr txBox="1"/>
            <p:nvPr/>
          </p:nvSpPr>
          <p:spPr>
            <a:xfrm>
              <a:off x="11182502" y="3588068"/>
              <a:ext cx="330556" cy="264033"/>
            </a:xfrm>
            <a:prstGeom prst="rect">
              <a:avLst/>
            </a:prstGeom>
            <a:noFill/>
            <a:ln>
              <a:noFill/>
            </a:ln>
          </p:spPr>
          <p:txBody>
            <a:bodyPr wrap="none" lIns="0" tIns="0" rIns="0" bIns="0" anchor="t" anchorCtr="0">
              <a:spAutoFit/>
            </a:bodyPr>
            <a:lstStyle/>
            <a:p>
              <a:pPr algn="r"/>
              <a:r>
                <a:rPr lang="en-US" sz="1350" dirty="0">
                  <a:solidFill>
                    <a:srgbClr val="5D6B7A"/>
                  </a:solidFill>
                  <a:latin typeface="+mn-lt"/>
                  <a:ea typeface="+mn-ea"/>
                  <a:cs typeface="+mn-cs"/>
                </a:rPr>
                <a:t>P20</a:t>
              </a:r>
            </a:p>
          </p:txBody>
        </p:sp>
      </p:grpSp>
      <p:grpSp>
        <p:nvGrpSpPr>
          <p:cNvPr id="32" name="Group 32"/>
          <p:cNvGrpSpPr/>
          <p:nvPr/>
        </p:nvGrpSpPr>
        <p:grpSpPr>
          <a:xfrm>
            <a:off x="457200" y="4076700"/>
            <a:ext cx="11277600" cy="723900"/>
            <a:chOff x="457200" y="4076700"/>
            <a:chExt cx="11277600" cy="723900"/>
          </a:xfrm>
        </p:grpSpPr>
        <p:sp>
          <p:nvSpPr>
            <p:cNvPr id="27" name="Rectangle 27"/>
            <p:cNvSpPr/>
            <p:nvPr/>
          </p:nvSpPr>
          <p:spPr>
            <a:xfrm>
              <a:off x="457200" y="4076700"/>
              <a:ext cx="11277600" cy="723900"/>
            </a:xfrm>
            <a:prstGeom prst="roundRect">
              <a:avLst>
                <a:gd name="adj" fmla="val 15789"/>
              </a:avLst>
            </a:prstGeom>
            <a:solidFill>
              <a:schemeClr val="accent5"/>
            </a:solidFill>
            <a:ln w="9525">
              <a:solidFill>
                <a:schemeClr val="accent6"/>
              </a:solidFill>
            </a:ln>
          </p:spPr>
        </p:sp>
        <p:sp>
          <p:nvSpPr>
            <p:cNvPr id="28" name="Rectangle 28"/>
            <p:cNvSpPr/>
            <p:nvPr/>
          </p:nvSpPr>
          <p:spPr>
            <a:xfrm>
              <a:off x="685800" y="4267200"/>
              <a:ext cx="914400" cy="342900"/>
            </a:xfrm>
            <a:prstGeom prst="roundRect">
              <a:avLst>
                <a:gd name="adj" fmla="val 50000"/>
              </a:avLst>
            </a:prstGeom>
            <a:solidFill>
              <a:schemeClr val="accent3"/>
            </a:solidFill>
            <a:ln>
              <a:noFill/>
            </a:ln>
          </p:spPr>
        </p:sp>
        <p:sp>
          <p:nvSpPr>
            <p:cNvPr id="29" name="TextBox 29"/>
            <p:cNvSpPr txBox="1"/>
            <p:nvPr/>
          </p:nvSpPr>
          <p:spPr>
            <a:xfrm>
              <a:off x="967283" y="4366260"/>
              <a:ext cx="35143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参考</a:t>
              </a:r>
            </a:p>
          </p:txBody>
        </p:sp>
        <p:sp>
          <p:nvSpPr>
            <p:cNvPr id="30" name="TextBox 30"/>
            <p:cNvSpPr txBox="1"/>
            <p:nvPr/>
          </p:nvSpPr>
          <p:spPr>
            <a:xfrm>
              <a:off x="1820418" y="4355782"/>
              <a:ext cx="3142035"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トラブル時の対処・動作要件と仕組み</a:t>
              </a:r>
            </a:p>
          </p:txBody>
        </p:sp>
        <p:sp>
          <p:nvSpPr>
            <p:cNvPr id="31" name="TextBox 31"/>
            <p:cNvSpPr txBox="1"/>
            <p:nvPr/>
          </p:nvSpPr>
          <p:spPr>
            <a:xfrm>
              <a:off x="10865663" y="4388168"/>
              <a:ext cx="647395" cy="264033"/>
            </a:xfrm>
            <a:prstGeom prst="rect">
              <a:avLst/>
            </a:prstGeom>
            <a:noFill/>
            <a:ln>
              <a:noFill/>
            </a:ln>
          </p:spPr>
          <p:txBody>
            <a:bodyPr wrap="none" lIns="0" tIns="0" rIns="0" bIns="0" anchor="t" anchorCtr="0">
              <a:spAutoFit/>
            </a:bodyPr>
            <a:lstStyle/>
            <a:p>
              <a:pPr algn="r"/>
              <a:r>
                <a:rPr lang="en-US" sz="1350" dirty="0">
                  <a:solidFill>
                    <a:srgbClr val="5D6B7A"/>
                  </a:solidFill>
                  <a:latin typeface="+mn-lt"/>
                  <a:ea typeface="+mn-ea"/>
                  <a:cs typeface="+mn-cs"/>
                </a:rPr>
                <a:t>P21–22</a:t>
              </a:r>
            </a:p>
          </p:txBody>
        </p:sp>
      </p:grpSp>
      <p:grpSp>
        <p:nvGrpSpPr>
          <p:cNvPr id="36" name="Group 36"/>
          <p:cNvGrpSpPr/>
          <p:nvPr/>
        </p:nvGrpSpPr>
        <p:grpSpPr>
          <a:xfrm>
            <a:off x="457200" y="5143500"/>
            <a:ext cx="11277600" cy="800100"/>
            <a:chOff x="457200" y="5143500"/>
            <a:chExt cx="11277600" cy="800100"/>
          </a:xfrm>
        </p:grpSpPr>
        <p:sp>
          <p:nvSpPr>
            <p:cNvPr id="33" name="Rectangle 33"/>
            <p:cNvSpPr/>
            <p:nvPr/>
          </p:nvSpPr>
          <p:spPr>
            <a:xfrm>
              <a:off x="457200" y="5143500"/>
              <a:ext cx="11277600" cy="800100"/>
            </a:xfrm>
            <a:prstGeom prst="roundRect">
              <a:avLst>
                <a:gd name="adj" fmla="val 14286"/>
              </a:avLst>
            </a:prstGeom>
            <a:solidFill>
              <a:schemeClr val="lt1"/>
            </a:solidFill>
            <a:ln w="14288">
              <a:solidFill>
                <a:schemeClr val="accent6"/>
              </a:solidFill>
            </a:ln>
          </p:spPr>
        </p:sp>
        <p:sp>
          <p:nvSpPr>
            <p:cNvPr id="34" name="TextBox 34"/>
            <p:cNvSpPr txBox="1"/>
            <p:nvPr/>
          </p:nvSpPr>
          <p:spPr>
            <a:xfrm>
              <a:off x="716661" y="5313521"/>
              <a:ext cx="3801618"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操作の説明は、P07 のサンプルブックで通して行います。</a:t>
              </a:r>
            </a:p>
          </p:txBody>
        </p:sp>
        <p:sp>
          <p:nvSpPr>
            <p:cNvPr id="35" name="TextBox 35"/>
            <p:cNvSpPr txBox="1"/>
            <p:nvPr/>
          </p:nvSpPr>
          <p:spPr>
            <a:xfrm>
              <a:off x="716661" y="5599271"/>
              <a:ext cx="5414759"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本書で引用する画面の見出し・ボタン名・案内文は、実際の表示と同一です。</a:t>
              </a:r>
            </a:p>
          </p:txBody>
        </p:sp>
      </p:grpSp>
      <p:grpSp>
        <p:nvGrpSpPr>
          <p:cNvPr id="39" name="Group 39"/>
          <p:cNvGrpSpPr/>
          <p:nvPr/>
        </p:nvGrpSpPr>
        <p:grpSpPr>
          <a:xfrm>
            <a:off x="451866" y="6477952"/>
            <a:ext cx="11288268" cy="205359"/>
            <a:chOff x="451866" y="6477952"/>
            <a:chExt cx="11288268" cy="205359"/>
          </a:xfrm>
        </p:grpSpPr>
        <p:sp>
          <p:nvSpPr>
            <p:cNvPr id="37" name="TextBox 37"/>
            <p:cNvSpPr txBox="1"/>
            <p:nvPr/>
          </p:nvSpPr>
          <p:spPr>
            <a:xfrm>
              <a:off x="451866" y="6477952"/>
              <a:ext cx="2252718"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MacroStudio 操作マニュアル（ベータ版）</a:t>
              </a:r>
            </a:p>
          </p:txBody>
        </p:sp>
        <p:sp>
          <p:nvSpPr>
            <p:cNvPr id="38" name="TextBox 38"/>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02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65397" y="486728"/>
              <a:ext cx="30750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概要</a:t>
              </a:r>
            </a:p>
          </p:txBody>
        </p:sp>
        <p:sp>
          <p:nvSpPr>
            <p:cNvPr id="4" name="TextBox 4"/>
            <p:cNvSpPr txBox="1"/>
            <p:nvPr/>
          </p:nvSpPr>
          <p:spPr>
            <a:xfrm>
              <a:off x="441960" y="685800"/>
              <a:ext cx="455028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MacroStudioの役割分担</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9" name="Group 9"/>
          <p:cNvGrpSpPr/>
          <p:nvPr/>
        </p:nvGrpSpPr>
        <p:grpSpPr>
          <a:xfrm>
            <a:off x="448818" y="1422082"/>
            <a:ext cx="9550594" cy="646557"/>
            <a:chOff x="448818" y="1422082"/>
            <a:chExt cx="9550594" cy="646557"/>
          </a:xfrm>
        </p:grpSpPr>
        <p:sp>
          <p:nvSpPr>
            <p:cNvPr id="7" name="TextBox 7"/>
            <p:cNvSpPr txBox="1"/>
            <p:nvPr/>
          </p:nvSpPr>
          <p:spPr>
            <a:xfrm>
              <a:off x="448818" y="1422082"/>
              <a:ext cx="9550594"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MacroStudio は、Excel マクロ（VBA）を、VBE（開発画面）を開かずに確認・診断・改修するためのツールです。</a:t>
              </a:r>
            </a:p>
          </p:txBody>
        </p:sp>
        <p:sp>
          <p:nvSpPr>
            <p:cNvPr id="8" name="TextBox 8"/>
            <p:cNvSpPr txBox="1"/>
            <p:nvPr/>
          </p:nvSpPr>
          <p:spPr>
            <a:xfrm>
              <a:off x="448818" y="1745932"/>
              <a:ext cx="6071921"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改修内容の判断は行わず、チャット AI との受け渡しと検証を担当します。</a:t>
              </a:r>
            </a:p>
          </p:txBody>
        </p:sp>
      </p:grpSp>
      <p:grpSp>
        <p:nvGrpSpPr>
          <p:cNvPr id="17" name="Group 17"/>
          <p:cNvGrpSpPr/>
          <p:nvPr/>
        </p:nvGrpSpPr>
        <p:grpSpPr>
          <a:xfrm>
            <a:off x="457200" y="2286000"/>
            <a:ext cx="3505200" cy="2857500"/>
            <a:chOff x="457200" y="2286000"/>
            <a:chExt cx="3505200" cy="2857500"/>
          </a:xfrm>
        </p:grpSpPr>
        <p:sp>
          <p:nvSpPr>
            <p:cNvPr id="10" name="Rectangle 10"/>
            <p:cNvSpPr/>
            <p:nvPr/>
          </p:nvSpPr>
          <p:spPr>
            <a:xfrm>
              <a:off x="457200" y="2286000"/>
              <a:ext cx="3505200" cy="2857500"/>
            </a:xfrm>
            <a:prstGeom prst="roundRect">
              <a:avLst>
                <a:gd name="adj" fmla="val 5333"/>
              </a:avLst>
            </a:prstGeom>
            <a:solidFill>
              <a:schemeClr val="lt2"/>
            </a:solidFill>
            <a:ln>
              <a:noFill/>
            </a:ln>
          </p:spPr>
        </p:sp>
        <p:sp>
          <p:nvSpPr>
            <p:cNvPr id="11" name="Freeform 11"/>
            <p:cNvSpPr/>
            <p:nvPr/>
          </p:nvSpPr>
          <p:spPr>
            <a:xfrm>
              <a:off x="787400" y="2590800"/>
              <a:ext cx="253999" cy="241894"/>
            </a:xfrm>
            <a:custGeom>
              <a:avLst/>
              <a:gdLst/>
              <a:ahLst/>
              <a:cxnLst/>
              <a:rect l="l" t="t" r="r" b="b"/>
              <a:pathLst>
                <a:path w="253999" h="241894">
                  <a:moveTo>
                    <a:pt x="203199" y="0"/>
                  </a:moveTo>
                  <a:cubicBezTo>
                    <a:pt x="231255" y="0"/>
                    <a:pt x="253999" y="22744"/>
                    <a:pt x="253999" y="50800"/>
                  </a:cubicBezTo>
                  <a:lnTo>
                    <a:pt x="253999" y="152400"/>
                  </a:lnTo>
                  <a:cubicBezTo>
                    <a:pt x="253999" y="180456"/>
                    <a:pt x="231255" y="203199"/>
                    <a:pt x="203199" y="203199"/>
                  </a:cubicBezTo>
                  <a:lnTo>
                    <a:pt x="143205" y="203199"/>
                  </a:lnTo>
                  <a:lnTo>
                    <a:pt x="82728" y="239483"/>
                  </a:lnTo>
                  <a:cubicBezTo>
                    <a:pt x="79027" y="241704"/>
                    <a:pt x="74451" y="241894"/>
                    <a:pt x="70580" y="239986"/>
                  </a:cubicBezTo>
                  <a:cubicBezTo>
                    <a:pt x="66708" y="238078"/>
                    <a:pt x="64070" y="234335"/>
                    <a:pt x="63576" y="230047"/>
                  </a:cubicBezTo>
                  <a:lnTo>
                    <a:pt x="63500" y="228599"/>
                  </a:lnTo>
                  <a:lnTo>
                    <a:pt x="63500" y="203199"/>
                  </a:lnTo>
                  <a:lnTo>
                    <a:pt x="50800" y="203199"/>
                  </a:lnTo>
                  <a:cubicBezTo>
                    <a:pt x="23731" y="203200"/>
                    <a:pt x="1417" y="181974"/>
                    <a:pt x="63" y="154940"/>
                  </a:cubicBezTo>
                  <a:lnTo>
                    <a:pt x="0" y="152400"/>
                  </a:lnTo>
                  <a:lnTo>
                    <a:pt x="0" y="50800"/>
                  </a:lnTo>
                  <a:cubicBezTo>
                    <a:pt x="0" y="22744"/>
                    <a:pt x="22744" y="0"/>
                    <a:pt x="50800" y="0"/>
                  </a:cubicBezTo>
                  <a:close/>
                  <a:moveTo>
                    <a:pt x="167640" y="117932"/>
                  </a:moveTo>
                  <a:cubicBezTo>
                    <a:pt x="162631" y="113023"/>
                    <a:pt x="154592" y="113102"/>
                    <a:pt x="149682" y="118110"/>
                  </a:cubicBezTo>
                  <a:cubicBezTo>
                    <a:pt x="143710" y="124207"/>
                    <a:pt x="135534" y="127643"/>
                    <a:pt x="127000" y="127643"/>
                  </a:cubicBezTo>
                  <a:cubicBezTo>
                    <a:pt x="118465" y="127643"/>
                    <a:pt x="110290" y="124207"/>
                    <a:pt x="104318" y="118110"/>
                  </a:cubicBezTo>
                  <a:cubicBezTo>
                    <a:pt x="99386" y="113222"/>
                    <a:pt x="91444" y="113200"/>
                    <a:pt x="86486" y="118061"/>
                  </a:cubicBezTo>
                  <a:cubicBezTo>
                    <a:pt x="81528" y="122921"/>
                    <a:pt x="81393" y="130863"/>
                    <a:pt x="86182" y="135890"/>
                  </a:cubicBezTo>
                  <a:cubicBezTo>
                    <a:pt x="96931" y="146858"/>
                    <a:pt x="111642" y="153039"/>
                    <a:pt x="127000" y="153039"/>
                  </a:cubicBezTo>
                  <a:cubicBezTo>
                    <a:pt x="142357" y="153039"/>
                    <a:pt x="157068" y="146858"/>
                    <a:pt x="167817" y="135890"/>
                  </a:cubicBezTo>
                  <a:cubicBezTo>
                    <a:pt x="172726" y="130881"/>
                    <a:pt x="172647" y="122842"/>
                    <a:pt x="167640" y="117932"/>
                  </a:cubicBezTo>
                  <a:moveTo>
                    <a:pt x="95377" y="63500"/>
                  </a:moveTo>
                  <a:lnTo>
                    <a:pt x="95250" y="63500"/>
                  </a:lnTo>
                  <a:cubicBezTo>
                    <a:pt x="88236" y="63500"/>
                    <a:pt x="82550" y="69186"/>
                    <a:pt x="82550" y="76200"/>
                  </a:cubicBezTo>
                  <a:cubicBezTo>
                    <a:pt x="82550" y="83214"/>
                    <a:pt x="88236" y="88900"/>
                    <a:pt x="95250" y="88900"/>
                  </a:cubicBezTo>
                  <a:lnTo>
                    <a:pt x="95377" y="88900"/>
                  </a:lnTo>
                  <a:cubicBezTo>
                    <a:pt x="102391" y="88900"/>
                    <a:pt x="108077" y="83214"/>
                    <a:pt x="108077" y="76200"/>
                  </a:cubicBezTo>
                  <a:cubicBezTo>
                    <a:pt x="108077" y="69186"/>
                    <a:pt x="102391" y="63500"/>
                    <a:pt x="95377" y="63500"/>
                  </a:cubicBezTo>
                  <a:moveTo>
                    <a:pt x="158877" y="63500"/>
                  </a:moveTo>
                  <a:lnTo>
                    <a:pt x="158750" y="63500"/>
                  </a:lnTo>
                  <a:cubicBezTo>
                    <a:pt x="151736" y="63500"/>
                    <a:pt x="146050" y="69186"/>
                    <a:pt x="146050" y="76200"/>
                  </a:cubicBezTo>
                  <a:cubicBezTo>
                    <a:pt x="146050" y="83214"/>
                    <a:pt x="151736" y="88900"/>
                    <a:pt x="158750" y="88900"/>
                  </a:cubicBezTo>
                  <a:lnTo>
                    <a:pt x="158877" y="88900"/>
                  </a:lnTo>
                  <a:cubicBezTo>
                    <a:pt x="165891" y="88900"/>
                    <a:pt x="171577" y="83214"/>
                    <a:pt x="171577" y="76200"/>
                  </a:cubicBezTo>
                  <a:cubicBezTo>
                    <a:pt x="171577" y="69186"/>
                    <a:pt x="165891" y="63500"/>
                    <a:pt x="158877" y="63500"/>
                  </a:cubicBezTo>
                </a:path>
              </a:pathLst>
            </a:custGeom>
            <a:solidFill>
              <a:schemeClr val="accent1"/>
            </a:solidFill>
            <a:ln>
              <a:noFill/>
            </a:ln>
          </p:spPr>
        </p:sp>
        <p:sp>
          <p:nvSpPr>
            <p:cNvPr id="12" name="TextBox 12"/>
            <p:cNvSpPr txBox="1"/>
            <p:nvPr/>
          </p:nvSpPr>
          <p:spPr>
            <a:xfrm>
              <a:off x="1210056" y="2586990"/>
              <a:ext cx="838230"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チャットAI</a:t>
              </a:r>
            </a:p>
          </p:txBody>
        </p:sp>
        <p:sp>
          <p:nvSpPr>
            <p:cNvPr id="13" name="Line 13"/>
            <p:cNvSpPr/>
            <p:nvPr/>
          </p:nvSpPr>
          <p:spPr>
            <a:xfrm>
              <a:off x="762000" y="3048000"/>
              <a:ext cx="2895600" cy="9525"/>
            </a:xfrm>
            <a:custGeom>
              <a:avLst/>
              <a:gdLst/>
              <a:ahLst/>
              <a:cxnLst/>
              <a:rect l="l" t="t" r="r" b="b"/>
              <a:pathLst>
                <a:path w="2895600" h="9525">
                  <a:moveTo>
                    <a:pt x="0" y="0"/>
                  </a:moveTo>
                  <a:lnTo>
                    <a:pt x="2895600" y="0"/>
                  </a:lnTo>
                </a:path>
              </a:pathLst>
            </a:custGeom>
            <a:noFill/>
            <a:ln w="9525">
              <a:solidFill>
                <a:srgbClr val="CFD7DE"/>
              </a:solidFill>
            </a:ln>
          </p:spPr>
        </p:sp>
        <p:sp>
          <p:nvSpPr>
            <p:cNvPr id="14" name="TextBox 14"/>
            <p:cNvSpPr txBox="1"/>
            <p:nvPr/>
          </p:nvSpPr>
          <p:spPr>
            <a:xfrm>
              <a:off x="754761" y="3237071"/>
              <a:ext cx="2241497"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・改修箇所と改修方法の判断</a:t>
              </a:r>
            </a:p>
          </p:txBody>
        </p:sp>
        <p:sp>
          <p:nvSpPr>
            <p:cNvPr id="15" name="TextBox 15"/>
            <p:cNvSpPr txBox="1"/>
            <p:nvPr/>
          </p:nvSpPr>
          <p:spPr>
            <a:xfrm>
              <a:off x="754761" y="3599021"/>
              <a:ext cx="1495971"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・改修後コードの作成</a:t>
              </a:r>
            </a:p>
          </p:txBody>
        </p:sp>
        <p:sp>
          <p:nvSpPr>
            <p:cNvPr id="16" name="TextBox 16"/>
            <p:cNvSpPr txBox="1"/>
            <p:nvPr/>
          </p:nvSpPr>
          <p:spPr>
            <a:xfrm>
              <a:off x="754761" y="3960971"/>
              <a:ext cx="2050336"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・改修内容の説明文の作成</a:t>
              </a:r>
            </a:p>
          </p:txBody>
        </p:sp>
      </p:grpSp>
      <p:grpSp>
        <p:nvGrpSpPr>
          <p:cNvPr id="29" name="Group 29"/>
          <p:cNvGrpSpPr/>
          <p:nvPr/>
        </p:nvGrpSpPr>
        <p:grpSpPr>
          <a:xfrm>
            <a:off x="4343400" y="2286000"/>
            <a:ext cx="3505200" cy="2857500"/>
            <a:chOff x="4343400" y="2286000"/>
            <a:chExt cx="3505200" cy="2857500"/>
          </a:xfrm>
        </p:grpSpPr>
        <p:sp>
          <p:nvSpPr>
            <p:cNvPr id="18" name="Rectangle 18"/>
            <p:cNvSpPr/>
            <p:nvPr/>
          </p:nvSpPr>
          <p:spPr>
            <a:xfrm>
              <a:off x="4343400" y="2286000"/>
              <a:ext cx="3505200" cy="2857500"/>
            </a:xfrm>
            <a:prstGeom prst="roundRect">
              <a:avLst>
                <a:gd name="adj" fmla="val 5333"/>
              </a:avLst>
            </a:prstGeom>
            <a:solidFill>
              <a:schemeClr val="lt2"/>
            </a:solidFill>
            <a:ln>
              <a:noFill/>
            </a:ln>
          </p:spPr>
        </p:sp>
        <p:grpSp>
          <p:nvGrpSpPr>
            <p:cNvPr id="21" name="Group 21"/>
            <p:cNvGrpSpPr/>
            <p:nvPr/>
          </p:nvGrpSpPr>
          <p:grpSpPr>
            <a:xfrm>
              <a:off x="4711700" y="2578100"/>
              <a:ext cx="177800" cy="254000"/>
              <a:chOff x="4711700" y="2578100"/>
              <a:chExt cx="177800" cy="254000"/>
            </a:xfrm>
          </p:grpSpPr>
          <p:sp>
            <p:nvSpPr>
              <p:cNvPr id="19" name="Freeform 19"/>
              <p:cNvSpPr/>
              <p:nvPr/>
            </p:nvSpPr>
            <p:spPr>
              <a:xfrm>
                <a:off x="4737100" y="2578100"/>
                <a:ext cx="127000" cy="127000"/>
              </a:xfrm>
              <a:custGeom>
                <a:avLst/>
                <a:gdLst/>
                <a:ahLst/>
                <a:cxnLst/>
                <a:rect l="l" t="t" r="r" b="b"/>
                <a:pathLst>
                  <a:path w="127000" h="127000">
                    <a:moveTo>
                      <a:pt x="63500" y="0"/>
                    </a:moveTo>
                    <a:cubicBezTo>
                      <a:pt x="98570" y="0"/>
                      <a:pt x="127000" y="28430"/>
                      <a:pt x="127000" y="63500"/>
                    </a:cubicBezTo>
                    <a:cubicBezTo>
                      <a:pt x="127000" y="98570"/>
                      <a:pt x="98570" y="127000"/>
                      <a:pt x="63500" y="127000"/>
                    </a:cubicBezTo>
                    <a:cubicBezTo>
                      <a:pt x="28430" y="127000"/>
                      <a:pt x="0" y="98570"/>
                      <a:pt x="0" y="63500"/>
                    </a:cubicBezTo>
                    <a:lnTo>
                      <a:pt x="63" y="60744"/>
                    </a:lnTo>
                    <a:cubicBezTo>
                      <a:pt x="1539" y="26779"/>
                      <a:pt x="29503" y="2"/>
                      <a:pt x="63500" y="0"/>
                    </a:cubicBezTo>
                    <a:close/>
                  </a:path>
                </a:pathLst>
              </a:custGeom>
              <a:solidFill>
                <a:schemeClr val="accent1"/>
              </a:solidFill>
              <a:ln>
                <a:noFill/>
              </a:ln>
            </p:spPr>
          </p:sp>
          <p:sp>
            <p:nvSpPr>
              <p:cNvPr id="20" name="Freeform 20"/>
              <p:cNvSpPr/>
              <p:nvPr/>
            </p:nvSpPr>
            <p:spPr>
              <a:xfrm>
                <a:off x="4711700" y="2730500"/>
                <a:ext cx="177800" cy="101600"/>
              </a:xfrm>
              <a:custGeom>
                <a:avLst/>
                <a:gdLst/>
                <a:ahLst/>
                <a:cxnLst/>
                <a:rect l="l" t="t" r="r" b="b"/>
                <a:pathLst>
                  <a:path w="177800" h="101600">
                    <a:moveTo>
                      <a:pt x="114300" y="0"/>
                    </a:moveTo>
                    <a:cubicBezTo>
                      <a:pt x="149370" y="0"/>
                      <a:pt x="177800" y="28430"/>
                      <a:pt x="177800" y="63500"/>
                    </a:cubicBezTo>
                    <a:lnTo>
                      <a:pt x="177800" y="76200"/>
                    </a:lnTo>
                    <a:cubicBezTo>
                      <a:pt x="177800" y="90228"/>
                      <a:pt x="166428" y="101600"/>
                      <a:pt x="152400" y="101600"/>
                    </a:cubicBezTo>
                    <a:lnTo>
                      <a:pt x="25400" y="101600"/>
                    </a:lnTo>
                    <a:cubicBezTo>
                      <a:pt x="11372" y="101600"/>
                      <a:pt x="0" y="90228"/>
                      <a:pt x="0" y="76200"/>
                    </a:cubicBezTo>
                    <a:lnTo>
                      <a:pt x="0" y="63500"/>
                    </a:lnTo>
                    <a:cubicBezTo>
                      <a:pt x="0" y="28430"/>
                      <a:pt x="28430" y="0"/>
                      <a:pt x="63500" y="0"/>
                    </a:cubicBezTo>
                    <a:lnTo>
                      <a:pt x="114300" y="0"/>
                    </a:lnTo>
                    <a:close/>
                  </a:path>
                </a:pathLst>
              </a:custGeom>
              <a:solidFill>
                <a:schemeClr val="accent1"/>
              </a:solidFill>
              <a:ln>
                <a:noFill/>
              </a:ln>
            </p:spPr>
          </p:sp>
        </p:grpSp>
        <p:sp>
          <p:nvSpPr>
            <p:cNvPr id="22" name="TextBox 22"/>
            <p:cNvSpPr txBox="1"/>
            <p:nvPr/>
          </p:nvSpPr>
          <p:spPr>
            <a:xfrm>
              <a:off x="5096256" y="2586990"/>
              <a:ext cx="781583"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利用者</a:t>
              </a:r>
            </a:p>
          </p:txBody>
        </p:sp>
        <p:sp>
          <p:nvSpPr>
            <p:cNvPr id="23" name="Line 23"/>
            <p:cNvSpPr/>
            <p:nvPr/>
          </p:nvSpPr>
          <p:spPr>
            <a:xfrm>
              <a:off x="4648200" y="3048000"/>
              <a:ext cx="2895600" cy="9525"/>
            </a:xfrm>
            <a:custGeom>
              <a:avLst/>
              <a:gdLst/>
              <a:ahLst/>
              <a:cxnLst/>
              <a:rect l="l" t="t" r="r" b="b"/>
              <a:pathLst>
                <a:path w="2895600" h="9525">
                  <a:moveTo>
                    <a:pt x="0" y="0"/>
                  </a:moveTo>
                  <a:lnTo>
                    <a:pt x="2895600" y="0"/>
                  </a:lnTo>
                </a:path>
              </a:pathLst>
            </a:custGeom>
            <a:noFill/>
            <a:ln w="9525">
              <a:solidFill>
                <a:srgbClr val="CFD7DE"/>
              </a:solidFill>
            </a:ln>
          </p:spPr>
        </p:sp>
        <p:sp>
          <p:nvSpPr>
            <p:cNvPr id="24" name="TextBox 24"/>
            <p:cNvSpPr txBox="1"/>
            <p:nvPr/>
          </p:nvSpPr>
          <p:spPr>
            <a:xfrm>
              <a:off x="4640961" y="3237071"/>
              <a:ext cx="1476855"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・作業と目的の選択</a:t>
              </a:r>
            </a:p>
          </p:txBody>
        </p:sp>
        <p:sp>
          <p:nvSpPr>
            <p:cNvPr id="25" name="TextBox 25"/>
            <p:cNvSpPr txBox="1"/>
            <p:nvPr/>
          </p:nvSpPr>
          <p:spPr>
            <a:xfrm>
              <a:off x="4640961" y="3599021"/>
              <a:ext cx="1639341"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・依頼文とコードファイルの</a:t>
              </a:r>
            </a:p>
          </p:txBody>
        </p:sp>
        <p:sp>
          <p:nvSpPr>
            <p:cNvPr id="26" name="TextBox 26"/>
            <p:cNvSpPr txBox="1"/>
            <p:nvPr/>
          </p:nvSpPr>
          <p:spPr>
            <a:xfrm>
              <a:off x="4640961" y="3865721"/>
              <a:ext cx="798236"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 xml:space="preserve">　受け渡し</a:t>
              </a:r>
            </a:p>
          </p:txBody>
        </p:sp>
        <p:sp>
          <p:nvSpPr>
            <p:cNvPr id="27" name="TextBox 27"/>
            <p:cNvSpPr txBox="1"/>
            <p:nvPr/>
          </p:nvSpPr>
          <p:spPr>
            <a:xfrm>
              <a:off x="4640961" y="4227671"/>
              <a:ext cx="1964314"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・差分の確認と、改修後の</a:t>
              </a:r>
            </a:p>
          </p:txBody>
        </p:sp>
        <p:sp>
          <p:nvSpPr>
            <p:cNvPr id="28" name="TextBox 28"/>
            <p:cNvSpPr txBox="1"/>
            <p:nvPr/>
          </p:nvSpPr>
          <p:spPr>
            <a:xfrm>
              <a:off x="4640961" y="4494371"/>
              <a:ext cx="970280"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 xml:space="preserve">　動作確認</a:t>
              </a:r>
            </a:p>
          </p:txBody>
        </p:sp>
      </p:grpSp>
      <p:grpSp>
        <p:nvGrpSpPr>
          <p:cNvPr id="40" name="Group 40"/>
          <p:cNvGrpSpPr/>
          <p:nvPr/>
        </p:nvGrpSpPr>
        <p:grpSpPr>
          <a:xfrm>
            <a:off x="8229600" y="2286000"/>
            <a:ext cx="3505200" cy="2857500"/>
            <a:chOff x="8229600" y="2286000"/>
            <a:chExt cx="3505200" cy="2857500"/>
          </a:xfrm>
        </p:grpSpPr>
        <p:sp>
          <p:nvSpPr>
            <p:cNvPr id="30" name="Rectangle 30"/>
            <p:cNvSpPr/>
            <p:nvPr/>
          </p:nvSpPr>
          <p:spPr>
            <a:xfrm>
              <a:off x="8229600" y="2286000"/>
              <a:ext cx="3505200" cy="2857500"/>
            </a:xfrm>
            <a:prstGeom prst="roundRect">
              <a:avLst>
                <a:gd name="adj" fmla="val 5333"/>
              </a:avLst>
            </a:prstGeom>
            <a:solidFill>
              <a:schemeClr val="lt2"/>
            </a:solidFill>
            <a:ln>
              <a:noFill/>
            </a:ln>
          </p:spPr>
        </p:sp>
        <p:grpSp>
          <p:nvGrpSpPr>
            <p:cNvPr id="33" name="Group 33"/>
            <p:cNvGrpSpPr/>
            <p:nvPr/>
          </p:nvGrpSpPr>
          <p:grpSpPr>
            <a:xfrm>
              <a:off x="8585199" y="2578100"/>
              <a:ext cx="203202" cy="254000"/>
              <a:chOff x="8585199" y="2578100"/>
              <a:chExt cx="203202" cy="254000"/>
            </a:xfrm>
          </p:grpSpPr>
          <p:sp>
            <p:nvSpPr>
              <p:cNvPr id="31" name="Freeform 31"/>
              <p:cNvSpPr/>
              <p:nvPr/>
            </p:nvSpPr>
            <p:spPr>
              <a:xfrm>
                <a:off x="8585199" y="2578100"/>
                <a:ext cx="203202" cy="254000"/>
              </a:xfrm>
              <a:custGeom>
                <a:avLst/>
                <a:gdLst/>
                <a:ahLst/>
                <a:cxnLst/>
                <a:rect l="l" t="t" r="r" b="b"/>
                <a:pathLst>
                  <a:path w="203202" h="254000">
                    <a:moveTo>
                      <a:pt x="101601" y="0"/>
                    </a:moveTo>
                    <a:lnTo>
                      <a:pt x="103087" y="89"/>
                    </a:lnTo>
                    <a:cubicBezTo>
                      <a:pt x="108922" y="777"/>
                      <a:pt x="113524" y="5379"/>
                      <a:pt x="114212" y="11214"/>
                    </a:cubicBezTo>
                    <a:lnTo>
                      <a:pt x="114301" y="12700"/>
                    </a:lnTo>
                    <a:lnTo>
                      <a:pt x="114301" y="63500"/>
                    </a:lnTo>
                    <a:lnTo>
                      <a:pt x="114364" y="65405"/>
                    </a:lnTo>
                    <a:cubicBezTo>
                      <a:pt x="115303" y="77900"/>
                      <a:pt x="125215" y="87844"/>
                      <a:pt x="137707" y="88824"/>
                    </a:cubicBezTo>
                    <a:lnTo>
                      <a:pt x="139701" y="88900"/>
                    </a:lnTo>
                    <a:lnTo>
                      <a:pt x="190501" y="88900"/>
                    </a:lnTo>
                    <a:lnTo>
                      <a:pt x="191987" y="88989"/>
                    </a:lnTo>
                    <a:cubicBezTo>
                      <a:pt x="197822" y="89677"/>
                      <a:pt x="202424" y="94278"/>
                      <a:pt x="203112" y="100114"/>
                    </a:cubicBezTo>
                    <a:lnTo>
                      <a:pt x="203201" y="101600"/>
                    </a:lnTo>
                    <a:lnTo>
                      <a:pt x="203201" y="215899"/>
                    </a:lnTo>
                    <a:cubicBezTo>
                      <a:pt x="203202" y="236074"/>
                      <a:pt x="187476" y="252752"/>
                      <a:pt x="167336" y="253936"/>
                    </a:cubicBezTo>
                    <a:lnTo>
                      <a:pt x="165101" y="253999"/>
                    </a:lnTo>
                    <a:lnTo>
                      <a:pt x="38101" y="253999"/>
                    </a:lnTo>
                    <a:cubicBezTo>
                      <a:pt x="17926" y="254000"/>
                      <a:pt x="1248" y="238275"/>
                      <a:pt x="65" y="218135"/>
                    </a:cubicBezTo>
                    <a:lnTo>
                      <a:pt x="1" y="215899"/>
                    </a:lnTo>
                    <a:lnTo>
                      <a:pt x="1" y="38100"/>
                    </a:lnTo>
                    <a:cubicBezTo>
                      <a:pt x="0" y="17925"/>
                      <a:pt x="15726" y="1247"/>
                      <a:pt x="35866" y="63"/>
                    </a:cubicBezTo>
                    <a:lnTo>
                      <a:pt x="38101" y="0"/>
                    </a:lnTo>
                    <a:close/>
                    <a:moveTo>
                      <a:pt x="81878" y="141046"/>
                    </a:moveTo>
                    <a:cubicBezTo>
                      <a:pt x="75607" y="137914"/>
                      <a:pt x="67985" y="140455"/>
                      <a:pt x="64847" y="146723"/>
                    </a:cubicBezTo>
                    <a:lnTo>
                      <a:pt x="52147" y="172123"/>
                    </a:lnTo>
                    <a:cubicBezTo>
                      <a:pt x="50361" y="175697"/>
                      <a:pt x="50361" y="179903"/>
                      <a:pt x="52147" y="183476"/>
                    </a:cubicBezTo>
                    <a:lnTo>
                      <a:pt x="64847" y="208876"/>
                    </a:lnTo>
                    <a:cubicBezTo>
                      <a:pt x="67985" y="215144"/>
                      <a:pt x="75607" y="217685"/>
                      <a:pt x="81878" y="214553"/>
                    </a:cubicBezTo>
                    <a:lnTo>
                      <a:pt x="83173" y="213817"/>
                    </a:lnTo>
                    <a:cubicBezTo>
                      <a:pt x="88552" y="210281"/>
                      <a:pt x="90435" y="203279"/>
                      <a:pt x="87555" y="197523"/>
                    </a:cubicBezTo>
                    <a:lnTo>
                      <a:pt x="77700" y="177800"/>
                    </a:lnTo>
                    <a:lnTo>
                      <a:pt x="87555" y="158077"/>
                    </a:lnTo>
                    <a:cubicBezTo>
                      <a:pt x="90686" y="151806"/>
                      <a:pt x="88146" y="144183"/>
                      <a:pt x="81878" y="141046"/>
                    </a:cubicBezTo>
                    <a:moveTo>
                      <a:pt x="138355" y="146723"/>
                    </a:moveTo>
                    <a:cubicBezTo>
                      <a:pt x="135217" y="140455"/>
                      <a:pt x="127595" y="137914"/>
                      <a:pt x="121324" y="141046"/>
                    </a:cubicBezTo>
                    <a:lnTo>
                      <a:pt x="120029" y="141782"/>
                    </a:lnTo>
                    <a:cubicBezTo>
                      <a:pt x="114650" y="145319"/>
                      <a:pt x="112767" y="152320"/>
                      <a:pt x="115647" y="158077"/>
                    </a:cubicBezTo>
                    <a:lnTo>
                      <a:pt x="125477" y="177800"/>
                    </a:lnTo>
                    <a:lnTo>
                      <a:pt x="115634" y="197523"/>
                    </a:lnTo>
                    <a:cubicBezTo>
                      <a:pt x="112757" y="203751"/>
                      <a:pt x="115347" y="211139"/>
                      <a:pt x="121484" y="214208"/>
                    </a:cubicBezTo>
                    <a:cubicBezTo>
                      <a:pt x="127621" y="217276"/>
                      <a:pt x="135085" y="214915"/>
                      <a:pt x="138342" y="208876"/>
                    </a:cubicBezTo>
                    <a:lnTo>
                      <a:pt x="151042" y="183476"/>
                    </a:lnTo>
                    <a:cubicBezTo>
                      <a:pt x="152828" y="179903"/>
                      <a:pt x="152828" y="175697"/>
                      <a:pt x="151042" y="172123"/>
                    </a:cubicBezTo>
                    <a:close/>
                  </a:path>
                </a:pathLst>
              </a:custGeom>
              <a:solidFill>
                <a:schemeClr val="accent1"/>
              </a:solidFill>
              <a:ln>
                <a:noFill/>
              </a:ln>
            </p:spPr>
          </p:sp>
          <p:sp>
            <p:nvSpPr>
              <p:cNvPr id="32" name="Freeform 32"/>
              <p:cNvSpPr/>
              <p:nvPr/>
            </p:nvSpPr>
            <p:spPr>
              <a:xfrm>
                <a:off x="8724887" y="2590787"/>
                <a:ext cx="50813" cy="50813"/>
              </a:xfrm>
              <a:custGeom>
                <a:avLst/>
                <a:gdLst/>
                <a:ahLst/>
                <a:cxnLst/>
                <a:rect l="l" t="t" r="r" b="b"/>
                <a:pathLst>
                  <a:path w="50813" h="50813">
                    <a:moveTo>
                      <a:pt x="50813" y="50813"/>
                    </a:moveTo>
                    <a:lnTo>
                      <a:pt x="13" y="50813"/>
                    </a:lnTo>
                    <a:lnTo>
                      <a:pt x="0" y="0"/>
                    </a:lnTo>
                    <a:close/>
                  </a:path>
                </a:pathLst>
              </a:custGeom>
              <a:solidFill>
                <a:schemeClr val="accent1"/>
              </a:solidFill>
              <a:ln>
                <a:noFill/>
              </a:ln>
            </p:spPr>
          </p:sp>
        </p:grpSp>
        <p:sp>
          <p:nvSpPr>
            <p:cNvPr id="34" name="TextBox 34"/>
            <p:cNvSpPr txBox="1"/>
            <p:nvPr/>
          </p:nvSpPr>
          <p:spPr>
            <a:xfrm>
              <a:off x="8982456" y="2586990"/>
              <a:ext cx="1560590"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MacroStudio</a:t>
              </a:r>
            </a:p>
          </p:txBody>
        </p:sp>
        <p:sp>
          <p:nvSpPr>
            <p:cNvPr id="35" name="Line 35"/>
            <p:cNvSpPr/>
            <p:nvPr/>
          </p:nvSpPr>
          <p:spPr>
            <a:xfrm>
              <a:off x="8534400" y="3048000"/>
              <a:ext cx="2895600" cy="9525"/>
            </a:xfrm>
            <a:custGeom>
              <a:avLst/>
              <a:gdLst/>
              <a:ahLst/>
              <a:cxnLst/>
              <a:rect l="l" t="t" r="r" b="b"/>
              <a:pathLst>
                <a:path w="2895600" h="9525">
                  <a:moveTo>
                    <a:pt x="0" y="0"/>
                  </a:moveTo>
                  <a:lnTo>
                    <a:pt x="2895600" y="0"/>
                  </a:lnTo>
                </a:path>
              </a:pathLst>
            </a:custGeom>
            <a:noFill/>
            <a:ln w="9525">
              <a:solidFill>
                <a:srgbClr val="CFD7DE"/>
              </a:solidFill>
            </a:ln>
          </p:spPr>
        </p:sp>
        <p:sp>
          <p:nvSpPr>
            <p:cNvPr id="36" name="TextBox 36"/>
            <p:cNvSpPr txBox="1"/>
            <p:nvPr/>
          </p:nvSpPr>
          <p:spPr>
            <a:xfrm>
              <a:off x="8527161" y="3237071"/>
              <a:ext cx="1448181"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・ブックからのコード抽出</a:t>
              </a:r>
            </a:p>
          </p:txBody>
        </p:sp>
        <p:sp>
          <p:nvSpPr>
            <p:cNvPr id="37" name="TextBox 37"/>
            <p:cNvSpPr txBox="1"/>
            <p:nvPr/>
          </p:nvSpPr>
          <p:spPr>
            <a:xfrm>
              <a:off x="8527161" y="3599021"/>
              <a:ext cx="1668015"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・返答の機械的な検証</a:t>
              </a:r>
            </a:p>
          </p:txBody>
        </p:sp>
        <p:sp>
          <p:nvSpPr>
            <p:cNvPr id="38" name="TextBox 38"/>
            <p:cNvSpPr txBox="1"/>
            <p:nvPr/>
          </p:nvSpPr>
          <p:spPr>
            <a:xfrm>
              <a:off x="8527161" y="3960971"/>
              <a:ext cx="1639341"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・別ファイルへの書き戻しと</a:t>
              </a:r>
            </a:p>
          </p:txBody>
        </p:sp>
        <p:sp>
          <p:nvSpPr>
            <p:cNvPr id="39" name="TextBox 39"/>
            <p:cNvSpPr txBox="1"/>
            <p:nvPr/>
          </p:nvSpPr>
          <p:spPr>
            <a:xfrm>
              <a:off x="8527161" y="4227671"/>
              <a:ext cx="970280"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 xml:space="preserve">　再読検証</a:t>
              </a:r>
            </a:p>
          </p:txBody>
        </p:sp>
      </p:grpSp>
      <p:grpSp>
        <p:nvGrpSpPr>
          <p:cNvPr id="42" name="Group 42"/>
          <p:cNvGrpSpPr/>
          <p:nvPr/>
        </p:nvGrpSpPr>
        <p:grpSpPr>
          <a:xfrm>
            <a:off x="449961" y="5580221"/>
            <a:ext cx="7660894" cy="278702"/>
            <a:chOff x="449961" y="5580221"/>
            <a:chExt cx="7660894" cy="278702"/>
          </a:xfrm>
        </p:grpSpPr>
        <p:sp>
          <p:nvSpPr>
            <p:cNvPr id="41" name="TextBox 41"/>
            <p:cNvSpPr txBox="1"/>
            <p:nvPr/>
          </p:nvSpPr>
          <p:spPr>
            <a:xfrm>
              <a:off x="449961" y="5580221"/>
              <a:ext cx="7660894" cy="278702"/>
            </a:xfrm>
            <a:prstGeom prst="rect">
              <a:avLst/>
            </a:prstGeom>
            <a:noFill/>
            <a:ln>
              <a:noFill/>
            </a:ln>
          </p:spPr>
          <p:txBody>
            <a:bodyPr wrap="none" lIns="0" tIns="0" rIns="0" bIns="0" anchor="t" anchorCtr="0">
              <a:spAutoFit/>
            </a:bodyPr>
            <a:lstStyle/>
            <a:p>
              <a:pPr algn="l"/>
              <a:r>
                <a:rPr lang="zh-CN" sz="1420" dirty="0">
                  <a:solidFill>
                    <a:srgbClr val="5D6B7A"/>
                  </a:solidFill>
                  <a:latin typeface="+mn-lt"/>
                  <a:ea typeface="+mn-ea"/>
                  <a:cs typeface="+mn-cs"/>
                </a:rPr>
                <a:t>利用者がコードを読み書きする工程はありません。利用者が行うのは、選択・受け渡し・確認の 3 種類の操作です。</a:t>
              </a:r>
            </a:p>
          </p:txBody>
        </p:sp>
      </p:grpSp>
      <p:grpSp>
        <p:nvGrpSpPr>
          <p:cNvPr id="45" name="Group 45"/>
          <p:cNvGrpSpPr/>
          <p:nvPr/>
        </p:nvGrpSpPr>
        <p:grpSpPr>
          <a:xfrm>
            <a:off x="451866" y="6477952"/>
            <a:ext cx="11288268" cy="205359"/>
            <a:chOff x="451866" y="6477952"/>
            <a:chExt cx="11288268" cy="205359"/>
          </a:xfrm>
        </p:grpSpPr>
        <p:sp>
          <p:nvSpPr>
            <p:cNvPr id="43" name="TextBox 43"/>
            <p:cNvSpPr txBox="1"/>
            <p:nvPr/>
          </p:nvSpPr>
          <p:spPr>
            <a:xfrm>
              <a:off x="451866" y="6477952"/>
              <a:ext cx="2252718"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MacroStudio 操作マニュアル（ベータ版）</a:t>
              </a:r>
            </a:p>
          </p:txBody>
        </p:sp>
        <p:sp>
          <p:nvSpPr>
            <p:cNvPr id="44" name="TextBox 44"/>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65397" y="486728"/>
              <a:ext cx="30750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概要</a:t>
              </a:r>
            </a:p>
          </p:txBody>
        </p:sp>
        <p:sp>
          <p:nvSpPr>
            <p:cNvPr id="4" name="TextBox 4"/>
            <p:cNvSpPr txBox="1"/>
            <p:nvPr/>
          </p:nvSpPr>
          <p:spPr>
            <a:xfrm>
              <a:off x="441960" y="685800"/>
              <a:ext cx="4483036"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二つの作業と作成されるファイル</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1" name="Group 11"/>
          <p:cNvGrpSpPr/>
          <p:nvPr/>
        </p:nvGrpSpPr>
        <p:grpSpPr>
          <a:xfrm>
            <a:off x="457200" y="1428750"/>
            <a:ext cx="5867400" cy="3715131"/>
            <a:chOff x="457200" y="1428750"/>
            <a:chExt cx="5867400" cy="3715131"/>
          </a:xfrm>
        </p:grpSpPr>
        <p:sp>
          <p:nvSpPr>
            <p:cNvPr id="7" name="Rectangle 7"/>
            <p:cNvSpPr/>
            <p:nvPr/>
          </p:nvSpPr>
          <p:spPr>
            <a:xfrm>
              <a:off x="457200" y="1428750"/>
              <a:ext cx="5867400" cy="3362325"/>
            </a:xfrm>
            <a:prstGeom prst="roundRect">
              <a:avLst>
                <a:gd name="adj" fmla="val 3966"/>
              </a:avLst>
            </a:prstGeom>
            <a:solidFill>
              <a:schemeClr val="lt2"/>
            </a:solidFill>
            <a:ln>
              <a:noFill/>
            </a:ln>
          </p:spPr>
        </p:sp>
        <p:pic>
          <p:nvPicPr>
            <p:cNvPr id="8" name="Image 8"/>
            <p:cNvPicPr>
              <a:picLocks noChangeAspect="1"/>
            </p:cNvPicPr>
            <p:nvPr/>
          </p:nvPicPr>
          <p:blipFill>
            <a:blip r:embed="rId2"/>
            <a:stretch>
              <a:fillRect/>
            </a:stretch>
          </p:blipFill>
          <p:spPr>
            <a:xfrm>
              <a:off x="533400" y="1504950"/>
              <a:ext cx="5715000" cy="3214688"/>
            </a:xfrm>
            <a:prstGeom prst="roundRect">
              <a:avLst>
                <a:gd name="adj" fmla="val 2962"/>
              </a:avLst>
            </a:prstGeom>
          </p:spPr>
        </p:pic>
        <p:sp>
          <p:nvSpPr>
            <p:cNvPr id="9" name="Rectangle 9"/>
            <p:cNvSpPr/>
            <p:nvPr/>
          </p:nvSpPr>
          <p:spPr>
            <a:xfrm>
              <a:off x="533400" y="1504950"/>
              <a:ext cx="5715000" cy="3214688"/>
            </a:xfrm>
            <a:prstGeom prst="roundRect">
              <a:avLst>
                <a:gd name="adj" fmla="val 2963"/>
              </a:avLst>
            </a:prstGeom>
            <a:noFill/>
            <a:ln w="14288">
              <a:solidFill>
                <a:schemeClr val="accent6"/>
              </a:solidFill>
            </a:ln>
          </p:spPr>
        </p:sp>
        <p:sp>
          <p:nvSpPr>
            <p:cNvPr id="10" name="TextBox 10"/>
            <p:cNvSpPr txBox="1"/>
            <p:nvPr/>
          </p:nvSpPr>
          <p:spPr>
            <a:xfrm>
              <a:off x="527304" y="4909185"/>
              <a:ext cx="4785817"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最初の画面「作業を選んでください」。作業はブックの読み込みより先に選択します。</a:t>
              </a:r>
            </a:p>
          </p:txBody>
        </p:sp>
      </p:grpSp>
      <p:grpSp>
        <p:nvGrpSpPr>
          <p:cNvPr id="19" name="Group 19"/>
          <p:cNvGrpSpPr/>
          <p:nvPr/>
        </p:nvGrpSpPr>
        <p:grpSpPr>
          <a:xfrm>
            <a:off x="6629400" y="1428750"/>
            <a:ext cx="5105400" cy="1809750"/>
            <a:chOff x="6629400" y="1428750"/>
            <a:chExt cx="5105400" cy="1809750"/>
          </a:xfrm>
        </p:grpSpPr>
        <p:sp>
          <p:nvSpPr>
            <p:cNvPr id="12" name="Rectangle 12"/>
            <p:cNvSpPr/>
            <p:nvPr/>
          </p:nvSpPr>
          <p:spPr>
            <a:xfrm>
              <a:off x="6629400" y="1428750"/>
              <a:ext cx="5105400" cy="1809750"/>
            </a:xfrm>
            <a:prstGeom prst="roundRect">
              <a:avLst>
                <a:gd name="adj" fmla="val 7368"/>
              </a:avLst>
            </a:prstGeom>
            <a:solidFill>
              <a:schemeClr val="lt2"/>
            </a:solidFill>
            <a:ln>
              <a:noFill/>
            </a:ln>
          </p:spPr>
        </p:sp>
        <p:sp>
          <p:nvSpPr>
            <p:cNvPr id="13" name="TextBox 13"/>
            <p:cNvSpPr txBox="1"/>
            <p:nvPr/>
          </p:nvSpPr>
          <p:spPr>
            <a:xfrm>
              <a:off x="6849618" y="1555432"/>
              <a:ext cx="1125703"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AIで改修する</a:t>
              </a:r>
            </a:p>
          </p:txBody>
        </p:sp>
        <p:sp>
          <p:nvSpPr>
            <p:cNvPr id="14" name="TextBox 14"/>
            <p:cNvSpPr txBox="1"/>
            <p:nvPr/>
          </p:nvSpPr>
          <p:spPr>
            <a:xfrm>
              <a:off x="6851523" y="1881664"/>
              <a:ext cx="4865045"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AI の返答を取り込み、改修済みブックを作成します。手順 4 まで進みます。</a:t>
              </a:r>
            </a:p>
          </p:txBody>
        </p:sp>
        <p:sp>
          <p:nvSpPr>
            <p:cNvPr id="15" name="TextBox 15"/>
            <p:cNvSpPr txBox="1"/>
            <p:nvPr/>
          </p:nvSpPr>
          <p:spPr>
            <a:xfrm>
              <a:off x="6851904" y="2194560"/>
              <a:ext cx="298460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作成されるファイル: request.md（依頼文）／</a:t>
              </a:r>
            </a:p>
          </p:txBody>
        </p:sp>
        <p:sp>
          <p:nvSpPr>
            <p:cNvPr id="16" name="TextBox 16"/>
            <p:cNvSpPr txBox="1"/>
            <p:nvPr/>
          </p:nvSpPr>
          <p:spPr>
            <a:xfrm>
              <a:off x="6851904" y="2442210"/>
              <a:ext cx="3614623"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source-code.md（コード全文）／改修済みブック（元の</a:t>
              </a:r>
            </a:p>
          </p:txBody>
        </p:sp>
        <p:sp>
          <p:nvSpPr>
            <p:cNvPr id="17" name="TextBox 17"/>
            <p:cNvSpPr txBox="1"/>
            <p:nvPr/>
          </p:nvSpPr>
          <p:spPr>
            <a:xfrm>
              <a:off x="6851904" y="2689860"/>
              <a:ext cx="2564587"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ブックのコピーに変更を書き込んだ別ファイル）／</a:t>
              </a:r>
            </a:p>
          </p:txBody>
        </p:sp>
        <p:sp>
          <p:nvSpPr>
            <p:cNvPr id="18" name="TextBox 18"/>
            <p:cNvSpPr txBox="1"/>
            <p:nvPr/>
          </p:nvSpPr>
          <p:spPr>
            <a:xfrm>
              <a:off x="6851904" y="2937510"/>
              <a:ext cx="2933700"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Diff レポート／result.md（改修の概要メモ）</a:t>
              </a:r>
            </a:p>
          </p:txBody>
        </p:sp>
      </p:grpSp>
      <p:grpSp>
        <p:nvGrpSpPr>
          <p:cNvPr id="25" name="Group 25"/>
          <p:cNvGrpSpPr/>
          <p:nvPr/>
        </p:nvGrpSpPr>
        <p:grpSpPr>
          <a:xfrm>
            <a:off x="6629400" y="3390900"/>
            <a:ext cx="5105400" cy="1409700"/>
            <a:chOff x="6629400" y="3390900"/>
            <a:chExt cx="5105400" cy="1409700"/>
          </a:xfrm>
        </p:grpSpPr>
        <p:sp>
          <p:nvSpPr>
            <p:cNvPr id="20" name="Rectangle 20"/>
            <p:cNvSpPr/>
            <p:nvPr/>
          </p:nvSpPr>
          <p:spPr>
            <a:xfrm>
              <a:off x="6629400" y="3390900"/>
              <a:ext cx="5105400" cy="1409700"/>
            </a:xfrm>
            <a:prstGeom prst="roundRect">
              <a:avLst>
                <a:gd name="adj" fmla="val 9459"/>
              </a:avLst>
            </a:prstGeom>
            <a:solidFill>
              <a:schemeClr val="lt2"/>
            </a:solidFill>
            <a:ln>
              <a:noFill/>
            </a:ln>
          </p:spPr>
        </p:sp>
        <p:sp>
          <p:nvSpPr>
            <p:cNvPr id="21" name="TextBox 21"/>
            <p:cNvSpPr txBox="1"/>
            <p:nvPr/>
          </p:nvSpPr>
          <p:spPr>
            <a:xfrm>
              <a:off x="6849618" y="3517582"/>
              <a:ext cx="1125703"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AIで相談する</a:t>
              </a:r>
            </a:p>
          </p:txBody>
        </p:sp>
        <p:sp>
          <p:nvSpPr>
            <p:cNvPr id="22" name="TextBox 22"/>
            <p:cNvSpPr txBox="1"/>
            <p:nvPr/>
          </p:nvSpPr>
          <p:spPr>
            <a:xfrm>
              <a:off x="6851523" y="3843814"/>
              <a:ext cx="4751578"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診断や質問のための依頼文とコード全文を作成します。手順 2 で完了します。</a:t>
              </a:r>
            </a:p>
          </p:txBody>
        </p:sp>
        <p:sp>
          <p:nvSpPr>
            <p:cNvPr id="23" name="TextBox 23"/>
            <p:cNvSpPr txBox="1"/>
            <p:nvPr/>
          </p:nvSpPr>
          <p:spPr>
            <a:xfrm>
              <a:off x="6851904" y="4156710"/>
              <a:ext cx="4228490"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作成されるファイル: request.md と source-code.md の 2 つのみ。</a:t>
              </a:r>
            </a:p>
          </p:txBody>
        </p:sp>
        <p:sp>
          <p:nvSpPr>
            <p:cNvPr id="24" name="TextBox 24"/>
            <p:cNvSpPr txBox="1"/>
            <p:nvPr/>
          </p:nvSpPr>
          <p:spPr>
            <a:xfrm>
              <a:off x="6851904" y="4404360"/>
              <a:ext cx="1207618"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ブックは作成しません。</a:t>
              </a:r>
            </a:p>
          </p:txBody>
        </p:sp>
      </p:grpSp>
      <p:grpSp>
        <p:nvGrpSpPr>
          <p:cNvPr id="30" name="Group 30"/>
          <p:cNvGrpSpPr/>
          <p:nvPr/>
        </p:nvGrpSpPr>
        <p:grpSpPr>
          <a:xfrm>
            <a:off x="457200" y="5334000"/>
            <a:ext cx="11277600" cy="762000"/>
            <a:chOff x="457200" y="5334000"/>
            <a:chExt cx="11277600" cy="762000"/>
          </a:xfrm>
        </p:grpSpPr>
        <p:sp>
          <p:nvSpPr>
            <p:cNvPr id="26" name="Rectangle 26"/>
            <p:cNvSpPr/>
            <p:nvPr/>
          </p:nvSpPr>
          <p:spPr>
            <a:xfrm>
              <a:off x="457200" y="5334000"/>
              <a:ext cx="11277600" cy="762000"/>
            </a:xfrm>
            <a:prstGeom prst="roundRect">
              <a:avLst>
                <a:gd name="adj" fmla="val 15000"/>
              </a:avLst>
            </a:prstGeom>
            <a:solidFill>
              <a:schemeClr val="lt1"/>
            </a:solidFill>
            <a:ln w="14288">
              <a:solidFill>
                <a:srgbClr val="3A7A47"/>
              </a:solidFill>
            </a:ln>
          </p:spPr>
        </p:sp>
        <p:sp>
          <p:nvSpPr>
            <p:cNvPr id="27" name="Freeform 27"/>
            <p:cNvSpPr/>
            <p:nvPr/>
          </p:nvSpPr>
          <p:spPr>
            <a:xfrm>
              <a:off x="739865" y="5602287"/>
              <a:ext cx="215709" cy="206485"/>
            </a:xfrm>
            <a:custGeom>
              <a:avLst/>
              <a:gdLst/>
              <a:ahLst/>
              <a:cxnLst/>
              <a:rect l="l" t="t" r="r" b="b"/>
              <a:pathLst>
                <a:path w="215709" h="206485">
                  <a:moveTo>
                    <a:pt x="107839" y="0"/>
                  </a:moveTo>
                  <a:lnTo>
                    <a:pt x="109056" y="72"/>
                  </a:lnTo>
                  <a:lnTo>
                    <a:pt x="109665" y="155"/>
                  </a:lnTo>
                  <a:lnTo>
                    <a:pt x="110295" y="289"/>
                  </a:lnTo>
                  <a:lnTo>
                    <a:pt x="111440" y="640"/>
                  </a:lnTo>
                  <a:cubicBezTo>
                    <a:pt x="112231" y="931"/>
                    <a:pt x="112983" y="1320"/>
                    <a:pt x="113679" y="1795"/>
                  </a:cubicBezTo>
                  <a:lnTo>
                    <a:pt x="114752" y="2642"/>
                  </a:lnTo>
                  <a:lnTo>
                    <a:pt x="117384" y="4891"/>
                  </a:lnTo>
                  <a:cubicBezTo>
                    <a:pt x="138200" y="22181"/>
                    <a:pt x="164508" y="31465"/>
                    <a:pt x="191565" y="31070"/>
                  </a:cubicBezTo>
                  <a:lnTo>
                    <a:pt x="195094" y="30966"/>
                  </a:lnTo>
                  <a:cubicBezTo>
                    <a:pt x="199842" y="30750"/>
                    <a:pt x="204124" y="33805"/>
                    <a:pt x="205464" y="38365"/>
                  </a:cubicBezTo>
                  <a:cubicBezTo>
                    <a:pt x="215709" y="73214"/>
                    <a:pt x="211383" y="110728"/>
                    <a:pt x="193475" y="142331"/>
                  </a:cubicBezTo>
                  <a:cubicBezTo>
                    <a:pt x="175568" y="173934"/>
                    <a:pt x="145610" y="196923"/>
                    <a:pt x="110449" y="206044"/>
                  </a:cubicBezTo>
                  <a:cubicBezTo>
                    <a:pt x="108751" y="206485"/>
                    <a:pt x="106968" y="206485"/>
                    <a:pt x="105269" y="206044"/>
                  </a:cubicBezTo>
                  <a:cubicBezTo>
                    <a:pt x="70107" y="196926"/>
                    <a:pt x="40147" y="173937"/>
                    <a:pt x="22237" y="142334"/>
                  </a:cubicBezTo>
                  <a:cubicBezTo>
                    <a:pt x="4327" y="110731"/>
                    <a:pt x="0" y="73216"/>
                    <a:pt x="10244" y="38365"/>
                  </a:cubicBezTo>
                  <a:cubicBezTo>
                    <a:pt x="11585" y="33805"/>
                    <a:pt x="15866" y="30750"/>
                    <a:pt x="20615" y="30966"/>
                  </a:cubicBezTo>
                  <a:cubicBezTo>
                    <a:pt x="48862" y="32258"/>
                    <a:pt x="76574" y="22959"/>
                    <a:pt x="98325" y="4891"/>
                  </a:cubicBezTo>
                  <a:lnTo>
                    <a:pt x="101039" y="2569"/>
                  </a:lnTo>
                  <a:lnTo>
                    <a:pt x="102029" y="1795"/>
                  </a:lnTo>
                  <a:cubicBezTo>
                    <a:pt x="102725" y="1320"/>
                    <a:pt x="103477" y="931"/>
                    <a:pt x="104269" y="640"/>
                  </a:cubicBezTo>
                  <a:lnTo>
                    <a:pt x="105424" y="289"/>
                  </a:lnTo>
                  <a:cubicBezTo>
                    <a:pt x="105829" y="191"/>
                    <a:pt x="106239" y="119"/>
                    <a:pt x="106652" y="72"/>
                  </a:cubicBezTo>
                  <a:lnTo>
                    <a:pt x="107839" y="0"/>
                  </a:lnTo>
                  <a:close/>
                  <a:moveTo>
                    <a:pt x="146121" y="75254"/>
                  </a:moveTo>
                  <a:cubicBezTo>
                    <a:pt x="144186" y="73317"/>
                    <a:pt x="141559" y="72228"/>
                    <a:pt x="138821" y="72228"/>
                  </a:cubicBezTo>
                  <a:cubicBezTo>
                    <a:pt x="136082" y="72228"/>
                    <a:pt x="133456" y="73317"/>
                    <a:pt x="131520" y="75254"/>
                  </a:cubicBezTo>
                  <a:lnTo>
                    <a:pt x="97541" y="109224"/>
                  </a:lnTo>
                  <a:lnTo>
                    <a:pt x="84199" y="95892"/>
                  </a:lnTo>
                  <a:lnTo>
                    <a:pt x="83229" y="95035"/>
                  </a:lnTo>
                  <a:cubicBezTo>
                    <a:pt x="78924" y="91707"/>
                    <a:pt x="72776" y="92293"/>
                    <a:pt x="69177" y="96374"/>
                  </a:cubicBezTo>
                  <a:cubicBezTo>
                    <a:pt x="65579" y="100455"/>
                    <a:pt x="65767" y="106629"/>
                    <a:pt x="69608" y="110483"/>
                  </a:cubicBezTo>
                  <a:lnTo>
                    <a:pt x="90245" y="131120"/>
                  </a:lnTo>
                  <a:lnTo>
                    <a:pt x="91215" y="131976"/>
                  </a:lnTo>
                  <a:cubicBezTo>
                    <a:pt x="95323" y="135163"/>
                    <a:pt x="101160" y="134796"/>
                    <a:pt x="104836" y="131120"/>
                  </a:cubicBezTo>
                  <a:lnTo>
                    <a:pt x="146111" y="89845"/>
                  </a:lnTo>
                  <a:lnTo>
                    <a:pt x="146967" y="88875"/>
                  </a:lnTo>
                  <a:cubicBezTo>
                    <a:pt x="150154" y="84767"/>
                    <a:pt x="149787" y="78931"/>
                    <a:pt x="146111" y="75254"/>
                  </a:cubicBezTo>
                  <a:close/>
                </a:path>
              </a:pathLst>
            </a:custGeom>
            <a:solidFill>
              <a:srgbClr val="3A7A47"/>
            </a:solidFill>
            <a:ln>
              <a:noFill/>
            </a:ln>
          </p:spPr>
        </p:sp>
        <p:sp>
          <p:nvSpPr>
            <p:cNvPr id="28" name="TextBox 28"/>
            <p:cNvSpPr txBox="1"/>
            <p:nvPr/>
          </p:nvSpPr>
          <p:spPr>
            <a:xfrm>
              <a:off x="1097661" y="5523071"/>
              <a:ext cx="3665642"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元のブックのファイルには、どちらの作業でも書き込みません。</a:t>
              </a:r>
            </a:p>
          </p:txBody>
        </p:sp>
        <p:sp>
          <p:nvSpPr>
            <p:cNvPr id="29" name="TextBox 29"/>
            <p:cNvSpPr txBox="1"/>
            <p:nvPr/>
          </p:nvSpPr>
          <p:spPr>
            <a:xfrm>
              <a:off x="1097661" y="5789771"/>
              <a:ext cx="4067078"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作成されるファイルはすべて、元のブックとは別の新規ファイルです。</a:t>
              </a:r>
            </a:p>
          </p:txBody>
        </p:sp>
      </p:grpSp>
      <p:grpSp>
        <p:nvGrpSpPr>
          <p:cNvPr id="33" name="Group 33"/>
          <p:cNvGrpSpPr/>
          <p:nvPr/>
        </p:nvGrpSpPr>
        <p:grpSpPr>
          <a:xfrm>
            <a:off x="451866" y="6477952"/>
            <a:ext cx="11288268" cy="205359"/>
            <a:chOff x="451866" y="6477952"/>
            <a:chExt cx="11288268" cy="205359"/>
          </a:xfrm>
        </p:grpSpPr>
        <p:sp>
          <p:nvSpPr>
            <p:cNvPr id="31" name="TextBox 31"/>
            <p:cNvSpPr txBox="1"/>
            <p:nvPr/>
          </p:nvSpPr>
          <p:spPr>
            <a:xfrm>
              <a:off x="451866" y="6477952"/>
              <a:ext cx="2252718"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MacroStudio 操作マニュアル（ベータ版）</a:t>
              </a:r>
            </a:p>
          </p:txBody>
        </p:sp>
        <p:sp>
          <p:nvSpPr>
            <p:cNvPr id="32" name="TextBox 32"/>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04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65397" y="486728"/>
              <a:ext cx="30750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概要</a:t>
              </a:r>
            </a:p>
          </p:txBody>
        </p:sp>
        <p:sp>
          <p:nvSpPr>
            <p:cNvPr id="4" name="TextBox 4"/>
            <p:cNvSpPr txBox="1"/>
            <p:nvPr/>
          </p:nvSpPr>
          <p:spPr>
            <a:xfrm>
              <a:off x="441960" y="685800"/>
              <a:ext cx="6984949"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アプリの保護機能と、利用者が確認する範囲</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9" name="Group 19"/>
          <p:cNvGrpSpPr/>
          <p:nvPr/>
        </p:nvGrpSpPr>
        <p:grpSpPr>
          <a:xfrm>
            <a:off x="457200" y="1333500"/>
            <a:ext cx="6667500" cy="3820573"/>
            <a:chOff x="457200" y="1333500"/>
            <a:chExt cx="6667500" cy="3820573"/>
          </a:xfrm>
        </p:grpSpPr>
        <p:sp>
          <p:nvSpPr>
            <p:cNvPr id="7" name="Rectangle 7"/>
            <p:cNvSpPr/>
            <p:nvPr/>
          </p:nvSpPr>
          <p:spPr>
            <a:xfrm>
              <a:off x="457200" y="1333500"/>
              <a:ext cx="6667500" cy="3810000"/>
            </a:xfrm>
            <a:prstGeom prst="roundRect">
              <a:avLst>
                <a:gd name="adj" fmla="val 4000"/>
              </a:avLst>
            </a:prstGeom>
            <a:solidFill>
              <a:schemeClr val="lt2"/>
            </a:solidFill>
            <a:ln>
              <a:noFill/>
            </a:ln>
          </p:spPr>
        </p:sp>
        <p:sp>
          <p:nvSpPr>
            <p:cNvPr id="8" name="Freeform 8"/>
            <p:cNvSpPr/>
            <p:nvPr/>
          </p:nvSpPr>
          <p:spPr>
            <a:xfrm>
              <a:off x="741093" y="1584325"/>
              <a:ext cx="232303" cy="222369"/>
            </a:xfrm>
            <a:custGeom>
              <a:avLst/>
              <a:gdLst/>
              <a:ahLst/>
              <a:cxnLst/>
              <a:rect l="l" t="t" r="r" b="b"/>
              <a:pathLst>
                <a:path w="232303" h="222369">
                  <a:moveTo>
                    <a:pt x="116135" y="0"/>
                  </a:moveTo>
                  <a:lnTo>
                    <a:pt x="117446" y="78"/>
                  </a:lnTo>
                  <a:lnTo>
                    <a:pt x="118102" y="167"/>
                  </a:lnTo>
                  <a:lnTo>
                    <a:pt x="118780" y="311"/>
                  </a:lnTo>
                  <a:lnTo>
                    <a:pt x="120013" y="689"/>
                  </a:lnTo>
                  <a:cubicBezTo>
                    <a:pt x="120865" y="1003"/>
                    <a:pt x="121675" y="1421"/>
                    <a:pt x="122424" y="1934"/>
                  </a:cubicBezTo>
                  <a:lnTo>
                    <a:pt x="123580" y="2845"/>
                  </a:lnTo>
                  <a:lnTo>
                    <a:pt x="126414" y="5267"/>
                  </a:lnTo>
                  <a:cubicBezTo>
                    <a:pt x="148831" y="23887"/>
                    <a:pt x="177163" y="33885"/>
                    <a:pt x="206302" y="33460"/>
                  </a:cubicBezTo>
                  <a:lnTo>
                    <a:pt x="210102" y="33349"/>
                  </a:lnTo>
                  <a:cubicBezTo>
                    <a:pt x="215216" y="33115"/>
                    <a:pt x="219827" y="36405"/>
                    <a:pt x="221270" y="41316"/>
                  </a:cubicBezTo>
                  <a:cubicBezTo>
                    <a:pt x="232303" y="78847"/>
                    <a:pt x="227645" y="119246"/>
                    <a:pt x="208359" y="153280"/>
                  </a:cubicBezTo>
                  <a:cubicBezTo>
                    <a:pt x="189074" y="187314"/>
                    <a:pt x="156811" y="212073"/>
                    <a:pt x="118946" y="221895"/>
                  </a:cubicBezTo>
                  <a:cubicBezTo>
                    <a:pt x="117117" y="222369"/>
                    <a:pt x="115197" y="222369"/>
                    <a:pt x="113368" y="221895"/>
                  </a:cubicBezTo>
                  <a:cubicBezTo>
                    <a:pt x="75501" y="212075"/>
                    <a:pt x="43235" y="187318"/>
                    <a:pt x="23948" y="153284"/>
                  </a:cubicBezTo>
                  <a:cubicBezTo>
                    <a:pt x="4660" y="119249"/>
                    <a:pt x="0" y="78848"/>
                    <a:pt x="11032" y="41316"/>
                  </a:cubicBezTo>
                  <a:cubicBezTo>
                    <a:pt x="12476" y="36405"/>
                    <a:pt x="17087" y="33115"/>
                    <a:pt x="22201" y="33349"/>
                  </a:cubicBezTo>
                  <a:cubicBezTo>
                    <a:pt x="52621" y="34739"/>
                    <a:pt x="82465" y="24725"/>
                    <a:pt x="105889" y="5267"/>
                  </a:cubicBezTo>
                  <a:lnTo>
                    <a:pt x="108812" y="2767"/>
                  </a:lnTo>
                  <a:lnTo>
                    <a:pt x="109878" y="1934"/>
                  </a:lnTo>
                  <a:cubicBezTo>
                    <a:pt x="110628" y="1421"/>
                    <a:pt x="111438" y="1003"/>
                    <a:pt x="112290" y="689"/>
                  </a:cubicBezTo>
                  <a:lnTo>
                    <a:pt x="113534" y="311"/>
                  </a:lnTo>
                  <a:cubicBezTo>
                    <a:pt x="113970" y="206"/>
                    <a:pt x="114412" y="128"/>
                    <a:pt x="114857" y="78"/>
                  </a:cubicBezTo>
                  <a:lnTo>
                    <a:pt x="116135" y="0"/>
                  </a:lnTo>
                  <a:close/>
                  <a:moveTo>
                    <a:pt x="157362" y="81044"/>
                  </a:moveTo>
                  <a:cubicBezTo>
                    <a:pt x="155278" y="78957"/>
                    <a:pt x="152450" y="77785"/>
                    <a:pt x="149500" y="77785"/>
                  </a:cubicBezTo>
                  <a:cubicBezTo>
                    <a:pt x="146551" y="77785"/>
                    <a:pt x="143722" y="78957"/>
                    <a:pt x="141638" y="81044"/>
                  </a:cubicBezTo>
                  <a:lnTo>
                    <a:pt x="105044" y="117626"/>
                  </a:lnTo>
                  <a:lnTo>
                    <a:pt x="90676" y="103269"/>
                  </a:lnTo>
                  <a:lnTo>
                    <a:pt x="89631" y="102346"/>
                  </a:lnTo>
                  <a:cubicBezTo>
                    <a:pt x="84996" y="98762"/>
                    <a:pt x="78374" y="99393"/>
                    <a:pt x="74499" y="103788"/>
                  </a:cubicBezTo>
                  <a:cubicBezTo>
                    <a:pt x="70624" y="108183"/>
                    <a:pt x="70827" y="114832"/>
                    <a:pt x="74963" y="118982"/>
                  </a:cubicBezTo>
                  <a:lnTo>
                    <a:pt x="97188" y="141207"/>
                  </a:lnTo>
                  <a:lnTo>
                    <a:pt x="98233" y="142129"/>
                  </a:lnTo>
                  <a:cubicBezTo>
                    <a:pt x="102656" y="145561"/>
                    <a:pt x="108942" y="145166"/>
                    <a:pt x="112901" y="141207"/>
                  </a:cubicBezTo>
                  <a:lnTo>
                    <a:pt x="157351" y="96757"/>
                  </a:lnTo>
                  <a:lnTo>
                    <a:pt x="158274" y="95712"/>
                  </a:lnTo>
                  <a:cubicBezTo>
                    <a:pt x="161705" y="91289"/>
                    <a:pt x="161310" y="85003"/>
                    <a:pt x="157351" y="81044"/>
                  </a:cubicBezTo>
                  <a:close/>
                </a:path>
              </a:pathLst>
            </a:custGeom>
            <a:solidFill>
              <a:schemeClr val="accent1"/>
            </a:solidFill>
            <a:ln>
              <a:noFill/>
            </a:ln>
          </p:spPr>
        </p:sp>
        <p:sp>
          <p:nvSpPr>
            <p:cNvPr id="9" name="TextBox 9"/>
            <p:cNvSpPr txBox="1"/>
            <p:nvPr/>
          </p:nvSpPr>
          <p:spPr>
            <a:xfrm>
              <a:off x="1096137" y="1585436"/>
              <a:ext cx="1524893" cy="337376"/>
            </a:xfrm>
            <a:prstGeom prst="rect">
              <a:avLst/>
            </a:prstGeom>
            <a:noFill/>
            <a:ln>
              <a:noFill/>
            </a:ln>
          </p:spPr>
          <p:txBody>
            <a:bodyPr wrap="none" lIns="0" tIns="0" rIns="0" bIns="0" anchor="t" anchorCtr="0">
              <a:spAutoFit/>
            </a:bodyPr>
            <a:lstStyle/>
            <a:p>
              <a:pPr algn="l"/>
              <a:r>
                <a:rPr lang="zh-CN" sz="1720" b="1" dirty="0">
                  <a:solidFill>
                    <a:schemeClr val="dk1"/>
                  </a:solidFill>
                  <a:latin typeface="+mn-lt"/>
                  <a:ea typeface="+mn-ea"/>
                  <a:cs typeface="+mn-cs"/>
                </a:rPr>
                <a:t>アプリの保護機能</a:t>
              </a:r>
            </a:p>
          </p:txBody>
        </p:sp>
        <p:sp>
          <p:nvSpPr>
            <p:cNvPr id="10" name="TextBox 10"/>
            <p:cNvSpPr txBox="1"/>
            <p:nvPr/>
          </p:nvSpPr>
          <p:spPr>
            <a:xfrm>
              <a:off x="716661" y="2055971"/>
              <a:ext cx="4554538"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1　元のブックのファイルには書き込みません。出力は常に別ファイルです。</a:t>
              </a:r>
            </a:p>
          </p:txBody>
        </p:sp>
        <p:sp>
          <p:nvSpPr>
            <p:cNvPr id="11" name="TextBox 11"/>
            <p:cNvSpPr txBox="1"/>
            <p:nvPr/>
          </p:nvSpPr>
          <p:spPr>
            <a:xfrm>
              <a:off x="716661" y="2551271"/>
              <a:ext cx="5422055"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2　コードを外部へ自動送信しません。MacroStudio は通信機能を持たず、</a:t>
              </a:r>
            </a:p>
          </p:txBody>
        </p:sp>
        <p:sp>
          <p:nvSpPr>
            <p:cNvPr id="12" name="TextBox 12"/>
            <p:cNvSpPr txBox="1"/>
            <p:nvPr/>
          </p:nvSpPr>
          <p:spPr>
            <a:xfrm>
              <a:off x="983361" y="2817971"/>
              <a:ext cx="2681166"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受け渡しは利用者の操作で行われます。</a:t>
              </a:r>
            </a:p>
          </p:txBody>
        </p:sp>
        <p:sp>
          <p:nvSpPr>
            <p:cNvPr id="13" name="TextBox 13"/>
            <p:cNvSpPr txBox="1"/>
            <p:nvPr/>
          </p:nvSpPr>
          <p:spPr>
            <a:xfrm>
              <a:off x="716661" y="3313271"/>
              <a:ext cx="5003404"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3　ビルド開始時に、読み込み時点と元のブックの VBA が一致することを</a:t>
              </a:r>
            </a:p>
          </p:txBody>
        </p:sp>
        <p:sp>
          <p:nvSpPr>
            <p:cNvPr id="14" name="TextBox 14"/>
            <p:cNvSpPr txBox="1"/>
            <p:nvPr/>
          </p:nvSpPr>
          <p:spPr>
            <a:xfrm>
              <a:off x="983361" y="3579971"/>
              <a:ext cx="4038404"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確認します。不一致の場合は中止し、出力を作りません。</a:t>
              </a:r>
            </a:p>
          </p:txBody>
        </p:sp>
        <p:sp>
          <p:nvSpPr>
            <p:cNvPr id="15" name="TextBox 15"/>
            <p:cNvSpPr txBox="1"/>
            <p:nvPr/>
          </p:nvSpPr>
          <p:spPr>
            <a:xfrm>
              <a:off x="716661" y="4075271"/>
              <a:ext cx="3856802"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4　書き戻したブックを読み直し、取り込んだコードがそのとおり</a:t>
              </a:r>
            </a:p>
          </p:txBody>
        </p:sp>
        <p:sp>
          <p:nvSpPr>
            <p:cNvPr id="16" name="TextBox 16"/>
            <p:cNvSpPr txBox="1"/>
            <p:nvPr/>
          </p:nvSpPr>
          <p:spPr>
            <a:xfrm>
              <a:off x="983361" y="4341971"/>
              <a:ext cx="3818570"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書き込まれ、それ以外が変更されていないことを照合します。</a:t>
              </a:r>
            </a:p>
          </p:txBody>
        </p:sp>
        <p:sp>
          <p:nvSpPr>
            <p:cNvPr id="17" name="TextBox 17"/>
            <p:cNvSpPr txBox="1"/>
            <p:nvPr/>
          </p:nvSpPr>
          <p:spPr>
            <a:xfrm>
              <a:off x="983361" y="4608671"/>
              <a:ext cx="4411167"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照合するのは書き込みの正確さであり、マクロの動作は確認しません。</a:t>
              </a:r>
            </a:p>
          </p:txBody>
        </p:sp>
        <p:sp>
          <p:nvSpPr>
            <p:cNvPr id="18" name="TextBox 18"/>
            <p:cNvSpPr txBox="1"/>
            <p:nvPr/>
          </p:nvSpPr>
          <p:spPr>
            <a:xfrm>
              <a:off x="983361" y="4875371"/>
              <a:ext cx="3570061"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照合に失敗した場合は、出力ファイルを削除します。</a:t>
              </a:r>
            </a:p>
          </p:txBody>
        </p:sp>
      </p:grpSp>
      <p:grpSp>
        <p:nvGrpSpPr>
          <p:cNvPr id="26" name="Group 26"/>
          <p:cNvGrpSpPr/>
          <p:nvPr/>
        </p:nvGrpSpPr>
        <p:grpSpPr>
          <a:xfrm>
            <a:off x="7429500" y="1333500"/>
            <a:ext cx="4305300" cy="2152650"/>
            <a:chOff x="7429500" y="1333500"/>
            <a:chExt cx="4305300" cy="2152650"/>
          </a:xfrm>
        </p:grpSpPr>
        <p:sp>
          <p:nvSpPr>
            <p:cNvPr id="20" name="Rectangle 20"/>
            <p:cNvSpPr/>
            <p:nvPr/>
          </p:nvSpPr>
          <p:spPr>
            <a:xfrm>
              <a:off x="7429500" y="1333500"/>
              <a:ext cx="4305300" cy="2152650"/>
            </a:xfrm>
            <a:prstGeom prst="roundRect">
              <a:avLst>
                <a:gd name="adj" fmla="val 7080"/>
              </a:avLst>
            </a:prstGeom>
            <a:solidFill>
              <a:schemeClr val="lt1"/>
            </a:solidFill>
            <a:ln w="19050">
              <a:solidFill>
                <a:schemeClr val="accent2"/>
              </a:solidFill>
            </a:ln>
          </p:spPr>
        </p:sp>
        <p:sp>
          <p:nvSpPr>
            <p:cNvPr id="21" name="Freeform 21"/>
            <p:cNvSpPr/>
            <p:nvPr/>
          </p:nvSpPr>
          <p:spPr>
            <a:xfrm>
              <a:off x="7705738" y="1580658"/>
              <a:ext cx="247496" cy="214761"/>
            </a:xfrm>
            <a:custGeom>
              <a:avLst/>
              <a:gdLst/>
              <a:ahLst/>
              <a:cxnLst/>
              <a:rect l="l" t="t" r="r" b="b"/>
              <a:pathLst>
                <a:path w="247496" h="214761">
                  <a:moveTo>
                    <a:pt x="123812" y="0"/>
                  </a:moveTo>
                  <a:cubicBezTo>
                    <a:pt x="134425" y="0"/>
                    <a:pt x="144315" y="5190"/>
                    <a:pt x="150371" y="13857"/>
                  </a:cubicBezTo>
                  <a:lnTo>
                    <a:pt x="151538" y="15635"/>
                  </a:lnTo>
                  <a:lnTo>
                    <a:pt x="241705" y="166188"/>
                  </a:lnTo>
                  <a:cubicBezTo>
                    <a:pt x="247275" y="175835"/>
                    <a:pt x="247496" y="187668"/>
                    <a:pt x="242289" y="197516"/>
                  </a:cubicBezTo>
                  <a:cubicBezTo>
                    <a:pt x="237081" y="207364"/>
                    <a:pt x="227178" y="213844"/>
                    <a:pt x="216069" y="214672"/>
                  </a:cubicBezTo>
                  <a:lnTo>
                    <a:pt x="213902" y="214761"/>
                  </a:lnTo>
                  <a:lnTo>
                    <a:pt x="33601" y="214761"/>
                  </a:lnTo>
                  <a:cubicBezTo>
                    <a:pt x="22481" y="214636"/>
                    <a:pt x="12203" y="208813"/>
                    <a:pt x="6379" y="199340"/>
                  </a:cubicBezTo>
                  <a:cubicBezTo>
                    <a:pt x="555" y="189866"/>
                    <a:pt x="0" y="178067"/>
                    <a:pt x="4908" y="168088"/>
                  </a:cubicBezTo>
                  <a:lnTo>
                    <a:pt x="6009" y="166032"/>
                  </a:lnTo>
                  <a:lnTo>
                    <a:pt x="96131" y="15591"/>
                  </a:lnTo>
                  <a:cubicBezTo>
                    <a:pt x="102000" y="5914"/>
                    <a:pt x="112495" y="2"/>
                    <a:pt x="123812" y="0"/>
                  </a:cubicBezTo>
                  <a:close/>
                  <a:moveTo>
                    <a:pt x="123924" y="148130"/>
                  </a:moveTo>
                  <a:lnTo>
                    <a:pt x="122512" y="148208"/>
                  </a:lnTo>
                  <a:cubicBezTo>
                    <a:pt x="116922" y="148873"/>
                    <a:pt x="112712" y="153613"/>
                    <a:pt x="112712" y="159243"/>
                  </a:cubicBezTo>
                  <a:cubicBezTo>
                    <a:pt x="112712" y="164872"/>
                    <a:pt x="116922" y="169612"/>
                    <a:pt x="122512" y="170277"/>
                  </a:cubicBezTo>
                  <a:lnTo>
                    <a:pt x="123812" y="170355"/>
                  </a:lnTo>
                  <a:lnTo>
                    <a:pt x="125224" y="170277"/>
                  </a:lnTo>
                  <a:cubicBezTo>
                    <a:pt x="130814" y="169612"/>
                    <a:pt x="135024" y="164872"/>
                    <a:pt x="135024" y="159243"/>
                  </a:cubicBezTo>
                  <a:cubicBezTo>
                    <a:pt x="135024" y="153613"/>
                    <a:pt x="130814" y="148873"/>
                    <a:pt x="125224" y="148208"/>
                  </a:cubicBezTo>
                  <a:lnTo>
                    <a:pt x="123924" y="148130"/>
                  </a:lnTo>
                  <a:close/>
                  <a:moveTo>
                    <a:pt x="123812" y="70342"/>
                  </a:moveTo>
                  <a:cubicBezTo>
                    <a:pt x="118179" y="70343"/>
                    <a:pt x="113437" y="74560"/>
                    <a:pt x="112778" y="80155"/>
                  </a:cubicBezTo>
                  <a:lnTo>
                    <a:pt x="112700" y="81455"/>
                  </a:lnTo>
                  <a:lnTo>
                    <a:pt x="112700" y="125905"/>
                  </a:lnTo>
                  <a:lnTo>
                    <a:pt x="112778" y="127205"/>
                  </a:lnTo>
                  <a:cubicBezTo>
                    <a:pt x="113443" y="132795"/>
                    <a:pt x="118183" y="137005"/>
                    <a:pt x="123812" y="137005"/>
                  </a:cubicBezTo>
                  <a:cubicBezTo>
                    <a:pt x="129442" y="137005"/>
                    <a:pt x="134182" y="132795"/>
                    <a:pt x="134847" y="127205"/>
                  </a:cubicBezTo>
                  <a:lnTo>
                    <a:pt x="134925" y="125905"/>
                  </a:lnTo>
                  <a:lnTo>
                    <a:pt x="134925" y="81455"/>
                  </a:lnTo>
                  <a:lnTo>
                    <a:pt x="134847" y="80155"/>
                  </a:lnTo>
                  <a:cubicBezTo>
                    <a:pt x="134188" y="74560"/>
                    <a:pt x="129446" y="70343"/>
                    <a:pt x="123812" y="70342"/>
                  </a:cubicBezTo>
                  <a:close/>
                </a:path>
              </a:pathLst>
            </a:custGeom>
            <a:solidFill>
              <a:schemeClr val="accent2"/>
            </a:solidFill>
            <a:ln>
              <a:noFill/>
            </a:ln>
          </p:spPr>
        </p:sp>
        <p:sp>
          <p:nvSpPr>
            <p:cNvPr id="22" name="TextBox 22"/>
            <p:cNvSpPr txBox="1"/>
            <p:nvPr/>
          </p:nvSpPr>
          <p:spPr>
            <a:xfrm>
              <a:off x="8068437" y="1585436"/>
              <a:ext cx="1391175" cy="337376"/>
            </a:xfrm>
            <a:prstGeom prst="rect">
              <a:avLst/>
            </a:prstGeom>
            <a:noFill/>
            <a:ln>
              <a:noFill/>
            </a:ln>
          </p:spPr>
          <p:txBody>
            <a:bodyPr wrap="none" lIns="0" tIns="0" rIns="0" bIns="0" anchor="t" anchorCtr="0">
              <a:spAutoFit/>
            </a:bodyPr>
            <a:lstStyle/>
            <a:p>
              <a:pPr algn="l"/>
              <a:r>
                <a:rPr lang="zh-CN" sz="1720" b="1" dirty="0">
                  <a:solidFill>
                    <a:schemeClr val="dk1"/>
                  </a:solidFill>
                  <a:latin typeface="+mn-lt"/>
                  <a:ea typeface="+mn-ea"/>
                  <a:cs typeface="+mn-cs"/>
                </a:rPr>
                <a:t>検証しない範囲</a:t>
              </a:r>
            </a:p>
          </p:txBody>
        </p:sp>
        <p:sp>
          <p:nvSpPr>
            <p:cNvPr id="23" name="TextBox 23"/>
            <p:cNvSpPr txBox="1"/>
            <p:nvPr/>
          </p:nvSpPr>
          <p:spPr>
            <a:xfrm>
              <a:off x="7688961" y="2036921"/>
              <a:ext cx="2529139"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AI の返答の内容、つまり改修後の</a:t>
              </a:r>
            </a:p>
          </p:txBody>
        </p:sp>
        <p:sp>
          <p:nvSpPr>
            <p:cNvPr id="24" name="TextBox 24"/>
            <p:cNvSpPr txBox="1"/>
            <p:nvPr/>
          </p:nvSpPr>
          <p:spPr>
            <a:xfrm>
              <a:off x="7688961" y="2322671"/>
              <a:ext cx="2212823"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マクロが業務要件どおり動作するか</a:t>
              </a:r>
            </a:p>
          </p:txBody>
        </p:sp>
        <p:sp>
          <p:nvSpPr>
            <p:cNvPr id="25" name="TextBox 25"/>
            <p:cNvSpPr txBox="1"/>
            <p:nvPr/>
          </p:nvSpPr>
          <p:spPr>
            <a:xfrm>
              <a:off x="7688961" y="2608421"/>
              <a:ext cx="1935640"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は、アプリでは検証できません。</a:t>
              </a:r>
            </a:p>
          </p:txBody>
        </p:sp>
      </p:grpSp>
      <p:grpSp>
        <p:nvGrpSpPr>
          <p:cNvPr id="32" name="Group 32"/>
          <p:cNvGrpSpPr/>
          <p:nvPr/>
        </p:nvGrpSpPr>
        <p:grpSpPr>
          <a:xfrm>
            <a:off x="7429500" y="3638550"/>
            <a:ext cx="4305300" cy="1504950"/>
            <a:chOff x="7429500" y="3638550"/>
            <a:chExt cx="4305300" cy="1504950"/>
          </a:xfrm>
        </p:grpSpPr>
        <p:sp>
          <p:nvSpPr>
            <p:cNvPr id="27" name="Rectangle 27"/>
            <p:cNvSpPr/>
            <p:nvPr/>
          </p:nvSpPr>
          <p:spPr>
            <a:xfrm>
              <a:off x="7429500" y="3638550"/>
              <a:ext cx="4305300" cy="1504950"/>
            </a:xfrm>
            <a:prstGeom prst="roundRect">
              <a:avLst>
                <a:gd name="adj" fmla="val 10127"/>
              </a:avLst>
            </a:prstGeom>
            <a:solidFill>
              <a:schemeClr val="lt2"/>
            </a:solidFill>
            <a:ln>
              <a:noFill/>
            </a:ln>
          </p:spPr>
        </p:sp>
        <p:sp>
          <p:nvSpPr>
            <p:cNvPr id="28" name="Freeform 28"/>
            <p:cNvSpPr/>
            <p:nvPr/>
          </p:nvSpPr>
          <p:spPr>
            <a:xfrm>
              <a:off x="7718425" y="3884397"/>
              <a:ext cx="233697" cy="234079"/>
            </a:xfrm>
            <a:custGeom>
              <a:avLst/>
              <a:gdLst/>
              <a:ahLst/>
              <a:cxnLst/>
              <a:rect l="l" t="t" r="r" b="b"/>
              <a:pathLst>
                <a:path w="233697" h="234079">
                  <a:moveTo>
                    <a:pt x="166688" y="19869"/>
                  </a:moveTo>
                  <a:cubicBezTo>
                    <a:pt x="212998" y="46608"/>
                    <a:pt x="233697" y="102539"/>
                    <a:pt x="215950" y="152984"/>
                  </a:cubicBezTo>
                  <a:cubicBezTo>
                    <a:pt x="198203" y="203428"/>
                    <a:pt x="147044" y="234079"/>
                    <a:pt x="94193" y="225932"/>
                  </a:cubicBezTo>
                  <a:cubicBezTo>
                    <a:pt x="41341" y="217785"/>
                    <a:pt x="1788" y="173151"/>
                    <a:pt x="56" y="119704"/>
                  </a:cubicBezTo>
                  <a:lnTo>
                    <a:pt x="0" y="116103"/>
                  </a:lnTo>
                  <a:lnTo>
                    <a:pt x="56" y="112503"/>
                  </a:lnTo>
                  <a:cubicBezTo>
                    <a:pt x="1321" y="73464"/>
                    <a:pt x="22990" y="37956"/>
                    <a:pt x="57128" y="18978"/>
                  </a:cubicBezTo>
                  <a:cubicBezTo>
                    <a:pt x="91267" y="0"/>
                    <a:pt x="132862" y="338"/>
                    <a:pt x="166688" y="19869"/>
                  </a:cubicBezTo>
                  <a:close/>
                  <a:moveTo>
                    <a:pt x="152319" y="86021"/>
                  </a:moveTo>
                  <a:cubicBezTo>
                    <a:pt x="148360" y="82063"/>
                    <a:pt x="142075" y="81668"/>
                    <a:pt x="137651" y="85099"/>
                  </a:cubicBezTo>
                  <a:lnTo>
                    <a:pt x="136606" y="86021"/>
                  </a:lnTo>
                  <a:lnTo>
                    <a:pt x="100013" y="122604"/>
                  </a:lnTo>
                  <a:lnTo>
                    <a:pt x="85644" y="108246"/>
                  </a:lnTo>
                  <a:lnTo>
                    <a:pt x="84600" y="107324"/>
                  </a:lnTo>
                  <a:cubicBezTo>
                    <a:pt x="80176" y="103895"/>
                    <a:pt x="73892" y="104292"/>
                    <a:pt x="69934" y="108249"/>
                  </a:cubicBezTo>
                  <a:cubicBezTo>
                    <a:pt x="65976" y="112207"/>
                    <a:pt x="65580" y="118491"/>
                    <a:pt x="69009" y="122915"/>
                  </a:cubicBezTo>
                  <a:lnTo>
                    <a:pt x="69931" y="123960"/>
                  </a:lnTo>
                  <a:lnTo>
                    <a:pt x="92156" y="146185"/>
                  </a:lnTo>
                  <a:lnTo>
                    <a:pt x="93201" y="147107"/>
                  </a:lnTo>
                  <a:cubicBezTo>
                    <a:pt x="97210" y="150217"/>
                    <a:pt x="102816" y="150217"/>
                    <a:pt x="106825" y="147107"/>
                  </a:cubicBezTo>
                  <a:lnTo>
                    <a:pt x="107869" y="146185"/>
                  </a:lnTo>
                  <a:lnTo>
                    <a:pt x="152319" y="101735"/>
                  </a:lnTo>
                  <a:lnTo>
                    <a:pt x="153242" y="100690"/>
                  </a:lnTo>
                  <a:cubicBezTo>
                    <a:pt x="156673" y="96266"/>
                    <a:pt x="156278" y="89980"/>
                    <a:pt x="152319" y="86021"/>
                  </a:cubicBezTo>
                  <a:close/>
                </a:path>
              </a:pathLst>
            </a:custGeom>
            <a:solidFill>
              <a:schemeClr val="accent1"/>
            </a:solidFill>
            <a:ln>
              <a:noFill/>
            </a:ln>
          </p:spPr>
        </p:sp>
        <p:sp>
          <p:nvSpPr>
            <p:cNvPr id="29" name="TextBox 29"/>
            <p:cNvSpPr txBox="1"/>
            <p:nvPr/>
          </p:nvSpPr>
          <p:spPr>
            <a:xfrm>
              <a:off x="8068437" y="3890486"/>
              <a:ext cx="1901735" cy="337376"/>
            </a:xfrm>
            <a:prstGeom prst="rect">
              <a:avLst/>
            </a:prstGeom>
            <a:noFill/>
            <a:ln>
              <a:noFill/>
            </a:ln>
          </p:spPr>
          <p:txBody>
            <a:bodyPr wrap="none" lIns="0" tIns="0" rIns="0" bIns="0" anchor="t" anchorCtr="0">
              <a:spAutoFit/>
            </a:bodyPr>
            <a:lstStyle/>
            <a:p>
              <a:pPr algn="l"/>
              <a:r>
                <a:rPr lang="zh-CN" sz="1720" b="1" dirty="0">
                  <a:solidFill>
                    <a:schemeClr val="dk1"/>
                  </a:solidFill>
                  <a:latin typeface="+mn-lt"/>
                  <a:ea typeface="+mn-ea"/>
                  <a:cs typeface="+mn-cs"/>
                </a:rPr>
                <a:t>利用者が確認すること</a:t>
              </a:r>
            </a:p>
          </p:txBody>
        </p:sp>
        <p:sp>
          <p:nvSpPr>
            <p:cNvPr id="30" name="TextBox 30"/>
            <p:cNvSpPr txBox="1"/>
            <p:nvPr/>
          </p:nvSpPr>
          <p:spPr>
            <a:xfrm>
              <a:off x="7688961" y="4341971"/>
              <a:ext cx="2923002"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・取り込んだ変更の差分確認（P15）</a:t>
              </a:r>
            </a:p>
          </p:txBody>
        </p:sp>
        <p:sp>
          <p:nvSpPr>
            <p:cNvPr id="31" name="TextBox 31"/>
            <p:cNvSpPr txBox="1"/>
            <p:nvPr/>
          </p:nvSpPr>
          <p:spPr>
            <a:xfrm>
              <a:off x="7688961" y="4665821"/>
              <a:ext cx="2371161"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・Excel での動作確認（P18）</a:t>
              </a:r>
            </a:p>
          </p:txBody>
        </p:sp>
      </p:grpSp>
      <p:grpSp>
        <p:nvGrpSpPr>
          <p:cNvPr id="36" name="Group 36"/>
          <p:cNvGrpSpPr/>
          <p:nvPr/>
        </p:nvGrpSpPr>
        <p:grpSpPr>
          <a:xfrm>
            <a:off x="457200" y="5391150"/>
            <a:ext cx="11277600" cy="704850"/>
            <a:chOff x="457200" y="5391150"/>
            <a:chExt cx="11277600" cy="704850"/>
          </a:xfrm>
        </p:grpSpPr>
        <p:sp>
          <p:nvSpPr>
            <p:cNvPr id="33" name="Rectangle 33"/>
            <p:cNvSpPr/>
            <p:nvPr/>
          </p:nvSpPr>
          <p:spPr>
            <a:xfrm>
              <a:off x="457200" y="5391150"/>
              <a:ext cx="11277600" cy="704850"/>
            </a:xfrm>
            <a:prstGeom prst="roundRect">
              <a:avLst>
                <a:gd name="adj" fmla="val 16216"/>
              </a:avLst>
            </a:prstGeom>
            <a:solidFill>
              <a:schemeClr val="accent5"/>
            </a:solidFill>
            <a:ln w="9525">
              <a:solidFill>
                <a:schemeClr val="accent6"/>
              </a:solidFill>
            </a:ln>
          </p:spPr>
        </p:sp>
        <p:sp>
          <p:nvSpPr>
            <p:cNvPr id="34" name="TextBox 34"/>
            <p:cNvSpPr txBox="1"/>
            <p:nvPr/>
          </p:nvSpPr>
          <p:spPr>
            <a:xfrm>
              <a:off x="716661" y="5523071"/>
              <a:ext cx="5682384"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途中で中止した場合も、ビルドに失敗した場合も、元のブックは読み込み時のままです。</a:t>
              </a:r>
            </a:p>
          </p:txBody>
        </p:sp>
        <p:sp>
          <p:nvSpPr>
            <p:cNvPr id="35" name="TextBox 35"/>
            <p:cNvSpPr txBox="1"/>
            <p:nvPr/>
          </p:nvSpPr>
          <p:spPr>
            <a:xfrm>
              <a:off x="716661" y="5789771"/>
              <a:ext cx="2002546"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操作は最初からやり直せます。</a:t>
              </a:r>
            </a:p>
          </p:txBody>
        </p:sp>
      </p:grpSp>
      <p:grpSp>
        <p:nvGrpSpPr>
          <p:cNvPr id="39" name="Group 39"/>
          <p:cNvGrpSpPr/>
          <p:nvPr/>
        </p:nvGrpSpPr>
        <p:grpSpPr>
          <a:xfrm>
            <a:off x="451866" y="6477952"/>
            <a:ext cx="11288268" cy="205359"/>
            <a:chOff x="451866" y="6477952"/>
            <a:chExt cx="11288268" cy="205359"/>
          </a:xfrm>
        </p:grpSpPr>
        <p:sp>
          <p:nvSpPr>
            <p:cNvPr id="37" name="TextBox 37"/>
            <p:cNvSpPr txBox="1"/>
            <p:nvPr/>
          </p:nvSpPr>
          <p:spPr>
            <a:xfrm>
              <a:off x="451866" y="6477952"/>
              <a:ext cx="2252718"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MacroStudio 操作マニュアル（ベータ版）</a:t>
              </a:r>
            </a:p>
          </p:txBody>
        </p:sp>
        <p:sp>
          <p:nvSpPr>
            <p:cNvPr id="38" name="TextBox 38"/>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65397" y="486728"/>
              <a:ext cx="30750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操作</a:t>
              </a:r>
            </a:p>
          </p:txBody>
        </p:sp>
        <p:sp>
          <p:nvSpPr>
            <p:cNvPr id="4" name="TextBox 4"/>
            <p:cNvSpPr txBox="1"/>
            <p:nvPr/>
          </p:nvSpPr>
          <p:spPr>
            <a:xfrm>
              <a:off x="441960" y="685800"/>
              <a:ext cx="2617203"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作業全体の流れ</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8" name="Group 8"/>
          <p:cNvGrpSpPr/>
          <p:nvPr/>
        </p:nvGrpSpPr>
        <p:grpSpPr>
          <a:xfrm>
            <a:off x="448056" y="1386840"/>
            <a:ext cx="9105138" cy="352044"/>
            <a:chOff x="448056" y="1386840"/>
            <a:chExt cx="9105138" cy="352044"/>
          </a:xfrm>
        </p:grpSpPr>
        <p:sp>
          <p:nvSpPr>
            <p:cNvPr id="7" name="TextBox 7"/>
            <p:cNvSpPr txBox="1"/>
            <p:nvPr/>
          </p:nvSpPr>
          <p:spPr>
            <a:xfrm>
              <a:off x="448056" y="1386840"/>
              <a:ext cx="910513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改修は 4 つの手順で構成されます。画面は 1 つずつ進み、必要な入力が揃うと［次へ］が有効になります。</a:t>
              </a:r>
            </a:p>
          </p:txBody>
        </p:sp>
      </p:grpSp>
      <p:grpSp>
        <p:nvGrpSpPr>
          <p:cNvPr id="17" name="Group 17"/>
          <p:cNvGrpSpPr/>
          <p:nvPr/>
        </p:nvGrpSpPr>
        <p:grpSpPr>
          <a:xfrm>
            <a:off x="457200" y="1905000"/>
            <a:ext cx="2362200" cy="2286000"/>
            <a:chOff x="457200" y="1905000"/>
            <a:chExt cx="2362200" cy="2286000"/>
          </a:xfrm>
        </p:grpSpPr>
        <p:sp>
          <p:nvSpPr>
            <p:cNvPr id="9" name="Rectangle 9"/>
            <p:cNvSpPr/>
            <p:nvPr/>
          </p:nvSpPr>
          <p:spPr>
            <a:xfrm>
              <a:off x="457200" y="1905000"/>
              <a:ext cx="2362200" cy="2286000"/>
            </a:xfrm>
            <a:prstGeom prst="roundRect">
              <a:avLst>
                <a:gd name="adj" fmla="val 6667"/>
              </a:avLst>
            </a:prstGeom>
            <a:solidFill>
              <a:schemeClr val="lt2"/>
            </a:solidFill>
            <a:ln>
              <a:noFill/>
            </a:ln>
          </p:spPr>
        </p:sp>
        <p:sp>
          <p:nvSpPr>
            <p:cNvPr id="10" name="Ellipse 10"/>
            <p:cNvSpPr/>
            <p:nvPr/>
          </p:nvSpPr>
          <p:spPr>
            <a:xfrm>
              <a:off x="666750" y="2114550"/>
              <a:ext cx="381000" cy="381000"/>
            </a:xfrm>
            <a:prstGeom prst="ellipse">
              <a:avLst/>
            </a:prstGeom>
            <a:solidFill>
              <a:schemeClr val="accent1"/>
            </a:solidFill>
            <a:ln>
              <a:noFill/>
            </a:ln>
          </p:spPr>
        </p:sp>
        <p:sp>
          <p:nvSpPr>
            <p:cNvPr id="11" name="TextBox 11"/>
            <p:cNvSpPr txBox="1"/>
            <p:nvPr/>
          </p:nvSpPr>
          <p:spPr>
            <a:xfrm>
              <a:off x="791323" y="22193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1</a:t>
              </a:r>
            </a:p>
          </p:txBody>
        </p:sp>
        <p:sp>
          <p:nvSpPr>
            <p:cNvPr id="12" name="TextBox 12"/>
            <p:cNvSpPr txBox="1"/>
            <p:nvPr/>
          </p:nvSpPr>
          <p:spPr>
            <a:xfrm>
              <a:off x="1172718" y="2203132"/>
              <a:ext cx="996326"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作業とブック</a:t>
              </a:r>
            </a:p>
          </p:txBody>
        </p:sp>
        <p:sp>
          <p:nvSpPr>
            <p:cNvPr id="13" name="TextBox 13"/>
            <p:cNvSpPr txBox="1"/>
            <p:nvPr/>
          </p:nvSpPr>
          <p:spPr>
            <a:xfrm>
              <a:off x="1172718" y="2469832"/>
              <a:ext cx="506545"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を選ぶ</a:t>
              </a:r>
            </a:p>
          </p:txBody>
        </p:sp>
        <p:sp>
          <p:nvSpPr>
            <p:cNvPr id="14" name="TextBox 14"/>
            <p:cNvSpPr txBox="1"/>
            <p:nvPr/>
          </p:nvSpPr>
          <p:spPr>
            <a:xfrm>
              <a:off x="717423" y="3005614"/>
              <a:ext cx="814212"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・作業を選ぶ</a:t>
              </a:r>
            </a:p>
          </p:txBody>
        </p:sp>
        <p:sp>
          <p:nvSpPr>
            <p:cNvPr id="15" name="TextBox 15"/>
            <p:cNvSpPr txBox="1"/>
            <p:nvPr/>
          </p:nvSpPr>
          <p:spPr>
            <a:xfrm>
              <a:off x="717423" y="3272314"/>
              <a:ext cx="1020989"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・ブックを読み込む</a:t>
              </a:r>
            </a:p>
          </p:txBody>
        </p:sp>
        <p:sp>
          <p:nvSpPr>
            <p:cNvPr id="16" name="TextBox 16"/>
            <p:cNvSpPr txBox="1"/>
            <p:nvPr/>
          </p:nvSpPr>
          <p:spPr>
            <a:xfrm>
              <a:off x="717423" y="3539014"/>
              <a:ext cx="1425926"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・読み取り結果を確認</a:t>
              </a:r>
            </a:p>
          </p:txBody>
        </p:sp>
      </p:grpSp>
      <p:grpSp>
        <p:nvGrpSpPr>
          <p:cNvPr id="25" name="Group 25"/>
          <p:cNvGrpSpPr/>
          <p:nvPr/>
        </p:nvGrpSpPr>
        <p:grpSpPr>
          <a:xfrm>
            <a:off x="3276600" y="1905000"/>
            <a:ext cx="2362200" cy="2286000"/>
            <a:chOff x="3276600" y="1905000"/>
            <a:chExt cx="2362200" cy="2286000"/>
          </a:xfrm>
        </p:grpSpPr>
        <p:sp>
          <p:nvSpPr>
            <p:cNvPr id="18" name="Rectangle 18"/>
            <p:cNvSpPr/>
            <p:nvPr/>
          </p:nvSpPr>
          <p:spPr>
            <a:xfrm>
              <a:off x="3276600" y="1905000"/>
              <a:ext cx="2362200" cy="2286000"/>
            </a:xfrm>
            <a:prstGeom prst="roundRect">
              <a:avLst>
                <a:gd name="adj" fmla="val 6667"/>
              </a:avLst>
            </a:prstGeom>
            <a:solidFill>
              <a:schemeClr val="lt2"/>
            </a:solidFill>
            <a:ln>
              <a:noFill/>
            </a:ln>
          </p:spPr>
        </p:sp>
        <p:sp>
          <p:nvSpPr>
            <p:cNvPr id="19" name="Ellipse 19"/>
            <p:cNvSpPr/>
            <p:nvPr/>
          </p:nvSpPr>
          <p:spPr>
            <a:xfrm>
              <a:off x="3486150" y="2114550"/>
              <a:ext cx="381000" cy="381000"/>
            </a:xfrm>
            <a:prstGeom prst="ellipse">
              <a:avLst/>
            </a:prstGeom>
            <a:solidFill>
              <a:schemeClr val="accent1"/>
            </a:solidFill>
            <a:ln>
              <a:noFill/>
            </a:ln>
          </p:spPr>
        </p:sp>
        <p:sp>
          <p:nvSpPr>
            <p:cNvPr id="20" name="TextBox 20"/>
            <p:cNvSpPr txBox="1"/>
            <p:nvPr/>
          </p:nvSpPr>
          <p:spPr>
            <a:xfrm>
              <a:off x="3610723" y="22193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2</a:t>
              </a:r>
            </a:p>
          </p:txBody>
        </p:sp>
        <p:sp>
          <p:nvSpPr>
            <p:cNvPr id="21" name="TextBox 21"/>
            <p:cNvSpPr txBox="1"/>
            <p:nvPr/>
          </p:nvSpPr>
          <p:spPr>
            <a:xfrm>
              <a:off x="3992118" y="2203132"/>
              <a:ext cx="1125703"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AIへ依頼する</a:t>
              </a:r>
            </a:p>
          </p:txBody>
        </p:sp>
        <p:sp>
          <p:nvSpPr>
            <p:cNvPr id="22" name="TextBox 22"/>
            <p:cNvSpPr txBox="1"/>
            <p:nvPr/>
          </p:nvSpPr>
          <p:spPr>
            <a:xfrm>
              <a:off x="3536823" y="3005614"/>
              <a:ext cx="814212"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・目的を選ぶ</a:t>
              </a:r>
            </a:p>
          </p:txBody>
        </p:sp>
        <p:sp>
          <p:nvSpPr>
            <p:cNvPr id="23" name="TextBox 23"/>
            <p:cNvSpPr txBox="1"/>
            <p:nvPr/>
          </p:nvSpPr>
          <p:spPr>
            <a:xfrm>
              <a:off x="3536823" y="3272314"/>
              <a:ext cx="1064067"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・依頼文を確認</a:t>
              </a:r>
            </a:p>
          </p:txBody>
        </p:sp>
        <p:sp>
          <p:nvSpPr>
            <p:cNvPr id="24" name="TextBox 24"/>
            <p:cNvSpPr txBox="1"/>
            <p:nvPr/>
          </p:nvSpPr>
          <p:spPr>
            <a:xfrm>
              <a:off x="3536823" y="3539014"/>
              <a:ext cx="1050737"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・AIチャットへ渡す</a:t>
              </a:r>
            </a:p>
          </p:txBody>
        </p:sp>
      </p:grpSp>
      <p:grpSp>
        <p:nvGrpSpPr>
          <p:cNvPr id="33" name="Group 33"/>
          <p:cNvGrpSpPr/>
          <p:nvPr/>
        </p:nvGrpSpPr>
        <p:grpSpPr>
          <a:xfrm>
            <a:off x="6096000" y="1905000"/>
            <a:ext cx="2362200" cy="2286000"/>
            <a:chOff x="6096000" y="1905000"/>
            <a:chExt cx="2362200" cy="2286000"/>
          </a:xfrm>
        </p:grpSpPr>
        <p:sp>
          <p:nvSpPr>
            <p:cNvPr id="26" name="Rectangle 26"/>
            <p:cNvSpPr/>
            <p:nvPr/>
          </p:nvSpPr>
          <p:spPr>
            <a:xfrm>
              <a:off x="6096000" y="1905000"/>
              <a:ext cx="2362200" cy="2286000"/>
            </a:xfrm>
            <a:prstGeom prst="roundRect">
              <a:avLst>
                <a:gd name="adj" fmla="val 6667"/>
              </a:avLst>
            </a:prstGeom>
            <a:solidFill>
              <a:schemeClr val="lt2"/>
            </a:solidFill>
            <a:ln>
              <a:noFill/>
            </a:ln>
          </p:spPr>
        </p:sp>
        <p:sp>
          <p:nvSpPr>
            <p:cNvPr id="27" name="Ellipse 27"/>
            <p:cNvSpPr/>
            <p:nvPr/>
          </p:nvSpPr>
          <p:spPr>
            <a:xfrm>
              <a:off x="6305550" y="2114550"/>
              <a:ext cx="381000" cy="381000"/>
            </a:xfrm>
            <a:prstGeom prst="ellipse">
              <a:avLst/>
            </a:prstGeom>
            <a:solidFill>
              <a:schemeClr val="accent1"/>
            </a:solidFill>
            <a:ln>
              <a:noFill/>
            </a:ln>
          </p:spPr>
        </p:sp>
        <p:sp>
          <p:nvSpPr>
            <p:cNvPr id="28" name="TextBox 28"/>
            <p:cNvSpPr txBox="1"/>
            <p:nvPr/>
          </p:nvSpPr>
          <p:spPr>
            <a:xfrm>
              <a:off x="6430123" y="22193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3</a:t>
              </a:r>
            </a:p>
          </p:txBody>
        </p:sp>
        <p:sp>
          <p:nvSpPr>
            <p:cNvPr id="29" name="TextBox 29"/>
            <p:cNvSpPr txBox="1"/>
            <p:nvPr/>
          </p:nvSpPr>
          <p:spPr>
            <a:xfrm>
              <a:off x="6811518" y="2203132"/>
              <a:ext cx="611498"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返答を</a:t>
              </a:r>
            </a:p>
          </p:txBody>
        </p:sp>
        <p:sp>
          <p:nvSpPr>
            <p:cNvPr id="30" name="TextBox 30"/>
            <p:cNvSpPr txBox="1"/>
            <p:nvPr/>
          </p:nvSpPr>
          <p:spPr>
            <a:xfrm>
              <a:off x="6811518" y="2469832"/>
              <a:ext cx="739774"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取り込む</a:t>
              </a:r>
            </a:p>
          </p:txBody>
        </p:sp>
        <p:sp>
          <p:nvSpPr>
            <p:cNvPr id="31" name="TextBox 31"/>
            <p:cNvSpPr txBox="1"/>
            <p:nvPr/>
          </p:nvSpPr>
          <p:spPr>
            <a:xfrm>
              <a:off x="6356223" y="3005614"/>
              <a:ext cx="1081298"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・返答を取り込む</a:t>
              </a:r>
            </a:p>
          </p:txBody>
        </p:sp>
        <p:sp>
          <p:nvSpPr>
            <p:cNvPr id="32" name="TextBox 32"/>
            <p:cNvSpPr txBox="1"/>
            <p:nvPr/>
          </p:nvSpPr>
          <p:spPr>
            <a:xfrm>
              <a:off x="6356223" y="3272314"/>
              <a:ext cx="1236381"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・変更内容を確認</a:t>
              </a:r>
            </a:p>
          </p:txBody>
        </p:sp>
      </p:grpSp>
      <p:grpSp>
        <p:nvGrpSpPr>
          <p:cNvPr id="41" name="Group 41"/>
          <p:cNvGrpSpPr/>
          <p:nvPr/>
        </p:nvGrpSpPr>
        <p:grpSpPr>
          <a:xfrm>
            <a:off x="8915400" y="1905000"/>
            <a:ext cx="2362200" cy="2286000"/>
            <a:chOff x="8915400" y="1905000"/>
            <a:chExt cx="2362200" cy="2286000"/>
          </a:xfrm>
        </p:grpSpPr>
        <p:sp>
          <p:nvSpPr>
            <p:cNvPr id="34" name="Rectangle 34"/>
            <p:cNvSpPr/>
            <p:nvPr/>
          </p:nvSpPr>
          <p:spPr>
            <a:xfrm>
              <a:off x="8915400" y="1905000"/>
              <a:ext cx="2362200" cy="2286000"/>
            </a:xfrm>
            <a:prstGeom prst="roundRect">
              <a:avLst>
                <a:gd name="adj" fmla="val 6667"/>
              </a:avLst>
            </a:prstGeom>
            <a:solidFill>
              <a:schemeClr val="lt2"/>
            </a:solidFill>
            <a:ln>
              <a:noFill/>
            </a:ln>
          </p:spPr>
        </p:sp>
        <p:sp>
          <p:nvSpPr>
            <p:cNvPr id="35" name="Ellipse 35"/>
            <p:cNvSpPr/>
            <p:nvPr/>
          </p:nvSpPr>
          <p:spPr>
            <a:xfrm>
              <a:off x="9124950" y="2114550"/>
              <a:ext cx="381000" cy="381000"/>
            </a:xfrm>
            <a:prstGeom prst="ellipse">
              <a:avLst/>
            </a:prstGeom>
            <a:solidFill>
              <a:schemeClr val="accent1"/>
            </a:solidFill>
            <a:ln>
              <a:noFill/>
            </a:ln>
          </p:spPr>
        </p:sp>
        <p:sp>
          <p:nvSpPr>
            <p:cNvPr id="36" name="TextBox 36"/>
            <p:cNvSpPr txBox="1"/>
            <p:nvPr/>
          </p:nvSpPr>
          <p:spPr>
            <a:xfrm>
              <a:off x="9249523" y="22193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4</a:t>
              </a:r>
            </a:p>
          </p:txBody>
        </p:sp>
        <p:sp>
          <p:nvSpPr>
            <p:cNvPr id="37" name="TextBox 37"/>
            <p:cNvSpPr txBox="1"/>
            <p:nvPr/>
          </p:nvSpPr>
          <p:spPr>
            <a:xfrm>
              <a:off x="9630918" y="2203132"/>
              <a:ext cx="891373"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ブックを作る</a:t>
              </a:r>
            </a:p>
          </p:txBody>
        </p:sp>
        <p:sp>
          <p:nvSpPr>
            <p:cNvPr id="38" name="TextBox 38"/>
            <p:cNvSpPr txBox="1"/>
            <p:nvPr/>
          </p:nvSpPr>
          <p:spPr>
            <a:xfrm>
              <a:off x="9175623" y="3005614"/>
              <a:ext cx="1064067"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・出力名を確認</a:t>
              </a:r>
            </a:p>
          </p:txBody>
        </p:sp>
        <p:sp>
          <p:nvSpPr>
            <p:cNvPr id="39" name="TextBox 39"/>
            <p:cNvSpPr txBox="1"/>
            <p:nvPr/>
          </p:nvSpPr>
          <p:spPr>
            <a:xfrm>
              <a:off x="9175623" y="3272314"/>
              <a:ext cx="1081298"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・ビルド（自動）</a:t>
              </a:r>
            </a:p>
          </p:txBody>
        </p:sp>
        <p:sp>
          <p:nvSpPr>
            <p:cNvPr id="40" name="TextBox 40"/>
            <p:cNvSpPr txBox="1"/>
            <p:nvPr/>
          </p:nvSpPr>
          <p:spPr>
            <a:xfrm>
              <a:off x="9175623" y="3539014"/>
              <a:ext cx="452354"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・完了</a:t>
              </a:r>
            </a:p>
          </p:txBody>
        </p:sp>
      </p:grpSp>
      <p:grpSp>
        <p:nvGrpSpPr>
          <p:cNvPr id="45" name="Group 45"/>
          <p:cNvGrpSpPr/>
          <p:nvPr/>
        </p:nvGrpSpPr>
        <p:grpSpPr>
          <a:xfrm>
            <a:off x="2857500" y="2286000"/>
            <a:ext cx="5981700" cy="323850"/>
            <a:chOff x="2857500" y="2286000"/>
            <a:chExt cx="5981700" cy="323850"/>
          </a:xfrm>
        </p:grpSpPr>
        <p:sp>
          <p:nvSpPr>
            <p:cNvPr id="42" name="Freeform 42"/>
            <p:cNvSpPr/>
            <p:nvPr/>
          </p:nvSpPr>
          <p:spPr>
            <a:xfrm>
              <a:off x="2857500" y="2286000"/>
              <a:ext cx="342900" cy="323850"/>
            </a:xfrm>
            <a:prstGeom prst="rightArrow">
              <a:avLst/>
            </a:prstGeom>
            <a:solidFill>
              <a:schemeClr val="accent3"/>
            </a:solidFill>
            <a:ln>
              <a:noFill/>
            </a:ln>
          </p:spPr>
        </p:sp>
        <p:sp>
          <p:nvSpPr>
            <p:cNvPr id="43" name="Freeform 43"/>
            <p:cNvSpPr/>
            <p:nvPr/>
          </p:nvSpPr>
          <p:spPr>
            <a:xfrm>
              <a:off x="5676900" y="2286000"/>
              <a:ext cx="342900" cy="323850"/>
            </a:xfrm>
            <a:prstGeom prst="rightArrow">
              <a:avLst/>
            </a:prstGeom>
            <a:solidFill>
              <a:schemeClr val="accent3"/>
            </a:solidFill>
            <a:ln>
              <a:noFill/>
            </a:ln>
          </p:spPr>
        </p:sp>
        <p:sp>
          <p:nvSpPr>
            <p:cNvPr id="44" name="Freeform 44"/>
            <p:cNvSpPr/>
            <p:nvPr/>
          </p:nvSpPr>
          <p:spPr>
            <a:xfrm>
              <a:off x="8496300" y="2286000"/>
              <a:ext cx="342900" cy="323850"/>
            </a:xfrm>
            <a:prstGeom prst="rightArrow">
              <a:avLst/>
            </a:prstGeom>
            <a:solidFill>
              <a:schemeClr val="accent3"/>
            </a:solidFill>
            <a:ln>
              <a:noFill/>
            </a:ln>
          </p:spPr>
        </p:sp>
      </p:grpSp>
      <p:grpSp>
        <p:nvGrpSpPr>
          <p:cNvPr id="49" name="Group 49"/>
          <p:cNvGrpSpPr/>
          <p:nvPr/>
        </p:nvGrpSpPr>
        <p:grpSpPr>
          <a:xfrm>
            <a:off x="457200" y="4533900"/>
            <a:ext cx="11277600" cy="723900"/>
            <a:chOff x="457200" y="4533900"/>
            <a:chExt cx="11277600" cy="723900"/>
          </a:xfrm>
        </p:grpSpPr>
        <p:sp>
          <p:nvSpPr>
            <p:cNvPr id="46" name="Rectangle 46"/>
            <p:cNvSpPr/>
            <p:nvPr/>
          </p:nvSpPr>
          <p:spPr>
            <a:xfrm>
              <a:off x="457200" y="4533900"/>
              <a:ext cx="11277600" cy="723900"/>
            </a:xfrm>
            <a:prstGeom prst="roundRect">
              <a:avLst>
                <a:gd name="adj" fmla="val 15789"/>
              </a:avLst>
            </a:prstGeom>
            <a:solidFill>
              <a:schemeClr val="accent5"/>
            </a:solidFill>
            <a:ln w="9525">
              <a:solidFill>
                <a:schemeClr val="accent6"/>
              </a:solidFill>
            </a:ln>
          </p:spPr>
        </p:sp>
        <p:sp>
          <p:nvSpPr>
            <p:cNvPr id="47" name="Freeform 47"/>
            <p:cNvSpPr/>
            <p:nvPr/>
          </p:nvSpPr>
          <p:spPr>
            <a:xfrm>
              <a:off x="736318" y="4773451"/>
              <a:ext cx="215481" cy="216947"/>
            </a:xfrm>
            <a:custGeom>
              <a:avLst/>
              <a:gdLst/>
              <a:ahLst/>
              <a:cxnLst/>
              <a:rect l="l" t="t" r="r" b="b"/>
              <a:pathLst>
                <a:path w="215481" h="216947">
                  <a:moveTo>
                    <a:pt x="132044" y="20748"/>
                  </a:moveTo>
                  <a:cubicBezTo>
                    <a:pt x="152702" y="32673"/>
                    <a:pt x="167193" y="52952"/>
                    <a:pt x="171782" y="76360"/>
                  </a:cubicBezTo>
                  <a:cubicBezTo>
                    <a:pt x="176371" y="99768"/>
                    <a:pt x="170610" y="124016"/>
                    <a:pt x="155983" y="142859"/>
                  </a:cubicBezTo>
                  <a:lnTo>
                    <a:pt x="211570" y="198446"/>
                  </a:lnTo>
                  <a:cubicBezTo>
                    <a:pt x="215481" y="202495"/>
                    <a:pt x="215425" y="208931"/>
                    <a:pt x="211444" y="212911"/>
                  </a:cubicBezTo>
                  <a:cubicBezTo>
                    <a:pt x="207464" y="216892"/>
                    <a:pt x="201028" y="216947"/>
                    <a:pt x="196979" y="213037"/>
                  </a:cubicBezTo>
                  <a:lnTo>
                    <a:pt x="141382" y="157450"/>
                  </a:lnTo>
                  <a:cubicBezTo>
                    <a:pt x="108610" y="182880"/>
                    <a:pt x="62055" y="180040"/>
                    <a:pt x="32617" y="150815"/>
                  </a:cubicBezTo>
                  <a:cubicBezTo>
                    <a:pt x="3178" y="121590"/>
                    <a:pt x="0" y="75057"/>
                    <a:pt x="25191" y="42101"/>
                  </a:cubicBezTo>
                  <a:cubicBezTo>
                    <a:pt x="50382" y="9144"/>
                    <a:pt x="96118" y="0"/>
                    <a:pt x="132044" y="20737"/>
                  </a:cubicBezTo>
                </a:path>
              </a:pathLst>
            </a:custGeom>
            <a:solidFill>
              <a:schemeClr val="accent3"/>
            </a:solidFill>
            <a:ln>
              <a:noFill/>
            </a:ln>
          </p:spPr>
        </p:sp>
        <p:sp>
          <p:nvSpPr>
            <p:cNvPr id="48" name="TextBox 48"/>
            <p:cNvSpPr txBox="1"/>
            <p:nvPr/>
          </p:nvSpPr>
          <p:spPr>
            <a:xfrm>
              <a:off x="1097661" y="4818221"/>
              <a:ext cx="5225583"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「AIで相談する」を選んだ場合は、手順 2 で完了になります（P20）。</a:t>
              </a:r>
            </a:p>
          </p:txBody>
        </p:sp>
      </p:grpSp>
      <p:grpSp>
        <p:nvGrpSpPr>
          <p:cNvPr id="52" name="Group 52"/>
          <p:cNvGrpSpPr/>
          <p:nvPr/>
        </p:nvGrpSpPr>
        <p:grpSpPr>
          <a:xfrm>
            <a:off x="475420" y="5581650"/>
            <a:ext cx="4900653" cy="286798"/>
            <a:chOff x="475420" y="5581650"/>
            <a:chExt cx="4900653" cy="286798"/>
          </a:xfrm>
        </p:grpSpPr>
        <p:sp>
          <p:nvSpPr>
            <p:cNvPr id="50" name="Freeform 50"/>
            <p:cNvSpPr/>
            <p:nvPr/>
          </p:nvSpPr>
          <p:spPr>
            <a:xfrm>
              <a:off x="475420" y="5581650"/>
              <a:ext cx="192160" cy="190498"/>
            </a:xfrm>
            <a:custGeom>
              <a:avLst/>
              <a:gdLst/>
              <a:ahLst/>
              <a:cxnLst/>
              <a:rect l="l" t="t" r="r" b="b"/>
              <a:pathLst>
                <a:path w="192160" h="190498">
                  <a:moveTo>
                    <a:pt x="96080" y="0"/>
                  </a:moveTo>
                  <a:lnTo>
                    <a:pt x="99166" y="48"/>
                  </a:lnTo>
                  <a:cubicBezTo>
                    <a:pt x="151142" y="1733"/>
                    <a:pt x="192160" y="44794"/>
                    <a:pt x="191318" y="96791"/>
                  </a:cubicBezTo>
                  <a:cubicBezTo>
                    <a:pt x="190475" y="148787"/>
                    <a:pt x="148083" y="190498"/>
                    <a:pt x="96080" y="190498"/>
                  </a:cubicBezTo>
                  <a:cubicBezTo>
                    <a:pt x="44077" y="190498"/>
                    <a:pt x="1685" y="148787"/>
                    <a:pt x="843" y="96791"/>
                  </a:cubicBezTo>
                  <a:cubicBezTo>
                    <a:pt x="0" y="44794"/>
                    <a:pt x="41018" y="1733"/>
                    <a:pt x="92994" y="48"/>
                  </a:cubicBezTo>
                  <a:lnTo>
                    <a:pt x="96080" y="0"/>
                  </a:lnTo>
                  <a:close/>
                  <a:moveTo>
                    <a:pt x="101919" y="49625"/>
                  </a:moveTo>
                  <a:cubicBezTo>
                    <a:pt x="97946" y="46553"/>
                    <a:pt x="92270" y="47094"/>
                    <a:pt x="88948" y="50861"/>
                  </a:cubicBezTo>
                  <a:cubicBezTo>
                    <a:pt x="85627" y="54628"/>
                    <a:pt x="85801" y="60327"/>
                    <a:pt x="89346" y="63884"/>
                  </a:cubicBezTo>
                  <a:lnTo>
                    <a:pt x="111168" y="85725"/>
                  </a:lnTo>
                  <a:lnTo>
                    <a:pt x="57980" y="85725"/>
                  </a:lnTo>
                  <a:lnTo>
                    <a:pt x="56866" y="85792"/>
                  </a:lnTo>
                  <a:cubicBezTo>
                    <a:pt x="51861" y="86387"/>
                    <a:pt x="48187" y="90777"/>
                    <a:pt x="48482" y="95808"/>
                  </a:cubicBezTo>
                  <a:cubicBezTo>
                    <a:pt x="48777" y="100839"/>
                    <a:pt x="52940" y="104769"/>
                    <a:pt x="57980" y="104775"/>
                  </a:cubicBezTo>
                  <a:lnTo>
                    <a:pt x="111168" y="104775"/>
                  </a:lnTo>
                  <a:lnTo>
                    <a:pt x="89346" y="126616"/>
                  </a:lnTo>
                  <a:lnTo>
                    <a:pt x="88555" y="127511"/>
                  </a:lnTo>
                  <a:cubicBezTo>
                    <a:pt x="85483" y="131484"/>
                    <a:pt x="86024" y="137160"/>
                    <a:pt x="89791" y="140482"/>
                  </a:cubicBezTo>
                  <a:cubicBezTo>
                    <a:pt x="93558" y="143804"/>
                    <a:pt x="99257" y="143629"/>
                    <a:pt x="102814" y="140084"/>
                  </a:cubicBezTo>
                  <a:lnTo>
                    <a:pt x="140914" y="101984"/>
                  </a:lnTo>
                  <a:lnTo>
                    <a:pt x="141610" y="101203"/>
                  </a:lnTo>
                  <a:lnTo>
                    <a:pt x="142219" y="100355"/>
                  </a:lnTo>
                  <a:lnTo>
                    <a:pt x="142810" y="99279"/>
                  </a:lnTo>
                  <a:lnTo>
                    <a:pt x="143229" y="98231"/>
                  </a:lnTo>
                  <a:lnTo>
                    <a:pt x="143515" y="97165"/>
                  </a:lnTo>
                  <a:lnTo>
                    <a:pt x="143676" y="95964"/>
                  </a:lnTo>
                  <a:lnTo>
                    <a:pt x="143705" y="95250"/>
                  </a:lnTo>
                  <a:lnTo>
                    <a:pt x="143638" y="94126"/>
                  </a:lnTo>
                  <a:lnTo>
                    <a:pt x="143362" y="92716"/>
                  </a:lnTo>
                  <a:lnTo>
                    <a:pt x="143029" y="91716"/>
                  </a:lnTo>
                  <a:lnTo>
                    <a:pt x="142514" y="90640"/>
                  </a:lnTo>
                  <a:lnTo>
                    <a:pt x="141838" y="89583"/>
                  </a:lnTo>
                  <a:cubicBezTo>
                    <a:pt x="141557" y="89205"/>
                    <a:pt x="141248" y="88848"/>
                    <a:pt x="140914" y="88516"/>
                  </a:cubicBezTo>
                  <a:lnTo>
                    <a:pt x="102814" y="50416"/>
                  </a:lnTo>
                  <a:close/>
                </a:path>
              </a:pathLst>
            </a:custGeom>
            <a:solidFill>
              <a:schemeClr val="accent1"/>
            </a:solidFill>
            <a:ln>
              <a:noFill/>
            </a:ln>
          </p:spPr>
        </p:sp>
        <p:sp>
          <p:nvSpPr>
            <p:cNvPr id="51" name="TextBox 51"/>
            <p:cNvSpPr txBox="1"/>
            <p:nvPr/>
          </p:nvSpPr>
          <p:spPr>
            <a:xfrm>
              <a:off x="792861" y="5589746"/>
              <a:ext cx="4583212" cy="278702"/>
            </a:xfrm>
            <a:prstGeom prst="rect">
              <a:avLst/>
            </a:prstGeom>
            <a:noFill/>
            <a:ln>
              <a:noFill/>
            </a:ln>
          </p:spPr>
          <p:txBody>
            <a:bodyPr wrap="none" lIns="0" tIns="0" rIns="0" bIns="0" anchor="t" anchorCtr="0">
              <a:spAutoFit/>
            </a:bodyPr>
            <a:lstStyle/>
            <a:p>
              <a:pPr algn="l"/>
              <a:r>
                <a:rPr lang="zh-CN" sz="1420" dirty="0">
                  <a:solidFill>
                    <a:srgbClr val="5D6B7A"/>
                  </a:solidFill>
                  <a:latin typeface="+mn-lt"/>
                  <a:ea typeface="+mn-ea"/>
                  <a:cs typeface="+mn-cs"/>
                </a:rPr>
                <a:t>［戻る］で通過した画面へ戻れます。ビルド中の画面のみ戻れません。</a:t>
              </a:r>
            </a:p>
          </p:txBody>
        </p:sp>
      </p:grpSp>
      <p:grpSp>
        <p:nvGrpSpPr>
          <p:cNvPr id="55" name="Group 55"/>
          <p:cNvGrpSpPr/>
          <p:nvPr/>
        </p:nvGrpSpPr>
        <p:grpSpPr>
          <a:xfrm>
            <a:off x="451866" y="6477952"/>
            <a:ext cx="11288268" cy="205359"/>
            <a:chOff x="451866" y="6477952"/>
            <a:chExt cx="11288268" cy="205359"/>
          </a:xfrm>
        </p:grpSpPr>
        <p:sp>
          <p:nvSpPr>
            <p:cNvPr id="53" name="TextBox 53"/>
            <p:cNvSpPr txBox="1"/>
            <p:nvPr/>
          </p:nvSpPr>
          <p:spPr>
            <a:xfrm>
              <a:off x="451866" y="6477952"/>
              <a:ext cx="2252718"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MacroStudio 操作マニュアル（ベータ版）</a:t>
              </a:r>
            </a:p>
          </p:txBody>
        </p:sp>
        <p:sp>
          <p:nvSpPr>
            <p:cNvPr id="54" name="TextBox 54"/>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65397" y="486728"/>
              <a:ext cx="30750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操作</a:t>
              </a:r>
            </a:p>
          </p:txBody>
        </p:sp>
        <p:sp>
          <p:nvSpPr>
            <p:cNvPr id="4" name="TextBox 4"/>
            <p:cNvSpPr txBox="1"/>
            <p:nvPr/>
          </p:nvSpPr>
          <p:spPr>
            <a:xfrm>
              <a:off x="441960" y="685800"/>
              <a:ext cx="3359296"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本書で使用するサンプル</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40" name="Group 40"/>
          <p:cNvGrpSpPr/>
          <p:nvPr/>
        </p:nvGrpSpPr>
        <p:grpSpPr>
          <a:xfrm>
            <a:off x="457200" y="1333500"/>
            <a:ext cx="6096000" cy="4038600"/>
            <a:chOff x="457200" y="1333500"/>
            <a:chExt cx="6096000" cy="4038600"/>
          </a:xfrm>
        </p:grpSpPr>
        <p:sp>
          <p:nvSpPr>
            <p:cNvPr id="7" name="Rectangle 7"/>
            <p:cNvSpPr/>
            <p:nvPr/>
          </p:nvSpPr>
          <p:spPr>
            <a:xfrm>
              <a:off x="457200" y="1333500"/>
              <a:ext cx="6096000" cy="4038600"/>
            </a:xfrm>
            <a:prstGeom prst="roundRect">
              <a:avLst>
                <a:gd name="adj" fmla="val 3774"/>
              </a:avLst>
            </a:prstGeom>
            <a:solidFill>
              <a:schemeClr val="lt2"/>
            </a:solidFill>
            <a:ln>
              <a:noFill/>
            </a:ln>
          </p:spPr>
        </p:sp>
        <p:grpSp>
          <p:nvGrpSpPr>
            <p:cNvPr id="10" name="Group 10"/>
            <p:cNvGrpSpPr/>
            <p:nvPr/>
          </p:nvGrpSpPr>
          <p:grpSpPr>
            <a:xfrm>
              <a:off x="771524" y="1604962"/>
              <a:ext cx="190502" cy="238126"/>
              <a:chOff x="771524" y="1604962"/>
              <a:chExt cx="190502" cy="238126"/>
            </a:xfrm>
          </p:grpSpPr>
          <p:sp>
            <p:nvSpPr>
              <p:cNvPr id="8" name="Freeform 8"/>
              <p:cNvSpPr/>
              <p:nvPr/>
            </p:nvSpPr>
            <p:spPr>
              <a:xfrm>
                <a:off x="771524" y="1604962"/>
                <a:ext cx="190502" cy="238126"/>
              </a:xfrm>
              <a:custGeom>
                <a:avLst/>
                <a:gdLst/>
                <a:ahLst/>
                <a:cxnLst/>
                <a:rect l="l" t="t" r="r" b="b"/>
                <a:pathLst>
                  <a:path w="190502" h="238126">
                    <a:moveTo>
                      <a:pt x="95251" y="0"/>
                    </a:moveTo>
                    <a:lnTo>
                      <a:pt x="96644" y="83"/>
                    </a:lnTo>
                    <a:cubicBezTo>
                      <a:pt x="102115" y="729"/>
                      <a:pt x="106429" y="5042"/>
                      <a:pt x="107074" y="10513"/>
                    </a:cubicBezTo>
                    <a:lnTo>
                      <a:pt x="107157" y="11906"/>
                    </a:lnTo>
                    <a:lnTo>
                      <a:pt x="107157" y="59531"/>
                    </a:lnTo>
                    <a:lnTo>
                      <a:pt x="107217" y="61317"/>
                    </a:lnTo>
                    <a:cubicBezTo>
                      <a:pt x="108097" y="73032"/>
                      <a:pt x="117389" y="82354"/>
                      <a:pt x="129101" y="83272"/>
                    </a:cubicBezTo>
                    <a:lnTo>
                      <a:pt x="130970" y="83344"/>
                    </a:lnTo>
                    <a:lnTo>
                      <a:pt x="178595" y="83344"/>
                    </a:lnTo>
                    <a:lnTo>
                      <a:pt x="179988" y="83427"/>
                    </a:lnTo>
                    <a:cubicBezTo>
                      <a:pt x="185459" y="84072"/>
                      <a:pt x="189773" y="88386"/>
                      <a:pt x="190418" y="93857"/>
                    </a:cubicBezTo>
                    <a:lnTo>
                      <a:pt x="190501" y="95250"/>
                    </a:lnTo>
                    <a:lnTo>
                      <a:pt x="190501" y="202406"/>
                    </a:lnTo>
                    <a:cubicBezTo>
                      <a:pt x="190502" y="221320"/>
                      <a:pt x="175759" y="236956"/>
                      <a:pt x="156878" y="238065"/>
                    </a:cubicBezTo>
                    <a:lnTo>
                      <a:pt x="154782" y="238125"/>
                    </a:lnTo>
                    <a:lnTo>
                      <a:pt x="35720" y="238125"/>
                    </a:lnTo>
                    <a:cubicBezTo>
                      <a:pt x="16806" y="238126"/>
                      <a:pt x="1170" y="223383"/>
                      <a:pt x="61" y="204502"/>
                    </a:cubicBezTo>
                    <a:lnTo>
                      <a:pt x="1" y="202406"/>
                    </a:lnTo>
                    <a:lnTo>
                      <a:pt x="1" y="35719"/>
                    </a:lnTo>
                    <a:cubicBezTo>
                      <a:pt x="0" y="16805"/>
                      <a:pt x="14743" y="1169"/>
                      <a:pt x="33624" y="60"/>
                    </a:cubicBezTo>
                    <a:lnTo>
                      <a:pt x="35720" y="0"/>
                    </a:lnTo>
                    <a:close/>
                    <a:moveTo>
                      <a:pt x="76761" y="132231"/>
                    </a:moveTo>
                    <a:cubicBezTo>
                      <a:pt x="70882" y="129295"/>
                      <a:pt x="63736" y="131677"/>
                      <a:pt x="60794" y="137553"/>
                    </a:cubicBezTo>
                    <a:lnTo>
                      <a:pt x="48888" y="161365"/>
                    </a:lnTo>
                    <a:cubicBezTo>
                      <a:pt x="47214" y="164716"/>
                      <a:pt x="47214" y="168659"/>
                      <a:pt x="48888" y="172010"/>
                    </a:cubicBezTo>
                    <a:lnTo>
                      <a:pt x="60794" y="195822"/>
                    </a:lnTo>
                    <a:cubicBezTo>
                      <a:pt x="63736" y="201698"/>
                      <a:pt x="70882" y="204080"/>
                      <a:pt x="76761" y="201144"/>
                    </a:cubicBezTo>
                    <a:lnTo>
                      <a:pt x="77975" y="200454"/>
                    </a:lnTo>
                    <a:cubicBezTo>
                      <a:pt x="83018" y="197139"/>
                      <a:pt x="84783" y="190575"/>
                      <a:pt x="82083" y="185178"/>
                    </a:cubicBezTo>
                    <a:lnTo>
                      <a:pt x="72843" y="166688"/>
                    </a:lnTo>
                    <a:lnTo>
                      <a:pt x="82083" y="148197"/>
                    </a:lnTo>
                    <a:cubicBezTo>
                      <a:pt x="85019" y="142318"/>
                      <a:pt x="82637" y="135172"/>
                      <a:pt x="76761" y="132231"/>
                    </a:cubicBezTo>
                    <a:moveTo>
                      <a:pt x="129708" y="137553"/>
                    </a:moveTo>
                    <a:cubicBezTo>
                      <a:pt x="126766" y="131677"/>
                      <a:pt x="119620" y="129295"/>
                      <a:pt x="113741" y="132231"/>
                    </a:cubicBezTo>
                    <a:lnTo>
                      <a:pt x="112527" y="132921"/>
                    </a:lnTo>
                    <a:cubicBezTo>
                      <a:pt x="107484" y="136236"/>
                      <a:pt x="105719" y="142800"/>
                      <a:pt x="108419" y="148197"/>
                    </a:cubicBezTo>
                    <a:lnTo>
                      <a:pt x="117635" y="166688"/>
                    </a:lnTo>
                    <a:lnTo>
                      <a:pt x="108407" y="185178"/>
                    </a:lnTo>
                    <a:cubicBezTo>
                      <a:pt x="105710" y="191017"/>
                      <a:pt x="108138" y="197944"/>
                      <a:pt x="113892" y="200820"/>
                    </a:cubicBezTo>
                    <a:cubicBezTo>
                      <a:pt x="119645" y="203697"/>
                      <a:pt x="126643" y="201484"/>
                      <a:pt x="129696" y="195822"/>
                    </a:cubicBezTo>
                    <a:lnTo>
                      <a:pt x="141602" y="172010"/>
                    </a:lnTo>
                    <a:cubicBezTo>
                      <a:pt x="143276" y="168659"/>
                      <a:pt x="143276" y="164716"/>
                      <a:pt x="141602" y="161365"/>
                    </a:cubicBezTo>
                    <a:close/>
                  </a:path>
                </a:pathLst>
              </a:custGeom>
              <a:solidFill>
                <a:schemeClr val="accent1"/>
              </a:solidFill>
              <a:ln>
                <a:noFill/>
              </a:ln>
            </p:spPr>
          </p:sp>
          <p:sp>
            <p:nvSpPr>
              <p:cNvPr id="9" name="Freeform 9"/>
              <p:cNvSpPr/>
              <p:nvPr/>
            </p:nvSpPr>
            <p:spPr>
              <a:xfrm>
                <a:off x="902482" y="1616857"/>
                <a:ext cx="47637" cy="47637"/>
              </a:xfrm>
              <a:custGeom>
                <a:avLst/>
                <a:gdLst/>
                <a:ahLst/>
                <a:cxnLst/>
                <a:rect l="l" t="t" r="r" b="b"/>
                <a:pathLst>
                  <a:path w="47637" h="47637">
                    <a:moveTo>
                      <a:pt x="47637" y="47637"/>
                    </a:moveTo>
                    <a:lnTo>
                      <a:pt x="12" y="47637"/>
                    </a:lnTo>
                    <a:lnTo>
                      <a:pt x="0" y="0"/>
                    </a:lnTo>
                    <a:close/>
                  </a:path>
                </a:pathLst>
              </a:custGeom>
              <a:solidFill>
                <a:schemeClr val="accent1"/>
              </a:solidFill>
              <a:ln>
                <a:noFill/>
              </a:ln>
            </p:spPr>
          </p:sp>
        </p:grpSp>
        <p:sp>
          <p:nvSpPr>
            <p:cNvPr id="11" name="TextBox 11"/>
            <p:cNvSpPr txBox="1"/>
            <p:nvPr/>
          </p:nvSpPr>
          <p:spPr>
            <a:xfrm>
              <a:off x="1133856" y="1615440"/>
              <a:ext cx="3135078"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sample_win32_sleep.xlsm</a:t>
              </a:r>
            </a:p>
          </p:txBody>
        </p:sp>
        <p:sp>
          <p:nvSpPr>
            <p:cNvPr id="12" name="TextBox 12"/>
            <p:cNvSpPr txBox="1"/>
            <p:nvPr/>
          </p:nvSpPr>
          <p:spPr>
            <a:xfrm>
              <a:off x="716661" y="2075021"/>
              <a:ext cx="5386214"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MacroStudio に同梱されているサンプルブック（sample-book フォルダ内）。</a:t>
              </a:r>
            </a:p>
          </p:txBody>
        </p:sp>
        <p:sp>
          <p:nvSpPr>
            <p:cNvPr id="13" name="TextBox 13"/>
            <p:cNvSpPr txBox="1"/>
            <p:nvPr/>
          </p:nvSpPr>
          <p:spPr>
            <a:xfrm>
              <a:off x="716661" y="2360771"/>
              <a:ext cx="5816196"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申請一覧シートの内容を検証し、結果とログを書き込むマクロ。8 モジュール・484 行。</a:t>
              </a:r>
            </a:p>
          </p:txBody>
        </p:sp>
        <p:grpSp>
          <p:nvGrpSpPr>
            <p:cNvPr id="39" name="Group 39"/>
            <p:cNvGrpSpPr/>
            <p:nvPr/>
          </p:nvGrpSpPr>
          <p:grpSpPr>
            <a:xfrm>
              <a:off x="723900" y="2857500"/>
              <a:ext cx="5562600" cy="2247900"/>
              <a:chOff x="723900" y="2857500"/>
              <a:chExt cx="5562600" cy="2247900"/>
            </a:xfrm>
          </p:grpSpPr>
          <p:sp>
            <p:nvSpPr>
              <p:cNvPr id="14" name="Rectangle 14"/>
              <p:cNvSpPr/>
              <p:nvPr/>
            </p:nvSpPr>
            <p:spPr>
              <a:xfrm>
                <a:off x="723900" y="2857500"/>
                <a:ext cx="5562600" cy="381000"/>
              </a:xfrm>
              <a:prstGeom prst="rect">
                <a:avLst/>
              </a:prstGeom>
              <a:solidFill>
                <a:schemeClr val="accent1"/>
              </a:solidFill>
              <a:ln>
                <a:noFill/>
              </a:ln>
            </p:spPr>
          </p:sp>
          <p:sp>
            <p:nvSpPr>
              <p:cNvPr id="15" name="TextBox 15"/>
              <p:cNvSpPr txBox="1"/>
              <p:nvPr/>
            </p:nvSpPr>
            <p:spPr>
              <a:xfrm>
                <a:off x="869442" y="2968942"/>
                <a:ext cx="538482"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モジュール</a:t>
                </a:r>
              </a:p>
            </p:txBody>
          </p:sp>
          <p:sp>
            <p:nvSpPr>
              <p:cNvPr id="16" name="TextBox 16"/>
              <p:cNvSpPr txBox="1"/>
              <p:nvPr/>
            </p:nvSpPr>
            <p:spPr>
              <a:xfrm>
                <a:off x="2754744" y="2968942"/>
                <a:ext cx="395364" cy="264033"/>
              </a:xfrm>
              <a:prstGeom prst="rect">
                <a:avLst/>
              </a:prstGeom>
              <a:noFill/>
              <a:ln>
                <a:noFill/>
              </a:ln>
            </p:spPr>
            <p:txBody>
              <a:bodyPr wrap="none" lIns="0" tIns="0" rIns="0" bIns="0" anchor="t" anchorCtr="0">
                <a:spAutoFit/>
              </a:bodyPr>
              <a:lstStyle/>
              <a:p>
                <a:pPr algn="r"/>
                <a:r>
                  <a:rPr lang="zh-CN" sz="1350" b="1" dirty="0">
                    <a:solidFill>
                      <a:srgbClr val="FFFFFF"/>
                    </a:solidFill>
                    <a:latin typeface="+mn-lt"/>
                    <a:ea typeface="+mn-ea"/>
                    <a:cs typeface="+mn-cs"/>
                  </a:rPr>
                  <a:t>行数</a:t>
                </a:r>
              </a:p>
            </p:txBody>
          </p:sp>
          <p:sp>
            <p:nvSpPr>
              <p:cNvPr id="17" name="TextBox 17"/>
              <p:cNvSpPr txBox="1"/>
              <p:nvPr/>
            </p:nvSpPr>
            <p:spPr>
              <a:xfrm>
                <a:off x="3384042" y="2968942"/>
                <a:ext cx="395364"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内容</a:t>
                </a:r>
              </a:p>
            </p:txBody>
          </p:sp>
          <p:sp>
            <p:nvSpPr>
              <p:cNvPr id="18" name="Rectangle 18"/>
              <p:cNvSpPr/>
              <p:nvPr/>
            </p:nvSpPr>
            <p:spPr>
              <a:xfrm>
                <a:off x="723900" y="3238500"/>
                <a:ext cx="5562600" cy="371475"/>
              </a:xfrm>
              <a:prstGeom prst="rect">
                <a:avLst/>
              </a:prstGeom>
              <a:solidFill>
                <a:schemeClr val="lt1"/>
              </a:solidFill>
              <a:ln>
                <a:noFill/>
              </a:ln>
            </p:spPr>
          </p:sp>
          <p:sp>
            <p:nvSpPr>
              <p:cNvPr id="19" name="TextBox 19"/>
              <p:cNvSpPr txBox="1"/>
              <p:nvPr/>
            </p:nvSpPr>
            <p:spPr>
              <a:xfrm>
                <a:off x="869442" y="3340418"/>
                <a:ext cx="123279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Consolas"/>
                    <a:ea typeface="Consolas"/>
                    <a:cs typeface="Consolas"/>
                  </a:rPr>
                  <a:t>AppController</a:t>
                </a:r>
              </a:p>
            </p:txBody>
          </p:sp>
          <p:sp>
            <p:nvSpPr>
              <p:cNvPr id="20" name="TextBox 20"/>
              <p:cNvSpPr txBox="1"/>
              <p:nvPr/>
            </p:nvSpPr>
            <p:spPr>
              <a:xfrm>
                <a:off x="2836526" y="3340418"/>
                <a:ext cx="313582" cy="264033"/>
              </a:xfrm>
              <a:prstGeom prst="rect">
                <a:avLst/>
              </a:prstGeom>
              <a:noFill/>
              <a:ln>
                <a:noFill/>
              </a:ln>
            </p:spPr>
            <p:txBody>
              <a:bodyPr wrap="none" lIns="0" tIns="0" rIns="0" bIns="0" anchor="t" anchorCtr="0">
                <a:spAutoFit/>
              </a:bodyPr>
              <a:lstStyle/>
              <a:p>
                <a:pPr algn="r"/>
                <a:r>
                  <a:rPr lang="en-US" sz="1350" dirty="0">
                    <a:solidFill>
                      <a:schemeClr val="dk1"/>
                    </a:solidFill>
                    <a:latin typeface="+mn-lt"/>
                    <a:ea typeface="+mn-ea"/>
                    <a:cs typeface="+mn-cs"/>
                  </a:rPr>
                  <a:t>103</a:t>
                </a:r>
              </a:p>
            </p:txBody>
          </p:sp>
          <p:sp>
            <p:nvSpPr>
              <p:cNvPr id="21" name="TextBox 21"/>
              <p:cNvSpPr txBox="1"/>
              <p:nvPr/>
            </p:nvSpPr>
            <p:spPr>
              <a:xfrm>
                <a:off x="3384042" y="3340418"/>
                <a:ext cx="120409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検証全体の進行</a:t>
                </a:r>
              </a:p>
            </p:txBody>
          </p:sp>
          <p:sp>
            <p:nvSpPr>
              <p:cNvPr id="22" name="Rectangle 22"/>
              <p:cNvSpPr/>
              <p:nvPr/>
            </p:nvSpPr>
            <p:spPr>
              <a:xfrm>
                <a:off x="723900" y="3609975"/>
                <a:ext cx="5562600" cy="371475"/>
              </a:xfrm>
              <a:prstGeom prst="rect">
                <a:avLst/>
              </a:prstGeom>
              <a:solidFill>
                <a:schemeClr val="accent5"/>
              </a:solidFill>
              <a:ln>
                <a:noFill/>
              </a:ln>
            </p:spPr>
          </p:sp>
          <p:sp>
            <p:nvSpPr>
              <p:cNvPr id="23" name="TextBox 23"/>
              <p:cNvSpPr txBox="1"/>
              <p:nvPr/>
            </p:nvSpPr>
            <p:spPr>
              <a:xfrm>
                <a:off x="869442" y="3711892"/>
                <a:ext cx="101539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Consolas"/>
                    <a:ea typeface="Consolas"/>
                    <a:cs typeface="Consolas"/>
                  </a:rPr>
                  <a:t>SystemInfo</a:t>
                </a:r>
              </a:p>
            </p:txBody>
          </p:sp>
          <p:sp>
            <p:nvSpPr>
              <p:cNvPr id="24" name="TextBox 24"/>
              <p:cNvSpPr txBox="1"/>
              <p:nvPr/>
            </p:nvSpPr>
            <p:spPr>
              <a:xfrm>
                <a:off x="2836526" y="3711892"/>
                <a:ext cx="313582" cy="264033"/>
              </a:xfrm>
              <a:prstGeom prst="rect">
                <a:avLst/>
              </a:prstGeom>
              <a:noFill/>
              <a:ln>
                <a:noFill/>
              </a:ln>
            </p:spPr>
            <p:txBody>
              <a:bodyPr wrap="none" lIns="0" tIns="0" rIns="0" bIns="0" anchor="t" anchorCtr="0">
                <a:spAutoFit/>
              </a:bodyPr>
              <a:lstStyle/>
              <a:p>
                <a:pPr algn="r"/>
                <a:r>
                  <a:rPr lang="en-US" sz="1350" dirty="0">
                    <a:solidFill>
                      <a:schemeClr val="dk1"/>
                    </a:solidFill>
                    <a:latin typeface="+mn-lt"/>
                    <a:ea typeface="+mn-ea"/>
                    <a:cs typeface="+mn-cs"/>
                  </a:rPr>
                  <a:t>157</a:t>
                </a:r>
              </a:p>
            </p:txBody>
          </p:sp>
          <p:sp>
            <p:nvSpPr>
              <p:cNvPr id="25" name="TextBox 25"/>
              <p:cNvSpPr txBox="1"/>
              <p:nvPr/>
            </p:nvSpPr>
            <p:spPr>
              <a:xfrm>
                <a:off x="3384042" y="3711892"/>
                <a:ext cx="226725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シート構成の確認と設定の読み取り</a:t>
                </a:r>
              </a:p>
            </p:txBody>
          </p:sp>
          <p:sp>
            <p:nvSpPr>
              <p:cNvPr id="26" name="Rectangle 26"/>
              <p:cNvSpPr/>
              <p:nvPr/>
            </p:nvSpPr>
            <p:spPr>
              <a:xfrm>
                <a:off x="723900" y="3981450"/>
                <a:ext cx="5562600" cy="371475"/>
              </a:xfrm>
              <a:prstGeom prst="rect">
                <a:avLst/>
              </a:prstGeom>
              <a:solidFill>
                <a:schemeClr val="lt1"/>
              </a:solidFill>
              <a:ln>
                <a:noFill/>
              </a:ln>
            </p:spPr>
          </p:sp>
          <p:sp>
            <p:nvSpPr>
              <p:cNvPr id="27" name="TextBox 27"/>
              <p:cNvSpPr txBox="1"/>
              <p:nvPr/>
            </p:nvSpPr>
            <p:spPr>
              <a:xfrm>
                <a:off x="869442" y="4083368"/>
                <a:ext cx="92349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Consolas"/>
                    <a:ea typeface="Consolas"/>
                    <a:cs typeface="Consolas"/>
                  </a:rPr>
                  <a:t>TimerUtils</a:t>
                </a:r>
              </a:p>
            </p:txBody>
          </p:sp>
          <p:sp>
            <p:nvSpPr>
              <p:cNvPr id="28" name="TextBox 28"/>
              <p:cNvSpPr txBox="1"/>
              <p:nvPr/>
            </p:nvSpPr>
            <p:spPr>
              <a:xfrm>
                <a:off x="2936481" y="4083368"/>
                <a:ext cx="213627" cy="264033"/>
              </a:xfrm>
              <a:prstGeom prst="rect">
                <a:avLst/>
              </a:prstGeom>
              <a:noFill/>
              <a:ln>
                <a:noFill/>
              </a:ln>
            </p:spPr>
            <p:txBody>
              <a:bodyPr wrap="none" lIns="0" tIns="0" rIns="0" bIns="0" anchor="t" anchorCtr="0">
                <a:spAutoFit/>
              </a:bodyPr>
              <a:lstStyle/>
              <a:p>
                <a:pPr algn="r"/>
                <a:r>
                  <a:rPr lang="en-US" sz="1350" dirty="0">
                    <a:solidFill>
                      <a:schemeClr val="dk1"/>
                    </a:solidFill>
                    <a:latin typeface="+mn-lt"/>
                    <a:ea typeface="+mn-ea"/>
                    <a:cs typeface="+mn-cs"/>
                  </a:rPr>
                  <a:t>14</a:t>
                </a:r>
              </a:p>
            </p:txBody>
          </p:sp>
          <p:sp>
            <p:nvSpPr>
              <p:cNvPr id="29" name="TextBox 29"/>
              <p:cNvSpPr txBox="1"/>
              <p:nvPr/>
            </p:nvSpPr>
            <p:spPr>
              <a:xfrm>
                <a:off x="3384042" y="4083368"/>
                <a:ext cx="120409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待機と経過時間</a:t>
                </a:r>
              </a:p>
            </p:txBody>
          </p:sp>
          <p:sp>
            <p:nvSpPr>
              <p:cNvPr id="30" name="Rectangle 30"/>
              <p:cNvSpPr/>
              <p:nvPr/>
            </p:nvSpPr>
            <p:spPr>
              <a:xfrm>
                <a:off x="723900" y="4352925"/>
                <a:ext cx="5562600" cy="371475"/>
              </a:xfrm>
              <a:prstGeom prst="rect">
                <a:avLst/>
              </a:prstGeom>
              <a:solidFill>
                <a:schemeClr val="accent5"/>
              </a:solidFill>
              <a:ln>
                <a:noFill/>
              </a:ln>
            </p:spPr>
          </p:sp>
          <p:sp>
            <p:nvSpPr>
              <p:cNvPr id="31" name="TextBox 31"/>
              <p:cNvSpPr txBox="1"/>
              <p:nvPr/>
            </p:nvSpPr>
            <p:spPr>
              <a:xfrm>
                <a:off x="869442" y="4454842"/>
                <a:ext cx="106027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Consolas"/>
                    <a:ea typeface="Consolas"/>
                    <a:cs typeface="Consolas"/>
                  </a:rPr>
                  <a:t>WindowUtils</a:t>
                </a:r>
              </a:p>
            </p:txBody>
          </p:sp>
          <p:sp>
            <p:nvSpPr>
              <p:cNvPr id="32" name="TextBox 32"/>
              <p:cNvSpPr txBox="1"/>
              <p:nvPr/>
            </p:nvSpPr>
            <p:spPr>
              <a:xfrm>
                <a:off x="2836526" y="4454842"/>
                <a:ext cx="313582" cy="264033"/>
              </a:xfrm>
              <a:prstGeom prst="rect">
                <a:avLst/>
              </a:prstGeom>
              <a:noFill/>
              <a:ln>
                <a:noFill/>
              </a:ln>
            </p:spPr>
            <p:txBody>
              <a:bodyPr wrap="none" lIns="0" tIns="0" rIns="0" bIns="0" anchor="t" anchorCtr="0">
                <a:spAutoFit/>
              </a:bodyPr>
              <a:lstStyle/>
              <a:p>
                <a:pPr algn="r"/>
                <a:r>
                  <a:rPr lang="en-US" sz="1350" dirty="0">
                    <a:solidFill>
                      <a:schemeClr val="dk1"/>
                    </a:solidFill>
                    <a:latin typeface="+mn-lt"/>
                    <a:ea typeface="+mn-ea"/>
                    <a:cs typeface="+mn-cs"/>
                  </a:rPr>
                  <a:t>210</a:t>
                </a:r>
              </a:p>
            </p:txBody>
          </p:sp>
          <p:sp>
            <p:nvSpPr>
              <p:cNvPr id="33" name="TextBox 33"/>
              <p:cNvSpPr txBox="1"/>
              <p:nvPr/>
            </p:nvSpPr>
            <p:spPr>
              <a:xfrm>
                <a:off x="3384042" y="4454842"/>
                <a:ext cx="255803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申請 1 行ずつの検証と結果の書き込み</a:t>
                </a:r>
              </a:p>
            </p:txBody>
          </p:sp>
          <p:sp>
            <p:nvSpPr>
              <p:cNvPr id="34" name="Rectangle 34"/>
              <p:cNvSpPr/>
              <p:nvPr/>
            </p:nvSpPr>
            <p:spPr>
              <a:xfrm>
                <a:off x="723900" y="4724400"/>
                <a:ext cx="5562600" cy="371475"/>
              </a:xfrm>
              <a:prstGeom prst="rect">
                <a:avLst/>
              </a:prstGeom>
              <a:solidFill>
                <a:schemeClr val="lt1"/>
              </a:solidFill>
              <a:ln>
                <a:noFill/>
              </a:ln>
            </p:spPr>
          </p:sp>
          <p:sp>
            <p:nvSpPr>
              <p:cNvPr id="35" name="TextBox 35"/>
              <p:cNvSpPr txBox="1"/>
              <p:nvPr/>
            </p:nvSpPr>
            <p:spPr>
              <a:xfrm>
                <a:off x="869442" y="4826318"/>
                <a:ext cx="522580" cy="264033"/>
              </a:xfrm>
              <a:prstGeom prst="rect">
                <a:avLst/>
              </a:prstGeom>
              <a:noFill/>
              <a:ln>
                <a:noFill/>
              </a:ln>
            </p:spPr>
            <p:txBody>
              <a:bodyPr wrap="none" lIns="0" tIns="0" rIns="0" bIns="0" anchor="t" anchorCtr="0">
                <a:spAutoFit/>
              </a:bodyPr>
              <a:lstStyle/>
              <a:p>
                <a:pPr algn="l"/>
                <a:r>
                  <a:rPr lang="en-US" sz="1350" dirty="0">
                    <a:solidFill>
                      <a:srgbClr val="5D6B7A"/>
                    </a:solidFill>
                    <a:latin typeface="+mn-lt"/>
                    <a:ea typeface="+mn-ea"/>
                    <a:cs typeface="+mn-cs"/>
                  </a:rPr>
                  <a:t>ほか 4 つ</a:t>
                </a:r>
              </a:p>
            </p:txBody>
          </p:sp>
          <p:sp>
            <p:nvSpPr>
              <p:cNvPr id="36" name="TextBox 36"/>
              <p:cNvSpPr txBox="1"/>
              <p:nvPr/>
            </p:nvSpPr>
            <p:spPr>
              <a:xfrm>
                <a:off x="3036437" y="4826318"/>
                <a:ext cx="113671" cy="264033"/>
              </a:xfrm>
              <a:prstGeom prst="rect">
                <a:avLst/>
              </a:prstGeom>
              <a:noFill/>
              <a:ln>
                <a:noFill/>
              </a:ln>
            </p:spPr>
            <p:txBody>
              <a:bodyPr wrap="none" lIns="0" tIns="0" rIns="0" bIns="0" anchor="t" anchorCtr="0">
                <a:spAutoFit/>
              </a:bodyPr>
              <a:lstStyle/>
              <a:p>
                <a:pPr algn="r"/>
                <a:r>
                  <a:rPr lang="en-US" sz="1350" dirty="0">
                    <a:solidFill>
                      <a:srgbClr val="5D6B7A"/>
                    </a:solidFill>
                    <a:latin typeface="+mn-lt"/>
                    <a:ea typeface="+mn-ea"/>
                    <a:cs typeface="+mn-cs"/>
                  </a:rPr>
                  <a:t>0</a:t>
                </a:r>
              </a:p>
            </p:txBody>
          </p:sp>
          <p:sp>
            <p:nvSpPr>
              <p:cNvPr id="37" name="TextBox 37"/>
              <p:cNvSpPr txBox="1"/>
              <p:nvPr/>
            </p:nvSpPr>
            <p:spPr>
              <a:xfrm>
                <a:off x="3384042" y="4826318"/>
                <a:ext cx="1958302"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シート側のモジュール（コードなし）</a:t>
                </a:r>
              </a:p>
            </p:txBody>
          </p:sp>
          <p:sp>
            <p:nvSpPr>
              <p:cNvPr id="38" name="Rectangle 38"/>
              <p:cNvSpPr/>
              <p:nvPr/>
            </p:nvSpPr>
            <p:spPr>
              <a:xfrm>
                <a:off x="723900" y="2857500"/>
                <a:ext cx="5562600" cy="2247900"/>
              </a:xfrm>
              <a:prstGeom prst="roundRect">
                <a:avLst>
                  <a:gd name="adj" fmla="val 3390"/>
                </a:avLst>
              </a:prstGeom>
              <a:noFill/>
              <a:ln w="14288">
                <a:solidFill>
                  <a:schemeClr val="accent6"/>
                </a:solidFill>
              </a:ln>
            </p:spPr>
          </p:sp>
        </p:grpSp>
      </p:grpSp>
      <p:grpSp>
        <p:nvGrpSpPr>
          <p:cNvPr id="46" name="Group 46"/>
          <p:cNvGrpSpPr/>
          <p:nvPr/>
        </p:nvGrpSpPr>
        <p:grpSpPr>
          <a:xfrm>
            <a:off x="6858000" y="1333500"/>
            <a:ext cx="4876800" cy="1809750"/>
            <a:chOff x="6858000" y="1333500"/>
            <a:chExt cx="4876800" cy="1809750"/>
          </a:xfrm>
        </p:grpSpPr>
        <p:sp>
          <p:nvSpPr>
            <p:cNvPr id="41" name="Rectangle 41"/>
            <p:cNvSpPr/>
            <p:nvPr/>
          </p:nvSpPr>
          <p:spPr>
            <a:xfrm>
              <a:off x="6858000" y="1333500"/>
              <a:ext cx="4876800" cy="1809750"/>
            </a:xfrm>
            <a:prstGeom prst="roundRect">
              <a:avLst>
                <a:gd name="adj" fmla="val 8421"/>
              </a:avLst>
            </a:prstGeom>
            <a:solidFill>
              <a:schemeClr val="accent5"/>
            </a:solidFill>
            <a:ln w="9525">
              <a:solidFill>
                <a:schemeClr val="accent6"/>
              </a:solidFill>
            </a:ln>
          </p:spPr>
        </p:sp>
        <p:sp>
          <p:nvSpPr>
            <p:cNvPr id="42" name="TextBox 42"/>
            <p:cNvSpPr txBox="1"/>
            <p:nvPr/>
          </p:nvSpPr>
          <p:spPr>
            <a:xfrm>
              <a:off x="7116318" y="1498282"/>
              <a:ext cx="1077957"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改修の背景</a:t>
              </a:r>
            </a:p>
          </p:txBody>
        </p:sp>
        <p:sp>
          <p:nvSpPr>
            <p:cNvPr id="43" name="TextBox 43"/>
            <p:cNvSpPr txBox="1"/>
            <p:nvPr/>
          </p:nvSpPr>
          <p:spPr>
            <a:xfrm>
              <a:off x="7117842" y="1892618"/>
              <a:ext cx="344854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このマクロは待機処理に Win32 API（kernel32 の</a:t>
              </a:r>
            </a:p>
          </p:txBody>
        </p:sp>
        <p:sp>
          <p:nvSpPr>
            <p:cNvPr id="44" name="TextBox 44"/>
            <p:cNvSpPr txBox="1"/>
            <p:nvPr/>
          </p:nvSpPr>
          <p:spPr>
            <a:xfrm>
              <a:off x="7117842" y="2159318"/>
              <a:ext cx="352759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Sleep）を 19 か所で使用しています。Win32 API を</a:t>
              </a:r>
            </a:p>
          </p:txBody>
        </p:sp>
        <p:sp>
          <p:nvSpPr>
            <p:cNvPr id="45" name="TextBox 45"/>
            <p:cNvSpPr txBox="1"/>
            <p:nvPr/>
          </p:nvSpPr>
          <p:spPr>
            <a:xfrm>
              <a:off x="7117842" y="2426018"/>
              <a:ext cx="228542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使用できない端末では動作しません。</a:t>
              </a:r>
            </a:p>
          </p:txBody>
        </p:sp>
      </p:grpSp>
      <p:grpSp>
        <p:nvGrpSpPr>
          <p:cNvPr id="52" name="Group 52"/>
          <p:cNvGrpSpPr/>
          <p:nvPr/>
        </p:nvGrpSpPr>
        <p:grpSpPr>
          <a:xfrm>
            <a:off x="6858000" y="3371850"/>
            <a:ext cx="4876800" cy="1524000"/>
            <a:chOff x="6858000" y="3371850"/>
            <a:chExt cx="4876800" cy="1524000"/>
          </a:xfrm>
        </p:grpSpPr>
        <p:sp>
          <p:nvSpPr>
            <p:cNvPr id="47" name="Rectangle 47"/>
            <p:cNvSpPr/>
            <p:nvPr/>
          </p:nvSpPr>
          <p:spPr>
            <a:xfrm>
              <a:off x="6858000" y="3371850"/>
              <a:ext cx="4876800" cy="1524000"/>
            </a:xfrm>
            <a:prstGeom prst="roundRect">
              <a:avLst>
                <a:gd name="adj" fmla="val 10000"/>
              </a:avLst>
            </a:prstGeom>
            <a:solidFill>
              <a:schemeClr val="lt2"/>
            </a:solidFill>
            <a:ln>
              <a:noFill/>
            </a:ln>
          </p:spPr>
        </p:sp>
        <p:sp>
          <p:nvSpPr>
            <p:cNvPr id="48" name="TextBox 48"/>
            <p:cNvSpPr txBox="1"/>
            <p:nvPr/>
          </p:nvSpPr>
          <p:spPr>
            <a:xfrm>
              <a:off x="7116318" y="3536632"/>
              <a:ext cx="1206233"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実施する改修</a:t>
              </a:r>
            </a:p>
          </p:txBody>
        </p:sp>
        <p:sp>
          <p:nvSpPr>
            <p:cNvPr id="49" name="TextBox 49"/>
            <p:cNvSpPr txBox="1"/>
            <p:nvPr/>
          </p:nvSpPr>
          <p:spPr>
            <a:xfrm>
              <a:off x="7117842" y="3930968"/>
              <a:ext cx="333860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目的「Win32 API を使わない形へ直す」で AI に</a:t>
              </a:r>
            </a:p>
          </p:txBody>
        </p:sp>
        <p:sp>
          <p:nvSpPr>
            <p:cNvPr id="50" name="TextBox 50"/>
            <p:cNvSpPr txBox="1"/>
            <p:nvPr/>
          </p:nvSpPr>
          <p:spPr>
            <a:xfrm>
              <a:off x="7117842" y="4197668"/>
              <a:ext cx="309415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依頼し、改修済みブックの作成と動作確認まで</a:t>
              </a:r>
            </a:p>
          </p:txBody>
        </p:sp>
        <p:sp>
          <p:nvSpPr>
            <p:cNvPr id="51" name="TextBox 51"/>
            <p:cNvSpPr txBox="1"/>
            <p:nvPr/>
          </p:nvSpPr>
          <p:spPr>
            <a:xfrm>
              <a:off x="7117842" y="4464368"/>
              <a:ext cx="67705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行います。</a:t>
              </a:r>
            </a:p>
          </p:txBody>
        </p:sp>
      </p:grpSp>
      <p:grpSp>
        <p:nvGrpSpPr>
          <p:cNvPr id="54" name="Group 54"/>
          <p:cNvGrpSpPr/>
          <p:nvPr/>
        </p:nvGrpSpPr>
        <p:grpSpPr>
          <a:xfrm>
            <a:off x="450723" y="5729764"/>
            <a:ext cx="7844607" cy="249364"/>
            <a:chOff x="450723" y="5729764"/>
            <a:chExt cx="7844607" cy="249364"/>
          </a:xfrm>
        </p:grpSpPr>
        <p:sp>
          <p:nvSpPr>
            <p:cNvPr id="53" name="TextBox 53"/>
            <p:cNvSpPr txBox="1"/>
            <p:nvPr/>
          </p:nvSpPr>
          <p:spPr>
            <a:xfrm>
              <a:off x="450723" y="5729764"/>
              <a:ext cx="7844607"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以降の画面写真はすべてこのサンプルの実操作です。シートの内容は業務マクロを模した架空のデータで、実在の業務データは含みません。</a:t>
              </a:r>
            </a:p>
          </p:txBody>
        </p:sp>
      </p:grpSp>
      <p:grpSp>
        <p:nvGrpSpPr>
          <p:cNvPr id="57" name="Group 57"/>
          <p:cNvGrpSpPr/>
          <p:nvPr/>
        </p:nvGrpSpPr>
        <p:grpSpPr>
          <a:xfrm>
            <a:off x="451866" y="6477952"/>
            <a:ext cx="11288268" cy="205359"/>
            <a:chOff x="451866" y="6477952"/>
            <a:chExt cx="11288268" cy="205359"/>
          </a:xfrm>
        </p:grpSpPr>
        <p:sp>
          <p:nvSpPr>
            <p:cNvPr id="55" name="TextBox 55"/>
            <p:cNvSpPr txBox="1"/>
            <p:nvPr/>
          </p:nvSpPr>
          <p:spPr>
            <a:xfrm>
              <a:off x="451866" y="6477952"/>
              <a:ext cx="2252718"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MacroStudio 操作マニュアル（ベータ版）</a:t>
              </a:r>
            </a:p>
          </p:txBody>
        </p:sp>
        <p:sp>
          <p:nvSpPr>
            <p:cNvPr id="56" name="TextBox 56"/>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65397" y="486728"/>
              <a:ext cx="30750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操作</a:t>
              </a:r>
            </a:p>
          </p:txBody>
        </p:sp>
        <p:sp>
          <p:nvSpPr>
            <p:cNvPr id="4" name="TextBox 4"/>
            <p:cNvSpPr txBox="1"/>
            <p:nvPr/>
          </p:nvSpPr>
          <p:spPr>
            <a:xfrm>
              <a:off x="441960" y="685800"/>
              <a:ext cx="2808027"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起動と画面構成</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9" name="Group 9"/>
          <p:cNvGrpSpPr/>
          <p:nvPr/>
        </p:nvGrpSpPr>
        <p:grpSpPr>
          <a:xfrm>
            <a:off x="519111" y="1345882"/>
            <a:ext cx="6641703" cy="322707"/>
            <a:chOff x="519111" y="1345882"/>
            <a:chExt cx="6641703" cy="322707"/>
          </a:xfrm>
        </p:grpSpPr>
        <p:sp>
          <p:nvSpPr>
            <p:cNvPr id="7" name="Freeform 7"/>
            <p:cNvSpPr/>
            <p:nvPr/>
          </p:nvSpPr>
          <p:spPr>
            <a:xfrm>
              <a:off x="519111" y="1363941"/>
              <a:ext cx="154787" cy="186768"/>
            </a:xfrm>
            <a:custGeom>
              <a:avLst/>
              <a:gdLst/>
              <a:ahLst/>
              <a:cxnLst/>
              <a:rect l="l" t="t" r="r" b="b"/>
              <a:pathLst>
                <a:path w="154787" h="186768">
                  <a:moveTo>
                    <a:pt x="1" y="10834"/>
                  </a:moveTo>
                  <a:lnTo>
                    <a:pt x="1" y="175934"/>
                  </a:lnTo>
                  <a:cubicBezTo>
                    <a:pt x="0" y="179672"/>
                    <a:pt x="2021" y="183119"/>
                    <a:pt x="5284" y="184943"/>
                  </a:cubicBezTo>
                  <a:cubicBezTo>
                    <a:pt x="8548" y="186768"/>
                    <a:pt x="12543" y="186684"/>
                    <a:pt x="15727" y="184725"/>
                  </a:cubicBezTo>
                  <a:lnTo>
                    <a:pt x="149870" y="102175"/>
                  </a:lnTo>
                  <a:cubicBezTo>
                    <a:pt x="152925" y="100298"/>
                    <a:pt x="154787" y="96969"/>
                    <a:pt x="154787" y="93384"/>
                  </a:cubicBezTo>
                  <a:cubicBezTo>
                    <a:pt x="154787" y="89798"/>
                    <a:pt x="152925" y="86469"/>
                    <a:pt x="149870" y="84592"/>
                  </a:cubicBezTo>
                  <a:lnTo>
                    <a:pt x="15727" y="2042"/>
                  </a:lnTo>
                  <a:cubicBezTo>
                    <a:pt x="12543" y="83"/>
                    <a:pt x="8548" y="0"/>
                    <a:pt x="5284" y="1824"/>
                  </a:cubicBezTo>
                  <a:cubicBezTo>
                    <a:pt x="2021" y="3649"/>
                    <a:pt x="0" y="7095"/>
                    <a:pt x="1" y="10834"/>
                  </a:cubicBezTo>
                  <a:close/>
                </a:path>
              </a:pathLst>
            </a:custGeom>
            <a:solidFill>
              <a:schemeClr val="accent1"/>
            </a:solidFill>
            <a:ln>
              <a:noFill/>
            </a:ln>
          </p:spPr>
        </p:sp>
        <p:sp>
          <p:nvSpPr>
            <p:cNvPr id="8" name="TextBox 8"/>
            <p:cNvSpPr txBox="1"/>
            <p:nvPr/>
          </p:nvSpPr>
          <p:spPr>
            <a:xfrm>
              <a:off x="810768" y="1345882"/>
              <a:ext cx="635004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 xml:space="preserve">フォルダ内の </a:t>
              </a:r>
              <a:r>
                <a:rPr lang="en-US" sz="1650" b="1" dirty="0">
                  <a:solidFill>
                    <a:schemeClr val="dk1"/>
                  </a:solidFill>
                  <a:latin typeface="Consolas"/>
                  <a:ea typeface="Consolas"/>
                  <a:cs typeface="Consolas"/>
                </a:rPr>
                <a:t>launch.vbs</a:t>
              </a:r>
              <a:r>
                <a:rPr lang="zh-CN" sz="1650" dirty="0">
                  <a:solidFill>
                    <a:schemeClr val="dk1"/>
                  </a:solidFill>
                  <a:latin typeface="+mn-lt"/>
                  <a:ea typeface="+mn-ea"/>
                  <a:cs typeface="+mn-cs"/>
                </a:rPr>
                <a:t xml:space="preserve"> をダブルクリックすると起動します。インストールは不要です。</a:t>
              </a:r>
            </a:p>
          </p:txBody>
        </p:sp>
      </p:grpSp>
      <p:grpSp>
        <p:nvGrpSpPr>
          <p:cNvPr id="23" name="Group 23"/>
          <p:cNvGrpSpPr/>
          <p:nvPr/>
        </p:nvGrpSpPr>
        <p:grpSpPr>
          <a:xfrm>
            <a:off x="533400" y="1790700"/>
            <a:ext cx="8153400" cy="4648200"/>
            <a:chOff x="533400" y="1790700"/>
            <a:chExt cx="8153400" cy="4648200"/>
          </a:xfrm>
        </p:grpSpPr>
        <p:sp>
          <p:nvSpPr>
            <p:cNvPr id="10" name="Rectangle 10"/>
            <p:cNvSpPr/>
            <p:nvPr/>
          </p:nvSpPr>
          <p:spPr>
            <a:xfrm>
              <a:off x="533400" y="1790700"/>
              <a:ext cx="8153400" cy="4648200"/>
            </a:xfrm>
            <a:prstGeom prst="roundRect">
              <a:avLst>
                <a:gd name="adj" fmla="val 2869"/>
              </a:avLst>
            </a:prstGeom>
            <a:solidFill>
              <a:schemeClr val="lt2"/>
            </a:solidFill>
            <a:ln>
              <a:noFill/>
            </a:ln>
          </p:spPr>
        </p:sp>
        <p:pic>
          <p:nvPicPr>
            <p:cNvPr id="11" name="Image 11"/>
            <p:cNvPicPr>
              <a:picLocks noChangeAspect="1"/>
            </p:cNvPicPr>
            <p:nvPr/>
          </p:nvPicPr>
          <p:blipFill>
            <a:blip r:embed="rId2"/>
            <a:stretch>
              <a:fillRect/>
            </a:stretch>
          </p:blipFill>
          <p:spPr>
            <a:xfrm>
              <a:off x="609600" y="1866900"/>
              <a:ext cx="8001000" cy="4495800"/>
            </a:xfrm>
            <a:prstGeom prst="roundRect">
              <a:avLst>
                <a:gd name="adj" fmla="val 2118"/>
              </a:avLst>
            </a:prstGeom>
          </p:spPr>
        </p:pic>
        <p:sp>
          <p:nvSpPr>
            <p:cNvPr id="12" name="Rectangle 12"/>
            <p:cNvSpPr/>
            <p:nvPr/>
          </p:nvSpPr>
          <p:spPr>
            <a:xfrm>
              <a:off x="609600" y="1866900"/>
              <a:ext cx="8001000" cy="4495800"/>
            </a:xfrm>
            <a:prstGeom prst="roundRect">
              <a:avLst>
                <a:gd name="adj" fmla="val 2119"/>
              </a:avLst>
            </a:prstGeom>
            <a:noFill/>
            <a:ln w="14288">
              <a:solidFill>
                <a:schemeClr val="accent6"/>
              </a:solidFill>
            </a:ln>
          </p:spPr>
        </p:sp>
        <p:sp>
          <p:nvSpPr>
            <p:cNvPr id="13" name="Ellipse 13"/>
            <p:cNvSpPr/>
            <p:nvPr/>
          </p:nvSpPr>
          <p:spPr>
            <a:xfrm>
              <a:off x="3152775" y="1866900"/>
              <a:ext cx="285750" cy="285750"/>
            </a:xfrm>
            <a:prstGeom prst="ellipse">
              <a:avLst/>
            </a:prstGeom>
            <a:solidFill>
              <a:schemeClr val="accent2"/>
            </a:solidFill>
            <a:ln>
              <a:noFill/>
            </a:ln>
          </p:spPr>
        </p:sp>
        <p:sp>
          <p:nvSpPr>
            <p:cNvPr id="14" name="TextBox 14"/>
            <p:cNvSpPr txBox="1"/>
            <p:nvPr/>
          </p:nvSpPr>
          <p:spPr>
            <a:xfrm>
              <a:off x="3242908" y="1937385"/>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15" name="Ellipse 15"/>
            <p:cNvSpPr/>
            <p:nvPr/>
          </p:nvSpPr>
          <p:spPr>
            <a:xfrm>
              <a:off x="4619625" y="2066925"/>
              <a:ext cx="285750" cy="285750"/>
            </a:xfrm>
            <a:prstGeom prst="ellipse">
              <a:avLst/>
            </a:prstGeom>
            <a:solidFill>
              <a:schemeClr val="accent2"/>
            </a:solidFill>
            <a:ln>
              <a:noFill/>
            </a:ln>
          </p:spPr>
        </p:sp>
        <p:sp>
          <p:nvSpPr>
            <p:cNvPr id="16" name="TextBox 16"/>
            <p:cNvSpPr txBox="1"/>
            <p:nvPr/>
          </p:nvSpPr>
          <p:spPr>
            <a:xfrm>
              <a:off x="4709758" y="21374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17" name="Ellipse 17"/>
            <p:cNvSpPr/>
            <p:nvPr/>
          </p:nvSpPr>
          <p:spPr>
            <a:xfrm>
              <a:off x="4467225" y="3762375"/>
              <a:ext cx="285750" cy="285750"/>
            </a:xfrm>
            <a:prstGeom prst="ellipse">
              <a:avLst/>
            </a:prstGeom>
            <a:solidFill>
              <a:schemeClr val="accent2"/>
            </a:solidFill>
            <a:ln>
              <a:noFill/>
            </a:ln>
          </p:spPr>
        </p:sp>
        <p:sp>
          <p:nvSpPr>
            <p:cNvPr id="18" name="TextBox 18"/>
            <p:cNvSpPr txBox="1"/>
            <p:nvPr/>
          </p:nvSpPr>
          <p:spPr>
            <a:xfrm>
              <a:off x="4557358" y="38328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3</a:t>
              </a:r>
            </a:p>
          </p:txBody>
        </p:sp>
        <p:sp>
          <p:nvSpPr>
            <p:cNvPr id="19" name="Ellipse 19"/>
            <p:cNvSpPr/>
            <p:nvPr/>
          </p:nvSpPr>
          <p:spPr>
            <a:xfrm>
              <a:off x="1247775" y="6000750"/>
              <a:ext cx="285750" cy="285750"/>
            </a:xfrm>
            <a:prstGeom prst="ellipse">
              <a:avLst/>
            </a:prstGeom>
            <a:solidFill>
              <a:schemeClr val="accent2"/>
            </a:solidFill>
            <a:ln>
              <a:noFill/>
            </a:ln>
          </p:spPr>
        </p:sp>
        <p:sp>
          <p:nvSpPr>
            <p:cNvPr id="20" name="TextBox 20"/>
            <p:cNvSpPr txBox="1"/>
            <p:nvPr/>
          </p:nvSpPr>
          <p:spPr>
            <a:xfrm>
              <a:off x="1337908" y="6071235"/>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4</a:t>
              </a:r>
            </a:p>
          </p:txBody>
        </p:sp>
        <p:sp>
          <p:nvSpPr>
            <p:cNvPr id="21" name="Ellipse 21"/>
            <p:cNvSpPr/>
            <p:nvPr/>
          </p:nvSpPr>
          <p:spPr>
            <a:xfrm>
              <a:off x="8067675" y="6000750"/>
              <a:ext cx="285750" cy="285750"/>
            </a:xfrm>
            <a:prstGeom prst="ellipse">
              <a:avLst/>
            </a:prstGeom>
            <a:solidFill>
              <a:schemeClr val="accent2"/>
            </a:solidFill>
            <a:ln>
              <a:noFill/>
            </a:ln>
          </p:spPr>
        </p:sp>
        <p:sp>
          <p:nvSpPr>
            <p:cNvPr id="22" name="TextBox 22"/>
            <p:cNvSpPr txBox="1"/>
            <p:nvPr/>
          </p:nvSpPr>
          <p:spPr>
            <a:xfrm>
              <a:off x="8157808" y="6071235"/>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5</a:t>
              </a:r>
            </a:p>
          </p:txBody>
        </p:sp>
      </p:grpSp>
      <p:grpSp>
        <p:nvGrpSpPr>
          <p:cNvPr id="43" name="Group 43"/>
          <p:cNvGrpSpPr/>
          <p:nvPr/>
        </p:nvGrpSpPr>
        <p:grpSpPr>
          <a:xfrm>
            <a:off x="9365742" y="1911668"/>
            <a:ext cx="1832762" cy="4003738"/>
            <a:chOff x="9365742" y="1911668"/>
            <a:chExt cx="1832762" cy="4003738"/>
          </a:xfrm>
        </p:grpSpPr>
        <p:sp>
          <p:nvSpPr>
            <p:cNvPr id="24" name="TextBox 24"/>
            <p:cNvSpPr txBox="1"/>
            <p:nvPr/>
          </p:nvSpPr>
          <p:spPr>
            <a:xfrm>
              <a:off x="9365742" y="1911668"/>
              <a:ext cx="118669"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1</a:t>
              </a:r>
            </a:p>
          </p:txBody>
        </p:sp>
        <p:sp>
          <p:nvSpPr>
            <p:cNvPr id="25" name="TextBox 25"/>
            <p:cNvSpPr txBox="1"/>
            <p:nvPr/>
          </p:nvSpPr>
          <p:spPr>
            <a:xfrm>
              <a:off x="9594342" y="1911668"/>
              <a:ext cx="605270"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進捗バー</a:t>
              </a:r>
            </a:p>
          </p:txBody>
        </p:sp>
        <p:sp>
          <p:nvSpPr>
            <p:cNvPr id="26" name="TextBox 26"/>
            <p:cNvSpPr txBox="1"/>
            <p:nvPr/>
          </p:nvSpPr>
          <p:spPr>
            <a:xfrm>
              <a:off x="9595104" y="2175510"/>
              <a:ext cx="1587246"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現在の手順を表示します。</a:t>
              </a:r>
            </a:p>
          </p:txBody>
        </p:sp>
        <p:sp>
          <p:nvSpPr>
            <p:cNvPr id="27" name="TextBox 27"/>
            <p:cNvSpPr txBox="1"/>
            <p:nvPr/>
          </p:nvSpPr>
          <p:spPr>
            <a:xfrm>
              <a:off x="9365742" y="2635568"/>
              <a:ext cx="118669"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2</a:t>
              </a:r>
            </a:p>
          </p:txBody>
        </p:sp>
        <p:sp>
          <p:nvSpPr>
            <p:cNvPr id="28" name="TextBox 28"/>
            <p:cNvSpPr txBox="1"/>
            <p:nvPr/>
          </p:nvSpPr>
          <p:spPr>
            <a:xfrm>
              <a:off x="9594342" y="2635568"/>
              <a:ext cx="986918"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画面の見出し</a:t>
              </a:r>
            </a:p>
          </p:txBody>
        </p:sp>
        <p:sp>
          <p:nvSpPr>
            <p:cNvPr id="29" name="TextBox 29"/>
            <p:cNvSpPr txBox="1"/>
            <p:nvPr/>
          </p:nvSpPr>
          <p:spPr>
            <a:xfrm>
              <a:off x="9595104" y="2899410"/>
              <a:ext cx="1514551"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この画面で行う操作です。</a:t>
              </a:r>
            </a:p>
          </p:txBody>
        </p:sp>
        <p:sp>
          <p:nvSpPr>
            <p:cNvPr id="30" name="TextBox 30"/>
            <p:cNvSpPr txBox="1"/>
            <p:nvPr/>
          </p:nvSpPr>
          <p:spPr>
            <a:xfrm>
              <a:off x="9365742" y="3359468"/>
              <a:ext cx="118669"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3</a:t>
              </a:r>
            </a:p>
          </p:txBody>
        </p:sp>
        <p:sp>
          <p:nvSpPr>
            <p:cNvPr id="31" name="TextBox 31"/>
            <p:cNvSpPr txBox="1"/>
            <p:nvPr/>
          </p:nvSpPr>
          <p:spPr>
            <a:xfrm>
              <a:off x="9594342" y="3359468"/>
              <a:ext cx="777011"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作業領域</a:t>
              </a:r>
            </a:p>
          </p:txBody>
        </p:sp>
        <p:sp>
          <p:nvSpPr>
            <p:cNvPr id="32" name="TextBox 32"/>
            <p:cNvSpPr txBox="1"/>
            <p:nvPr/>
          </p:nvSpPr>
          <p:spPr>
            <a:xfrm>
              <a:off x="9595104" y="3623310"/>
              <a:ext cx="142570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選択と入力はこの領域で</a:t>
              </a:r>
            </a:p>
          </p:txBody>
        </p:sp>
        <p:sp>
          <p:nvSpPr>
            <p:cNvPr id="33" name="TextBox 33"/>
            <p:cNvSpPr txBox="1"/>
            <p:nvPr/>
          </p:nvSpPr>
          <p:spPr>
            <a:xfrm>
              <a:off x="9595104" y="3851910"/>
              <a:ext cx="601828"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行います。</a:t>
              </a:r>
            </a:p>
          </p:txBody>
        </p:sp>
        <p:sp>
          <p:nvSpPr>
            <p:cNvPr id="34" name="TextBox 34"/>
            <p:cNvSpPr txBox="1"/>
            <p:nvPr/>
          </p:nvSpPr>
          <p:spPr>
            <a:xfrm>
              <a:off x="9365742" y="4159568"/>
              <a:ext cx="118669"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4</a:t>
              </a:r>
            </a:p>
          </p:txBody>
        </p:sp>
        <p:sp>
          <p:nvSpPr>
            <p:cNvPr id="35" name="TextBox 35"/>
            <p:cNvSpPr txBox="1"/>
            <p:nvPr/>
          </p:nvSpPr>
          <p:spPr>
            <a:xfrm>
              <a:off x="9594342" y="4159568"/>
              <a:ext cx="729305"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次にすること</a:t>
              </a:r>
            </a:p>
          </p:txBody>
        </p:sp>
        <p:sp>
          <p:nvSpPr>
            <p:cNvPr id="36" name="TextBox 36"/>
            <p:cNvSpPr txBox="1"/>
            <p:nvPr/>
          </p:nvSpPr>
          <p:spPr>
            <a:xfrm>
              <a:off x="9595104" y="4423410"/>
              <a:ext cx="142570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次に行う操作が表示され</a:t>
              </a:r>
            </a:p>
          </p:txBody>
        </p:sp>
        <p:sp>
          <p:nvSpPr>
            <p:cNvPr id="37" name="TextBox 37"/>
            <p:cNvSpPr txBox="1"/>
            <p:nvPr/>
          </p:nvSpPr>
          <p:spPr>
            <a:xfrm>
              <a:off x="9595104" y="4652010"/>
              <a:ext cx="351434"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ます。</a:t>
              </a:r>
            </a:p>
          </p:txBody>
        </p:sp>
        <p:sp>
          <p:nvSpPr>
            <p:cNvPr id="38" name="TextBox 38"/>
            <p:cNvSpPr txBox="1"/>
            <p:nvPr/>
          </p:nvSpPr>
          <p:spPr>
            <a:xfrm>
              <a:off x="9365742" y="4959668"/>
              <a:ext cx="118669"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5</a:t>
              </a:r>
            </a:p>
          </p:txBody>
        </p:sp>
        <p:sp>
          <p:nvSpPr>
            <p:cNvPr id="39" name="TextBox 39"/>
            <p:cNvSpPr txBox="1"/>
            <p:nvPr/>
          </p:nvSpPr>
          <p:spPr>
            <a:xfrm>
              <a:off x="9594342" y="4959668"/>
              <a:ext cx="1368565"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［戻る］［次へ］</a:t>
              </a:r>
            </a:p>
          </p:txBody>
        </p:sp>
        <p:sp>
          <p:nvSpPr>
            <p:cNvPr id="40" name="TextBox 40"/>
            <p:cNvSpPr txBox="1"/>
            <p:nvPr/>
          </p:nvSpPr>
          <p:spPr>
            <a:xfrm>
              <a:off x="9595104" y="5223510"/>
              <a:ext cx="142570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画面の移動に使います。</a:t>
              </a:r>
            </a:p>
          </p:txBody>
        </p:sp>
        <p:sp>
          <p:nvSpPr>
            <p:cNvPr id="41" name="TextBox 41"/>
            <p:cNvSpPr txBox="1"/>
            <p:nvPr/>
          </p:nvSpPr>
          <p:spPr>
            <a:xfrm>
              <a:off x="9595104" y="5452110"/>
              <a:ext cx="1175309"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必要な入力が揃うと</a:t>
              </a:r>
            </a:p>
          </p:txBody>
        </p:sp>
        <p:sp>
          <p:nvSpPr>
            <p:cNvPr id="42" name="TextBox 42"/>
            <p:cNvSpPr txBox="1"/>
            <p:nvPr/>
          </p:nvSpPr>
          <p:spPr>
            <a:xfrm>
              <a:off x="9595104" y="5680710"/>
              <a:ext cx="1603400"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［次へ］が有効になります。</a:t>
              </a:r>
            </a:p>
          </p:txBody>
        </p:sp>
      </p:grpSp>
      <p:grpSp>
        <p:nvGrpSpPr>
          <p:cNvPr id="46" name="Group 46"/>
          <p:cNvGrpSpPr/>
          <p:nvPr/>
        </p:nvGrpSpPr>
        <p:grpSpPr>
          <a:xfrm>
            <a:off x="9366885" y="6165056"/>
            <a:ext cx="1850878" cy="429578"/>
            <a:chOff x="9366885" y="6165056"/>
            <a:chExt cx="1850878" cy="429578"/>
          </a:xfrm>
        </p:grpSpPr>
        <p:sp>
          <p:nvSpPr>
            <p:cNvPr id="44" name="TextBox 44"/>
            <p:cNvSpPr txBox="1"/>
            <p:nvPr/>
          </p:nvSpPr>
          <p:spPr>
            <a:xfrm>
              <a:off x="9366885" y="6165056"/>
              <a:ext cx="1481480" cy="220028"/>
            </a:xfrm>
            <a:prstGeom prst="rect">
              <a:avLst/>
            </a:prstGeom>
            <a:noFill/>
            <a:ln>
              <a:noFill/>
            </a:ln>
          </p:spPr>
          <p:txBody>
            <a:bodyPr wrap="none" lIns="0" tIns="0" rIns="0" bIns="0" anchor="t" anchorCtr="0">
              <a:spAutoFit/>
            </a:bodyPr>
            <a:lstStyle/>
            <a:p>
              <a:pPr algn="l"/>
              <a:r>
                <a:rPr lang="zh-CN" sz="1120" dirty="0">
                  <a:solidFill>
                    <a:srgbClr val="5D6B7A"/>
                  </a:solidFill>
                  <a:latin typeface="+mn-lt"/>
                  <a:ea typeface="+mn-ea"/>
                  <a:cs typeface="+mn-cs"/>
                </a:rPr>
                <a:t>右上のボタンで明暗切替。</a:t>
              </a:r>
            </a:p>
          </p:txBody>
        </p:sp>
        <p:sp>
          <p:nvSpPr>
            <p:cNvPr id="45" name="TextBox 45"/>
            <p:cNvSpPr txBox="1"/>
            <p:nvPr/>
          </p:nvSpPr>
          <p:spPr>
            <a:xfrm>
              <a:off x="9366885" y="6374606"/>
              <a:ext cx="1850878" cy="220028"/>
            </a:xfrm>
            <a:prstGeom prst="rect">
              <a:avLst/>
            </a:prstGeom>
            <a:noFill/>
            <a:ln>
              <a:noFill/>
            </a:ln>
          </p:spPr>
          <p:txBody>
            <a:bodyPr wrap="none" lIns="0" tIns="0" rIns="0" bIns="0" anchor="t" anchorCtr="0">
              <a:spAutoFit/>
            </a:bodyPr>
            <a:lstStyle/>
            <a:p>
              <a:pPr algn="l"/>
              <a:r>
                <a:rPr lang="zh-CN" sz="1120" dirty="0">
                  <a:solidFill>
                    <a:srgbClr val="5D6B7A"/>
                  </a:solidFill>
                  <a:latin typeface="+mn-lt"/>
                  <a:ea typeface="+mn-ea"/>
                  <a:cs typeface="+mn-cs"/>
                </a:rPr>
                <a:t>［最初から］で全状態を破棄。</a:t>
              </a:r>
            </a:p>
          </p:txBody>
        </p:sp>
      </p:grpSp>
      <p:sp>
        <p:nvSpPr>
          <p:cNvPr id="47" name="TextBox 47"/>
          <p:cNvSpPr txBox="1"/>
          <p:nvPr/>
        </p:nvSpPr>
        <p:spPr>
          <a:xfrm>
            <a:off x="451866" y="6477952"/>
            <a:ext cx="2252718"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MacroStudio 操作マニュアル（ベータ版）</a:t>
            </a:r>
          </a:p>
        </p:txBody>
      </p:sp>
      <p:sp>
        <p:nvSpPr>
          <p:cNvPr id="48" name="TextBox 48"/>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08</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65397" y="486728"/>
              <a:ext cx="30750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操作</a:t>
              </a:r>
            </a:p>
          </p:txBody>
        </p:sp>
        <p:sp>
          <p:nvSpPr>
            <p:cNvPr id="4" name="Rectangle 4"/>
            <p:cNvSpPr/>
            <p:nvPr/>
          </p:nvSpPr>
          <p:spPr>
            <a:xfrm>
              <a:off x="1257300" y="419100"/>
              <a:ext cx="876300" cy="266700"/>
            </a:xfrm>
            <a:prstGeom prst="roundRect">
              <a:avLst>
                <a:gd name="adj" fmla="val 50000"/>
              </a:avLst>
            </a:prstGeom>
            <a:solidFill>
              <a:schemeClr val="lt1"/>
            </a:solidFill>
            <a:ln w="14288">
              <a:solidFill>
                <a:schemeClr val="accent1"/>
              </a:solidFill>
            </a:ln>
          </p:spPr>
        </p:sp>
        <p:sp>
          <p:nvSpPr>
            <p:cNvPr id="5" name="TextBox 5"/>
            <p:cNvSpPr txBox="1"/>
            <p:nvPr/>
          </p:nvSpPr>
          <p:spPr>
            <a:xfrm>
              <a:off x="1478620" y="486728"/>
              <a:ext cx="433661" cy="205359"/>
            </a:xfrm>
            <a:prstGeom prst="rect">
              <a:avLst/>
            </a:prstGeom>
            <a:noFill/>
            <a:ln>
              <a:noFill/>
            </a:ln>
          </p:spPr>
          <p:txBody>
            <a:bodyPr wrap="none" lIns="0" tIns="0" rIns="0" bIns="0" anchor="t" anchorCtr="0">
              <a:spAutoFit/>
            </a:bodyPr>
            <a:lstStyle/>
            <a:p>
              <a:pPr algn="ctr"/>
              <a:r>
                <a:rPr lang="zh-CN" sz="1050" b="1" dirty="0">
                  <a:solidFill>
                    <a:schemeClr val="accent1"/>
                  </a:solidFill>
                  <a:latin typeface="+mn-lt"/>
                  <a:ea typeface="+mn-ea"/>
                  <a:cs typeface="+mn-cs"/>
                </a:rPr>
                <a:t>手順 1</a:t>
              </a:r>
            </a:p>
          </p:txBody>
        </p:sp>
        <p:sp>
          <p:nvSpPr>
            <p:cNvPr id="6" name="TextBox 6"/>
            <p:cNvSpPr txBox="1"/>
            <p:nvPr/>
          </p:nvSpPr>
          <p:spPr>
            <a:xfrm>
              <a:off x="441960" y="685800"/>
              <a:ext cx="444063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作業の選択とブックの読み込み</a:t>
              </a:r>
            </a:p>
          </p:txBody>
        </p:sp>
        <p:sp>
          <p:nvSpPr>
            <p:cNvPr id="7" name="Line 7"/>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3" name="Group 13"/>
          <p:cNvGrpSpPr/>
          <p:nvPr/>
        </p:nvGrpSpPr>
        <p:grpSpPr>
          <a:xfrm>
            <a:off x="457200" y="1428750"/>
            <a:ext cx="5486400" cy="3505581"/>
            <a:chOff x="457200" y="1428750"/>
            <a:chExt cx="5486400" cy="3505581"/>
          </a:xfrm>
        </p:grpSpPr>
        <p:sp>
          <p:nvSpPr>
            <p:cNvPr id="9" name="Rectangle 9"/>
            <p:cNvSpPr/>
            <p:nvPr/>
          </p:nvSpPr>
          <p:spPr>
            <a:xfrm>
              <a:off x="457200" y="1428750"/>
              <a:ext cx="5486400" cy="3152775"/>
            </a:xfrm>
            <a:prstGeom prst="roundRect">
              <a:avLst>
                <a:gd name="adj" fmla="val 4230"/>
              </a:avLst>
            </a:prstGeom>
            <a:solidFill>
              <a:schemeClr val="lt2"/>
            </a:solidFill>
            <a:ln>
              <a:noFill/>
            </a:ln>
          </p:spPr>
        </p:sp>
        <p:pic>
          <p:nvPicPr>
            <p:cNvPr id="10" name="Image 10"/>
            <p:cNvPicPr>
              <a:picLocks noChangeAspect="1"/>
            </p:cNvPicPr>
            <p:nvPr/>
          </p:nvPicPr>
          <p:blipFill>
            <a:blip r:embed="rId2"/>
            <a:stretch>
              <a:fillRect/>
            </a:stretch>
          </p:blipFill>
          <p:spPr>
            <a:xfrm>
              <a:off x="533400" y="1504950"/>
              <a:ext cx="5334000" cy="3000375"/>
            </a:xfrm>
            <a:prstGeom prst="roundRect">
              <a:avLst>
                <a:gd name="adj" fmla="val 3174"/>
              </a:avLst>
            </a:prstGeom>
          </p:spPr>
        </p:pic>
        <p:sp>
          <p:nvSpPr>
            <p:cNvPr id="11" name="Rectangle 11"/>
            <p:cNvSpPr/>
            <p:nvPr/>
          </p:nvSpPr>
          <p:spPr>
            <a:xfrm>
              <a:off x="533400" y="1504950"/>
              <a:ext cx="5334000" cy="3000375"/>
            </a:xfrm>
            <a:prstGeom prst="roundRect">
              <a:avLst>
                <a:gd name="adj" fmla="val 3175"/>
              </a:avLst>
            </a:prstGeom>
            <a:noFill/>
            <a:ln w="14288">
              <a:solidFill>
                <a:schemeClr val="accent6"/>
              </a:solidFill>
            </a:ln>
          </p:spPr>
        </p:sp>
        <p:sp>
          <p:nvSpPr>
            <p:cNvPr id="12" name="TextBox 12"/>
            <p:cNvSpPr txBox="1"/>
            <p:nvPr/>
          </p:nvSpPr>
          <p:spPr>
            <a:xfrm>
              <a:off x="527304" y="4699635"/>
              <a:ext cx="5218176"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［AIで改修する］を選択した状態。カードにチェックが付き、［次へ］が有効になります。</a:t>
              </a:r>
            </a:p>
          </p:txBody>
        </p:sp>
      </p:grpSp>
      <p:grpSp>
        <p:nvGrpSpPr>
          <p:cNvPr id="18" name="Group 18"/>
          <p:cNvGrpSpPr/>
          <p:nvPr/>
        </p:nvGrpSpPr>
        <p:grpSpPr>
          <a:xfrm>
            <a:off x="6248400" y="1428750"/>
            <a:ext cx="5486400" cy="3505581"/>
            <a:chOff x="6248400" y="1428750"/>
            <a:chExt cx="5486400" cy="3505581"/>
          </a:xfrm>
        </p:grpSpPr>
        <p:sp>
          <p:nvSpPr>
            <p:cNvPr id="14" name="Rectangle 14"/>
            <p:cNvSpPr/>
            <p:nvPr/>
          </p:nvSpPr>
          <p:spPr>
            <a:xfrm>
              <a:off x="6248400" y="1428750"/>
              <a:ext cx="5486400" cy="3152775"/>
            </a:xfrm>
            <a:prstGeom prst="roundRect">
              <a:avLst>
                <a:gd name="adj" fmla="val 4230"/>
              </a:avLst>
            </a:prstGeom>
            <a:solidFill>
              <a:schemeClr val="lt2"/>
            </a:solidFill>
            <a:ln>
              <a:noFill/>
            </a:ln>
          </p:spPr>
        </p:sp>
        <p:pic>
          <p:nvPicPr>
            <p:cNvPr id="15" name="Image 15"/>
            <p:cNvPicPr>
              <a:picLocks noChangeAspect="1"/>
            </p:cNvPicPr>
            <p:nvPr/>
          </p:nvPicPr>
          <p:blipFill>
            <a:blip r:embed="rId3"/>
            <a:stretch>
              <a:fillRect/>
            </a:stretch>
          </p:blipFill>
          <p:spPr>
            <a:xfrm>
              <a:off x="6324600" y="1504950"/>
              <a:ext cx="5334000" cy="3000375"/>
            </a:xfrm>
            <a:prstGeom prst="roundRect">
              <a:avLst>
                <a:gd name="adj" fmla="val 3174"/>
              </a:avLst>
            </a:prstGeom>
          </p:spPr>
        </p:pic>
        <p:sp>
          <p:nvSpPr>
            <p:cNvPr id="16" name="Rectangle 16"/>
            <p:cNvSpPr/>
            <p:nvPr/>
          </p:nvSpPr>
          <p:spPr>
            <a:xfrm>
              <a:off x="6324600" y="1504950"/>
              <a:ext cx="5334000" cy="3000375"/>
            </a:xfrm>
            <a:prstGeom prst="roundRect">
              <a:avLst>
                <a:gd name="adj" fmla="val 3175"/>
              </a:avLst>
            </a:prstGeom>
            <a:noFill/>
            <a:ln w="14288">
              <a:solidFill>
                <a:schemeClr val="accent6"/>
              </a:solidFill>
            </a:ln>
          </p:spPr>
        </p:sp>
        <p:sp>
          <p:nvSpPr>
            <p:cNvPr id="17" name="TextBox 17"/>
            <p:cNvSpPr txBox="1"/>
            <p:nvPr/>
          </p:nvSpPr>
          <p:spPr>
            <a:xfrm>
              <a:off x="6318504" y="4699635"/>
              <a:ext cx="2960370"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読み込み後の画面。ファイル名とパスが表示されます。</a:t>
              </a:r>
            </a:p>
          </p:txBody>
        </p:sp>
      </p:grpSp>
      <p:grpSp>
        <p:nvGrpSpPr>
          <p:cNvPr id="28" name="Group 28"/>
          <p:cNvGrpSpPr/>
          <p:nvPr/>
        </p:nvGrpSpPr>
        <p:grpSpPr>
          <a:xfrm>
            <a:off x="476250" y="5076825"/>
            <a:ext cx="7241858" cy="1112520"/>
            <a:chOff x="476250" y="5076825"/>
            <a:chExt cx="7241858" cy="1112520"/>
          </a:xfrm>
        </p:grpSpPr>
        <p:sp>
          <p:nvSpPr>
            <p:cNvPr id="19" name="Ellipse 19"/>
            <p:cNvSpPr/>
            <p:nvPr/>
          </p:nvSpPr>
          <p:spPr>
            <a:xfrm>
              <a:off x="476250" y="5076825"/>
              <a:ext cx="285750" cy="285750"/>
            </a:xfrm>
            <a:prstGeom prst="ellipse">
              <a:avLst/>
            </a:prstGeom>
            <a:solidFill>
              <a:schemeClr val="accent1"/>
            </a:solidFill>
            <a:ln>
              <a:noFill/>
            </a:ln>
          </p:spPr>
        </p:sp>
        <p:sp>
          <p:nvSpPr>
            <p:cNvPr id="20" name="TextBox 20"/>
            <p:cNvSpPr txBox="1"/>
            <p:nvPr/>
          </p:nvSpPr>
          <p:spPr>
            <a:xfrm>
              <a:off x="566383" y="51473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21" name="TextBox 21"/>
            <p:cNvSpPr txBox="1"/>
            <p:nvPr/>
          </p:nvSpPr>
          <p:spPr>
            <a:xfrm>
              <a:off x="887730" y="5133975"/>
              <a:ext cx="501853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最初の画面で［AIで改修する］を選択し、［次へ］を押します。</a:t>
              </a:r>
            </a:p>
          </p:txBody>
        </p:sp>
        <p:sp>
          <p:nvSpPr>
            <p:cNvPr id="22" name="Ellipse 22"/>
            <p:cNvSpPr/>
            <p:nvPr/>
          </p:nvSpPr>
          <p:spPr>
            <a:xfrm>
              <a:off x="476250" y="5457825"/>
              <a:ext cx="285750" cy="285750"/>
            </a:xfrm>
            <a:prstGeom prst="ellipse">
              <a:avLst/>
            </a:prstGeom>
            <a:solidFill>
              <a:schemeClr val="accent1"/>
            </a:solidFill>
            <a:ln>
              <a:noFill/>
            </a:ln>
          </p:spPr>
        </p:sp>
        <p:sp>
          <p:nvSpPr>
            <p:cNvPr id="23" name="TextBox 23"/>
            <p:cNvSpPr txBox="1"/>
            <p:nvPr/>
          </p:nvSpPr>
          <p:spPr>
            <a:xfrm>
              <a:off x="566383" y="55283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24" name="TextBox 24"/>
            <p:cNvSpPr txBox="1"/>
            <p:nvPr/>
          </p:nvSpPr>
          <p:spPr>
            <a:xfrm>
              <a:off x="887730" y="5514975"/>
              <a:ext cx="6638544"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次の画面で、対象のブックを点線の枠へドラッグします。クリックしてファイルを選択することもできます。</a:t>
              </a:r>
            </a:p>
          </p:txBody>
        </p:sp>
        <p:sp>
          <p:nvSpPr>
            <p:cNvPr id="25" name="Ellipse 25"/>
            <p:cNvSpPr/>
            <p:nvPr/>
          </p:nvSpPr>
          <p:spPr>
            <a:xfrm>
              <a:off x="476250" y="5838825"/>
              <a:ext cx="285750" cy="285750"/>
            </a:xfrm>
            <a:prstGeom prst="ellipse">
              <a:avLst/>
            </a:prstGeom>
            <a:solidFill>
              <a:schemeClr val="accent1"/>
            </a:solidFill>
            <a:ln>
              <a:noFill/>
            </a:ln>
          </p:spPr>
        </p:sp>
        <p:sp>
          <p:nvSpPr>
            <p:cNvPr id="26" name="TextBox 26"/>
            <p:cNvSpPr txBox="1"/>
            <p:nvPr/>
          </p:nvSpPr>
          <p:spPr>
            <a:xfrm>
              <a:off x="566383" y="59093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3</a:t>
              </a:r>
            </a:p>
          </p:txBody>
        </p:sp>
        <p:sp>
          <p:nvSpPr>
            <p:cNvPr id="27" name="TextBox 27"/>
            <p:cNvSpPr txBox="1"/>
            <p:nvPr/>
          </p:nvSpPr>
          <p:spPr>
            <a:xfrm>
              <a:off x="887730" y="5895975"/>
              <a:ext cx="6830378"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ファイル名が表示されたら読み込み完了です。［選び直す］で変更できます。［次へ］で進みます。</a:t>
              </a:r>
            </a:p>
          </p:txBody>
        </p:sp>
      </p:grpSp>
      <p:grpSp>
        <p:nvGrpSpPr>
          <p:cNvPr id="30" name="Group 30"/>
          <p:cNvGrpSpPr/>
          <p:nvPr/>
        </p:nvGrpSpPr>
        <p:grpSpPr>
          <a:xfrm>
            <a:off x="451104" y="6176010"/>
            <a:ext cx="8266153" cy="234696"/>
            <a:chOff x="451104" y="6176010"/>
            <a:chExt cx="8266153" cy="234696"/>
          </a:xfrm>
        </p:grpSpPr>
        <p:sp>
          <p:nvSpPr>
            <p:cNvPr id="29" name="TextBox 29"/>
            <p:cNvSpPr txBox="1"/>
            <p:nvPr/>
          </p:nvSpPr>
          <p:spPr>
            <a:xfrm>
              <a:off x="451104" y="6176010"/>
              <a:ext cx="8266153"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対応形式は .xlsm / .xlam / .xlsb / .xls です。Excel で開いたままのブックも読み込めます。読み込みで元のブックのファイルは変更されません。</a:t>
              </a:r>
            </a:p>
          </p:txBody>
        </p:sp>
      </p:grpSp>
      <p:grpSp>
        <p:nvGrpSpPr>
          <p:cNvPr id="33" name="Group 33"/>
          <p:cNvGrpSpPr/>
          <p:nvPr/>
        </p:nvGrpSpPr>
        <p:grpSpPr>
          <a:xfrm>
            <a:off x="451866" y="6477952"/>
            <a:ext cx="11288268" cy="205359"/>
            <a:chOff x="451866" y="6477952"/>
            <a:chExt cx="11288268" cy="205359"/>
          </a:xfrm>
        </p:grpSpPr>
        <p:sp>
          <p:nvSpPr>
            <p:cNvPr id="31" name="TextBox 31"/>
            <p:cNvSpPr txBox="1"/>
            <p:nvPr/>
          </p:nvSpPr>
          <p:spPr>
            <a:xfrm>
              <a:off x="451866" y="6477952"/>
              <a:ext cx="2252718"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MacroStudio 操作マニュアル（ベータ版）</a:t>
              </a:r>
            </a:p>
          </p:txBody>
        </p:sp>
        <p:sp>
          <p:nvSpPr>
            <p:cNvPr id="32" name="TextBox 32"/>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09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65397" y="486728"/>
              <a:ext cx="30750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操作</a:t>
              </a:r>
            </a:p>
          </p:txBody>
        </p:sp>
        <p:sp>
          <p:nvSpPr>
            <p:cNvPr id="4" name="Rectangle 4"/>
            <p:cNvSpPr/>
            <p:nvPr/>
          </p:nvSpPr>
          <p:spPr>
            <a:xfrm>
              <a:off x="1257300" y="419100"/>
              <a:ext cx="876300" cy="266700"/>
            </a:xfrm>
            <a:prstGeom prst="roundRect">
              <a:avLst>
                <a:gd name="adj" fmla="val 50000"/>
              </a:avLst>
            </a:prstGeom>
            <a:solidFill>
              <a:schemeClr val="lt1"/>
            </a:solidFill>
            <a:ln w="14288">
              <a:solidFill>
                <a:schemeClr val="accent1"/>
              </a:solidFill>
            </a:ln>
          </p:spPr>
        </p:sp>
        <p:sp>
          <p:nvSpPr>
            <p:cNvPr id="5" name="TextBox 5"/>
            <p:cNvSpPr txBox="1"/>
            <p:nvPr/>
          </p:nvSpPr>
          <p:spPr>
            <a:xfrm>
              <a:off x="1478620" y="486728"/>
              <a:ext cx="433661" cy="205359"/>
            </a:xfrm>
            <a:prstGeom prst="rect">
              <a:avLst/>
            </a:prstGeom>
            <a:noFill/>
            <a:ln>
              <a:noFill/>
            </a:ln>
          </p:spPr>
          <p:txBody>
            <a:bodyPr wrap="none" lIns="0" tIns="0" rIns="0" bIns="0" anchor="t" anchorCtr="0">
              <a:spAutoFit/>
            </a:bodyPr>
            <a:lstStyle/>
            <a:p>
              <a:pPr algn="ctr"/>
              <a:r>
                <a:rPr lang="zh-CN" sz="1050" b="1" dirty="0">
                  <a:solidFill>
                    <a:schemeClr val="accent1"/>
                  </a:solidFill>
                  <a:latin typeface="+mn-lt"/>
                  <a:ea typeface="+mn-ea"/>
                  <a:cs typeface="+mn-cs"/>
                </a:rPr>
                <a:t>手順 1</a:t>
              </a:r>
            </a:p>
          </p:txBody>
        </p:sp>
        <p:sp>
          <p:nvSpPr>
            <p:cNvPr id="6" name="TextBox 6"/>
            <p:cNvSpPr txBox="1"/>
            <p:nvPr/>
          </p:nvSpPr>
          <p:spPr>
            <a:xfrm>
              <a:off x="441960" y="685800"/>
              <a:ext cx="4058984"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読み込んだマクロを確認します</a:t>
              </a:r>
            </a:p>
          </p:txBody>
        </p:sp>
        <p:sp>
          <p:nvSpPr>
            <p:cNvPr id="7" name="Line 7"/>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3" name="Group 13"/>
          <p:cNvGrpSpPr/>
          <p:nvPr/>
        </p:nvGrpSpPr>
        <p:grpSpPr>
          <a:xfrm>
            <a:off x="457200" y="1428750"/>
            <a:ext cx="5486400" cy="3486531"/>
            <a:chOff x="457200" y="1428750"/>
            <a:chExt cx="5486400" cy="3486531"/>
          </a:xfrm>
        </p:grpSpPr>
        <p:sp>
          <p:nvSpPr>
            <p:cNvPr id="9" name="Rectangle 9"/>
            <p:cNvSpPr/>
            <p:nvPr/>
          </p:nvSpPr>
          <p:spPr>
            <a:xfrm>
              <a:off x="457200" y="1428750"/>
              <a:ext cx="5486400" cy="3152775"/>
            </a:xfrm>
            <a:prstGeom prst="roundRect">
              <a:avLst>
                <a:gd name="adj" fmla="val 4230"/>
              </a:avLst>
            </a:prstGeom>
            <a:solidFill>
              <a:schemeClr val="lt2"/>
            </a:solidFill>
            <a:ln>
              <a:noFill/>
            </a:ln>
          </p:spPr>
        </p:sp>
        <p:pic>
          <p:nvPicPr>
            <p:cNvPr id="10" name="Image 10"/>
            <p:cNvPicPr>
              <a:picLocks noChangeAspect="1"/>
            </p:cNvPicPr>
            <p:nvPr/>
          </p:nvPicPr>
          <p:blipFill>
            <a:blip r:embed="rId2"/>
            <a:stretch>
              <a:fillRect/>
            </a:stretch>
          </p:blipFill>
          <p:spPr>
            <a:xfrm>
              <a:off x="533400" y="1504950"/>
              <a:ext cx="5334000" cy="3000375"/>
            </a:xfrm>
            <a:prstGeom prst="roundRect">
              <a:avLst>
                <a:gd name="adj" fmla="val 3174"/>
              </a:avLst>
            </a:prstGeom>
          </p:spPr>
        </p:pic>
        <p:sp>
          <p:nvSpPr>
            <p:cNvPr id="11" name="Rectangle 11"/>
            <p:cNvSpPr/>
            <p:nvPr/>
          </p:nvSpPr>
          <p:spPr>
            <a:xfrm>
              <a:off x="533400" y="1504950"/>
              <a:ext cx="5334000" cy="3000375"/>
            </a:xfrm>
            <a:prstGeom prst="roundRect">
              <a:avLst>
                <a:gd name="adj" fmla="val 3175"/>
              </a:avLst>
            </a:prstGeom>
            <a:noFill/>
            <a:ln w="14288">
              <a:solidFill>
                <a:schemeClr val="accent6"/>
              </a:solidFill>
            </a:ln>
          </p:spPr>
        </p:sp>
        <p:sp>
          <p:nvSpPr>
            <p:cNvPr id="12" name="TextBox 12"/>
            <p:cNvSpPr txBox="1"/>
            <p:nvPr/>
          </p:nvSpPr>
          <p:spPr>
            <a:xfrm>
              <a:off x="527304" y="4680585"/>
              <a:ext cx="4890821"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「8モジュール・484行を読み込みました」の件数表示。確認して［次へ］で進みます。</a:t>
              </a:r>
            </a:p>
          </p:txBody>
        </p:sp>
      </p:grpSp>
      <p:grpSp>
        <p:nvGrpSpPr>
          <p:cNvPr id="18" name="Group 18"/>
          <p:cNvGrpSpPr/>
          <p:nvPr/>
        </p:nvGrpSpPr>
        <p:grpSpPr>
          <a:xfrm>
            <a:off x="6248400" y="1428750"/>
            <a:ext cx="5486400" cy="3486531"/>
            <a:chOff x="6248400" y="1428750"/>
            <a:chExt cx="5486400" cy="3486531"/>
          </a:xfrm>
        </p:grpSpPr>
        <p:sp>
          <p:nvSpPr>
            <p:cNvPr id="14" name="Rectangle 14"/>
            <p:cNvSpPr/>
            <p:nvPr/>
          </p:nvSpPr>
          <p:spPr>
            <a:xfrm>
              <a:off x="6248400" y="1428750"/>
              <a:ext cx="5486400" cy="3152775"/>
            </a:xfrm>
            <a:prstGeom prst="roundRect">
              <a:avLst>
                <a:gd name="adj" fmla="val 4230"/>
              </a:avLst>
            </a:prstGeom>
            <a:solidFill>
              <a:schemeClr val="lt2"/>
            </a:solidFill>
            <a:ln>
              <a:noFill/>
            </a:ln>
          </p:spPr>
        </p:sp>
        <p:pic>
          <p:nvPicPr>
            <p:cNvPr id="15" name="Image 15"/>
            <p:cNvPicPr>
              <a:picLocks noChangeAspect="1"/>
            </p:cNvPicPr>
            <p:nvPr/>
          </p:nvPicPr>
          <p:blipFill>
            <a:blip r:embed="rId3"/>
            <a:stretch>
              <a:fillRect/>
            </a:stretch>
          </p:blipFill>
          <p:spPr>
            <a:xfrm>
              <a:off x="6324600" y="1504950"/>
              <a:ext cx="5334000" cy="3000375"/>
            </a:xfrm>
            <a:prstGeom prst="roundRect">
              <a:avLst>
                <a:gd name="adj" fmla="val 3174"/>
              </a:avLst>
            </a:prstGeom>
          </p:spPr>
        </p:pic>
        <p:sp>
          <p:nvSpPr>
            <p:cNvPr id="16" name="Rectangle 16"/>
            <p:cNvSpPr/>
            <p:nvPr/>
          </p:nvSpPr>
          <p:spPr>
            <a:xfrm>
              <a:off x="6324600" y="1504950"/>
              <a:ext cx="5334000" cy="3000375"/>
            </a:xfrm>
            <a:prstGeom prst="roundRect">
              <a:avLst>
                <a:gd name="adj" fmla="val 3175"/>
              </a:avLst>
            </a:prstGeom>
            <a:noFill/>
            <a:ln w="14288">
              <a:solidFill>
                <a:schemeClr val="accent6"/>
              </a:solidFill>
            </a:ln>
          </p:spPr>
        </p:sp>
        <p:sp>
          <p:nvSpPr>
            <p:cNvPr id="17" name="TextBox 17"/>
            <p:cNvSpPr txBox="1"/>
            <p:nvPr/>
          </p:nvSpPr>
          <p:spPr>
            <a:xfrm>
              <a:off x="6318504" y="4680585"/>
              <a:ext cx="4123487"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「読み取った内容を見る」を開くと、モジュール名と行数を確認できます。</a:t>
              </a:r>
            </a:p>
          </p:txBody>
        </p:sp>
      </p:grpSp>
      <p:grpSp>
        <p:nvGrpSpPr>
          <p:cNvPr id="20" name="Group 20"/>
          <p:cNvGrpSpPr/>
          <p:nvPr/>
        </p:nvGrpSpPr>
        <p:grpSpPr>
          <a:xfrm>
            <a:off x="450342" y="5007292"/>
            <a:ext cx="6737985" cy="264033"/>
            <a:chOff x="450342" y="5007292"/>
            <a:chExt cx="6737985" cy="264033"/>
          </a:xfrm>
        </p:grpSpPr>
        <p:sp>
          <p:nvSpPr>
            <p:cNvPr id="19" name="TextBox 19"/>
            <p:cNvSpPr txBox="1"/>
            <p:nvPr/>
          </p:nvSpPr>
          <p:spPr>
            <a:xfrm>
              <a:off x="450342" y="5007292"/>
              <a:ext cx="673798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読み取り時に案内が表示される場合があります。意味は次の 2 種類で、いずれも読み込みは成功しています。</a:t>
              </a:r>
            </a:p>
          </p:txBody>
        </p:sp>
      </p:grpSp>
      <p:grpSp>
        <p:nvGrpSpPr>
          <p:cNvPr id="25" name="Group 25"/>
          <p:cNvGrpSpPr/>
          <p:nvPr/>
        </p:nvGrpSpPr>
        <p:grpSpPr>
          <a:xfrm>
            <a:off x="457200" y="5257800"/>
            <a:ext cx="5524500" cy="990600"/>
            <a:chOff x="457200" y="5257800"/>
            <a:chExt cx="5524500" cy="990600"/>
          </a:xfrm>
        </p:grpSpPr>
        <p:sp>
          <p:nvSpPr>
            <p:cNvPr id="21" name="Rectangle 21"/>
            <p:cNvSpPr/>
            <p:nvPr/>
          </p:nvSpPr>
          <p:spPr>
            <a:xfrm>
              <a:off x="457200" y="5257800"/>
              <a:ext cx="5524500" cy="990600"/>
            </a:xfrm>
            <a:prstGeom prst="roundRect">
              <a:avLst>
                <a:gd name="adj" fmla="val 11538"/>
              </a:avLst>
            </a:prstGeom>
            <a:solidFill>
              <a:schemeClr val="accent5"/>
            </a:solidFill>
            <a:ln w="9525">
              <a:solidFill>
                <a:schemeClr val="accent6"/>
              </a:solidFill>
            </a:ln>
          </p:spPr>
        </p:sp>
        <p:sp>
          <p:nvSpPr>
            <p:cNvPr id="22" name="TextBox 22"/>
            <p:cNvSpPr txBox="1"/>
            <p:nvPr/>
          </p:nvSpPr>
          <p:spPr>
            <a:xfrm>
              <a:off x="679323" y="5386864"/>
              <a:ext cx="2989241" cy="249364"/>
            </a:xfrm>
            <a:prstGeom prst="rect">
              <a:avLst/>
            </a:prstGeom>
            <a:noFill/>
            <a:ln>
              <a:noFill/>
            </a:ln>
          </p:spPr>
          <p:txBody>
            <a:bodyPr wrap="none" lIns="0" tIns="0" rIns="0" bIns="0" anchor="t" anchorCtr="0">
              <a:spAutoFit/>
            </a:bodyPr>
            <a:lstStyle/>
            <a:p>
              <a:pPr algn="l"/>
              <a:r>
                <a:rPr lang="zh-CN" sz="1280" b="1" dirty="0">
                  <a:solidFill>
                    <a:schemeClr val="dk1"/>
                  </a:solidFill>
                  <a:latin typeface="+mn-lt"/>
                  <a:ea typeface="+mn-ea"/>
                  <a:cs typeface="+mn-cs"/>
                </a:rPr>
                <a:t>「マクロのコードは全モジュール読み取れています。」</a:t>
              </a:r>
            </a:p>
          </p:txBody>
        </p:sp>
        <p:sp>
          <p:nvSpPr>
            <p:cNvPr id="23" name="TextBox 23"/>
            <p:cNvSpPr txBox="1"/>
            <p:nvPr/>
          </p:nvSpPr>
          <p:spPr>
            <a:xfrm>
              <a:off x="679704" y="5661660"/>
              <a:ext cx="3517697"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ブック内部の管理情報が標準と異なっていた場合の表示です。</a:t>
              </a:r>
            </a:p>
          </p:txBody>
        </p:sp>
        <p:sp>
          <p:nvSpPr>
            <p:cNvPr id="24" name="TextBox 24"/>
            <p:cNvSpPr txBox="1"/>
            <p:nvPr/>
          </p:nvSpPr>
          <p:spPr>
            <a:xfrm>
              <a:off x="679704" y="5890260"/>
              <a:ext cx="263728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コードはすべて読み取れており、対処は不要です。</a:t>
              </a:r>
            </a:p>
          </p:txBody>
        </p:sp>
      </p:grpSp>
      <p:grpSp>
        <p:nvGrpSpPr>
          <p:cNvPr id="30" name="Group 30"/>
          <p:cNvGrpSpPr/>
          <p:nvPr/>
        </p:nvGrpSpPr>
        <p:grpSpPr>
          <a:xfrm>
            <a:off x="6210300" y="5257800"/>
            <a:ext cx="5524500" cy="990600"/>
            <a:chOff x="6210300" y="5257800"/>
            <a:chExt cx="5524500" cy="990600"/>
          </a:xfrm>
        </p:grpSpPr>
        <p:sp>
          <p:nvSpPr>
            <p:cNvPr id="26" name="Rectangle 26"/>
            <p:cNvSpPr/>
            <p:nvPr/>
          </p:nvSpPr>
          <p:spPr>
            <a:xfrm>
              <a:off x="6210300" y="5257800"/>
              <a:ext cx="5524500" cy="990600"/>
            </a:xfrm>
            <a:prstGeom prst="roundRect">
              <a:avLst>
                <a:gd name="adj" fmla="val 11538"/>
              </a:avLst>
            </a:prstGeom>
            <a:solidFill>
              <a:schemeClr val="lt1"/>
            </a:solidFill>
            <a:ln w="14288">
              <a:solidFill>
                <a:schemeClr val="accent2"/>
              </a:solidFill>
            </a:ln>
          </p:spPr>
        </p:sp>
        <p:sp>
          <p:nvSpPr>
            <p:cNvPr id="27" name="TextBox 27"/>
            <p:cNvSpPr txBox="1"/>
            <p:nvPr/>
          </p:nvSpPr>
          <p:spPr>
            <a:xfrm>
              <a:off x="6432423" y="5386864"/>
              <a:ext cx="2971148" cy="249364"/>
            </a:xfrm>
            <a:prstGeom prst="rect">
              <a:avLst/>
            </a:prstGeom>
            <a:noFill/>
            <a:ln>
              <a:noFill/>
            </a:ln>
          </p:spPr>
          <p:txBody>
            <a:bodyPr wrap="none" lIns="0" tIns="0" rIns="0" bIns="0" anchor="t" anchorCtr="0">
              <a:spAutoFit/>
            </a:bodyPr>
            <a:lstStyle/>
            <a:p>
              <a:pPr algn="l"/>
              <a:r>
                <a:rPr lang="zh-CN" sz="1280" b="1" dirty="0">
                  <a:solidFill>
                    <a:schemeClr val="dk1"/>
                  </a:solidFill>
                  <a:latin typeface="+mn-lt"/>
                  <a:ea typeface="+mn-ea"/>
                  <a:cs typeface="+mn-cs"/>
                </a:rPr>
                <a:t>「一部をバイナリレベルで読み取れませんでした。」</a:t>
              </a:r>
            </a:p>
          </p:txBody>
        </p:sp>
        <p:sp>
          <p:nvSpPr>
            <p:cNvPr id="28" name="TextBox 28"/>
            <p:cNvSpPr txBox="1"/>
            <p:nvPr/>
          </p:nvSpPr>
          <p:spPr>
            <a:xfrm>
              <a:off x="6432804" y="5661660"/>
              <a:ext cx="4244645"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コードが最後まで読み取れたかを、アプリ側で確定できなかった場合の表示です。</a:t>
              </a:r>
            </a:p>
          </p:txBody>
        </p:sp>
        <p:sp>
          <p:nvSpPr>
            <p:cNvPr id="29" name="TextBox 29"/>
            <p:cNvSpPr txBox="1"/>
            <p:nvPr/>
          </p:nvSpPr>
          <p:spPr>
            <a:xfrm>
              <a:off x="6432804" y="5890260"/>
              <a:ext cx="4330598"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念のため、P15 の差分確認で改修前コードの途切れがないか確認します。</a:t>
              </a:r>
            </a:p>
          </p:txBody>
        </p:sp>
      </p:grpSp>
      <p:grpSp>
        <p:nvGrpSpPr>
          <p:cNvPr id="33" name="Group 33"/>
          <p:cNvGrpSpPr/>
          <p:nvPr/>
        </p:nvGrpSpPr>
        <p:grpSpPr>
          <a:xfrm>
            <a:off x="451866" y="6477952"/>
            <a:ext cx="11288268" cy="205359"/>
            <a:chOff x="451866" y="6477952"/>
            <a:chExt cx="11288268" cy="205359"/>
          </a:xfrm>
        </p:grpSpPr>
        <p:sp>
          <p:nvSpPr>
            <p:cNvPr id="31" name="TextBox 31"/>
            <p:cNvSpPr txBox="1"/>
            <p:nvPr/>
          </p:nvSpPr>
          <p:spPr>
            <a:xfrm>
              <a:off x="451866" y="6477952"/>
              <a:ext cx="2252718"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MacroStudio 操作マニュアル（ベータ版）</a:t>
              </a:r>
            </a:p>
          </p:txBody>
        </p:sp>
        <p:sp>
          <p:nvSpPr>
            <p:cNvPr id="32" name="TextBox 32"/>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65397" y="486728"/>
              <a:ext cx="30750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操作</a:t>
              </a:r>
            </a:p>
          </p:txBody>
        </p:sp>
        <p:sp>
          <p:nvSpPr>
            <p:cNvPr id="4" name="Rectangle 4"/>
            <p:cNvSpPr/>
            <p:nvPr/>
          </p:nvSpPr>
          <p:spPr>
            <a:xfrm>
              <a:off x="1257300" y="419100"/>
              <a:ext cx="876300" cy="266700"/>
            </a:xfrm>
            <a:prstGeom prst="roundRect">
              <a:avLst>
                <a:gd name="adj" fmla="val 50000"/>
              </a:avLst>
            </a:prstGeom>
            <a:solidFill>
              <a:schemeClr val="lt1"/>
            </a:solidFill>
            <a:ln w="14288">
              <a:solidFill>
                <a:schemeClr val="accent1"/>
              </a:solidFill>
            </a:ln>
          </p:spPr>
        </p:sp>
        <p:sp>
          <p:nvSpPr>
            <p:cNvPr id="5" name="TextBox 5"/>
            <p:cNvSpPr txBox="1"/>
            <p:nvPr/>
          </p:nvSpPr>
          <p:spPr>
            <a:xfrm>
              <a:off x="1478620" y="486728"/>
              <a:ext cx="433661" cy="205359"/>
            </a:xfrm>
            <a:prstGeom prst="rect">
              <a:avLst/>
            </a:prstGeom>
            <a:noFill/>
            <a:ln>
              <a:noFill/>
            </a:ln>
          </p:spPr>
          <p:txBody>
            <a:bodyPr wrap="none" lIns="0" tIns="0" rIns="0" bIns="0" anchor="t" anchorCtr="0">
              <a:spAutoFit/>
            </a:bodyPr>
            <a:lstStyle/>
            <a:p>
              <a:pPr algn="ctr"/>
              <a:r>
                <a:rPr lang="zh-CN" sz="1050" b="1" dirty="0">
                  <a:solidFill>
                    <a:schemeClr val="accent1"/>
                  </a:solidFill>
                  <a:latin typeface="+mn-lt"/>
                  <a:ea typeface="+mn-ea"/>
                  <a:cs typeface="+mn-cs"/>
                </a:rPr>
                <a:t>手順 2</a:t>
              </a:r>
            </a:p>
          </p:txBody>
        </p:sp>
        <p:sp>
          <p:nvSpPr>
            <p:cNvPr id="6" name="TextBox 6"/>
            <p:cNvSpPr txBox="1"/>
            <p:nvPr/>
          </p:nvSpPr>
          <p:spPr>
            <a:xfrm>
              <a:off x="441960" y="685800"/>
              <a:ext cx="2935243"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目的を選んでください</a:t>
              </a:r>
            </a:p>
          </p:txBody>
        </p:sp>
        <p:sp>
          <p:nvSpPr>
            <p:cNvPr id="7" name="Line 7"/>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3" name="Group 13"/>
          <p:cNvGrpSpPr/>
          <p:nvPr/>
        </p:nvGrpSpPr>
        <p:grpSpPr>
          <a:xfrm>
            <a:off x="457200" y="1428750"/>
            <a:ext cx="6858000" cy="4277106"/>
            <a:chOff x="457200" y="1428750"/>
            <a:chExt cx="6858000" cy="4277106"/>
          </a:xfrm>
        </p:grpSpPr>
        <p:sp>
          <p:nvSpPr>
            <p:cNvPr id="9" name="Rectangle 9"/>
            <p:cNvSpPr/>
            <p:nvPr/>
          </p:nvSpPr>
          <p:spPr>
            <a:xfrm>
              <a:off x="457200" y="1428750"/>
              <a:ext cx="6858000" cy="3924300"/>
            </a:xfrm>
            <a:prstGeom prst="roundRect">
              <a:avLst>
                <a:gd name="adj" fmla="val 3398"/>
              </a:avLst>
            </a:prstGeom>
            <a:solidFill>
              <a:schemeClr val="lt2"/>
            </a:solidFill>
            <a:ln>
              <a:noFill/>
            </a:ln>
          </p:spPr>
        </p:sp>
        <p:pic>
          <p:nvPicPr>
            <p:cNvPr id="10" name="Image 10"/>
            <p:cNvPicPr>
              <a:picLocks noChangeAspect="1"/>
            </p:cNvPicPr>
            <p:nvPr/>
          </p:nvPicPr>
          <p:blipFill>
            <a:blip r:embed="rId2"/>
            <a:stretch>
              <a:fillRect/>
            </a:stretch>
          </p:blipFill>
          <p:spPr>
            <a:xfrm>
              <a:off x="533400" y="1504950"/>
              <a:ext cx="6705600" cy="3771900"/>
            </a:xfrm>
            <a:prstGeom prst="roundRect">
              <a:avLst>
                <a:gd name="adj" fmla="val 2525"/>
              </a:avLst>
            </a:prstGeom>
          </p:spPr>
        </p:pic>
        <p:sp>
          <p:nvSpPr>
            <p:cNvPr id="11" name="Rectangle 11"/>
            <p:cNvSpPr/>
            <p:nvPr/>
          </p:nvSpPr>
          <p:spPr>
            <a:xfrm>
              <a:off x="533400" y="1504950"/>
              <a:ext cx="6705600" cy="3771900"/>
            </a:xfrm>
            <a:prstGeom prst="roundRect">
              <a:avLst>
                <a:gd name="adj" fmla="val 2525"/>
              </a:avLst>
            </a:prstGeom>
            <a:noFill/>
            <a:ln w="14288">
              <a:solidFill>
                <a:schemeClr val="accent6"/>
              </a:solidFill>
            </a:ln>
          </p:spPr>
        </p:sp>
        <p:sp>
          <p:nvSpPr>
            <p:cNvPr id="12" name="TextBox 12"/>
            <p:cNvSpPr txBox="1"/>
            <p:nvPr/>
          </p:nvSpPr>
          <p:spPr>
            <a:xfrm>
              <a:off x="527304" y="5471160"/>
              <a:ext cx="646633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本書のサンプルでは「Win32 API を使わない形へ直す」を選択します。名前の下の 1 行が各目的の説明です。</a:t>
              </a:r>
            </a:p>
          </p:txBody>
        </p:sp>
      </p:grpSp>
      <p:grpSp>
        <p:nvGrpSpPr>
          <p:cNvPr id="24" name="Group 24"/>
          <p:cNvGrpSpPr/>
          <p:nvPr/>
        </p:nvGrpSpPr>
        <p:grpSpPr>
          <a:xfrm>
            <a:off x="7613142" y="1492568"/>
            <a:ext cx="4121658" cy="2507932"/>
            <a:chOff x="7613142" y="1492568"/>
            <a:chExt cx="4121658" cy="2507932"/>
          </a:xfrm>
        </p:grpSpPr>
        <p:sp>
          <p:nvSpPr>
            <p:cNvPr id="14" name="TextBox 14"/>
            <p:cNvSpPr txBox="1"/>
            <p:nvPr/>
          </p:nvSpPr>
          <p:spPr>
            <a:xfrm>
              <a:off x="7613142" y="1492568"/>
              <a:ext cx="1578472"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選択できる改修の目的</a:t>
              </a:r>
            </a:p>
          </p:txBody>
        </p:sp>
        <p:sp>
          <p:nvSpPr>
            <p:cNvPr id="15" name="Rectangle 15"/>
            <p:cNvSpPr/>
            <p:nvPr/>
          </p:nvSpPr>
          <p:spPr>
            <a:xfrm>
              <a:off x="7620000" y="1790700"/>
              <a:ext cx="4114800" cy="685800"/>
            </a:xfrm>
            <a:prstGeom prst="roundRect">
              <a:avLst>
                <a:gd name="adj" fmla="val 16667"/>
              </a:avLst>
            </a:prstGeom>
            <a:solidFill>
              <a:schemeClr val="accent5"/>
            </a:solidFill>
            <a:ln w="9525">
              <a:solidFill>
                <a:schemeClr val="accent6"/>
              </a:solidFill>
            </a:ln>
          </p:spPr>
        </p:sp>
        <p:sp>
          <p:nvSpPr>
            <p:cNvPr id="16" name="TextBox 16"/>
            <p:cNvSpPr txBox="1"/>
            <p:nvPr/>
          </p:nvSpPr>
          <p:spPr>
            <a:xfrm>
              <a:off x="7804023" y="1919764"/>
              <a:ext cx="3329763" cy="249364"/>
            </a:xfrm>
            <a:prstGeom prst="rect">
              <a:avLst/>
            </a:prstGeom>
            <a:noFill/>
            <a:ln>
              <a:noFill/>
            </a:ln>
          </p:spPr>
          <p:txBody>
            <a:bodyPr wrap="none" lIns="0" tIns="0" rIns="0" bIns="0" anchor="t" anchorCtr="0">
              <a:spAutoFit/>
            </a:bodyPr>
            <a:lstStyle/>
            <a:p>
              <a:pPr algn="l"/>
              <a:r>
                <a:rPr lang="zh-CN" sz="1280" b="1" dirty="0">
                  <a:solidFill>
                    <a:schemeClr val="dk1"/>
                  </a:solidFill>
                  <a:latin typeface="+mn-lt"/>
                  <a:ea typeface="+mn-ea"/>
                  <a:cs typeface="+mn-cs"/>
                </a:rPr>
                <a:t>VBAリファクター（動きを変えずに整理・改善する）</a:t>
              </a:r>
            </a:p>
          </p:txBody>
        </p:sp>
        <p:sp>
          <p:nvSpPr>
            <p:cNvPr id="17" name="TextBox 17"/>
            <p:cNvSpPr txBox="1"/>
            <p:nvPr/>
          </p:nvSpPr>
          <p:spPr>
            <a:xfrm>
              <a:off x="7804785" y="2202656"/>
              <a:ext cx="2612288" cy="220028"/>
            </a:xfrm>
            <a:prstGeom prst="rect">
              <a:avLst/>
            </a:prstGeom>
            <a:noFill/>
            <a:ln>
              <a:noFill/>
            </a:ln>
          </p:spPr>
          <p:txBody>
            <a:bodyPr wrap="none" lIns="0" tIns="0" rIns="0" bIns="0" anchor="t" anchorCtr="0">
              <a:spAutoFit/>
            </a:bodyPr>
            <a:lstStyle/>
            <a:p>
              <a:pPr algn="l"/>
              <a:r>
                <a:rPr lang="zh-CN" sz="1120" dirty="0">
                  <a:solidFill>
                    <a:srgbClr val="5D6B7A"/>
                  </a:solidFill>
                  <a:latin typeface="+mn-lt"/>
                  <a:ea typeface="+mn-ea"/>
                  <a:cs typeface="+mn-cs"/>
                </a:rPr>
                <a:t>動作を変えずに、コードを読みやすく直す依頼です。</a:t>
              </a:r>
            </a:p>
          </p:txBody>
        </p:sp>
        <p:sp>
          <p:nvSpPr>
            <p:cNvPr id="18" name="Rectangle 18"/>
            <p:cNvSpPr/>
            <p:nvPr/>
          </p:nvSpPr>
          <p:spPr>
            <a:xfrm>
              <a:off x="7620000" y="2552700"/>
              <a:ext cx="4114800" cy="685800"/>
            </a:xfrm>
            <a:prstGeom prst="roundRect">
              <a:avLst>
                <a:gd name="adj" fmla="val 16667"/>
              </a:avLst>
            </a:prstGeom>
            <a:solidFill>
              <a:schemeClr val="lt1"/>
            </a:solidFill>
            <a:ln w="14288">
              <a:solidFill>
                <a:schemeClr val="accent2"/>
              </a:solidFill>
            </a:ln>
          </p:spPr>
        </p:sp>
        <p:sp>
          <p:nvSpPr>
            <p:cNvPr id="19" name="TextBox 19"/>
            <p:cNvSpPr txBox="1"/>
            <p:nvPr/>
          </p:nvSpPr>
          <p:spPr>
            <a:xfrm>
              <a:off x="7804023" y="2681764"/>
              <a:ext cx="3092166" cy="249364"/>
            </a:xfrm>
            <a:prstGeom prst="rect">
              <a:avLst/>
            </a:prstGeom>
            <a:noFill/>
            <a:ln>
              <a:noFill/>
            </a:ln>
          </p:spPr>
          <p:txBody>
            <a:bodyPr wrap="none" lIns="0" tIns="0" rIns="0" bIns="0" anchor="t" anchorCtr="0">
              <a:spAutoFit/>
            </a:bodyPr>
            <a:lstStyle/>
            <a:p>
              <a:pPr algn="l"/>
              <a:r>
                <a:rPr lang="zh-CN" sz="1280" b="1" dirty="0">
                  <a:solidFill>
                    <a:schemeClr val="dk1"/>
                  </a:solidFill>
                  <a:latin typeface="+mn-lt"/>
                  <a:ea typeface="+mn-ea"/>
                  <a:cs typeface="+mn-cs"/>
                </a:rPr>
                <a:t>Win32 API を使わない形へ直す　← 本書の例</a:t>
              </a:r>
            </a:p>
          </p:txBody>
        </p:sp>
        <p:sp>
          <p:nvSpPr>
            <p:cNvPr id="20" name="TextBox 20"/>
            <p:cNvSpPr txBox="1"/>
            <p:nvPr/>
          </p:nvSpPr>
          <p:spPr>
            <a:xfrm>
              <a:off x="7804785" y="2964656"/>
              <a:ext cx="2671318" cy="220028"/>
            </a:xfrm>
            <a:prstGeom prst="rect">
              <a:avLst/>
            </a:prstGeom>
            <a:noFill/>
            <a:ln>
              <a:noFill/>
            </a:ln>
          </p:spPr>
          <p:txBody>
            <a:bodyPr wrap="none" lIns="0" tIns="0" rIns="0" bIns="0" anchor="t" anchorCtr="0">
              <a:spAutoFit/>
            </a:bodyPr>
            <a:lstStyle/>
            <a:p>
              <a:pPr algn="l"/>
              <a:r>
                <a:rPr lang="zh-CN" sz="1120" dirty="0">
                  <a:solidFill>
                    <a:srgbClr val="5D6B7A"/>
                  </a:solidFill>
                  <a:latin typeface="+mn-lt"/>
                  <a:ea typeface="+mn-ea"/>
                  <a:cs typeface="+mn-cs"/>
                </a:rPr>
                <a:t>Win32 API 依存箇所を置き換える依頼です。</a:t>
              </a:r>
            </a:p>
          </p:txBody>
        </p:sp>
        <p:sp>
          <p:nvSpPr>
            <p:cNvPr id="21" name="Rectangle 21"/>
            <p:cNvSpPr/>
            <p:nvPr/>
          </p:nvSpPr>
          <p:spPr>
            <a:xfrm>
              <a:off x="7620000" y="3314700"/>
              <a:ext cx="4114800" cy="685800"/>
            </a:xfrm>
            <a:prstGeom prst="roundRect">
              <a:avLst>
                <a:gd name="adj" fmla="val 16667"/>
              </a:avLst>
            </a:prstGeom>
            <a:solidFill>
              <a:schemeClr val="accent5"/>
            </a:solidFill>
            <a:ln w="9525">
              <a:solidFill>
                <a:schemeClr val="accent6"/>
              </a:solidFill>
            </a:ln>
          </p:spPr>
        </p:sp>
        <p:sp>
          <p:nvSpPr>
            <p:cNvPr id="22" name="TextBox 22"/>
            <p:cNvSpPr txBox="1"/>
            <p:nvPr/>
          </p:nvSpPr>
          <p:spPr>
            <a:xfrm>
              <a:off x="7804023" y="3443764"/>
              <a:ext cx="1577992" cy="249364"/>
            </a:xfrm>
            <a:prstGeom prst="rect">
              <a:avLst/>
            </a:prstGeom>
            <a:noFill/>
            <a:ln>
              <a:noFill/>
            </a:ln>
          </p:spPr>
          <p:txBody>
            <a:bodyPr wrap="none" lIns="0" tIns="0" rIns="0" bIns="0" anchor="t" anchorCtr="0">
              <a:spAutoFit/>
            </a:bodyPr>
            <a:lstStyle/>
            <a:p>
              <a:pPr algn="l"/>
              <a:r>
                <a:rPr lang="zh-CN" sz="1280" b="1" dirty="0">
                  <a:solidFill>
                    <a:schemeClr val="dk1"/>
                  </a:solidFill>
                  <a:latin typeface="+mn-lt"/>
                  <a:ea typeface="+mn-ea"/>
                  <a:cs typeface="+mn-cs"/>
                </a:rPr>
                <a:t>自分で改修内容を書く</a:t>
              </a:r>
            </a:p>
          </p:txBody>
        </p:sp>
        <p:sp>
          <p:nvSpPr>
            <p:cNvPr id="23" name="TextBox 23"/>
            <p:cNvSpPr txBox="1"/>
            <p:nvPr/>
          </p:nvSpPr>
          <p:spPr>
            <a:xfrm>
              <a:off x="7804785" y="3726656"/>
              <a:ext cx="2785679" cy="220028"/>
            </a:xfrm>
            <a:prstGeom prst="rect">
              <a:avLst/>
            </a:prstGeom>
            <a:noFill/>
            <a:ln>
              <a:noFill/>
            </a:ln>
          </p:spPr>
          <p:txBody>
            <a:bodyPr wrap="none" lIns="0" tIns="0" rIns="0" bIns="0" anchor="t" anchorCtr="0">
              <a:spAutoFit/>
            </a:bodyPr>
            <a:lstStyle/>
            <a:p>
              <a:pPr algn="l"/>
              <a:r>
                <a:rPr lang="zh-CN" sz="1120" dirty="0">
                  <a:solidFill>
                    <a:srgbClr val="5D6B7A"/>
                  </a:solidFill>
                  <a:latin typeface="+mn-lt"/>
                  <a:ea typeface="+mn-ea"/>
                  <a:cs typeface="+mn-cs"/>
                </a:rPr>
                <a:t>改修内容を次の画面で自分の言葉で記入します。</a:t>
              </a:r>
            </a:p>
          </p:txBody>
        </p:sp>
      </p:grpSp>
      <p:grpSp>
        <p:nvGrpSpPr>
          <p:cNvPr id="33" name="Group 33"/>
          <p:cNvGrpSpPr/>
          <p:nvPr/>
        </p:nvGrpSpPr>
        <p:grpSpPr>
          <a:xfrm>
            <a:off x="7639050" y="4276725"/>
            <a:ext cx="3054794" cy="1258348"/>
            <a:chOff x="7639050" y="4276725"/>
            <a:chExt cx="3054794" cy="1258348"/>
          </a:xfrm>
        </p:grpSpPr>
        <p:sp>
          <p:nvSpPr>
            <p:cNvPr id="25" name="Ellipse 25"/>
            <p:cNvSpPr/>
            <p:nvPr/>
          </p:nvSpPr>
          <p:spPr>
            <a:xfrm>
              <a:off x="7639050" y="4276725"/>
              <a:ext cx="285750" cy="285750"/>
            </a:xfrm>
            <a:prstGeom prst="ellipse">
              <a:avLst/>
            </a:prstGeom>
            <a:solidFill>
              <a:schemeClr val="accent1"/>
            </a:solidFill>
            <a:ln>
              <a:noFill/>
            </a:ln>
          </p:spPr>
        </p:sp>
        <p:sp>
          <p:nvSpPr>
            <p:cNvPr id="26" name="TextBox 26"/>
            <p:cNvSpPr txBox="1"/>
            <p:nvPr/>
          </p:nvSpPr>
          <p:spPr>
            <a:xfrm>
              <a:off x="7729183" y="43472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27" name="TextBox 27"/>
            <p:cNvSpPr txBox="1"/>
            <p:nvPr/>
          </p:nvSpPr>
          <p:spPr>
            <a:xfrm>
              <a:off x="8050911" y="4341971"/>
              <a:ext cx="2308403"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目的を 1 つ選択します。該当する</a:t>
              </a:r>
            </a:p>
          </p:txBody>
        </p:sp>
        <p:sp>
          <p:nvSpPr>
            <p:cNvPr id="28" name="TextBox 28"/>
            <p:cNvSpPr txBox="1"/>
            <p:nvPr/>
          </p:nvSpPr>
          <p:spPr>
            <a:xfrm>
              <a:off x="8050911" y="4608671"/>
              <a:ext cx="2642933"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目的がない場合は「自分で改修内容</a:t>
              </a:r>
            </a:p>
          </p:txBody>
        </p:sp>
        <p:sp>
          <p:nvSpPr>
            <p:cNvPr id="29" name="TextBox 29"/>
            <p:cNvSpPr txBox="1"/>
            <p:nvPr/>
          </p:nvSpPr>
          <p:spPr>
            <a:xfrm>
              <a:off x="8050911" y="4875371"/>
              <a:ext cx="1601109"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を書く」を選択します。</a:t>
              </a:r>
            </a:p>
          </p:txBody>
        </p:sp>
        <p:sp>
          <p:nvSpPr>
            <p:cNvPr id="30" name="Ellipse 30"/>
            <p:cNvSpPr/>
            <p:nvPr/>
          </p:nvSpPr>
          <p:spPr>
            <a:xfrm>
              <a:off x="7639050" y="5191125"/>
              <a:ext cx="285750" cy="285750"/>
            </a:xfrm>
            <a:prstGeom prst="ellipse">
              <a:avLst/>
            </a:prstGeom>
            <a:solidFill>
              <a:schemeClr val="accent1"/>
            </a:solidFill>
            <a:ln>
              <a:noFill/>
            </a:ln>
          </p:spPr>
        </p:sp>
        <p:sp>
          <p:nvSpPr>
            <p:cNvPr id="31" name="TextBox 31"/>
            <p:cNvSpPr txBox="1"/>
            <p:nvPr/>
          </p:nvSpPr>
          <p:spPr>
            <a:xfrm>
              <a:off x="7729183" y="52616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32" name="TextBox 32"/>
            <p:cNvSpPr txBox="1"/>
            <p:nvPr/>
          </p:nvSpPr>
          <p:spPr>
            <a:xfrm>
              <a:off x="8050911" y="5256371"/>
              <a:ext cx="1495971"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［次へ］を押します。</a:t>
              </a:r>
            </a:p>
          </p:txBody>
        </p:sp>
      </p:grpSp>
      <p:grpSp>
        <p:nvGrpSpPr>
          <p:cNvPr id="35" name="Group 35"/>
          <p:cNvGrpSpPr/>
          <p:nvPr/>
        </p:nvGrpSpPr>
        <p:grpSpPr>
          <a:xfrm>
            <a:off x="450723" y="5958364"/>
            <a:ext cx="8151358" cy="249364"/>
            <a:chOff x="450723" y="5958364"/>
            <a:chExt cx="8151358" cy="249364"/>
          </a:xfrm>
        </p:grpSpPr>
        <p:sp>
          <p:nvSpPr>
            <p:cNvPr id="34" name="TextBox 34"/>
            <p:cNvSpPr txBox="1"/>
            <p:nvPr/>
          </p:nvSpPr>
          <p:spPr>
            <a:xfrm>
              <a:off x="450723" y="5958364"/>
              <a:ext cx="8151358"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ひな形に質問が定義されている場合は、先に質問画面が表示されます（相談での例: P20）。回答は依頼文に挿入されます。</a:t>
              </a:r>
            </a:p>
          </p:txBody>
        </p:sp>
      </p:grpSp>
      <p:grpSp>
        <p:nvGrpSpPr>
          <p:cNvPr id="38" name="Group 38"/>
          <p:cNvGrpSpPr/>
          <p:nvPr/>
        </p:nvGrpSpPr>
        <p:grpSpPr>
          <a:xfrm>
            <a:off x="451866" y="6477952"/>
            <a:ext cx="11288268" cy="205359"/>
            <a:chOff x="451866" y="6477952"/>
            <a:chExt cx="11288268" cy="205359"/>
          </a:xfrm>
        </p:grpSpPr>
        <p:sp>
          <p:nvSpPr>
            <p:cNvPr id="36" name="TextBox 36"/>
            <p:cNvSpPr txBox="1"/>
            <p:nvPr/>
          </p:nvSpPr>
          <p:spPr>
            <a:xfrm>
              <a:off x="451866" y="6477952"/>
              <a:ext cx="2252718"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MacroStudio 操作マニュアル（ベータ版）</a:t>
              </a:r>
            </a:p>
          </p:txBody>
        </p:sp>
        <p:sp>
          <p:nvSpPr>
            <p:cNvPr id="37" name="TextBox 37"/>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65397" y="486728"/>
              <a:ext cx="30750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操作</a:t>
              </a:r>
            </a:p>
          </p:txBody>
        </p:sp>
        <p:sp>
          <p:nvSpPr>
            <p:cNvPr id="4" name="Rectangle 4"/>
            <p:cNvSpPr/>
            <p:nvPr/>
          </p:nvSpPr>
          <p:spPr>
            <a:xfrm>
              <a:off x="1257300" y="419100"/>
              <a:ext cx="876300" cy="266700"/>
            </a:xfrm>
            <a:prstGeom prst="roundRect">
              <a:avLst>
                <a:gd name="adj" fmla="val 50000"/>
              </a:avLst>
            </a:prstGeom>
            <a:solidFill>
              <a:schemeClr val="lt1"/>
            </a:solidFill>
            <a:ln w="14288">
              <a:solidFill>
                <a:schemeClr val="accent1"/>
              </a:solidFill>
            </a:ln>
          </p:spPr>
        </p:sp>
        <p:sp>
          <p:nvSpPr>
            <p:cNvPr id="5" name="TextBox 5"/>
            <p:cNvSpPr txBox="1"/>
            <p:nvPr/>
          </p:nvSpPr>
          <p:spPr>
            <a:xfrm>
              <a:off x="1478620" y="486728"/>
              <a:ext cx="433661" cy="205359"/>
            </a:xfrm>
            <a:prstGeom prst="rect">
              <a:avLst/>
            </a:prstGeom>
            <a:noFill/>
            <a:ln>
              <a:noFill/>
            </a:ln>
          </p:spPr>
          <p:txBody>
            <a:bodyPr wrap="none" lIns="0" tIns="0" rIns="0" bIns="0" anchor="t" anchorCtr="0">
              <a:spAutoFit/>
            </a:bodyPr>
            <a:lstStyle/>
            <a:p>
              <a:pPr algn="ctr"/>
              <a:r>
                <a:rPr lang="zh-CN" sz="1050" b="1" dirty="0">
                  <a:solidFill>
                    <a:schemeClr val="accent1"/>
                  </a:solidFill>
                  <a:latin typeface="+mn-lt"/>
                  <a:ea typeface="+mn-ea"/>
                  <a:cs typeface="+mn-cs"/>
                </a:rPr>
                <a:t>手順 2</a:t>
              </a:r>
            </a:p>
          </p:txBody>
        </p:sp>
        <p:sp>
          <p:nvSpPr>
            <p:cNvPr id="6" name="TextBox 6"/>
            <p:cNvSpPr txBox="1"/>
            <p:nvPr/>
          </p:nvSpPr>
          <p:spPr>
            <a:xfrm>
              <a:off x="441960" y="685800"/>
              <a:ext cx="4578248"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AIへ送る依頼文を用意します</a:t>
              </a:r>
            </a:p>
          </p:txBody>
        </p:sp>
        <p:sp>
          <p:nvSpPr>
            <p:cNvPr id="7" name="Line 7"/>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3" name="Group 13"/>
          <p:cNvGrpSpPr/>
          <p:nvPr/>
        </p:nvGrpSpPr>
        <p:grpSpPr>
          <a:xfrm>
            <a:off x="457200" y="1428750"/>
            <a:ext cx="5486400" cy="3505581"/>
            <a:chOff x="457200" y="1428750"/>
            <a:chExt cx="5486400" cy="3505581"/>
          </a:xfrm>
        </p:grpSpPr>
        <p:sp>
          <p:nvSpPr>
            <p:cNvPr id="9" name="Rectangle 9"/>
            <p:cNvSpPr/>
            <p:nvPr/>
          </p:nvSpPr>
          <p:spPr>
            <a:xfrm>
              <a:off x="457200" y="1428750"/>
              <a:ext cx="5486400" cy="3152775"/>
            </a:xfrm>
            <a:prstGeom prst="roundRect">
              <a:avLst>
                <a:gd name="adj" fmla="val 4230"/>
              </a:avLst>
            </a:prstGeom>
            <a:solidFill>
              <a:schemeClr val="lt2"/>
            </a:solidFill>
            <a:ln>
              <a:noFill/>
            </a:ln>
          </p:spPr>
        </p:sp>
        <p:pic>
          <p:nvPicPr>
            <p:cNvPr id="10" name="Image 10"/>
            <p:cNvPicPr>
              <a:picLocks noChangeAspect="1"/>
            </p:cNvPicPr>
            <p:nvPr/>
          </p:nvPicPr>
          <p:blipFill>
            <a:blip r:embed="rId2"/>
            <a:stretch>
              <a:fillRect/>
            </a:stretch>
          </p:blipFill>
          <p:spPr>
            <a:xfrm>
              <a:off x="533400" y="1504950"/>
              <a:ext cx="5334000" cy="3000375"/>
            </a:xfrm>
            <a:prstGeom prst="roundRect">
              <a:avLst>
                <a:gd name="adj" fmla="val 3174"/>
              </a:avLst>
            </a:prstGeom>
          </p:spPr>
        </p:pic>
        <p:sp>
          <p:nvSpPr>
            <p:cNvPr id="11" name="Rectangle 11"/>
            <p:cNvSpPr/>
            <p:nvPr/>
          </p:nvSpPr>
          <p:spPr>
            <a:xfrm>
              <a:off x="533400" y="1504950"/>
              <a:ext cx="5334000" cy="3000375"/>
            </a:xfrm>
            <a:prstGeom prst="roundRect">
              <a:avLst>
                <a:gd name="adj" fmla="val 3175"/>
              </a:avLst>
            </a:prstGeom>
            <a:noFill/>
            <a:ln w="14288">
              <a:solidFill>
                <a:schemeClr val="accent6"/>
              </a:solidFill>
            </a:ln>
          </p:spPr>
        </p:sp>
        <p:sp>
          <p:nvSpPr>
            <p:cNvPr id="12" name="TextBox 12"/>
            <p:cNvSpPr txBox="1"/>
            <p:nvPr/>
          </p:nvSpPr>
          <p:spPr>
            <a:xfrm>
              <a:off x="527304" y="4699635"/>
              <a:ext cx="5020056"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依頼文は選択した目的から自動生成されます。この画面の既定状態のまま進められます。</a:t>
              </a:r>
            </a:p>
          </p:txBody>
        </p:sp>
      </p:grpSp>
      <p:grpSp>
        <p:nvGrpSpPr>
          <p:cNvPr id="18" name="Group 18"/>
          <p:cNvGrpSpPr/>
          <p:nvPr/>
        </p:nvGrpSpPr>
        <p:grpSpPr>
          <a:xfrm>
            <a:off x="6248400" y="1428750"/>
            <a:ext cx="5486400" cy="3505581"/>
            <a:chOff x="6248400" y="1428750"/>
            <a:chExt cx="5486400" cy="3505581"/>
          </a:xfrm>
        </p:grpSpPr>
        <p:sp>
          <p:nvSpPr>
            <p:cNvPr id="14" name="Rectangle 14"/>
            <p:cNvSpPr/>
            <p:nvPr/>
          </p:nvSpPr>
          <p:spPr>
            <a:xfrm>
              <a:off x="6248400" y="1428750"/>
              <a:ext cx="5486400" cy="3152775"/>
            </a:xfrm>
            <a:prstGeom prst="roundRect">
              <a:avLst>
                <a:gd name="adj" fmla="val 4230"/>
              </a:avLst>
            </a:prstGeom>
            <a:solidFill>
              <a:schemeClr val="lt2"/>
            </a:solidFill>
            <a:ln>
              <a:noFill/>
            </a:ln>
          </p:spPr>
        </p:sp>
        <p:pic>
          <p:nvPicPr>
            <p:cNvPr id="15" name="Image 15"/>
            <p:cNvPicPr>
              <a:picLocks noChangeAspect="1"/>
            </p:cNvPicPr>
            <p:nvPr/>
          </p:nvPicPr>
          <p:blipFill>
            <a:blip r:embed="rId3"/>
            <a:stretch>
              <a:fillRect/>
            </a:stretch>
          </p:blipFill>
          <p:spPr>
            <a:xfrm>
              <a:off x="6324600" y="1504950"/>
              <a:ext cx="5334000" cy="3000375"/>
            </a:xfrm>
            <a:prstGeom prst="roundRect">
              <a:avLst>
                <a:gd name="adj" fmla="val 3174"/>
              </a:avLst>
            </a:prstGeom>
          </p:spPr>
        </p:pic>
        <p:sp>
          <p:nvSpPr>
            <p:cNvPr id="16" name="Rectangle 16"/>
            <p:cNvSpPr/>
            <p:nvPr/>
          </p:nvSpPr>
          <p:spPr>
            <a:xfrm>
              <a:off x="6324600" y="1504950"/>
              <a:ext cx="5334000" cy="3000375"/>
            </a:xfrm>
            <a:prstGeom prst="roundRect">
              <a:avLst>
                <a:gd name="adj" fmla="val 3175"/>
              </a:avLst>
            </a:prstGeom>
            <a:noFill/>
            <a:ln w="14288">
              <a:solidFill>
                <a:schemeClr val="accent6"/>
              </a:solidFill>
            </a:ln>
          </p:spPr>
        </p:sp>
        <p:sp>
          <p:nvSpPr>
            <p:cNvPr id="17" name="TextBox 17"/>
            <p:cNvSpPr txBox="1"/>
            <p:nvPr/>
          </p:nvSpPr>
          <p:spPr>
            <a:xfrm>
              <a:off x="6318504" y="4699635"/>
              <a:ext cx="4486961"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「依頼文を確認・編集」を開いた状態。全文の確認と書き足しができます。</a:t>
              </a:r>
            </a:p>
          </p:txBody>
        </p:sp>
      </p:grpSp>
      <p:grpSp>
        <p:nvGrpSpPr>
          <p:cNvPr id="25" name="Group 25"/>
          <p:cNvGrpSpPr/>
          <p:nvPr/>
        </p:nvGrpSpPr>
        <p:grpSpPr>
          <a:xfrm>
            <a:off x="476250" y="5114925"/>
            <a:ext cx="10732008" cy="731520"/>
            <a:chOff x="476250" y="5114925"/>
            <a:chExt cx="10732008" cy="731520"/>
          </a:xfrm>
        </p:grpSpPr>
        <p:sp>
          <p:nvSpPr>
            <p:cNvPr id="19" name="Ellipse 19"/>
            <p:cNvSpPr/>
            <p:nvPr/>
          </p:nvSpPr>
          <p:spPr>
            <a:xfrm>
              <a:off x="476250" y="5114925"/>
              <a:ext cx="285750" cy="285750"/>
            </a:xfrm>
            <a:prstGeom prst="ellipse">
              <a:avLst/>
            </a:prstGeom>
            <a:solidFill>
              <a:schemeClr val="accent1"/>
            </a:solidFill>
            <a:ln>
              <a:noFill/>
            </a:ln>
          </p:spPr>
        </p:sp>
        <p:sp>
          <p:nvSpPr>
            <p:cNvPr id="20" name="TextBox 20"/>
            <p:cNvSpPr txBox="1"/>
            <p:nvPr/>
          </p:nvSpPr>
          <p:spPr>
            <a:xfrm>
              <a:off x="566383" y="51854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21" name="TextBox 21"/>
            <p:cNvSpPr txBox="1"/>
            <p:nvPr/>
          </p:nvSpPr>
          <p:spPr>
            <a:xfrm>
              <a:off x="887730" y="5172075"/>
              <a:ext cx="3993261"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内容を変更しない場合は、そのまま［次へ］を押します。</a:t>
              </a:r>
            </a:p>
          </p:txBody>
        </p:sp>
        <p:sp>
          <p:nvSpPr>
            <p:cNvPr id="22" name="Ellipse 22"/>
            <p:cNvSpPr/>
            <p:nvPr/>
          </p:nvSpPr>
          <p:spPr>
            <a:xfrm>
              <a:off x="476250" y="5495925"/>
              <a:ext cx="285750" cy="285750"/>
            </a:xfrm>
            <a:prstGeom prst="ellipse">
              <a:avLst/>
            </a:prstGeom>
            <a:solidFill>
              <a:schemeClr val="accent1"/>
            </a:solidFill>
            <a:ln>
              <a:noFill/>
            </a:ln>
          </p:spPr>
        </p:sp>
        <p:sp>
          <p:nvSpPr>
            <p:cNvPr id="23" name="TextBox 23"/>
            <p:cNvSpPr txBox="1"/>
            <p:nvPr/>
          </p:nvSpPr>
          <p:spPr>
            <a:xfrm>
              <a:off x="566383" y="55664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24" name="TextBox 24"/>
            <p:cNvSpPr txBox="1"/>
            <p:nvPr/>
          </p:nvSpPr>
          <p:spPr>
            <a:xfrm>
              <a:off x="887730" y="5553075"/>
              <a:ext cx="10320528"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書き足す場合は「依頼文を確認・編集」を開いて編集します。この依頼文と、返答形式の指示、コード全文ファイルが AI へ渡ります。</a:t>
              </a:r>
            </a:p>
          </p:txBody>
        </p:sp>
      </p:grpSp>
      <p:grpSp>
        <p:nvGrpSpPr>
          <p:cNvPr id="30" name="Group 30"/>
          <p:cNvGrpSpPr/>
          <p:nvPr/>
        </p:nvGrpSpPr>
        <p:grpSpPr>
          <a:xfrm>
            <a:off x="492124" y="5980113"/>
            <a:ext cx="10211995" cy="259143"/>
            <a:chOff x="492124" y="5980113"/>
            <a:chExt cx="10211995" cy="259143"/>
          </a:xfrm>
        </p:grpSpPr>
        <p:grpSp>
          <p:nvGrpSpPr>
            <p:cNvPr id="28" name="Group 28"/>
            <p:cNvGrpSpPr/>
            <p:nvPr/>
          </p:nvGrpSpPr>
          <p:grpSpPr>
            <a:xfrm>
              <a:off x="492124" y="5980113"/>
              <a:ext cx="139702" cy="174626"/>
              <a:chOff x="492124" y="5980113"/>
              <a:chExt cx="139702" cy="174626"/>
            </a:xfrm>
          </p:grpSpPr>
          <p:sp>
            <p:nvSpPr>
              <p:cNvPr id="26" name="Freeform 26"/>
              <p:cNvSpPr/>
              <p:nvPr/>
            </p:nvSpPr>
            <p:spPr>
              <a:xfrm>
                <a:off x="492124" y="5980113"/>
                <a:ext cx="139702" cy="174626"/>
              </a:xfrm>
              <a:custGeom>
                <a:avLst/>
                <a:gdLst/>
                <a:ahLst/>
                <a:cxnLst/>
                <a:rect l="l" t="t" r="r" b="b"/>
                <a:pathLst>
                  <a:path w="139702" h="174626">
                    <a:moveTo>
                      <a:pt x="69851" y="0"/>
                    </a:moveTo>
                    <a:lnTo>
                      <a:pt x="70872" y="61"/>
                    </a:lnTo>
                    <a:cubicBezTo>
                      <a:pt x="74884" y="534"/>
                      <a:pt x="78048" y="3698"/>
                      <a:pt x="78521" y="7710"/>
                    </a:cubicBezTo>
                    <a:lnTo>
                      <a:pt x="78582" y="8731"/>
                    </a:lnTo>
                    <a:lnTo>
                      <a:pt x="78582" y="43656"/>
                    </a:lnTo>
                    <a:lnTo>
                      <a:pt x="78626" y="44966"/>
                    </a:lnTo>
                    <a:cubicBezTo>
                      <a:pt x="79271" y="53557"/>
                      <a:pt x="86085" y="60393"/>
                      <a:pt x="94674" y="61066"/>
                    </a:cubicBezTo>
                    <a:lnTo>
                      <a:pt x="96045" y="61119"/>
                    </a:lnTo>
                    <a:lnTo>
                      <a:pt x="130970" y="61119"/>
                    </a:lnTo>
                    <a:lnTo>
                      <a:pt x="131991" y="61180"/>
                    </a:lnTo>
                    <a:cubicBezTo>
                      <a:pt x="136003" y="61653"/>
                      <a:pt x="139167" y="64817"/>
                      <a:pt x="139640" y="68828"/>
                    </a:cubicBezTo>
                    <a:lnTo>
                      <a:pt x="139701" y="69850"/>
                    </a:lnTo>
                    <a:lnTo>
                      <a:pt x="139701" y="148431"/>
                    </a:lnTo>
                    <a:cubicBezTo>
                      <a:pt x="139702" y="162301"/>
                      <a:pt x="128890" y="173768"/>
                      <a:pt x="115044" y="174581"/>
                    </a:cubicBezTo>
                    <a:lnTo>
                      <a:pt x="113507" y="174625"/>
                    </a:lnTo>
                    <a:lnTo>
                      <a:pt x="26195" y="174625"/>
                    </a:lnTo>
                    <a:cubicBezTo>
                      <a:pt x="12324" y="174626"/>
                      <a:pt x="858" y="163814"/>
                      <a:pt x="44" y="149968"/>
                    </a:cubicBezTo>
                    <a:lnTo>
                      <a:pt x="1" y="148431"/>
                    </a:lnTo>
                    <a:lnTo>
                      <a:pt x="1" y="26194"/>
                    </a:lnTo>
                    <a:cubicBezTo>
                      <a:pt x="0" y="12324"/>
                      <a:pt x="10812" y="857"/>
                      <a:pt x="24658" y="44"/>
                    </a:cubicBezTo>
                    <a:lnTo>
                      <a:pt x="26195" y="0"/>
                    </a:lnTo>
                    <a:close/>
                    <a:moveTo>
                      <a:pt x="96045" y="122238"/>
                    </a:moveTo>
                    <a:lnTo>
                      <a:pt x="43657" y="122238"/>
                    </a:lnTo>
                    <a:cubicBezTo>
                      <a:pt x="38835" y="122238"/>
                      <a:pt x="34926" y="126147"/>
                      <a:pt x="34926" y="130969"/>
                    </a:cubicBezTo>
                    <a:cubicBezTo>
                      <a:pt x="34926" y="135791"/>
                      <a:pt x="38835" y="139700"/>
                      <a:pt x="43657" y="139700"/>
                    </a:cubicBezTo>
                    <a:lnTo>
                      <a:pt x="96045" y="139700"/>
                    </a:lnTo>
                    <a:cubicBezTo>
                      <a:pt x="100867" y="139700"/>
                      <a:pt x="104776" y="135791"/>
                      <a:pt x="104776" y="130969"/>
                    </a:cubicBezTo>
                    <a:cubicBezTo>
                      <a:pt x="104776" y="126147"/>
                      <a:pt x="100867" y="122238"/>
                      <a:pt x="96045" y="122238"/>
                    </a:cubicBezTo>
                    <a:moveTo>
                      <a:pt x="96045" y="87313"/>
                    </a:moveTo>
                    <a:lnTo>
                      <a:pt x="43657" y="87313"/>
                    </a:lnTo>
                    <a:cubicBezTo>
                      <a:pt x="38835" y="87313"/>
                      <a:pt x="34926" y="91222"/>
                      <a:pt x="34926" y="96044"/>
                    </a:cubicBezTo>
                    <a:cubicBezTo>
                      <a:pt x="34926" y="100866"/>
                      <a:pt x="38835" y="104775"/>
                      <a:pt x="43657" y="104775"/>
                    </a:cubicBezTo>
                    <a:lnTo>
                      <a:pt x="96045" y="104775"/>
                    </a:lnTo>
                    <a:cubicBezTo>
                      <a:pt x="100867" y="104775"/>
                      <a:pt x="104776" y="100866"/>
                      <a:pt x="104776" y="96044"/>
                    </a:cubicBezTo>
                    <a:cubicBezTo>
                      <a:pt x="104776" y="91222"/>
                      <a:pt x="100867" y="87313"/>
                      <a:pt x="96045" y="87313"/>
                    </a:cubicBezTo>
                    <a:moveTo>
                      <a:pt x="52388" y="52388"/>
                    </a:moveTo>
                    <a:lnTo>
                      <a:pt x="43657" y="52388"/>
                    </a:lnTo>
                    <a:cubicBezTo>
                      <a:pt x="38835" y="52388"/>
                      <a:pt x="34926" y="56297"/>
                      <a:pt x="34926" y="61119"/>
                    </a:cubicBezTo>
                    <a:cubicBezTo>
                      <a:pt x="34926" y="65941"/>
                      <a:pt x="38835" y="69850"/>
                      <a:pt x="43657" y="69850"/>
                    </a:cubicBezTo>
                    <a:lnTo>
                      <a:pt x="52388" y="69850"/>
                    </a:lnTo>
                    <a:cubicBezTo>
                      <a:pt x="57210" y="69850"/>
                      <a:pt x="61120" y="65941"/>
                      <a:pt x="61120" y="61119"/>
                    </a:cubicBezTo>
                    <a:cubicBezTo>
                      <a:pt x="61120" y="56297"/>
                      <a:pt x="57210" y="52388"/>
                      <a:pt x="52388" y="52388"/>
                    </a:cubicBezTo>
                  </a:path>
                </a:pathLst>
              </a:custGeom>
              <a:solidFill>
                <a:srgbClr val="5D6B7A"/>
              </a:solidFill>
              <a:ln>
                <a:noFill/>
              </a:ln>
            </p:spPr>
          </p:sp>
          <p:sp>
            <p:nvSpPr>
              <p:cNvPr id="27" name="Freeform 27"/>
              <p:cNvSpPr/>
              <p:nvPr/>
            </p:nvSpPr>
            <p:spPr>
              <a:xfrm>
                <a:off x="588160" y="5988835"/>
                <a:ext cx="34934" cy="34934"/>
              </a:xfrm>
              <a:custGeom>
                <a:avLst/>
                <a:gdLst/>
                <a:ahLst/>
                <a:cxnLst/>
                <a:rect l="l" t="t" r="r" b="b"/>
                <a:pathLst>
                  <a:path w="34934" h="34934">
                    <a:moveTo>
                      <a:pt x="34934" y="34934"/>
                    </a:moveTo>
                    <a:lnTo>
                      <a:pt x="9" y="34934"/>
                    </a:lnTo>
                    <a:lnTo>
                      <a:pt x="0" y="0"/>
                    </a:lnTo>
                    <a:close/>
                  </a:path>
                </a:pathLst>
              </a:custGeom>
              <a:solidFill>
                <a:srgbClr val="5D6B7A"/>
              </a:solidFill>
              <a:ln>
                <a:noFill/>
              </a:ln>
            </p:spPr>
          </p:sp>
        </p:grpSp>
        <p:sp>
          <p:nvSpPr>
            <p:cNvPr id="29" name="TextBox 29"/>
            <p:cNvSpPr txBox="1"/>
            <p:nvPr/>
          </p:nvSpPr>
          <p:spPr>
            <a:xfrm>
              <a:off x="774954" y="6004560"/>
              <a:ext cx="9929165"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返答が途中で切れる場合のみ、［モジュール単位出力（コードが長い時用）］にチェックを付けます。AI は 1 回の返答に 1 モジュールずつ返し、届いた順に取り込みます。</a:t>
              </a:r>
            </a:p>
          </p:txBody>
        </p:sp>
      </p:grpSp>
      <p:grpSp>
        <p:nvGrpSpPr>
          <p:cNvPr id="33" name="Group 33"/>
          <p:cNvGrpSpPr/>
          <p:nvPr/>
        </p:nvGrpSpPr>
        <p:grpSpPr>
          <a:xfrm>
            <a:off x="451866" y="6477952"/>
            <a:ext cx="11288268" cy="205359"/>
            <a:chOff x="451866" y="6477952"/>
            <a:chExt cx="11288268" cy="205359"/>
          </a:xfrm>
        </p:grpSpPr>
        <p:sp>
          <p:nvSpPr>
            <p:cNvPr id="31" name="TextBox 31"/>
            <p:cNvSpPr txBox="1"/>
            <p:nvPr/>
          </p:nvSpPr>
          <p:spPr>
            <a:xfrm>
              <a:off x="451866" y="6477952"/>
              <a:ext cx="2252718"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MacroStudio 操作マニュアル（ベータ版）</a:t>
              </a:r>
            </a:p>
          </p:txBody>
        </p:sp>
        <p:sp>
          <p:nvSpPr>
            <p:cNvPr id="32" name="TextBox 32"/>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65397" y="486728"/>
              <a:ext cx="30750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操作</a:t>
              </a:r>
            </a:p>
          </p:txBody>
        </p:sp>
        <p:sp>
          <p:nvSpPr>
            <p:cNvPr id="4" name="Rectangle 4"/>
            <p:cNvSpPr/>
            <p:nvPr/>
          </p:nvSpPr>
          <p:spPr>
            <a:xfrm>
              <a:off x="1257300" y="419100"/>
              <a:ext cx="876300" cy="266700"/>
            </a:xfrm>
            <a:prstGeom prst="roundRect">
              <a:avLst>
                <a:gd name="adj" fmla="val 50000"/>
              </a:avLst>
            </a:prstGeom>
            <a:solidFill>
              <a:schemeClr val="lt1"/>
            </a:solidFill>
            <a:ln w="14288">
              <a:solidFill>
                <a:schemeClr val="accent1"/>
              </a:solidFill>
            </a:ln>
          </p:spPr>
        </p:sp>
        <p:sp>
          <p:nvSpPr>
            <p:cNvPr id="5" name="TextBox 5"/>
            <p:cNvSpPr txBox="1"/>
            <p:nvPr/>
          </p:nvSpPr>
          <p:spPr>
            <a:xfrm>
              <a:off x="1478620" y="486728"/>
              <a:ext cx="433661" cy="205359"/>
            </a:xfrm>
            <a:prstGeom prst="rect">
              <a:avLst/>
            </a:prstGeom>
            <a:noFill/>
            <a:ln>
              <a:noFill/>
            </a:ln>
          </p:spPr>
          <p:txBody>
            <a:bodyPr wrap="none" lIns="0" tIns="0" rIns="0" bIns="0" anchor="t" anchorCtr="0">
              <a:spAutoFit/>
            </a:bodyPr>
            <a:lstStyle/>
            <a:p>
              <a:pPr algn="ctr"/>
              <a:r>
                <a:rPr lang="zh-CN" sz="1050" b="1" dirty="0">
                  <a:solidFill>
                    <a:schemeClr val="accent1"/>
                  </a:solidFill>
                  <a:latin typeface="+mn-lt"/>
                  <a:ea typeface="+mn-ea"/>
                  <a:cs typeface="+mn-cs"/>
                </a:rPr>
                <a:t>手順 2</a:t>
              </a:r>
            </a:p>
          </p:txBody>
        </p:sp>
        <p:sp>
          <p:nvSpPr>
            <p:cNvPr id="6" name="TextBox 6"/>
            <p:cNvSpPr txBox="1"/>
            <p:nvPr/>
          </p:nvSpPr>
          <p:spPr>
            <a:xfrm>
              <a:off x="441960" y="685800"/>
              <a:ext cx="4421429"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AIチャットへ改修を依頼します</a:t>
              </a:r>
            </a:p>
          </p:txBody>
        </p:sp>
        <p:sp>
          <p:nvSpPr>
            <p:cNvPr id="7" name="Line 7"/>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3" name="Group 13"/>
          <p:cNvGrpSpPr/>
          <p:nvPr/>
        </p:nvGrpSpPr>
        <p:grpSpPr>
          <a:xfrm>
            <a:off x="457200" y="1428750"/>
            <a:ext cx="5486400" cy="3505581"/>
            <a:chOff x="457200" y="1428750"/>
            <a:chExt cx="5486400" cy="3505581"/>
          </a:xfrm>
        </p:grpSpPr>
        <p:sp>
          <p:nvSpPr>
            <p:cNvPr id="9" name="Rectangle 9"/>
            <p:cNvSpPr/>
            <p:nvPr/>
          </p:nvSpPr>
          <p:spPr>
            <a:xfrm>
              <a:off x="457200" y="1428750"/>
              <a:ext cx="5486400" cy="3152775"/>
            </a:xfrm>
            <a:prstGeom prst="roundRect">
              <a:avLst>
                <a:gd name="adj" fmla="val 4230"/>
              </a:avLst>
            </a:prstGeom>
            <a:solidFill>
              <a:schemeClr val="lt2"/>
            </a:solidFill>
            <a:ln>
              <a:noFill/>
            </a:ln>
          </p:spPr>
        </p:sp>
        <p:pic>
          <p:nvPicPr>
            <p:cNvPr id="10" name="Image 10"/>
            <p:cNvPicPr>
              <a:picLocks noChangeAspect="1"/>
            </p:cNvPicPr>
            <p:nvPr/>
          </p:nvPicPr>
          <p:blipFill>
            <a:blip r:embed="rId2"/>
            <a:stretch>
              <a:fillRect/>
            </a:stretch>
          </p:blipFill>
          <p:spPr>
            <a:xfrm>
              <a:off x="533400" y="1504950"/>
              <a:ext cx="5334000" cy="3000375"/>
            </a:xfrm>
            <a:prstGeom prst="roundRect">
              <a:avLst>
                <a:gd name="adj" fmla="val 3174"/>
              </a:avLst>
            </a:prstGeom>
          </p:spPr>
        </p:pic>
        <p:sp>
          <p:nvSpPr>
            <p:cNvPr id="11" name="Rectangle 11"/>
            <p:cNvSpPr/>
            <p:nvPr/>
          </p:nvSpPr>
          <p:spPr>
            <a:xfrm>
              <a:off x="533400" y="1504950"/>
              <a:ext cx="5334000" cy="3000375"/>
            </a:xfrm>
            <a:prstGeom prst="roundRect">
              <a:avLst>
                <a:gd name="adj" fmla="val 3175"/>
              </a:avLst>
            </a:prstGeom>
            <a:noFill/>
            <a:ln w="14288">
              <a:solidFill>
                <a:schemeClr val="accent6"/>
              </a:solidFill>
            </a:ln>
          </p:spPr>
        </p:sp>
        <p:sp>
          <p:nvSpPr>
            <p:cNvPr id="12" name="TextBox 12"/>
            <p:cNvSpPr txBox="1"/>
            <p:nvPr/>
          </p:nvSpPr>
          <p:spPr>
            <a:xfrm>
              <a:off x="527304" y="4699635"/>
              <a:ext cx="4325417"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受け渡し前。依頼文のコピーと、コード全文ファイルの添付の 2 つを行います。</a:t>
              </a:r>
            </a:p>
          </p:txBody>
        </p:sp>
      </p:grpSp>
      <p:grpSp>
        <p:nvGrpSpPr>
          <p:cNvPr id="18" name="Group 18"/>
          <p:cNvGrpSpPr/>
          <p:nvPr/>
        </p:nvGrpSpPr>
        <p:grpSpPr>
          <a:xfrm>
            <a:off x="6248400" y="1428750"/>
            <a:ext cx="5486400" cy="3505581"/>
            <a:chOff x="6248400" y="1428750"/>
            <a:chExt cx="5486400" cy="3505581"/>
          </a:xfrm>
        </p:grpSpPr>
        <p:sp>
          <p:nvSpPr>
            <p:cNvPr id="14" name="Rectangle 14"/>
            <p:cNvSpPr/>
            <p:nvPr/>
          </p:nvSpPr>
          <p:spPr>
            <a:xfrm>
              <a:off x="6248400" y="1428750"/>
              <a:ext cx="5486400" cy="3152775"/>
            </a:xfrm>
            <a:prstGeom prst="roundRect">
              <a:avLst>
                <a:gd name="adj" fmla="val 4230"/>
              </a:avLst>
            </a:prstGeom>
            <a:solidFill>
              <a:schemeClr val="lt2"/>
            </a:solidFill>
            <a:ln>
              <a:noFill/>
            </a:ln>
          </p:spPr>
        </p:sp>
        <p:pic>
          <p:nvPicPr>
            <p:cNvPr id="15" name="Image 15"/>
            <p:cNvPicPr>
              <a:picLocks noChangeAspect="1"/>
            </p:cNvPicPr>
            <p:nvPr/>
          </p:nvPicPr>
          <p:blipFill>
            <a:blip r:embed="rId3"/>
            <a:stretch>
              <a:fillRect/>
            </a:stretch>
          </p:blipFill>
          <p:spPr>
            <a:xfrm>
              <a:off x="6324600" y="1504950"/>
              <a:ext cx="5334000" cy="3000375"/>
            </a:xfrm>
            <a:prstGeom prst="roundRect">
              <a:avLst>
                <a:gd name="adj" fmla="val 3174"/>
              </a:avLst>
            </a:prstGeom>
          </p:spPr>
        </p:pic>
        <p:sp>
          <p:nvSpPr>
            <p:cNvPr id="16" name="Rectangle 16"/>
            <p:cNvSpPr/>
            <p:nvPr/>
          </p:nvSpPr>
          <p:spPr>
            <a:xfrm>
              <a:off x="6324600" y="1504950"/>
              <a:ext cx="5334000" cy="3000375"/>
            </a:xfrm>
            <a:prstGeom prst="roundRect">
              <a:avLst>
                <a:gd name="adj" fmla="val 3175"/>
              </a:avLst>
            </a:prstGeom>
            <a:noFill/>
            <a:ln w="14288">
              <a:solidFill>
                <a:schemeClr val="accent6"/>
              </a:solidFill>
            </a:ln>
          </p:spPr>
        </p:sp>
        <p:sp>
          <p:nvSpPr>
            <p:cNvPr id="17" name="TextBox 17"/>
            <p:cNvSpPr txBox="1"/>
            <p:nvPr/>
          </p:nvSpPr>
          <p:spPr>
            <a:xfrm>
              <a:off x="6318504" y="4699635"/>
              <a:ext cx="3436925"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完了すると「コピーしました」「フォルダを開きました」になります。</a:t>
              </a:r>
            </a:p>
          </p:txBody>
        </p:sp>
      </p:grpSp>
      <p:grpSp>
        <p:nvGrpSpPr>
          <p:cNvPr id="28" name="Group 28"/>
          <p:cNvGrpSpPr/>
          <p:nvPr/>
        </p:nvGrpSpPr>
        <p:grpSpPr>
          <a:xfrm>
            <a:off x="476250" y="5076825"/>
            <a:ext cx="8125663" cy="1112520"/>
            <a:chOff x="476250" y="5076825"/>
            <a:chExt cx="8125663" cy="1112520"/>
          </a:xfrm>
        </p:grpSpPr>
        <p:sp>
          <p:nvSpPr>
            <p:cNvPr id="19" name="Ellipse 19"/>
            <p:cNvSpPr/>
            <p:nvPr/>
          </p:nvSpPr>
          <p:spPr>
            <a:xfrm>
              <a:off x="476250" y="5076825"/>
              <a:ext cx="285750" cy="285750"/>
            </a:xfrm>
            <a:prstGeom prst="ellipse">
              <a:avLst/>
            </a:prstGeom>
            <a:solidFill>
              <a:schemeClr val="accent1"/>
            </a:solidFill>
            <a:ln>
              <a:noFill/>
            </a:ln>
          </p:spPr>
        </p:sp>
        <p:sp>
          <p:nvSpPr>
            <p:cNvPr id="20" name="TextBox 20"/>
            <p:cNvSpPr txBox="1"/>
            <p:nvPr/>
          </p:nvSpPr>
          <p:spPr>
            <a:xfrm>
              <a:off x="566383" y="51473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21" name="TextBox 21"/>
            <p:cNvSpPr txBox="1"/>
            <p:nvPr/>
          </p:nvSpPr>
          <p:spPr>
            <a:xfrm>
              <a:off x="887730" y="5133975"/>
              <a:ext cx="5914698"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［依頼文をコピー］を押し、チャット AI の入力欄に貼り付けます（Ctrl+V）。</a:t>
              </a:r>
            </a:p>
          </p:txBody>
        </p:sp>
        <p:sp>
          <p:nvSpPr>
            <p:cNvPr id="22" name="Ellipse 22"/>
            <p:cNvSpPr/>
            <p:nvPr/>
          </p:nvSpPr>
          <p:spPr>
            <a:xfrm>
              <a:off x="476250" y="5457825"/>
              <a:ext cx="285750" cy="285750"/>
            </a:xfrm>
            <a:prstGeom prst="ellipse">
              <a:avLst/>
            </a:prstGeom>
            <a:solidFill>
              <a:schemeClr val="accent1"/>
            </a:solidFill>
            <a:ln>
              <a:noFill/>
            </a:ln>
          </p:spPr>
        </p:sp>
        <p:sp>
          <p:nvSpPr>
            <p:cNvPr id="23" name="TextBox 23"/>
            <p:cNvSpPr txBox="1"/>
            <p:nvPr/>
          </p:nvSpPr>
          <p:spPr>
            <a:xfrm>
              <a:off x="566383" y="55283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24" name="TextBox 24"/>
            <p:cNvSpPr txBox="1"/>
            <p:nvPr/>
          </p:nvSpPr>
          <p:spPr>
            <a:xfrm>
              <a:off x="887730" y="5514975"/>
              <a:ext cx="733722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［ファイルの場所を開く］で開いたフォルダの </a:t>
              </a:r>
              <a:r>
                <a:rPr lang="en-US" sz="1350" dirty="0">
                  <a:solidFill>
                    <a:schemeClr val="dk1"/>
                  </a:solidFill>
                  <a:latin typeface="Consolas"/>
                  <a:ea typeface="Consolas"/>
                  <a:cs typeface="Consolas"/>
                </a:rPr>
                <a:t>source-code.md</a:t>
              </a:r>
              <a:r>
                <a:rPr lang="zh-CN" sz="1500" dirty="0">
                  <a:solidFill>
                    <a:schemeClr val="dk1"/>
                  </a:solidFill>
                  <a:latin typeface="+mn-lt"/>
                  <a:ea typeface="+mn-ea"/>
                  <a:cs typeface="+mn-cs"/>
                </a:rPr>
                <a:t>（コード全文）を、チャットに添付します。</a:t>
              </a:r>
            </a:p>
          </p:txBody>
        </p:sp>
        <p:sp>
          <p:nvSpPr>
            <p:cNvPr id="25" name="Ellipse 25"/>
            <p:cNvSpPr/>
            <p:nvPr/>
          </p:nvSpPr>
          <p:spPr>
            <a:xfrm>
              <a:off x="476250" y="5838825"/>
              <a:ext cx="285750" cy="285750"/>
            </a:xfrm>
            <a:prstGeom prst="ellipse">
              <a:avLst/>
            </a:prstGeom>
            <a:solidFill>
              <a:schemeClr val="accent1"/>
            </a:solidFill>
            <a:ln>
              <a:noFill/>
            </a:ln>
          </p:spPr>
        </p:sp>
        <p:sp>
          <p:nvSpPr>
            <p:cNvPr id="26" name="TextBox 26"/>
            <p:cNvSpPr txBox="1"/>
            <p:nvPr/>
          </p:nvSpPr>
          <p:spPr>
            <a:xfrm>
              <a:off x="566383" y="59093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3</a:t>
              </a:r>
            </a:p>
          </p:txBody>
        </p:sp>
        <p:sp>
          <p:nvSpPr>
            <p:cNvPr id="27" name="TextBox 27"/>
            <p:cNvSpPr txBox="1"/>
            <p:nvPr/>
          </p:nvSpPr>
          <p:spPr>
            <a:xfrm>
              <a:off x="887730" y="5895975"/>
              <a:ext cx="7714183"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送信して返答を待ちます。マクロが読み書きする Excel シートやファイルも添付すると、回答の精度が上がります。</a:t>
              </a:r>
            </a:p>
          </p:txBody>
        </p:sp>
      </p:grpSp>
      <p:grpSp>
        <p:nvGrpSpPr>
          <p:cNvPr id="30" name="Group 30"/>
          <p:cNvGrpSpPr/>
          <p:nvPr/>
        </p:nvGrpSpPr>
        <p:grpSpPr>
          <a:xfrm>
            <a:off x="451104" y="6176010"/>
            <a:ext cx="5528573" cy="234696"/>
            <a:chOff x="451104" y="6176010"/>
            <a:chExt cx="5528573" cy="234696"/>
          </a:xfrm>
        </p:grpSpPr>
        <p:sp>
          <p:nvSpPr>
            <p:cNvPr id="29" name="TextBox 29"/>
            <p:cNvSpPr txBox="1"/>
            <p:nvPr/>
          </p:nvSpPr>
          <p:spPr>
            <a:xfrm>
              <a:off x="451104" y="6176010"/>
              <a:ext cx="5528573"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コードの受け渡しはこの操作で行われます。MacroStudio がコードを自動で送信することはありません。</a:t>
              </a:r>
            </a:p>
          </p:txBody>
        </p:sp>
      </p:grpSp>
      <p:grpSp>
        <p:nvGrpSpPr>
          <p:cNvPr id="33" name="Group 33"/>
          <p:cNvGrpSpPr/>
          <p:nvPr/>
        </p:nvGrpSpPr>
        <p:grpSpPr>
          <a:xfrm>
            <a:off x="451866" y="6477952"/>
            <a:ext cx="11288268" cy="205359"/>
            <a:chOff x="451866" y="6477952"/>
            <a:chExt cx="11288268" cy="205359"/>
          </a:xfrm>
        </p:grpSpPr>
        <p:sp>
          <p:nvSpPr>
            <p:cNvPr id="31" name="TextBox 31"/>
            <p:cNvSpPr txBox="1"/>
            <p:nvPr/>
          </p:nvSpPr>
          <p:spPr>
            <a:xfrm>
              <a:off x="451866" y="6477952"/>
              <a:ext cx="2252718"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MacroStudio 操作マニュアル（ベータ版）</a:t>
              </a:r>
            </a:p>
          </p:txBody>
        </p:sp>
        <p:sp>
          <p:nvSpPr>
            <p:cNvPr id="32" name="TextBox 32"/>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65397" y="486728"/>
              <a:ext cx="30750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操作</a:t>
              </a:r>
            </a:p>
          </p:txBody>
        </p:sp>
        <p:sp>
          <p:nvSpPr>
            <p:cNvPr id="4" name="Rectangle 4"/>
            <p:cNvSpPr/>
            <p:nvPr/>
          </p:nvSpPr>
          <p:spPr>
            <a:xfrm>
              <a:off x="1257300" y="419100"/>
              <a:ext cx="876300" cy="266700"/>
            </a:xfrm>
            <a:prstGeom prst="roundRect">
              <a:avLst>
                <a:gd name="adj" fmla="val 50000"/>
              </a:avLst>
            </a:prstGeom>
            <a:solidFill>
              <a:schemeClr val="lt1"/>
            </a:solidFill>
            <a:ln w="14288">
              <a:solidFill>
                <a:schemeClr val="accent1"/>
              </a:solidFill>
            </a:ln>
          </p:spPr>
        </p:sp>
        <p:sp>
          <p:nvSpPr>
            <p:cNvPr id="5" name="TextBox 5"/>
            <p:cNvSpPr txBox="1"/>
            <p:nvPr/>
          </p:nvSpPr>
          <p:spPr>
            <a:xfrm>
              <a:off x="1478620" y="486728"/>
              <a:ext cx="433661" cy="205359"/>
            </a:xfrm>
            <a:prstGeom prst="rect">
              <a:avLst/>
            </a:prstGeom>
            <a:noFill/>
            <a:ln>
              <a:noFill/>
            </a:ln>
          </p:spPr>
          <p:txBody>
            <a:bodyPr wrap="none" lIns="0" tIns="0" rIns="0" bIns="0" anchor="t" anchorCtr="0">
              <a:spAutoFit/>
            </a:bodyPr>
            <a:lstStyle/>
            <a:p>
              <a:pPr algn="ctr"/>
              <a:r>
                <a:rPr lang="zh-CN" sz="1050" b="1" dirty="0">
                  <a:solidFill>
                    <a:schemeClr val="accent1"/>
                  </a:solidFill>
                  <a:latin typeface="+mn-lt"/>
                  <a:ea typeface="+mn-ea"/>
                  <a:cs typeface="+mn-cs"/>
                </a:rPr>
                <a:t>手順 3</a:t>
              </a:r>
            </a:p>
          </p:txBody>
        </p:sp>
        <p:sp>
          <p:nvSpPr>
            <p:cNvPr id="6" name="TextBox 6"/>
            <p:cNvSpPr txBox="1"/>
            <p:nvPr/>
          </p:nvSpPr>
          <p:spPr>
            <a:xfrm>
              <a:off x="441960" y="685800"/>
              <a:ext cx="46678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AIの返答をまとめて取り込みます</a:t>
              </a:r>
            </a:p>
          </p:txBody>
        </p:sp>
        <p:sp>
          <p:nvSpPr>
            <p:cNvPr id="7" name="Line 7"/>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3" name="Group 13"/>
          <p:cNvGrpSpPr/>
          <p:nvPr/>
        </p:nvGrpSpPr>
        <p:grpSpPr>
          <a:xfrm>
            <a:off x="457200" y="1428750"/>
            <a:ext cx="5486400" cy="3505581"/>
            <a:chOff x="457200" y="1428750"/>
            <a:chExt cx="5486400" cy="3505581"/>
          </a:xfrm>
        </p:grpSpPr>
        <p:sp>
          <p:nvSpPr>
            <p:cNvPr id="9" name="Rectangle 9"/>
            <p:cNvSpPr/>
            <p:nvPr/>
          </p:nvSpPr>
          <p:spPr>
            <a:xfrm>
              <a:off x="457200" y="1428750"/>
              <a:ext cx="5486400" cy="3152775"/>
            </a:xfrm>
            <a:prstGeom prst="roundRect">
              <a:avLst>
                <a:gd name="adj" fmla="val 4230"/>
              </a:avLst>
            </a:prstGeom>
            <a:solidFill>
              <a:schemeClr val="lt2"/>
            </a:solidFill>
            <a:ln>
              <a:noFill/>
            </a:ln>
          </p:spPr>
        </p:sp>
        <p:pic>
          <p:nvPicPr>
            <p:cNvPr id="10" name="Image 10"/>
            <p:cNvPicPr>
              <a:picLocks noChangeAspect="1"/>
            </p:cNvPicPr>
            <p:nvPr/>
          </p:nvPicPr>
          <p:blipFill>
            <a:blip r:embed="rId2"/>
            <a:stretch>
              <a:fillRect/>
            </a:stretch>
          </p:blipFill>
          <p:spPr>
            <a:xfrm>
              <a:off x="533400" y="1504950"/>
              <a:ext cx="5334000" cy="3000375"/>
            </a:xfrm>
            <a:prstGeom prst="roundRect">
              <a:avLst>
                <a:gd name="adj" fmla="val 3174"/>
              </a:avLst>
            </a:prstGeom>
          </p:spPr>
        </p:pic>
        <p:sp>
          <p:nvSpPr>
            <p:cNvPr id="11" name="Rectangle 11"/>
            <p:cNvSpPr/>
            <p:nvPr/>
          </p:nvSpPr>
          <p:spPr>
            <a:xfrm>
              <a:off x="533400" y="1504950"/>
              <a:ext cx="5334000" cy="3000375"/>
            </a:xfrm>
            <a:prstGeom prst="roundRect">
              <a:avLst>
                <a:gd name="adj" fmla="val 3175"/>
              </a:avLst>
            </a:prstGeom>
            <a:noFill/>
            <a:ln w="14288">
              <a:solidFill>
                <a:schemeClr val="accent6"/>
              </a:solidFill>
            </a:ln>
          </p:spPr>
        </p:sp>
        <p:sp>
          <p:nvSpPr>
            <p:cNvPr id="12" name="TextBox 12"/>
            <p:cNvSpPr txBox="1"/>
            <p:nvPr/>
          </p:nvSpPr>
          <p:spPr>
            <a:xfrm>
              <a:off x="527304" y="4699635"/>
              <a:ext cx="4591964"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取り込み前の画面。ボタンは 1 つで、モジュールを個別に選択する操作はありません。</a:t>
              </a:r>
            </a:p>
          </p:txBody>
        </p:sp>
      </p:grpSp>
      <p:grpSp>
        <p:nvGrpSpPr>
          <p:cNvPr id="18" name="Group 18"/>
          <p:cNvGrpSpPr/>
          <p:nvPr/>
        </p:nvGrpSpPr>
        <p:grpSpPr>
          <a:xfrm>
            <a:off x="6248400" y="1428750"/>
            <a:ext cx="5486400" cy="3505581"/>
            <a:chOff x="6248400" y="1428750"/>
            <a:chExt cx="5486400" cy="3505581"/>
          </a:xfrm>
        </p:grpSpPr>
        <p:sp>
          <p:nvSpPr>
            <p:cNvPr id="14" name="Rectangle 14"/>
            <p:cNvSpPr/>
            <p:nvPr/>
          </p:nvSpPr>
          <p:spPr>
            <a:xfrm>
              <a:off x="6248400" y="1428750"/>
              <a:ext cx="5486400" cy="3152775"/>
            </a:xfrm>
            <a:prstGeom prst="roundRect">
              <a:avLst>
                <a:gd name="adj" fmla="val 4230"/>
              </a:avLst>
            </a:prstGeom>
            <a:solidFill>
              <a:schemeClr val="lt2"/>
            </a:solidFill>
            <a:ln>
              <a:noFill/>
            </a:ln>
          </p:spPr>
        </p:sp>
        <p:pic>
          <p:nvPicPr>
            <p:cNvPr id="15" name="Image 15"/>
            <p:cNvPicPr>
              <a:picLocks noChangeAspect="1"/>
            </p:cNvPicPr>
            <p:nvPr/>
          </p:nvPicPr>
          <p:blipFill>
            <a:blip r:embed="rId3"/>
            <a:stretch>
              <a:fillRect/>
            </a:stretch>
          </p:blipFill>
          <p:spPr>
            <a:xfrm>
              <a:off x="6324600" y="1504950"/>
              <a:ext cx="5334000" cy="3000375"/>
            </a:xfrm>
            <a:prstGeom prst="roundRect">
              <a:avLst>
                <a:gd name="adj" fmla="val 3174"/>
              </a:avLst>
            </a:prstGeom>
          </p:spPr>
        </p:pic>
        <p:sp>
          <p:nvSpPr>
            <p:cNvPr id="16" name="Rectangle 16"/>
            <p:cNvSpPr/>
            <p:nvPr/>
          </p:nvSpPr>
          <p:spPr>
            <a:xfrm>
              <a:off x="6324600" y="1504950"/>
              <a:ext cx="5334000" cy="3000375"/>
            </a:xfrm>
            <a:prstGeom prst="roundRect">
              <a:avLst>
                <a:gd name="adj" fmla="val 3175"/>
              </a:avLst>
            </a:prstGeom>
            <a:noFill/>
            <a:ln w="14288">
              <a:solidFill>
                <a:schemeClr val="accent6"/>
              </a:solidFill>
            </a:ln>
          </p:spPr>
        </p:sp>
        <p:sp>
          <p:nvSpPr>
            <p:cNvPr id="17" name="TextBox 17"/>
            <p:cNvSpPr txBox="1"/>
            <p:nvPr/>
          </p:nvSpPr>
          <p:spPr>
            <a:xfrm>
              <a:off x="6318504" y="4699635"/>
              <a:ext cx="4620768"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取り込み成功の表示。「AIが書いた改修内容を見る」で説明を開けます。</a:t>
              </a:r>
            </a:p>
          </p:txBody>
        </p:sp>
      </p:grpSp>
      <p:grpSp>
        <p:nvGrpSpPr>
          <p:cNvPr id="30" name="Group 30"/>
          <p:cNvGrpSpPr/>
          <p:nvPr/>
        </p:nvGrpSpPr>
        <p:grpSpPr>
          <a:xfrm>
            <a:off x="476250" y="5057775"/>
            <a:ext cx="4574520" cy="1353598"/>
            <a:chOff x="476250" y="5057775"/>
            <a:chExt cx="4574520" cy="1353598"/>
          </a:xfrm>
        </p:grpSpPr>
        <p:sp>
          <p:nvSpPr>
            <p:cNvPr id="19" name="Ellipse 19"/>
            <p:cNvSpPr/>
            <p:nvPr/>
          </p:nvSpPr>
          <p:spPr>
            <a:xfrm>
              <a:off x="476250" y="5057775"/>
              <a:ext cx="285750" cy="285750"/>
            </a:xfrm>
            <a:prstGeom prst="ellipse">
              <a:avLst/>
            </a:prstGeom>
            <a:solidFill>
              <a:schemeClr val="accent1"/>
            </a:solidFill>
            <a:ln>
              <a:noFill/>
            </a:ln>
          </p:spPr>
        </p:sp>
        <p:sp>
          <p:nvSpPr>
            <p:cNvPr id="20" name="TextBox 20"/>
            <p:cNvSpPr txBox="1"/>
            <p:nvPr/>
          </p:nvSpPr>
          <p:spPr>
            <a:xfrm>
              <a:off x="566383" y="51282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21" name="TextBox 21"/>
            <p:cNvSpPr txBox="1"/>
            <p:nvPr/>
          </p:nvSpPr>
          <p:spPr>
            <a:xfrm>
              <a:off x="888111" y="5123021"/>
              <a:ext cx="3438053"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AI の返答にあるコードブロックを、先頭から末尾まで</a:t>
              </a:r>
            </a:p>
          </p:txBody>
        </p:sp>
        <p:sp>
          <p:nvSpPr>
            <p:cNvPr id="22" name="TextBox 22"/>
            <p:cNvSpPr txBox="1"/>
            <p:nvPr/>
          </p:nvSpPr>
          <p:spPr>
            <a:xfrm>
              <a:off x="888111" y="5370671"/>
              <a:ext cx="1218789"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全文コピーします。</a:t>
              </a:r>
            </a:p>
          </p:txBody>
        </p:sp>
        <p:sp>
          <p:nvSpPr>
            <p:cNvPr id="23" name="Ellipse 23"/>
            <p:cNvSpPr/>
            <p:nvPr/>
          </p:nvSpPr>
          <p:spPr>
            <a:xfrm>
              <a:off x="476250" y="5572125"/>
              <a:ext cx="285750" cy="285750"/>
            </a:xfrm>
            <a:prstGeom prst="ellipse">
              <a:avLst/>
            </a:prstGeom>
            <a:solidFill>
              <a:schemeClr val="accent1"/>
            </a:solidFill>
            <a:ln>
              <a:noFill/>
            </a:ln>
          </p:spPr>
        </p:sp>
        <p:sp>
          <p:nvSpPr>
            <p:cNvPr id="24" name="TextBox 24"/>
            <p:cNvSpPr txBox="1"/>
            <p:nvPr/>
          </p:nvSpPr>
          <p:spPr>
            <a:xfrm>
              <a:off x="566383" y="56426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25" name="TextBox 25"/>
            <p:cNvSpPr txBox="1"/>
            <p:nvPr/>
          </p:nvSpPr>
          <p:spPr>
            <a:xfrm>
              <a:off x="888111" y="5637371"/>
              <a:ext cx="3488548"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［クリップボードからAIの返答を取り込む］を押します</a:t>
              </a:r>
            </a:p>
          </p:txBody>
        </p:sp>
        <p:sp>
          <p:nvSpPr>
            <p:cNvPr id="26" name="TextBox 26"/>
            <p:cNvSpPr txBox="1"/>
            <p:nvPr/>
          </p:nvSpPr>
          <p:spPr>
            <a:xfrm>
              <a:off x="888111" y="5885021"/>
              <a:ext cx="2379890"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（Ctrl+V でも同じ動作です）。</a:t>
              </a:r>
            </a:p>
          </p:txBody>
        </p:sp>
        <p:sp>
          <p:nvSpPr>
            <p:cNvPr id="27" name="Ellipse 27"/>
            <p:cNvSpPr/>
            <p:nvPr/>
          </p:nvSpPr>
          <p:spPr>
            <a:xfrm>
              <a:off x="476250" y="6067425"/>
              <a:ext cx="285750" cy="285750"/>
            </a:xfrm>
            <a:prstGeom prst="ellipse">
              <a:avLst/>
            </a:prstGeom>
            <a:solidFill>
              <a:schemeClr val="accent1"/>
            </a:solidFill>
            <a:ln>
              <a:noFill/>
            </a:ln>
          </p:spPr>
        </p:sp>
        <p:sp>
          <p:nvSpPr>
            <p:cNvPr id="28" name="TextBox 28"/>
            <p:cNvSpPr txBox="1"/>
            <p:nvPr/>
          </p:nvSpPr>
          <p:spPr>
            <a:xfrm>
              <a:off x="566383" y="61379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3</a:t>
              </a:r>
            </a:p>
          </p:txBody>
        </p:sp>
        <p:sp>
          <p:nvSpPr>
            <p:cNvPr id="29" name="TextBox 29"/>
            <p:cNvSpPr txBox="1"/>
            <p:nvPr/>
          </p:nvSpPr>
          <p:spPr>
            <a:xfrm>
              <a:off x="888111" y="6132671"/>
              <a:ext cx="4162659"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件数が表示されたら取り込み完了です。［次へ］で進みます。</a:t>
              </a:r>
            </a:p>
          </p:txBody>
        </p:sp>
      </p:grpSp>
      <p:grpSp>
        <p:nvGrpSpPr>
          <p:cNvPr id="37" name="Group 37"/>
          <p:cNvGrpSpPr/>
          <p:nvPr/>
        </p:nvGrpSpPr>
        <p:grpSpPr>
          <a:xfrm>
            <a:off x="7353300" y="5029200"/>
            <a:ext cx="4381500" cy="1257300"/>
            <a:chOff x="7353300" y="5029200"/>
            <a:chExt cx="4381500" cy="1257300"/>
          </a:xfrm>
        </p:grpSpPr>
        <p:sp>
          <p:nvSpPr>
            <p:cNvPr id="31" name="Rectangle 31"/>
            <p:cNvSpPr/>
            <p:nvPr/>
          </p:nvSpPr>
          <p:spPr>
            <a:xfrm>
              <a:off x="7353300" y="5029200"/>
              <a:ext cx="4381500" cy="1257300"/>
            </a:xfrm>
            <a:prstGeom prst="roundRect">
              <a:avLst>
                <a:gd name="adj" fmla="val 9091"/>
              </a:avLst>
            </a:prstGeom>
            <a:solidFill>
              <a:schemeClr val="lt1"/>
            </a:solidFill>
            <a:ln w="14288">
              <a:solidFill>
                <a:schemeClr val="accent2"/>
              </a:solidFill>
            </a:ln>
          </p:spPr>
        </p:sp>
        <p:sp>
          <p:nvSpPr>
            <p:cNvPr id="32" name="Freeform 32"/>
            <p:cNvSpPr/>
            <p:nvPr/>
          </p:nvSpPr>
          <p:spPr>
            <a:xfrm>
              <a:off x="7551975" y="5216557"/>
              <a:ext cx="212139" cy="184080"/>
            </a:xfrm>
            <a:custGeom>
              <a:avLst/>
              <a:gdLst/>
              <a:ahLst/>
              <a:cxnLst/>
              <a:rect l="l" t="t" r="r" b="b"/>
              <a:pathLst>
                <a:path w="212139" h="184080">
                  <a:moveTo>
                    <a:pt x="106125" y="0"/>
                  </a:moveTo>
                  <a:cubicBezTo>
                    <a:pt x="115221" y="0"/>
                    <a:pt x="123698" y="4448"/>
                    <a:pt x="128889" y="11878"/>
                  </a:cubicBezTo>
                  <a:lnTo>
                    <a:pt x="129890" y="13402"/>
                  </a:lnTo>
                  <a:lnTo>
                    <a:pt x="207175" y="142446"/>
                  </a:lnTo>
                  <a:cubicBezTo>
                    <a:pt x="211950" y="150715"/>
                    <a:pt x="212139" y="160858"/>
                    <a:pt x="207675" y="169299"/>
                  </a:cubicBezTo>
                  <a:cubicBezTo>
                    <a:pt x="203212" y="177740"/>
                    <a:pt x="194723" y="183294"/>
                    <a:pt x="185201" y="184004"/>
                  </a:cubicBezTo>
                  <a:lnTo>
                    <a:pt x="183344" y="184080"/>
                  </a:lnTo>
                  <a:lnTo>
                    <a:pt x="28801" y="184080"/>
                  </a:lnTo>
                  <a:cubicBezTo>
                    <a:pt x="19269" y="183973"/>
                    <a:pt x="10460" y="178982"/>
                    <a:pt x="5468" y="170862"/>
                  </a:cubicBezTo>
                  <a:cubicBezTo>
                    <a:pt x="476" y="162742"/>
                    <a:pt x="0" y="152628"/>
                    <a:pt x="4207" y="144075"/>
                  </a:cubicBezTo>
                  <a:lnTo>
                    <a:pt x="5150" y="142313"/>
                  </a:lnTo>
                  <a:lnTo>
                    <a:pt x="82398" y="13364"/>
                  </a:lnTo>
                  <a:cubicBezTo>
                    <a:pt x="87428" y="5069"/>
                    <a:pt x="96424" y="2"/>
                    <a:pt x="106125" y="0"/>
                  </a:cubicBezTo>
                  <a:close/>
                  <a:moveTo>
                    <a:pt x="106220" y="126968"/>
                  </a:moveTo>
                  <a:lnTo>
                    <a:pt x="105010" y="127035"/>
                  </a:lnTo>
                  <a:cubicBezTo>
                    <a:pt x="100219" y="127605"/>
                    <a:pt x="96610" y="131668"/>
                    <a:pt x="96610" y="136493"/>
                  </a:cubicBezTo>
                  <a:cubicBezTo>
                    <a:pt x="96610" y="141319"/>
                    <a:pt x="100219" y="145382"/>
                    <a:pt x="105010" y="145952"/>
                  </a:cubicBezTo>
                  <a:lnTo>
                    <a:pt x="106125" y="146018"/>
                  </a:lnTo>
                  <a:lnTo>
                    <a:pt x="107334" y="145952"/>
                  </a:lnTo>
                  <a:cubicBezTo>
                    <a:pt x="112126" y="145382"/>
                    <a:pt x="115734" y="141319"/>
                    <a:pt x="115734" y="136493"/>
                  </a:cubicBezTo>
                  <a:cubicBezTo>
                    <a:pt x="115734" y="131668"/>
                    <a:pt x="112126" y="127605"/>
                    <a:pt x="107334" y="127035"/>
                  </a:cubicBezTo>
                  <a:lnTo>
                    <a:pt x="106220" y="126968"/>
                  </a:lnTo>
                  <a:close/>
                  <a:moveTo>
                    <a:pt x="106125" y="60293"/>
                  </a:moveTo>
                  <a:cubicBezTo>
                    <a:pt x="101296" y="60294"/>
                    <a:pt x="97231" y="63908"/>
                    <a:pt x="96666" y="68704"/>
                  </a:cubicBezTo>
                  <a:lnTo>
                    <a:pt x="96600" y="69818"/>
                  </a:lnTo>
                  <a:lnTo>
                    <a:pt x="96600" y="107918"/>
                  </a:lnTo>
                  <a:lnTo>
                    <a:pt x="96666" y="109033"/>
                  </a:lnTo>
                  <a:cubicBezTo>
                    <a:pt x="97236" y="113824"/>
                    <a:pt x="101299" y="117433"/>
                    <a:pt x="106125" y="117433"/>
                  </a:cubicBezTo>
                  <a:cubicBezTo>
                    <a:pt x="110950" y="117433"/>
                    <a:pt x="115013" y="113824"/>
                    <a:pt x="115583" y="109033"/>
                  </a:cubicBezTo>
                  <a:lnTo>
                    <a:pt x="115650" y="107918"/>
                  </a:lnTo>
                  <a:lnTo>
                    <a:pt x="115650" y="69818"/>
                  </a:lnTo>
                  <a:lnTo>
                    <a:pt x="115583" y="68704"/>
                  </a:lnTo>
                  <a:cubicBezTo>
                    <a:pt x="115018" y="63908"/>
                    <a:pt x="110954" y="60294"/>
                    <a:pt x="106125" y="60293"/>
                  </a:cubicBezTo>
                  <a:close/>
                </a:path>
              </a:pathLst>
            </a:custGeom>
            <a:solidFill>
              <a:schemeClr val="accent2"/>
            </a:solidFill>
            <a:ln>
              <a:noFill/>
            </a:ln>
          </p:spPr>
        </p:sp>
        <p:sp>
          <p:nvSpPr>
            <p:cNvPr id="33" name="TextBox 33"/>
            <p:cNvSpPr txBox="1"/>
            <p:nvPr/>
          </p:nvSpPr>
          <p:spPr>
            <a:xfrm>
              <a:off x="7880604" y="5242560"/>
              <a:ext cx="1063843"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取り込めない場合</a:t>
              </a:r>
            </a:p>
          </p:txBody>
        </p:sp>
        <p:sp>
          <p:nvSpPr>
            <p:cNvPr id="34" name="TextBox 34"/>
            <p:cNvSpPr txBox="1"/>
            <p:nvPr/>
          </p:nvSpPr>
          <p:spPr>
            <a:xfrm>
              <a:off x="7537704" y="5509260"/>
              <a:ext cx="2677668"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コピー範囲の不足や別の依頼への返答の場合は</a:t>
              </a:r>
            </a:p>
          </p:txBody>
        </p:sp>
        <p:sp>
          <p:nvSpPr>
            <p:cNvPr id="35" name="TextBox 35"/>
            <p:cNvSpPr txBox="1"/>
            <p:nvPr/>
          </p:nvSpPr>
          <p:spPr>
            <a:xfrm>
              <a:off x="7537704" y="5737860"/>
              <a:ext cx="2790749"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何も取り込まれず、対処が 1 文で表示されます。</a:t>
              </a:r>
            </a:p>
          </p:txBody>
        </p:sp>
        <p:sp>
          <p:nvSpPr>
            <p:cNvPr id="36" name="TextBox 36"/>
            <p:cNvSpPr txBox="1"/>
            <p:nvPr/>
          </p:nvSpPr>
          <p:spPr>
            <a:xfrm>
              <a:off x="7537704" y="5966460"/>
              <a:ext cx="265343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コードブロック全体をコピーし直して再実行します。</a:t>
              </a:r>
            </a:p>
          </p:txBody>
        </p:sp>
      </p:grpSp>
      <p:grpSp>
        <p:nvGrpSpPr>
          <p:cNvPr id="40" name="Group 40"/>
          <p:cNvGrpSpPr/>
          <p:nvPr/>
        </p:nvGrpSpPr>
        <p:grpSpPr>
          <a:xfrm>
            <a:off x="451866" y="6477952"/>
            <a:ext cx="11288268" cy="205359"/>
            <a:chOff x="451866" y="6477952"/>
            <a:chExt cx="11288268" cy="205359"/>
          </a:xfrm>
        </p:grpSpPr>
        <p:sp>
          <p:nvSpPr>
            <p:cNvPr id="38" name="TextBox 38"/>
            <p:cNvSpPr txBox="1"/>
            <p:nvPr/>
          </p:nvSpPr>
          <p:spPr>
            <a:xfrm>
              <a:off x="451866" y="6477952"/>
              <a:ext cx="2252718"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MacroStudio 操作マニュアル（ベータ版）</a:t>
              </a:r>
            </a:p>
          </p:txBody>
        </p:sp>
        <p:sp>
          <p:nvSpPr>
            <p:cNvPr id="39" name="TextBox 39"/>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65397" y="486728"/>
              <a:ext cx="30750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操作</a:t>
              </a:r>
            </a:p>
          </p:txBody>
        </p:sp>
        <p:sp>
          <p:nvSpPr>
            <p:cNvPr id="4" name="Rectangle 4"/>
            <p:cNvSpPr/>
            <p:nvPr/>
          </p:nvSpPr>
          <p:spPr>
            <a:xfrm>
              <a:off x="1257300" y="419100"/>
              <a:ext cx="876300" cy="266700"/>
            </a:xfrm>
            <a:prstGeom prst="roundRect">
              <a:avLst>
                <a:gd name="adj" fmla="val 50000"/>
              </a:avLst>
            </a:prstGeom>
            <a:solidFill>
              <a:schemeClr val="lt1"/>
            </a:solidFill>
            <a:ln w="14288">
              <a:solidFill>
                <a:schemeClr val="accent1"/>
              </a:solidFill>
            </a:ln>
          </p:spPr>
        </p:sp>
        <p:sp>
          <p:nvSpPr>
            <p:cNvPr id="5" name="TextBox 5"/>
            <p:cNvSpPr txBox="1"/>
            <p:nvPr/>
          </p:nvSpPr>
          <p:spPr>
            <a:xfrm>
              <a:off x="1478620" y="486728"/>
              <a:ext cx="433661" cy="205359"/>
            </a:xfrm>
            <a:prstGeom prst="rect">
              <a:avLst/>
            </a:prstGeom>
            <a:noFill/>
            <a:ln>
              <a:noFill/>
            </a:ln>
          </p:spPr>
          <p:txBody>
            <a:bodyPr wrap="none" lIns="0" tIns="0" rIns="0" bIns="0" anchor="t" anchorCtr="0">
              <a:spAutoFit/>
            </a:bodyPr>
            <a:lstStyle/>
            <a:p>
              <a:pPr algn="ctr"/>
              <a:r>
                <a:rPr lang="zh-CN" sz="1050" b="1" dirty="0">
                  <a:solidFill>
                    <a:schemeClr val="accent1"/>
                  </a:solidFill>
                  <a:latin typeface="+mn-lt"/>
                  <a:ea typeface="+mn-ea"/>
                  <a:cs typeface="+mn-cs"/>
                </a:rPr>
                <a:t>手順 3</a:t>
              </a:r>
            </a:p>
          </p:txBody>
        </p:sp>
        <p:sp>
          <p:nvSpPr>
            <p:cNvPr id="6" name="TextBox 6"/>
            <p:cNvSpPr txBox="1"/>
            <p:nvPr/>
          </p:nvSpPr>
          <p:spPr>
            <a:xfrm>
              <a:off x="441960" y="685800"/>
              <a:ext cx="4207402"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取り込んだ変更を確認します</a:t>
              </a:r>
            </a:p>
          </p:txBody>
        </p:sp>
        <p:sp>
          <p:nvSpPr>
            <p:cNvPr id="7" name="Line 7"/>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20" name="Group 20"/>
          <p:cNvGrpSpPr/>
          <p:nvPr/>
        </p:nvGrpSpPr>
        <p:grpSpPr>
          <a:xfrm>
            <a:off x="533400" y="1352550"/>
            <a:ext cx="8534400" cy="4867275"/>
            <a:chOff x="533400" y="1352550"/>
            <a:chExt cx="8534400" cy="4867275"/>
          </a:xfrm>
        </p:grpSpPr>
        <p:sp>
          <p:nvSpPr>
            <p:cNvPr id="9" name="Rectangle 9"/>
            <p:cNvSpPr/>
            <p:nvPr/>
          </p:nvSpPr>
          <p:spPr>
            <a:xfrm>
              <a:off x="533400" y="1352550"/>
              <a:ext cx="8534400" cy="4867275"/>
            </a:xfrm>
            <a:prstGeom prst="roundRect">
              <a:avLst>
                <a:gd name="adj" fmla="val 2740"/>
              </a:avLst>
            </a:prstGeom>
            <a:solidFill>
              <a:schemeClr val="lt2"/>
            </a:solidFill>
            <a:ln>
              <a:noFill/>
            </a:ln>
          </p:spPr>
        </p:sp>
        <p:pic>
          <p:nvPicPr>
            <p:cNvPr id="10" name="Image 10"/>
            <p:cNvPicPr>
              <a:picLocks noChangeAspect="1"/>
            </p:cNvPicPr>
            <p:nvPr/>
          </p:nvPicPr>
          <p:blipFill>
            <a:blip r:embed="rId2"/>
            <a:stretch>
              <a:fillRect/>
            </a:stretch>
          </p:blipFill>
          <p:spPr>
            <a:xfrm>
              <a:off x="609600" y="1428750"/>
              <a:ext cx="8382000" cy="4714875"/>
            </a:xfrm>
            <a:prstGeom prst="roundRect">
              <a:avLst>
                <a:gd name="adj" fmla="val 2020"/>
              </a:avLst>
            </a:prstGeom>
          </p:spPr>
        </p:pic>
        <p:sp>
          <p:nvSpPr>
            <p:cNvPr id="11" name="Rectangle 11"/>
            <p:cNvSpPr/>
            <p:nvPr/>
          </p:nvSpPr>
          <p:spPr>
            <a:xfrm>
              <a:off x="609600" y="1428750"/>
              <a:ext cx="8382000" cy="4714875"/>
            </a:xfrm>
            <a:prstGeom prst="roundRect">
              <a:avLst>
                <a:gd name="adj" fmla="val 2020"/>
              </a:avLst>
            </a:prstGeom>
            <a:noFill/>
            <a:ln w="14288">
              <a:solidFill>
                <a:schemeClr val="accent6"/>
              </a:solidFill>
            </a:ln>
          </p:spPr>
        </p:sp>
        <p:sp>
          <p:nvSpPr>
            <p:cNvPr id="12" name="Ellipse 12"/>
            <p:cNvSpPr/>
            <p:nvPr/>
          </p:nvSpPr>
          <p:spPr>
            <a:xfrm>
              <a:off x="1181100" y="3752850"/>
              <a:ext cx="304800" cy="304800"/>
            </a:xfrm>
            <a:prstGeom prst="ellipse">
              <a:avLst/>
            </a:prstGeom>
            <a:solidFill>
              <a:schemeClr val="accent2"/>
            </a:solidFill>
            <a:ln>
              <a:noFill/>
            </a:ln>
          </p:spPr>
        </p:sp>
        <p:sp>
          <p:nvSpPr>
            <p:cNvPr id="13" name="TextBox 13"/>
            <p:cNvSpPr txBox="1"/>
            <p:nvPr/>
          </p:nvSpPr>
          <p:spPr>
            <a:xfrm>
              <a:off x="1280758" y="38328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14" name="Ellipse 14"/>
            <p:cNvSpPr/>
            <p:nvPr/>
          </p:nvSpPr>
          <p:spPr>
            <a:xfrm>
              <a:off x="5981700" y="4210050"/>
              <a:ext cx="304800" cy="304800"/>
            </a:xfrm>
            <a:prstGeom prst="ellipse">
              <a:avLst/>
            </a:prstGeom>
            <a:solidFill>
              <a:schemeClr val="accent2"/>
            </a:solidFill>
            <a:ln>
              <a:noFill/>
            </a:ln>
          </p:spPr>
        </p:sp>
        <p:sp>
          <p:nvSpPr>
            <p:cNvPr id="15" name="TextBox 15"/>
            <p:cNvSpPr txBox="1"/>
            <p:nvPr/>
          </p:nvSpPr>
          <p:spPr>
            <a:xfrm>
              <a:off x="6081358" y="42900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16" name="Ellipse 16"/>
            <p:cNvSpPr/>
            <p:nvPr/>
          </p:nvSpPr>
          <p:spPr>
            <a:xfrm>
              <a:off x="6096000" y="5076825"/>
              <a:ext cx="304800" cy="304800"/>
            </a:xfrm>
            <a:prstGeom prst="ellipse">
              <a:avLst/>
            </a:prstGeom>
            <a:solidFill>
              <a:schemeClr val="accent2"/>
            </a:solidFill>
            <a:ln>
              <a:noFill/>
            </a:ln>
          </p:spPr>
        </p:sp>
        <p:sp>
          <p:nvSpPr>
            <p:cNvPr id="17" name="TextBox 17"/>
            <p:cNvSpPr txBox="1"/>
            <p:nvPr/>
          </p:nvSpPr>
          <p:spPr>
            <a:xfrm>
              <a:off x="6195658" y="5156835"/>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3</a:t>
              </a:r>
            </a:p>
          </p:txBody>
        </p:sp>
        <p:sp>
          <p:nvSpPr>
            <p:cNvPr id="18" name="Ellipse 18"/>
            <p:cNvSpPr/>
            <p:nvPr/>
          </p:nvSpPr>
          <p:spPr>
            <a:xfrm>
              <a:off x="6915150" y="3352800"/>
              <a:ext cx="304800" cy="304800"/>
            </a:xfrm>
            <a:prstGeom prst="ellipse">
              <a:avLst/>
            </a:prstGeom>
            <a:solidFill>
              <a:schemeClr val="accent2"/>
            </a:solidFill>
            <a:ln>
              <a:noFill/>
            </a:ln>
          </p:spPr>
        </p:sp>
        <p:sp>
          <p:nvSpPr>
            <p:cNvPr id="19" name="TextBox 19"/>
            <p:cNvSpPr txBox="1"/>
            <p:nvPr/>
          </p:nvSpPr>
          <p:spPr>
            <a:xfrm>
              <a:off x="7014808" y="34328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4</a:t>
              </a:r>
            </a:p>
          </p:txBody>
        </p:sp>
      </p:grpSp>
      <p:grpSp>
        <p:nvGrpSpPr>
          <p:cNvPr id="38" name="Group 38"/>
          <p:cNvGrpSpPr/>
          <p:nvPr/>
        </p:nvGrpSpPr>
        <p:grpSpPr>
          <a:xfrm>
            <a:off x="9365742" y="1492568"/>
            <a:ext cx="2123542" cy="3184588"/>
            <a:chOff x="9365742" y="1492568"/>
            <a:chExt cx="2123542" cy="3184588"/>
          </a:xfrm>
        </p:grpSpPr>
        <p:sp>
          <p:nvSpPr>
            <p:cNvPr id="21" name="TextBox 21"/>
            <p:cNvSpPr txBox="1"/>
            <p:nvPr/>
          </p:nvSpPr>
          <p:spPr>
            <a:xfrm>
              <a:off x="9365742" y="1492568"/>
              <a:ext cx="118669"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1</a:t>
              </a:r>
            </a:p>
          </p:txBody>
        </p:sp>
        <p:sp>
          <p:nvSpPr>
            <p:cNvPr id="22" name="TextBox 22"/>
            <p:cNvSpPr txBox="1"/>
            <p:nvPr/>
          </p:nvSpPr>
          <p:spPr>
            <a:xfrm>
              <a:off x="9594342" y="1492568"/>
              <a:ext cx="1234989"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取り込んだモジュール</a:t>
              </a:r>
            </a:p>
          </p:txBody>
        </p:sp>
        <p:sp>
          <p:nvSpPr>
            <p:cNvPr id="23" name="TextBox 23"/>
            <p:cNvSpPr txBox="1"/>
            <p:nvPr/>
          </p:nvSpPr>
          <p:spPr>
            <a:xfrm>
              <a:off x="9595104" y="1756410"/>
              <a:ext cx="1805330"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変更行数付きの一覧。選択</a:t>
              </a:r>
            </a:p>
          </p:txBody>
        </p:sp>
        <p:sp>
          <p:nvSpPr>
            <p:cNvPr id="24" name="TextBox 24"/>
            <p:cNvSpPr txBox="1"/>
            <p:nvPr/>
          </p:nvSpPr>
          <p:spPr>
            <a:xfrm>
              <a:off x="9595104" y="1985010"/>
              <a:ext cx="1441856"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すると右の差分が切り替わ</a:t>
              </a:r>
            </a:p>
          </p:txBody>
        </p:sp>
        <p:sp>
          <p:nvSpPr>
            <p:cNvPr id="25" name="TextBox 25"/>
            <p:cNvSpPr txBox="1"/>
            <p:nvPr/>
          </p:nvSpPr>
          <p:spPr>
            <a:xfrm>
              <a:off x="9595104" y="2213610"/>
              <a:ext cx="440284"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ります。</a:t>
              </a:r>
            </a:p>
          </p:txBody>
        </p:sp>
        <p:sp>
          <p:nvSpPr>
            <p:cNvPr id="26" name="TextBox 26"/>
            <p:cNvSpPr txBox="1"/>
            <p:nvPr/>
          </p:nvSpPr>
          <p:spPr>
            <a:xfrm>
              <a:off x="9365742" y="2502218"/>
              <a:ext cx="118669"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2</a:t>
              </a:r>
            </a:p>
          </p:txBody>
        </p:sp>
        <p:sp>
          <p:nvSpPr>
            <p:cNvPr id="27" name="Rectangle 27"/>
            <p:cNvSpPr/>
            <p:nvPr/>
          </p:nvSpPr>
          <p:spPr>
            <a:xfrm>
              <a:off x="9601200" y="2495550"/>
              <a:ext cx="190500" cy="190500"/>
            </a:xfrm>
            <a:prstGeom prst="roundRect">
              <a:avLst>
                <a:gd name="adj" fmla="val 20000"/>
              </a:avLst>
            </a:prstGeom>
            <a:solidFill>
              <a:srgbClr val="C25560"/>
            </a:solidFill>
            <a:ln>
              <a:noFill/>
            </a:ln>
          </p:spPr>
        </p:sp>
        <p:sp>
          <p:nvSpPr>
            <p:cNvPr id="28" name="TextBox 28"/>
            <p:cNvSpPr txBox="1"/>
            <p:nvPr/>
          </p:nvSpPr>
          <p:spPr>
            <a:xfrm>
              <a:off x="9861042" y="2502218"/>
              <a:ext cx="1397189"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赤 ＝ 削除される行</a:t>
              </a:r>
            </a:p>
          </p:txBody>
        </p:sp>
        <p:sp>
          <p:nvSpPr>
            <p:cNvPr id="29" name="TextBox 29"/>
            <p:cNvSpPr txBox="1"/>
            <p:nvPr/>
          </p:nvSpPr>
          <p:spPr>
            <a:xfrm>
              <a:off x="9365742" y="2997518"/>
              <a:ext cx="118669"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3</a:t>
              </a:r>
            </a:p>
          </p:txBody>
        </p:sp>
        <p:sp>
          <p:nvSpPr>
            <p:cNvPr id="30" name="Rectangle 30"/>
            <p:cNvSpPr/>
            <p:nvPr/>
          </p:nvSpPr>
          <p:spPr>
            <a:xfrm>
              <a:off x="9601200" y="2990850"/>
              <a:ext cx="190500" cy="190500"/>
            </a:xfrm>
            <a:prstGeom prst="roundRect">
              <a:avLst>
                <a:gd name="adj" fmla="val 20000"/>
              </a:avLst>
            </a:prstGeom>
            <a:solidFill>
              <a:srgbClr val="4C9155"/>
            </a:solidFill>
            <a:ln>
              <a:noFill/>
            </a:ln>
          </p:spPr>
        </p:sp>
        <p:sp>
          <p:nvSpPr>
            <p:cNvPr id="31" name="TextBox 31"/>
            <p:cNvSpPr txBox="1"/>
            <p:nvPr/>
          </p:nvSpPr>
          <p:spPr>
            <a:xfrm>
              <a:off x="9861042" y="2997518"/>
              <a:ext cx="1397189"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緑 ＝ 追加される行</a:t>
              </a:r>
            </a:p>
          </p:txBody>
        </p:sp>
        <p:sp>
          <p:nvSpPr>
            <p:cNvPr id="32" name="TextBox 32"/>
            <p:cNvSpPr txBox="1"/>
            <p:nvPr/>
          </p:nvSpPr>
          <p:spPr>
            <a:xfrm>
              <a:off x="9365742" y="3492818"/>
              <a:ext cx="118669"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4</a:t>
              </a:r>
            </a:p>
          </p:txBody>
        </p:sp>
        <p:sp>
          <p:nvSpPr>
            <p:cNvPr id="33" name="TextBox 33"/>
            <p:cNvSpPr txBox="1"/>
            <p:nvPr/>
          </p:nvSpPr>
          <p:spPr>
            <a:xfrm>
              <a:off x="9594342" y="3492818"/>
              <a:ext cx="538482"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ツールバー</a:t>
              </a:r>
            </a:p>
          </p:txBody>
        </p:sp>
        <p:sp>
          <p:nvSpPr>
            <p:cNvPr id="34" name="TextBox 34"/>
            <p:cNvSpPr txBox="1"/>
            <p:nvPr/>
          </p:nvSpPr>
          <p:spPr>
            <a:xfrm>
              <a:off x="9595104" y="3756660"/>
              <a:ext cx="1894180"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［変更箇所のみ］で変更部分</a:t>
              </a:r>
            </a:p>
          </p:txBody>
        </p:sp>
        <p:sp>
          <p:nvSpPr>
            <p:cNvPr id="35" name="TextBox 35"/>
            <p:cNvSpPr txBox="1"/>
            <p:nvPr/>
          </p:nvSpPr>
          <p:spPr>
            <a:xfrm>
              <a:off x="9595104" y="3985260"/>
              <a:ext cx="1748790"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に絞り込み。［↑前の変更］</a:t>
              </a:r>
            </a:p>
          </p:txBody>
        </p:sp>
        <p:sp>
          <p:nvSpPr>
            <p:cNvPr id="36" name="TextBox 36"/>
            <p:cNvSpPr txBox="1"/>
            <p:nvPr/>
          </p:nvSpPr>
          <p:spPr>
            <a:xfrm>
              <a:off x="9595104" y="4213860"/>
              <a:ext cx="1821485"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［↓次の変更］で変更箇所を</a:t>
              </a:r>
            </a:p>
          </p:txBody>
        </p:sp>
        <p:sp>
          <p:nvSpPr>
            <p:cNvPr id="37" name="TextBox 37"/>
            <p:cNvSpPr txBox="1"/>
            <p:nvPr/>
          </p:nvSpPr>
          <p:spPr>
            <a:xfrm>
              <a:off x="9595104" y="4442460"/>
              <a:ext cx="1013765"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順に移動します。</a:t>
              </a:r>
            </a:p>
          </p:txBody>
        </p:sp>
      </p:grpSp>
      <p:grpSp>
        <p:nvGrpSpPr>
          <p:cNvPr id="45" name="Group 45"/>
          <p:cNvGrpSpPr/>
          <p:nvPr/>
        </p:nvGrpSpPr>
        <p:grpSpPr>
          <a:xfrm>
            <a:off x="9372600" y="5105400"/>
            <a:ext cx="2362200" cy="1203484"/>
            <a:chOff x="9372600" y="5105400"/>
            <a:chExt cx="2362200" cy="1203484"/>
          </a:xfrm>
        </p:grpSpPr>
        <p:sp>
          <p:nvSpPr>
            <p:cNvPr id="39" name="Rectangle 39"/>
            <p:cNvSpPr/>
            <p:nvPr/>
          </p:nvSpPr>
          <p:spPr>
            <a:xfrm>
              <a:off x="9372600" y="5105400"/>
              <a:ext cx="2362200" cy="1162050"/>
            </a:xfrm>
            <a:prstGeom prst="roundRect">
              <a:avLst>
                <a:gd name="adj" fmla="val 9836"/>
              </a:avLst>
            </a:prstGeom>
            <a:solidFill>
              <a:schemeClr val="accent5"/>
            </a:solidFill>
            <a:ln w="9525">
              <a:solidFill>
                <a:schemeClr val="accent6"/>
              </a:solidFill>
            </a:ln>
          </p:spPr>
        </p:sp>
        <p:sp>
          <p:nvSpPr>
            <p:cNvPr id="40" name="TextBox 40"/>
            <p:cNvSpPr txBox="1"/>
            <p:nvPr/>
          </p:nvSpPr>
          <p:spPr>
            <a:xfrm>
              <a:off x="9519285" y="5212556"/>
              <a:ext cx="1700103"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差分に想定外の変更や不足が</a:t>
              </a:r>
            </a:p>
          </p:txBody>
        </p:sp>
        <p:sp>
          <p:nvSpPr>
            <p:cNvPr id="41" name="TextBox 41"/>
            <p:cNvSpPr txBox="1"/>
            <p:nvPr/>
          </p:nvSpPr>
          <p:spPr>
            <a:xfrm>
              <a:off x="9519285" y="5431631"/>
              <a:ext cx="1647332"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ある場合は［戻る］で取り込み</a:t>
              </a:r>
            </a:p>
          </p:txBody>
        </p:sp>
        <p:sp>
          <p:nvSpPr>
            <p:cNvPr id="42" name="TextBox 42"/>
            <p:cNvSpPr txBox="1"/>
            <p:nvPr/>
          </p:nvSpPr>
          <p:spPr>
            <a:xfrm>
              <a:off x="9519285" y="5650706"/>
              <a:ext cx="1496558"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直します。軽微な写し崩れは</a:t>
              </a:r>
            </a:p>
          </p:txBody>
        </p:sp>
        <p:sp>
          <p:nvSpPr>
            <p:cNvPr id="43" name="TextBox 43"/>
            <p:cNvSpPr txBox="1"/>
            <p:nvPr/>
          </p:nvSpPr>
          <p:spPr>
            <a:xfrm>
              <a:off x="9519285" y="5869781"/>
              <a:ext cx="1549329"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［手動修正］で修正します</a:t>
              </a:r>
            </a:p>
          </p:txBody>
        </p:sp>
        <p:sp>
          <p:nvSpPr>
            <p:cNvPr id="44" name="TextBox 44"/>
            <p:cNvSpPr txBox="1"/>
            <p:nvPr/>
          </p:nvSpPr>
          <p:spPr>
            <a:xfrm>
              <a:off x="9519285" y="6088856"/>
              <a:ext cx="1612483"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（対処の一覧: P21）。</a:t>
              </a:r>
            </a:p>
          </p:txBody>
        </p:sp>
      </p:grpSp>
      <p:grpSp>
        <p:nvGrpSpPr>
          <p:cNvPr id="48" name="Group 48"/>
          <p:cNvGrpSpPr/>
          <p:nvPr/>
        </p:nvGrpSpPr>
        <p:grpSpPr>
          <a:xfrm>
            <a:off x="451866" y="6477952"/>
            <a:ext cx="11288268" cy="205359"/>
            <a:chOff x="451866" y="6477952"/>
            <a:chExt cx="11288268" cy="205359"/>
          </a:xfrm>
        </p:grpSpPr>
        <p:sp>
          <p:nvSpPr>
            <p:cNvPr id="46" name="TextBox 46"/>
            <p:cNvSpPr txBox="1"/>
            <p:nvPr/>
          </p:nvSpPr>
          <p:spPr>
            <a:xfrm>
              <a:off x="451866" y="6477952"/>
              <a:ext cx="2252718"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MacroStudio 操作マニュアル（ベータ版）</a:t>
              </a:r>
            </a:p>
          </p:txBody>
        </p:sp>
        <p:sp>
          <p:nvSpPr>
            <p:cNvPr id="47" name="TextBox 47"/>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65397" y="486728"/>
              <a:ext cx="30750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操作</a:t>
              </a:r>
            </a:p>
          </p:txBody>
        </p:sp>
        <p:sp>
          <p:nvSpPr>
            <p:cNvPr id="4" name="Rectangle 4"/>
            <p:cNvSpPr/>
            <p:nvPr/>
          </p:nvSpPr>
          <p:spPr>
            <a:xfrm>
              <a:off x="1257300" y="419100"/>
              <a:ext cx="876300" cy="266700"/>
            </a:xfrm>
            <a:prstGeom prst="roundRect">
              <a:avLst>
                <a:gd name="adj" fmla="val 50000"/>
              </a:avLst>
            </a:prstGeom>
            <a:solidFill>
              <a:schemeClr val="lt1"/>
            </a:solidFill>
            <a:ln w="14288">
              <a:solidFill>
                <a:schemeClr val="accent1"/>
              </a:solidFill>
            </a:ln>
          </p:spPr>
        </p:sp>
        <p:sp>
          <p:nvSpPr>
            <p:cNvPr id="5" name="TextBox 5"/>
            <p:cNvSpPr txBox="1"/>
            <p:nvPr/>
          </p:nvSpPr>
          <p:spPr>
            <a:xfrm>
              <a:off x="1478620" y="486728"/>
              <a:ext cx="433661" cy="205359"/>
            </a:xfrm>
            <a:prstGeom prst="rect">
              <a:avLst/>
            </a:prstGeom>
            <a:noFill/>
            <a:ln>
              <a:noFill/>
            </a:ln>
          </p:spPr>
          <p:txBody>
            <a:bodyPr wrap="none" lIns="0" tIns="0" rIns="0" bIns="0" anchor="t" anchorCtr="0">
              <a:spAutoFit/>
            </a:bodyPr>
            <a:lstStyle/>
            <a:p>
              <a:pPr algn="ctr"/>
              <a:r>
                <a:rPr lang="zh-CN" sz="1050" b="1" dirty="0">
                  <a:solidFill>
                    <a:schemeClr val="accent1"/>
                  </a:solidFill>
                  <a:latin typeface="+mn-lt"/>
                  <a:ea typeface="+mn-ea"/>
                  <a:cs typeface="+mn-cs"/>
                </a:rPr>
                <a:t>手順 4</a:t>
              </a:r>
            </a:p>
          </p:txBody>
        </p:sp>
        <p:sp>
          <p:nvSpPr>
            <p:cNvPr id="6" name="TextBox 6"/>
            <p:cNvSpPr txBox="1"/>
            <p:nvPr/>
          </p:nvSpPr>
          <p:spPr>
            <a:xfrm>
              <a:off x="441960" y="685800"/>
              <a:ext cx="5331142"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作成する改修済みブックを確認します</a:t>
              </a:r>
            </a:p>
          </p:txBody>
        </p:sp>
        <p:sp>
          <p:nvSpPr>
            <p:cNvPr id="7" name="Line 7"/>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3" name="Group 13"/>
          <p:cNvGrpSpPr/>
          <p:nvPr/>
        </p:nvGrpSpPr>
        <p:grpSpPr>
          <a:xfrm>
            <a:off x="457200" y="1428750"/>
            <a:ext cx="5486400" cy="3505581"/>
            <a:chOff x="457200" y="1428750"/>
            <a:chExt cx="5486400" cy="3505581"/>
          </a:xfrm>
        </p:grpSpPr>
        <p:sp>
          <p:nvSpPr>
            <p:cNvPr id="9" name="Rectangle 9"/>
            <p:cNvSpPr/>
            <p:nvPr/>
          </p:nvSpPr>
          <p:spPr>
            <a:xfrm>
              <a:off x="457200" y="1428750"/>
              <a:ext cx="5486400" cy="3152775"/>
            </a:xfrm>
            <a:prstGeom prst="roundRect">
              <a:avLst>
                <a:gd name="adj" fmla="val 4230"/>
              </a:avLst>
            </a:prstGeom>
            <a:solidFill>
              <a:schemeClr val="lt2"/>
            </a:solidFill>
            <a:ln>
              <a:noFill/>
            </a:ln>
          </p:spPr>
        </p:sp>
        <p:pic>
          <p:nvPicPr>
            <p:cNvPr id="10" name="Image 10"/>
            <p:cNvPicPr>
              <a:picLocks noChangeAspect="1"/>
            </p:cNvPicPr>
            <p:nvPr/>
          </p:nvPicPr>
          <p:blipFill>
            <a:blip r:embed="rId2"/>
            <a:stretch>
              <a:fillRect/>
            </a:stretch>
          </p:blipFill>
          <p:spPr>
            <a:xfrm>
              <a:off x="533400" y="1504950"/>
              <a:ext cx="5334000" cy="3000375"/>
            </a:xfrm>
            <a:prstGeom prst="roundRect">
              <a:avLst>
                <a:gd name="adj" fmla="val 3174"/>
              </a:avLst>
            </a:prstGeom>
          </p:spPr>
        </p:pic>
        <p:sp>
          <p:nvSpPr>
            <p:cNvPr id="11" name="Rectangle 11"/>
            <p:cNvSpPr/>
            <p:nvPr/>
          </p:nvSpPr>
          <p:spPr>
            <a:xfrm>
              <a:off x="533400" y="1504950"/>
              <a:ext cx="5334000" cy="3000375"/>
            </a:xfrm>
            <a:prstGeom prst="roundRect">
              <a:avLst>
                <a:gd name="adj" fmla="val 3175"/>
              </a:avLst>
            </a:prstGeom>
            <a:noFill/>
            <a:ln w="14288">
              <a:solidFill>
                <a:schemeClr val="accent6"/>
              </a:solidFill>
            </a:ln>
          </p:spPr>
        </p:sp>
        <p:sp>
          <p:nvSpPr>
            <p:cNvPr id="12" name="TextBox 12"/>
            <p:cNvSpPr txBox="1"/>
            <p:nvPr/>
          </p:nvSpPr>
          <p:spPr>
            <a:xfrm>
              <a:off x="527304" y="4699635"/>
              <a:ext cx="4115410"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書き戻し 5（うち新規追加 1）・元ブック保持の集計が表示されます。</a:t>
              </a:r>
            </a:p>
          </p:txBody>
        </p:sp>
      </p:grpSp>
      <p:grpSp>
        <p:nvGrpSpPr>
          <p:cNvPr id="18" name="Group 18"/>
          <p:cNvGrpSpPr/>
          <p:nvPr/>
        </p:nvGrpSpPr>
        <p:grpSpPr>
          <a:xfrm>
            <a:off x="6248400" y="1428750"/>
            <a:ext cx="5486400" cy="3505581"/>
            <a:chOff x="6248400" y="1428750"/>
            <a:chExt cx="5486400" cy="3505581"/>
          </a:xfrm>
        </p:grpSpPr>
        <p:sp>
          <p:nvSpPr>
            <p:cNvPr id="14" name="Rectangle 14"/>
            <p:cNvSpPr/>
            <p:nvPr/>
          </p:nvSpPr>
          <p:spPr>
            <a:xfrm>
              <a:off x="6248400" y="1428750"/>
              <a:ext cx="5486400" cy="3152775"/>
            </a:xfrm>
            <a:prstGeom prst="roundRect">
              <a:avLst>
                <a:gd name="adj" fmla="val 4230"/>
              </a:avLst>
            </a:prstGeom>
            <a:solidFill>
              <a:schemeClr val="lt2"/>
            </a:solidFill>
            <a:ln>
              <a:noFill/>
            </a:ln>
          </p:spPr>
        </p:sp>
        <p:pic>
          <p:nvPicPr>
            <p:cNvPr id="15" name="Image 15"/>
            <p:cNvPicPr>
              <a:picLocks noChangeAspect="1"/>
            </p:cNvPicPr>
            <p:nvPr/>
          </p:nvPicPr>
          <p:blipFill>
            <a:blip r:embed="rId3"/>
            <a:stretch>
              <a:fillRect/>
            </a:stretch>
          </p:blipFill>
          <p:spPr>
            <a:xfrm>
              <a:off x="6324600" y="1504950"/>
              <a:ext cx="5334000" cy="3000375"/>
            </a:xfrm>
            <a:prstGeom prst="roundRect">
              <a:avLst>
                <a:gd name="adj" fmla="val 3174"/>
              </a:avLst>
            </a:prstGeom>
          </p:spPr>
        </p:pic>
        <p:sp>
          <p:nvSpPr>
            <p:cNvPr id="16" name="Rectangle 16"/>
            <p:cNvSpPr/>
            <p:nvPr/>
          </p:nvSpPr>
          <p:spPr>
            <a:xfrm>
              <a:off x="6324600" y="1504950"/>
              <a:ext cx="5334000" cy="3000375"/>
            </a:xfrm>
            <a:prstGeom prst="roundRect">
              <a:avLst>
                <a:gd name="adj" fmla="val 3175"/>
              </a:avLst>
            </a:prstGeom>
            <a:noFill/>
            <a:ln w="14288">
              <a:solidFill>
                <a:schemeClr val="accent6"/>
              </a:solidFill>
            </a:ln>
          </p:spPr>
        </p:sp>
        <p:sp>
          <p:nvSpPr>
            <p:cNvPr id="17" name="TextBox 17"/>
            <p:cNvSpPr txBox="1"/>
            <p:nvPr/>
          </p:nvSpPr>
          <p:spPr>
            <a:xfrm>
              <a:off x="6318504" y="4699635"/>
              <a:ext cx="4018483"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ビルド中の画面。書き戻し後の読み直し検証まで自動で実行されます。</a:t>
              </a:r>
            </a:p>
          </p:txBody>
        </p:sp>
      </p:grpSp>
      <p:grpSp>
        <p:nvGrpSpPr>
          <p:cNvPr id="26" name="Group 26"/>
          <p:cNvGrpSpPr/>
          <p:nvPr/>
        </p:nvGrpSpPr>
        <p:grpSpPr>
          <a:xfrm>
            <a:off x="476250" y="5114925"/>
            <a:ext cx="9364337" cy="1017270"/>
            <a:chOff x="476250" y="5114925"/>
            <a:chExt cx="9364337" cy="1017270"/>
          </a:xfrm>
        </p:grpSpPr>
        <p:sp>
          <p:nvSpPr>
            <p:cNvPr id="19" name="Ellipse 19"/>
            <p:cNvSpPr/>
            <p:nvPr/>
          </p:nvSpPr>
          <p:spPr>
            <a:xfrm>
              <a:off x="476250" y="5114925"/>
              <a:ext cx="285750" cy="285750"/>
            </a:xfrm>
            <a:prstGeom prst="ellipse">
              <a:avLst/>
            </a:prstGeom>
            <a:solidFill>
              <a:schemeClr val="accent1"/>
            </a:solidFill>
            <a:ln>
              <a:noFill/>
            </a:ln>
          </p:spPr>
        </p:sp>
        <p:sp>
          <p:nvSpPr>
            <p:cNvPr id="20" name="TextBox 20"/>
            <p:cNvSpPr txBox="1"/>
            <p:nvPr/>
          </p:nvSpPr>
          <p:spPr>
            <a:xfrm>
              <a:off x="566383" y="51854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21" name="TextBox 21"/>
            <p:cNvSpPr txBox="1"/>
            <p:nvPr/>
          </p:nvSpPr>
          <p:spPr>
            <a:xfrm>
              <a:off x="887730" y="5172075"/>
              <a:ext cx="7667847"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出力ファイル名を確認します。既定値は「</a:t>
              </a:r>
              <a:r>
                <a:rPr lang="en-US" sz="1350" dirty="0">
                  <a:solidFill>
                    <a:schemeClr val="dk1"/>
                  </a:solidFill>
                  <a:latin typeface="Consolas"/>
                  <a:ea typeface="Consolas"/>
                  <a:cs typeface="Consolas"/>
                </a:rPr>
                <a:t>sample_win32_sleep-Modified-20260731.xlsm</a:t>
              </a:r>
              <a:r>
                <a:rPr lang="zh-CN" sz="1500" dirty="0">
                  <a:solidFill>
                    <a:schemeClr val="dk1"/>
                  </a:solidFill>
                  <a:latin typeface="+mn-lt"/>
                  <a:ea typeface="+mn-ea"/>
                  <a:cs typeface="+mn-cs"/>
                </a:rPr>
                <a:t>」のように</a:t>
              </a:r>
            </a:p>
          </p:txBody>
        </p:sp>
        <p:sp>
          <p:nvSpPr>
            <p:cNvPr id="22" name="TextBox 22"/>
            <p:cNvSpPr txBox="1"/>
            <p:nvPr/>
          </p:nvSpPr>
          <p:spPr>
            <a:xfrm>
              <a:off x="887730" y="5457825"/>
              <a:ext cx="8952857"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「元の名前-Modified-日付」です（日付はブックを読み込んだ日）。ファイル名のみ変更でき、拡張子は変更できません。</a:t>
              </a:r>
            </a:p>
          </p:txBody>
        </p:sp>
        <p:sp>
          <p:nvSpPr>
            <p:cNvPr id="23" name="Ellipse 23"/>
            <p:cNvSpPr/>
            <p:nvPr/>
          </p:nvSpPr>
          <p:spPr>
            <a:xfrm>
              <a:off x="476250" y="5781675"/>
              <a:ext cx="285750" cy="285750"/>
            </a:xfrm>
            <a:prstGeom prst="ellipse">
              <a:avLst/>
            </a:prstGeom>
            <a:solidFill>
              <a:schemeClr val="accent1"/>
            </a:solidFill>
            <a:ln>
              <a:noFill/>
            </a:ln>
          </p:spPr>
        </p:sp>
        <p:sp>
          <p:nvSpPr>
            <p:cNvPr id="24" name="TextBox 24"/>
            <p:cNvSpPr txBox="1"/>
            <p:nvPr/>
          </p:nvSpPr>
          <p:spPr>
            <a:xfrm>
              <a:off x="566383" y="58521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25" name="TextBox 25"/>
            <p:cNvSpPr txBox="1"/>
            <p:nvPr/>
          </p:nvSpPr>
          <p:spPr>
            <a:xfrm>
              <a:off x="887730" y="5838825"/>
              <a:ext cx="839533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［次へ］でビルドが開始されます（通常は数秒）。「時間がかかっています」と表示された場合も処理は継続しています。</a:t>
              </a:r>
            </a:p>
          </p:txBody>
        </p:sp>
      </p:grpSp>
      <p:grpSp>
        <p:nvGrpSpPr>
          <p:cNvPr id="29" name="Group 29"/>
          <p:cNvGrpSpPr/>
          <p:nvPr/>
        </p:nvGrpSpPr>
        <p:grpSpPr>
          <a:xfrm>
            <a:off x="451866" y="6477952"/>
            <a:ext cx="11288268" cy="205359"/>
            <a:chOff x="451866" y="6477952"/>
            <a:chExt cx="11288268" cy="205359"/>
          </a:xfrm>
        </p:grpSpPr>
        <p:sp>
          <p:nvSpPr>
            <p:cNvPr id="27" name="TextBox 27"/>
            <p:cNvSpPr txBox="1"/>
            <p:nvPr/>
          </p:nvSpPr>
          <p:spPr>
            <a:xfrm>
              <a:off x="451866" y="6477952"/>
              <a:ext cx="2252718"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MacroStudio 操作マニュアル（ベータ版）</a:t>
              </a:r>
            </a:p>
          </p:txBody>
        </p:sp>
        <p:sp>
          <p:nvSpPr>
            <p:cNvPr id="28" name="TextBox 28"/>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65397" y="486728"/>
              <a:ext cx="30750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操作</a:t>
              </a:r>
            </a:p>
          </p:txBody>
        </p:sp>
        <p:sp>
          <p:nvSpPr>
            <p:cNvPr id="4" name="Rectangle 4"/>
            <p:cNvSpPr/>
            <p:nvPr/>
          </p:nvSpPr>
          <p:spPr>
            <a:xfrm>
              <a:off x="1257300" y="419100"/>
              <a:ext cx="876300" cy="266700"/>
            </a:xfrm>
            <a:prstGeom prst="roundRect">
              <a:avLst>
                <a:gd name="adj" fmla="val 50000"/>
              </a:avLst>
            </a:prstGeom>
            <a:solidFill>
              <a:schemeClr val="lt1"/>
            </a:solidFill>
            <a:ln w="14288">
              <a:solidFill>
                <a:schemeClr val="accent1"/>
              </a:solidFill>
            </a:ln>
          </p:spPr>
        </p:sp>
        <p:sp>
          <p:nvSpPr>
            <p:cNvPr id="5" name="TextBox 5"/>
            <p:cNvSpPr txBox="1"/>
            <p:nvPr/>
          </p:nvSpPr>
          <p:spPr>
            <a:xfrm>
              <a:off x="1478620" y="486728"/>
              <a:ext cx="433661" cy="205359"/>
            </a:xfrm>
            <a:prstGeom prst="rect">
              <a:avLst/>
            </a:prstGeom>
            <a:noFill/>
            <a:ln>
              <a:noFill/>
            </a:ln>
          </p:spPr>
          <p:txBody>
            <a:bodyPr wrap="none" lIns="0" tIns="0" rIns="0" bIns="0" anchor="t" anchorCtr="0">
              <a:spAutoFit/>
            </a:bodyPr>
            <a:lstStyle/>
            <a:p>
              <a:pPr algn="ctr"/>
              <a:r>
                <a:rPr lang="zh-CN" sz="1050" b="1" dirty="0">
                  <a:solidFill>
                    <a:schemeClr val="accent1"/>
                  </a:solidFill>
                  <a:latin typeface="+mn-lt"/>
                  <a:ea typeface="+mn-ea"/>
                  <a:cs typeface="+mn-cs"/>
                </a:rPr>
                <a:t>手順 4</a:t>
              </a:r>
            </a:p>
          </p:txBody>
        </p:sp>
        <p:sp>
          <p:nvSpPr>
            <p:cNvPr id="6" name="TextBox 6"/>
            <p:cNvSpPr txBox="1"/>
            <p:nvPr/>
          </p:nvSpPr>
          <p:spPr>
            <a:xfrm>
              <a:off x="441960" y="685800"/>
              <a:ext cx="4292213"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出力されたフォルダを確認します</a:t>
              </a:r>
            </a:p>
          </p:txBody>
        </p:sp>
        <p:sp>
          <p:nvSpPr>
            <p:cNvPr id="7" name="Line 7"/>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3" name="Group 13"/>
          <p:cNvGrpSpPr/>
          <p:nvPr/>
        </p:nvGrpSpPr>
        <p:grpSpPr>
          <a:xfrm>
            <a:off x="457200" y="1428750"/>
            <a:ext cx="6858000" cy="4277106"/>
            <a:chOff x="457200" y="1428750"/>
            <a:chExt cx="6858000" cy="4277106"/>
          </a:xfrm>
        </p:grpSpPr>
        <p:sp>
          <p:nvSpPr>
            <p:cNvPr id="9" name="Rectangle 9"/>
            <p:cNvSpPr/>
            <p:nvPr/>
          </p:nvSpPr>
          <p:spPr>
            <a:xfrm>
              <a:off x="457200" y="1428750"/>
              <a:ext cx="6858000" cy="3924300"/>
            </a:xfrm>
            <a:prstGeom prst="roundRect">
              <a:avLst>
                <a:gd name="adj" fmla="val 3398"/>
              </a:avLst>
            </a:prstGeom>
            <a:solidFill>
              <a:schemeClr val="lt2"/>
            </a:solidFill>
            <a:ln>
              <a:noFill/>
            </a:ln>
          </p:spPr>
        </p:sp>
        <p:pic>
          <p:nvPicPr>
            <p:cNvPr id="10" name="Image 10"/>
            <p:cNvPicPr>
              <a:picLocks noChangeAspect="1"/>
            </p:cNvPicPr>
            <p:nvPr/>
          </p:nvPicPr>
          <p:blipFill>
            <a:blip r:embed="rId2"/>
            <a:stretch>
              <a:fillRect/>
            </a:stretch>
          </p:blipFill>
          <p:spPr>
            <a:xfrm>
              <a:off x="533400" y="1504950"/>
              <a:ext cx="6705600" cy="3771900"/>
            </a:xfrm>
            <a:prstGeom prst="roundRect">
              <a:avLst>
                <a:gd name="adj" fmla="val 2525"/>
              </a:avLst>
            </a:prstGeom>
          </p:spPr>
        </p:pic>
        <p:sp>
          <p:nvSpPr>
            <p:cNvPr id="11" name="Rectangle 11"/>
            <p:cNvSpPr/>
            <p:nvPr/>
          </p:nvSpPr>
          <p:spPr>
            <a:xfrm>
              <a:off x="533400" y="1504950"/>
              <a:ext cx="6705600" cy="3771900"/>
            </a:xfrm>
            <a:prstGeom prst="roundRect">
              <a:avLst>
                <a:gd name="adj" fmla="val 2525"/>
              </a:avLst>
            </a:prstGeom>
            <a:noFill/>
            <a:ln w="14288">
              <a:solidFill>
                <a:schemeClr val="accent6"/>
              </a:solidFill>
            </a:ln>
          </p:spPr>
        </p:sp>
        <p:sp>
          <p:nvSpPr>
            <p:cNvPr id="12" name="TextBox 12"/>
            <p:cNvSpPr txBox="1"/>
            <p:nvPr/>
          </p:nvSpPr>
          <p:spPr>
            <a:xfrm>
              <a:off x="527304" y="5471160"/>
              <a:ext cx="6053938"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完了画面。［出力フォルダをエクスプローラーで開く］でフォルダが開き、［完了］で最初の画面に戻ります。</a:t>
              </a:r>
            </a:p>
          </p:txBody>
        </p:sp>
      </p:grpSp>
      <p:grpSp>
        <p:nvGrpSpPr>
          <p:cNvPr id="28" name="Group 28"/>
          <p:cNvGrpSpPr/>
          <p:nvPr/>
        </p:nvGrpSpPr>
        <p:grpSpPr>
          <a:xfrm>
            <a:off x="7620000" y="1428750"/>
            <a:ext cx="4114800" cy="3810000"/>
            <a:chOff x="7620000" y="1428750"/>
            <a:chExt cx="4114800" cy="3810000"/>
          </a:xfrm>
        </p:grpSpPr>
        <p:sp>
          <p:nvSpPr>
            <p:cNvPr id="14" name="Rectangle 14"/>
            <p:cNvSpPr/>
            <p:nvPr/>
          </p:nvSpPr>
          <p:spPr>
            <a:xfrm>
              <a:off x="7620000" y="1428750"/>
              <a:ext cx="4114800" cy="3810000"/>
            </a:xfrm>
            <a:prstGeom prst="roundRect">
              <a:avLst>
                <a:gd name="adj" fmla="val 4000"/>
              </a:avLst>
            </a:prstGeom>
            <a:solidFill>
              <a:schemeClr val="lt2"/>
            </a:solidFill>
            <a:ln>
              <a:noFill/>
            </a:ln>
          </p:spPr>
        </p:sp>
        <p:sp>
          <p:nvSpPr>
            <p:cNvPr id="15" name="Freeform 15"/>
            <p:cNvSpPr/>
            <p:nvPr/>
          </p:nvSpPr>
          <p:spPr>
            <a:xfrm>
              <a:off x="7869237" y="1669256"/>
              <a:ext cx="216899" cy="175418"/>
            </a:xfrm>
            <a:custGeom>
              <a:avLst/>
              <a:gdLst/>
              <a:ahLst/>
              <a:cxnLst/>
              <a:rect l="l" t="t" r="r" b="b"/>
              <a:pathLst>
                <a:path w="216899" h="175418">
                  <a:moveTo>
                    <a:pt x="0" y="30956"/>
                  </a:moveTo>
                  <a:cubicBezTo>
                    <a:pt x="0" y="22742"/>
                    <a:pt x="3261" y="14880"/>
                    <a:pt x="9070" y="9070"/>
                  </a:cubicBezTo>
                  <a:cubicBezTo>
                    <a:pt x="14880" y="3261"/>
                    <a:pt x="22742" y="0"/>
                    <a:pt x="30956" y="0"/>
                  </a:cubicBezTo>
                  <a:lnTo>
                    <a:pt x="72231" y="0"/>
                  </a:lnTo>
                  <a:lnTo>
                    <a:pt x="73253" y="52"/>
                  </a:lnTo>
                  <a:cubicBezTo>
                    <a:pt x="75616" y="289"/>
                    <a:pt x="77834" y="1331"/>
                    <a:pt x="79526" y="3023"/>
                  </a:cubicBezTo>
                  <a:lnTo>
                    <a:pt x="107459" y="30956"/>
                  </a:lnTo>
                  <a:lnTo>
                    <a:pt x="175418" y="30956"/>
                  </a:lnTo>
                  <a:cubicBezTo>
                    <a:pt x="183632" y="30956"/>
                    <a:pt x="191495" y="34217"/>
                    <a:pt x="197304" y="40026"/>
                  </a:cubicBezTo>
                  <a:cubicBezTo>
                    <a:pt x="200596" y="43318"/>
                    <a:pt x="203072" y="47280"/>
                    <a:pt x="204600" y="51594"/>
                  </a:cubicBezTo>
                  <a:lnTo>
                    <a:pt x="54741" y="51594"/>
                  </a:lnTo>
                  <a:cubicBezTo>
                    <a:pt x="50541" y="51594"/>
                    <a:pt x="46434" y="52883"/>
                    <a:pt x="42977" y="55267"/>
                  </a:cubicBezTo>
                  <a:cubicBezTo>
                    <a:pt x="39964" y="57362"/>
                    <a:pt x="37560" y="60220"/>
                    <a:pt x="36023" y="63532"/>
                  </a:cubicBezTo>
                  <a:lnTo>
                    <a:pt x="35424" y="64987"/>
                  </a:lnTo>
                  <a:lnTo>
                    <a:pt x="21195" y="102919"/>
                  </a:lnTo>
                  <a:cubicBezTo>
                    <a:pt x="19193" y="108254"/>
                    <a:pt x="21896" y="114197"/>
                    <a:pt x="27231" y="116199"/>
                  </a:cubicBezTo>
                  <a:cubicBezTo>
                    <a:pt x="32566" y="118201"/>
                    <a:pt x="38520" y="115497"/>
                    <a:pt x="40522" y="110163"/>
                  </a:cubicBezTo>
                  <a:lnTo>
                    <a:pt x="52223" y="78928"/>
                  </a:lnTo>
                  <a:cubicBezTo>
                    <a:pt x="53730" y="74904"/>
                    <a:pt x="57578" y="72231"/>
                    <a:pt x="61892" y="72231"/>
                  </a:cubicBezTo>
                  <a:lnTo>
                    <a:pt x="196056" y="72231"/>
                  </a:lnTo>
                  <a:lnTo>
                    <a:pt x="198295" y="72355"/>
                  </a:lnTo>
                  <a:cubicBezTo>
                    <a:pt x="200524" y="72603"/>
                    <a:pt x="202691" y="73201"/>
                    <a:pt x="204734" y="74140"/>
                  </a:cubicBezTo>
                  <a:cubicBezTo>
                    <a:pt x="205291" y="74398"/>
                    <a:pt x="205838" y="74687"/>
                    <a:pt x="206374" y="74996"/>
                  </a:cubicBezTo>
                  <a:cubicBezTo>
                    <a:pt x="208428" y="76183"/>
                    <a:pt x="210265" y="77710"/>
                    <a:pt x="211792" y="79526"/>
                  </a:cubicBezTo>
                  <a:cubicBezTo>
                    <a:pt x="213732" y="81817"/>
                    <a:pt x="215145" y="84500"/>
                    <a:pt x="215950" y="87389"/>
                  </a:cubicBezTo>
                  <a:cubicBezTo>
                    <a:pt x="216745" y="90278"/>
                    <a:pt x="216899" y="93302"/>
                    <a:pt x="216414" y="96253"/>
                  </a:cubicBezTo>
                  <a:cubicBezTo>
                    <a:pt x="216404" y="96336"/>
                    <a:pt x="216384" y="96418"/>
                    <a:pt x="216363" y="96501"/>
                  </a:cubicBezTo>
                  <a:lnTo>
                    <a:pt x="206096" y="150261"/>
                  </a:lnTo>
                  <a:cubicBezTo>
                    <a:pt x="204744" y="157340"/>
                    <a:pt x="200967" y="163717"/>
                    <a:pt x="195406" y="168309"/>
                  </a:cubicBezTo>
                  <a:cubicBezTo>
                    <a:pt x="190556" y="172323"/>
                    <a:pt x="184612" y="174747"/>
                    <a:pt x="178380" y="175294"/>
                  </a:cubicBezTo>
                  <a:lnTo>
                    <a:pt x="175686" y="175418"/>
                  </a:lnTo>
                  <a:lnTo>
                    <a:pt x="30956" y="175418"/>
                  </a:lnTo>
                  <a:cubicBezTo>
                    <a:pt x="22742" y="175418"/>
                    <a:pt x="14880" y="172157"/>
                    <a:pt x="9070" y="166348"/>
                  </a:cubicBezTo>
                  <a:cubicBezTo>
                    <a:pt x="3261" y="160539"/>
                    <a:pt x="0" y="152676"/>
                    <a:pt x="0" y="144462"/>
                  </a:cubicBezTo>
                  <a:lnTo>
                    <a:pt x="0" y="30956"/>
                  </a:lnTo>
                  <a:close/>
                </a:path>
              </a:pathLst>
            </a:custGeom>
            <a:solidFill>
              <a:schemeClr val="accent1"/>
            </a:solidFill>
            <a:ln>
              <a:noFill/>
            </a:ln>
          </p:spPr>
        </p:sp>
        <p:sp>
          <p:nvSpPr>
            <p:cNvPr id="16" name="TextBox 16"/>
            <p:cNvSpPr txBox="1"/>
            <p:nvPr/>
          </p:nvSpPr>
          <p:spPr>
            <a:xfrm>
              <a:off x="8204073" y="1691164"/>
              <a:ext cx="2398381" cy="249364"/>
            </a:xfrm>
            <a:prstGeom prst="rect">
              <a:avLst/>
            </a:prstGeom>
            <a:noFill/>
            <a:ln>
              <a:noFill/>
            </a:ln>
          </p:spPr>
          <p:txBody>
            <a:bodyPr wrap="none" lIns="0" tIns="0" rIns="0" bIns="0" anchor="t" anchorCtr="0">
              <a:spAutoFit/>
            </a:bodyPr>
            <a:lstStyle/>
            <a:p>
              <a:pPr algn="l"/>
              <a:r>
                <a:rPr lang="zh-CN" sz="1280" b="1" dirty="0">
                  <a:solidFill>
                    <a:schemeClr val="dk1"/>
                  </a:solidFill>
                  <a:latin typeface="+mn-lt"/>
                  <a:ea typeface="+mn-ea"/>
                  <a:cs typeface="+mn-cs"/>
                </a:rPr>
                <a:t>元のブックのフォルダ\MacroStudio\</a:t>
              </a:r>
            </a:p>
          </p:txBody>
        </p:sp>
        <p:sp>
          <p:nvSpPr>
            <p:cNvPr id="17" name="TextBox 17"/>
            <p:cNvSpPr txBox="1"/>
            <p:nvPr/>
          </p:nvSpPr>
          <p:spPr>
            <a:xfrm>
              <a:off x="8204073" y="1938814"/>
              <a:ext cx="2763079" cy="249364"/>
            </a:xfrm>
            <a:prstGeom prst="rect">
              <a:avLst/>
            </a:prstGeom>
            <a:noFill/>
            <a:ln>
              <a:noFill/>
            </a:ln>
          </p:spPr>
          <p:txBody>
            <a:bodyPr wrap="none" lIns="0" tIns="0" rIns="0" bIns="0" anchor="t" anchorCtr="0">
              <a:spAutoFit/>
            </a:bodyPr>
            <a:lstStyle/>
            <a:p>
              <a:pPr algn="l"/>
              <a:r>
                <a:rPr lang="zh-CN" sz="1280" b="1" dirty="0">
                  <a:solidFill>
                    <a:schemeClr val="dk1"/>
                  </a:solidFill>
                  <a:latin typeface="+mn-lt"/>
                  <a:ea typeface="+mn-ea"/>
                  <a:cs typeface="+mn-cs"/>
                </a:rPr>
                <a:t>sample_win32_sleep_日付_時刻\</a:t>
              </a:r>
            </a:p>
          </p:txBody>
        </p:sp>
        <p:sp>
          <p:nvSpPr>
            <p:cNvPr id="18" name="TextBox 18"/>
            <p:cNvSpPr txBox="1"/>
            <p:nvPr/>
          </p:nvSpPr>
          <p:spPr>
            <a:xfrm>
              <a:off x="7842885" y="2316956"/>
              <a:ext cx="870844" cy="220028"/>
            </a:xfrm>
            <a:prstGeom prst="rect">
              <a:avLst/>
            </a:prstGeom>
            <a:noFill/>
            <a:ln>
              <a:noFill/>
            </a:ln>
          </p:spPr>
          <p:txBody>
            <a:bodyPr wrap="none" lIns="0" tIns="0" rIns="0" bIns="0" anchor="t" anchorCtr="0">
              <a:spAutoFit/>
            </a:bodyPr>
            <a:lstStyle/>
            <a:p>
              <a:pPr algn="l"/>
              <a:r>
                <a:rPr lang="en-US" sz="1120" dirty="0">
                  <a:solidFill>
                    <a:schemeClr val="dk1"/>
                  </a:solidFill>
                  <a:latin typeface="Consolas"/>
                  <a:ea typeface="Consolas"/>
                  <a:cs typeface="Consolas"/>
                </a:rPr>
                <a:t>request.md</a:t>
              </a:r>
            </a:p>
          </p:txBody>
        </p:sp>
        <p:sp>
          <p:nvSpPr>
            <p:cNvPr id="19" name="TextBox 19"/>
            <p:cNvSpPr txBox="1"/>
            <p:nvPr/>
          </p:nvSpPr>
          <p:spPr>
            <a:xfrm>
              <a:off x="7842885" y="2545556"/>
              <a:ext cx="1094730" cy="220028"/>
            </a:xfrm>
            <a:prstGeom prst="rect">
              <a:avLst/>
            </a:prstGeom>
            <a:noFill/>
            <a:ln>
              <a:noFill/>
            </a:ln>
          </p:spPr>
          <p:txBody>
            <a:bodyPr wrap="none" lIns="0" tIns="0" rIns="0" bIns="0" anchor="t" anchorCtr="0">
              <a:spAutoFit/>
            </a:bodyPr>
            <a:lstStyle/>
            <a:p>
              <a:pPr algn="l"/>
              <a:r>
                <a:rPr lang="zh-CN" sz="1120" dirty="0">
                  <a:solidFill>
                    <a:srgbClr val="5D6B7A"/>
                  </a:solidFill>
                  <a:latin typeface="+mn-lt"/>
                  <a:ea typeface="+mn-ea"/>
                  <a:cs typeface="+mn-cs"/>
                </a:rPr>
                <a:t>AI へ渡した依頼文</a:t>
              </a:r>
            </a:p>
          </p:txBody>
        </p:sp>
        <p:sp>
          <p:nvSpPr>
            <p:cNvPr id="20" name="TextBox 20"/>
            <p:cNvSpPr txBox="1"/>
            <p:nvPr/>
          </p:nvSpPr>
          <p:spPr>
            <a:xfrm>
              <a:off x="7842885" y="2850356"/>
              <a:ext cx="1202548" cy="220028"/>
            </a:xfrm>
            <a:prstGeom prst="rect">
              <a:avLst/>
            </a:prstGeom>
            <a:noFill/>
            <a:ln>
              <a:noFill/>
            </a:ln>
          </p:spPr>
          <p:txBody>
            <a:bodyPr wrap="none" lIns="0" tIns="0" rIns="0" bIns="0" anchor="t" anchorCtr="0">
              <a:spAutoFit/>
            </a:bodyPr>
            <a:lstStyle/>
            <a:p>
              <a:pPr algn="l"/>
              <a:r>
                <a:rPr lang="en-US" sz="1120" dirty="0">
                  <a:solidFill>
                    <a:schemeClr val="dk1"/>
                  </a:solidFill>
                  <a:latin typeface="Consolas"/>
                  <a:ea typeface="Consolas"/>
                  <a:cs typeface="Consolas"/>
                </a:rPr>
                <a:t>source-code.md</a:t>
              </a:r>
            </a:p>
          </p:txBody>
        </p:sp>
        <p:sp>
          <p:nvSpPr>
            <p:cNvPr id="21" name="TextBox 21"/>
            <p:cNvSpPr txBox="1"/>
            <p:nvPr/>
          </p:nvSpPr>
          <p:spPr>
            <a:xfrm>
              <a:off x="7842885" y="3078956"/>
              <a:ext cx="1097006" cy="220028"/>
            </a:xfrm>
            <a:prstGeom prst="rect">
              <a:avLst/>
            </a:prstGeom>
            <a:noFill/>
            <a:ln>
              <a:noFill/>
            </a:ln>
          </p:spPr>
          <p:txBody>
            <a:bodyPr wrap="none" lIns="0" tIns="0" rIns="0" bIns="0" anchor="t" anchorCtr="0">
              <a:spAutoFit/>
            </a:bodyPr>
            <a:lstStyle/>
            <a:p>
              <a:pPr algn="l"/>
              <a:r>
                <a:rPr lang="zh-CN" sz="1120" dirty="0">
                  <a:solidFill>
                    <a:srgbClr val="5D6B7A"/>
                  </a:solidFill>
                  <a:latin typeface="+mn-lt"/>
                  <a:ea typeface="+mn-ea"/>
                  <a:cs typeface="+mn-cs"/>
                </a:rPr>
                <a:t>改修前のコード全文</a:t>
              </a:r>
            </a:p>
          </p:txBody>
        </p:sp>
        <p:sp>
          <p:nvSpPr>
            <p:cNvPr id="22" name="TextBox 22"/>
            <p:cNvSpPr txBox="1"/>
            <p:nvPr/>
          </p:nvSpPr>
          <p:spPr>
            <a:xfrm>
              <a:off x="7842885" y="3383756"/>
              <a:ext cx="3478102"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Consolas"/>
                  <a:ea typeface="Consolas"/>
                  <a:cs typeface="Consolas"/>
                </a:rPr>
                <a:t>sample_win32_sleep-Modified-20260731.xlsm</a:t>
              </a:r>
            </a:p>
          </p:txBody>
        </p:sp>
        <p:sp>
          <p:nvSpPr>
            <p:cNvPr id="23" name="TextBox 23"/>
            <p:cNvSpPr txBox="1"/>
            <p:nvPr/>
          </p:nvSpPr>
          <p:spPr>
            <a:xfrm>
              <a:off x="7842885" y="3612356"/>
              <a:ext cx="2624094" cy="220028"/>
            </a:xfrm>
            <a:prstGeom prst="rect">
              <a:avLst/>
            </a:prstGeom>
            <a:noFill/>
            <a:ln>
              <a:noFill/>
            </a:ln>
          </p:spPr>
          <p:txBody>
            <a:bodyPr wrap="none" lIns="0" tIns="0" rIns="0" bIns="0" anchor="t" anchorCtr="0">
              <a:spAutoFit/>
            </a:bodyPr>
            <a:lstStyle/>
            <a:p>
              <a:pPr algn="l"/>
              <a:r>
                <a:rPr lang="zh-CN" sz="1120" dirty="0">
                  <a:solidFill>
                    <a:srgbClr val="5D6B7A"/>
                  </a:solidFill>
                  <a:latin typeface="+mn-lt"/>
                  <a:ea typeface="+mn-ea"/>
                  <a:cs typeface="+mn-cs"/>
                </a:rPr>
                <a:t>改修済みブック（動作確認の対象。P18）</a:t>
              </a:r>
            </a:p>
          </p:txBody>
        </p:sp>
        <p:sp>
          <p:nvSpPr>
            <p:cNvPr id="24" name="TextBox 24"/>
            <p:cNvSpPr txBox="1"/>
            <p:nvPr/>
          </p:nvSpPr>
          <p:spPr>
            <a:xfrm>
              <a:off x="7842885" y="3917156"/>
              <a:ext cx="3576523" cy="220028"/>
            </a:xfrm>
            <a:prstGeom prst="rect">
              <a:avLst/>
            </a:prstGeom>
            <a:noFill/>
            <a:ln>
              <a:noFill/>
            </a:ln>
          </p:spPr>
          <p:txBody>
            <a:bodyPr wrap="none" lIns="0" tIns="0" rIns="0" bIns="0" anchor="t" anchorCtr="0">
              <a:spAutoFit/>
            </a:bodyPr>
            <a:lstStyle/>
            <a:p>
              <a:pPr algn="l"/>
              <a:r>
                <a:rPr lang="en-US" sz="1120" dirty="0">
                  <a:solidFill>
                    <a:schemeClr val="dk1"/>
                  </a:solidFill>
                  <a:latin typeface="Consolas"/>
                  <a:ea typeface="Consolas"/>
                  <a:cs typeface="Consolas"/>
                </a:rPr>
                <a:t>sample_win32_sleep-Diff-Report-20260731.html</a:t>
              </a:r>
            </a:p>
          </p:txBody>
        </p:sp>
        <p:sp>
          <p:nvSpPr>
            <p:cNvPr id="25" name="TextBox 25"/>
            <p:cNvSpPr txBox="1"/>
            <p:nvPr/>
          </p:nvSpPr>
          <p:spPr>
            <a:xfrm>
              <a:off x="7842885" y="4145756"/>
              <a:ext cx="1986859" cy="220028"/>
            </a:xfrm>
            <a:prstGeom prst="rect">
              <a:avLst/>
            </a:prstGeom>
            <a:noFill/>
            <a:ln>
              <a:noFill/>
            </a:ln>
          </p:spPr>
          <p:txBody>
            <a:bodyPr wrap="none" lIns="0" tIns="0" rIns="0" bIns="0" anchor="t" anchorCtr="0">
              <a:spAutoFit/>
            </a:bodyPr>
            <a:lstStyle/>
            <a:p>
              <a:pPr algn="l"/>
              <a:r>
                <a:rPr lang="zh-CN" sz="1120" dirty="0">
                  <a:solidFill>
                    <a:srgbClr val="5D6B7A"/>
                  </a:solidFill>
                  <a:latin typeface="+mn-lt"/>
                  <a:ea typeface="+mn-ea"/>
                  <a:cs typeface="+mn-cs"/>
                </a:rPr>
                <a:t>変更内容の確認レポート（P19）</a:t>
              </a:r>
            </a:p>
          </p:txBody>
        </p:sp>
        <p:sp>
          <p:nvSpPr>
            <p:cNvPr id="26" name="TextBox 26"/>
            <p:cNvSpPr txBox="1"/>
            <p:nvPr/>
          </p:nvSpPr>
          <p:spPr>
            <a:xfrm>
              <a:off x="7842885" y="4450556"/>
              <a:ext cx="750225" cy="220028"/>
            </a:xfrm>
            <a:prstGeom prst="rect">
              <a:avLst/>
            </a:prstGeom>
            <a:noFill/>
            <a:ln>
              <a:noFill/>
            </a:ln>
          </p:spPr>
          <p:txBody>
            <a:bodyPr wrap="none" lIns="0" tIns="0" rIns="0" bIns="0" anchor="t" anchorCtr="0">
              <a:spAutoFit/>
            </a:bodyPr>
            <a:lstStyle/>
            <a:p>
              <a:pPr algn="l"/>
              <a:r>
                <a:rPr lang="en-US" sz="1120" dirty="0">
                  <a:solidFill>
                    <a:schemeClr val="dk1"/>
                  </a:solidFill>
                  <a:latin typeface="Consolas"/>
                  <a:ea typeface="Consolas"/>
                  <a:cs typeface="Consolas"/>
                </a:rPr>
                <a:t>result.md</a:t>
              </a:r>
            </a:p>
          </p:txBody>
        </p:sp>
        <p:sp>
          <p:nvSpPr>
            <p:cNvPr id="27" name="TextBox 27"/>
            <p:cNvSpPr txBox="1"/>
            <p:nvPr/>
          </p:nvSpPr>
          <p:spPr>
            <a:xfrm>
              <a:off x="7842885" y="4679156"/>
              <a:ext cx="863305" cy="220028"/>
            </a:xfrm>
            <a:prstGeom prst="rect">
              <a:avLst/>
            </a:prstGeom>
            <a:noFill/>
            <a:ln>
              <a:noFill/>
            </a:ln>
          </p:spPr>
          <p:txBody>
            <a:bodyPr wrap="none" lIns="0" tIns="0" rIns="0" bIns="0" anchor="t" anchorCtr="0">
              <a:spAutoFit/>
            </a:bodyPr>
            <a:lstStyle/>
            <a:p>
              <a:pPr algn="l"/>
              <a:r>
                <a:rPr lang="zh-CN" sz="1120" dirty="0">
                  <a:solidFill>
                    <a:srgbClr val="5D6B7A"/>
                  </a:solidFill>
                  <a:latin typeface="+mn-lt"/>
                  <a:ea typeface="+mn-ea"/>
                  <a:cs typeface="+mn-cs"/>
                </a:rPr>
                <a:t>改修の概要メモ</a:t>
              </a:r>
            </a:p>
          </p:txBody>
        </p:sp>
      </p:grpSp>
      <p:grpSp>
        <p:nvGrpSpPr>
          <p:cNvPr id="33" name="Group 33"/>
          <p:cNvGrpSpPr/>
          <p:nvPr/>
        </p:nvGrpSpPr>
        <p:grpSpPr>
          <a:xfrm>
            <a:off x="7620000" y="5391150"/>
            <a:ext cx="4114800" cy="647700"/>
            <a:chOff x="7620000" y="5391150"/>
            <a:chExt cx="4114800" cy="647700"/>
          </a:xfrm>
        </p:grpSpPr>
        <p:sp>
          <p:nvSpPr>
            <p:cNvPr id="29" name="Rectangle 29"/>
            <p:cNvSpPr/>
            <p:nvPr/>
          </p:nvSpPr>
          <p:spPr>
            <a:xfrm>
              <a:off x="7620000" y="5391150"/>
              <a:ext cx="4114800" cy="647700"/>
            </a:xfrm>
            <a:prstGeom prst="roundRect">
              <a:avLst>
                <a:gd name="adj" fmla="val 17647"/>
              </a:avLst>
            </a:prstGeom>
            <a:solidFill>
              <a:schemeClr val="lt1"/>
            </a:solidFill>
            <a:ln w="14288">
              <a:solidFill>
                <a:srgbClr val="3A7A47"/>
              </a:solidFill>
            </a:ln>
          </p:spPr>
        </p:sp>
        <p:sp>
          <p:nvSpPr>
            <p:cNvPr id="30" name="Freeform 30"/>
            <p:cNvSpPr/>
            <p:nvPr/>
          </p:nvSpPr>
          <p:spPr>
            <a:xfrm>
              <a:off x="7826465" y="5602287"/>
              <a:ext cx="215709" cy="206485"/>
            </a:xfrm>
            <a:custGeom>
              <a:avLst/>
              <a:gdLst/>
              <a:ahLst/>
              <a:cxnLst/>
              <a:rect l="l" t="t" r="r" b="b"/>
              <a:pathLst>
                <a:path w="215709" h="206485">
                  <a:moveTo>
                    <a:pt x="107839" y="0"/>
                  </a:moveTo>
                  <a:lnTo>
                    <a:pt x="109056" y="72"/>
                  </a:lnTo>
                  <a:lnTo>
                    <a:pt x="109665" y="155"/>
                  </a:lnTo>
                  <a:lnTo>
                    <a:pt x="110295" y="289"/>
                  </a:lnTo>
                  <a:lnTo>
                    <a:pt x="111440" y="640"/>
                  </a:lnTo>
                  <a:cubicBezTo>
                    <a:pt x="112231" y="931"/>
                    <a:pt x="112983" y="1320"/>
                    <a:pt x="113679" y="1795"/>
                  </a:cubicBezTo>
                  <a:lnTo>
                    <a:pt x="114752" y="2642"/>
                  </a:lnTo>
                  <a:lnTo>
                    <a:pt x="117384" y="4891"/>
                  </a:lnTo>
                  <a:cubicBezTo>
                    <a:pt x="138200" y="22181"/>
                    <a:pt x="164508" y="31465"/>
                    <a:pt x="191565" y="31070"/>
                  </a:cubicBezTo>
                  <a:lnTo>
                    <a:pt x="195094" y="30966"/>
                  </a:lnTo>
                  <a:cubicBezTo>
                    <a:pt x="199842" y="30750"/>
                    <a:pt x="204124" y="33805"/>
                    <a:pt x="205464" y="38365"/>
                  </a:cubicBezTo>
                  <a:cubicBezTo>
                    <a:pt x="215709" y="73214"/>
                    <a:pt x="211383" y="110728"/>
                    <a:pt x="193475" y="142331"/>
                  </a:cubicBezTo>
                  <a:cubicBezTo>
                    <a:pt x="175568" y="173934"/>
                    <a:pt x="145610" y="196923"/>
                    <a:pt x="110449" y="206044"/>
                  </a:cubicBezTo>
                  <a:cubicBezTo>
                    <a:pt x="108751" y="206485"/>
                    <a:pt x="106968" y="206485"/>
                    <a:pt x="105269" y="206044"/>
                  </a:cubicBezTo>
                  <a:cubicBezTo>
                    <a:pt x="70107" y="196926"/>
                    <a:pt x="40147" y="173937"/>
                    <a:pt x="22237" y="142334"/>
                  </a:cubicBezTo>
                  <a:cubicBezTo>
                    <a:pt x="4327" y="110731"/>
                    <a:pt x="0" y="73216"/>
                    <a:pt x="10244" y="38365"/>
                  </a:cubicBezTo>
                  <a:cubicBezTo>
                    <a:pt x="11585" y="33805"/>
                    <a:pt x="15866" y="30750"/>
                    <a:pt x="20615" y="30966"/>
                  </a:cubicBezTo>
                  <a:cubicBezTo>
                    <a:pt x="48862" y="32258"/>
                    <a:pt x="76574" y="22959"/>
                    <a:pt x="98325" y="4891"/>
                  </a:cubicBezTo>
                  <a:lnTo>
                    <a:pt x="101039" y="2569"/>
                  </a:lnTo>
                  <a:lnTo>
                    <a:pt x="102029" y="1795"/>
                  </a:lnTo>
                  <a:cubicBezTo>
                    <a:pt x="102725" y="1320"/>
                    <a:pt x="103477" y="931"/>
                    <a:pt x="104269" y="640"/>
                  </a:cubicBezTo>
                  <a:lnTo>
                    <a:pt x="105424" y="289"/>
                  </a:lnTo>
                  <a:cubicBezTo>
                    <a:pt x="105829" y="191"/>
                    <a:pt x="106239" y="119"/>
                    <a:pt x="106652" y="72"/>
                  </a:cubicBezTo>
                  <a:lnTo>
                    <a:pt x="107839" y="0"/>
                  </a:lnTo>
                  <a:close/>
                  <a:moveTo>
                    <a:pt x="146121" y="75254"/>
                  </a:moveTo>
                  <a:cubicBezTo>
                    <a:pt x="144186" y="73317"/>
                    <a:pt x="141559" y="72228"/>
                    <a:pt x="138821" y="72228"/>
                  </a:cubicBezTo>
                  <a:cubicBezTo>
                    <a:pt x="136082" y="72228"/>
                    <a:pt x="133456" y="73317"/>
                    <a:pt x="131520" y="75254"/>
                  </a:cubicBezTo>
                  <a:lnTo>
                    <a:pt x="97541" y="109224"/>
                  </a:lnTo>
                  <a:lnTo>
                    <a:pt x="84199" y="95892"/>
                  </a:lnTo>
                  <a:lnTo>
                    <a:pt x="83229" y="95035"/>
                  </a:lnTo>
                  <a:cubicBezTo>
                    <a:pt x="78924" y="91707"/>
                    <a:pt x="72776" y="92293"/>
                    <a:pt x="69177" y="96374"/>
                  </a:cubicBezTo>
                  <a:cubicBezTo>
                    <a:pt x="65579" y="100455"/>
                    <a:pt x="65767" y="106629"/>
                    <a:pt x="69608" y="110483"/>
                  </a:cubicBezTo>
                  <a:lnTo>
                    <a:pt x="90245" y="131120"/>
                  </a:lnTo>
                  <a:lnTo>
                    <a:pt x="91215" y="131976"/>
                  </a:lnTo>
                  <a:cubicBezTo>
                    <a:pt x="95323" y="135163"/>
                    <a:pt x="101160" y="134796"/>
                    <a:pt x="104836" y="131120"/>
                  </a:cubicBezTo>
                  <a:lnTo>
                    <a:pt x="146111" y="89845"/>
                  </a:lnTo>
                  <a:lnTo>
                    <a:pt x="146967" y="88875"/>
                  </a:lnTo>
                  <a:cubicBezTo>
                    <a:pt x="150154" y="84767"/>
                    <a:pt x="149787" y="78931"/>
                    <a:pt x="146111" y="75254"/>
                  </a:cubicBezTo>
                  <a:close/>
                </a:path>
              </a:pathLst>
            </a:custGeom>
            <a:solidFill>
              <a:srgbClr val="3A7A47"/>
            </a:solidFill>
            <a:ln>
              <a:noFill/>
            </a:ln>
          </p:spPr>
        </p:sp>
        <p:sp>
          <p:nvSpPr>
            <p:cNvPr id="31" name="TextBox 31"/>
            <p:cNvSpPr txBox="1"/>
            <p:nvPr/>
          </p:nvSpPr>
          <p:spPr>
            <a:xfrm>
              <a:off x="8166354" y="5547360"/>
              <a:ext cx="1708404"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元のブックは、読み込み時のまま</a:t>
              </a:r>
            </a:p>
          </p:txBody>
        </p:sp>
        <p:sp>
          <p:nvSpPr>
            <p:cNvPr id="32" name="TextBox 32"/>
            <p:cNvSpPr txBox="1"/>
            <p:nvPr/>
          </p:nvSpPr>
          <p:spPr>
            <a:xfrm>
              <a:off x="8166354" y="5795010"/>
              <a:ext cx="1191463"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元の場所にあります。</a:t>
              </a:r>
            </a:p>
          </p:txBody>
        </p:sp>
      </p:grpSp>
      <p:grpSp>
        <p:nvGrpSpPr>
          <p:cNvPr id="36" name="Group 36"/>
          <p:cNvGrpSpPr/>
          <p:nvPr/>
        </p:nvGrpSpPr>
        <p:grpSpPr>
          <a:xfrm>
            <a:off x="451866" y="6477952"/>
            <a:ext cx="11288268" cy="205359"/>
            <a:chOff x="451866" y="6477952"/>
            <a:chExt cx="11288268" cy="205359"/>
          </a:xfrm>
        </p:grpSpPr>
        <p:sp>
          <p:nvSpPr>
            <p:cNvPr id="34" name="TextBox 34"/>
            <p:cNvSpPr txBox="1"/>
            <p:nvPr/>
          </p:nvSpPr>
          <p:spPr>
            <a:xfrm>
              <a:off x="451866" y="6477952"/>
              <a:ext cx="2252718"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MacroStudio 操作マニュアル（ベータ版）</a:t>
              </a:r>
            </a:p>
          </p:txBody>
        </p:sp>
        <p:sp>
          <p:nvSpPr>
            <p:cNvPr id="35" name="TextBox 35"/>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65397" y="486728"/>
              <a:ext cx="30750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操作</a:t>
              </a:r>
            </a:p>
          </p:txBody>
        </p:sp>
        <p:sp>
          <p:nvSpPr>
            <p:cNvPr id="4" name="Rectangle 4"/>
            <p:cNvSpPr/>
            <p:nvPr/>
          </p:nvSpPr>
          <p:spPr>
            <a:xfrm>
              <a:off x="1257300" y="419100"/>
              <a:ext cx="876300" cy="266700"/>
            </a:xfrm>
            <a:prstGeom prst="roundRect">
              <a:avLst>
                <a:gd name="adj" fmla="val 50000"/>
              </a:avLst>
            </a:prstGeom>
            <a:solidFill>
              <a:schemeClr val="lt1"/>
            </a:solidFill>
            <a:ln w="14288">
              <a:solidFill>
                <a:schemeClr val="accent1"/>
              </a:solidFill>
            </a:ln>
          </p:spPr>
        </p:sp>
        <p:sp>
          <p:nvSpPr>
            <p:cNvPr id="5" name="TextBox 5"/>
            <p:cNvSpPr txBox="1"/>
            <p:nvPr/>
          </p:nvSpPr>
          <p:spPr>
            <a:xfrm>
              <a:off x="1478620" y="486728"/>
              <a:ext cx="433661" cy="205359"/>
            </a:xfrm>
            <a:prstGeom prst="rect">
              <a:avLst/>
            </a:prstGeom>
            <a:noFill/>
            <a:ln>
              <a:noFill/>
            </a:ln>
          </p:spPr>
          <p:txBody>
            <a:bodyPr wrap="none" lIns="0" tIns="0" rIns="0" bIns="0" anchor="t" anchorCtr="0">
              <a:spAutoFit/>
            </a:bodyPr>
            <a:lstStyle/>
            <a:p>
              <a:pPr algn="ctr"/>
              <a:r>
                <a:rPr lang="zh-CN" sz="1050" b="1" dirty="0">
                  <a:solidFill>
                    <a:schemeClr val="accent1"/>
                  </a:solidFill>
                  <a:latin typeface="+mn-lt"/>
                  <a:ea typeface="+mn-ea"/>
                  <a:cs typeface="+mn-cs"/>
                </a:rPr>
                <a:t>手順 4</a:t>
              </a:r>
            </a:p>
          </p:txBody>
        </p:sp>
        <p:sp>
          <p:nvSpPr>
            <p:cNvPr id="6" name="TextBox 6"/>
            <p:cNvSpPr txBox="1"/>
            <p:nvPr/>
          </p:nvSpPr>
          <p:spPr>
            <a:xfrm>
              <a:off x="441960" y="685800"/>
              <a:ext cx="32320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改修後の動作確認</a:t>
              </a:r>
            </a:p>
          </p:txBody>
        </p:sp>
        <p:sp>
          <p:nvSpPr>
            <p:cNvPr id="7" name="Line 7"/>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1" name="Group 11"/>
          <p:cNvGrpSpPr/>
          <p:nvPr/>
        </p:nvGrpSpPr>
        <p:grpSpPr>
          <a:xfrm>
            <a:off x="448818" y="1498282"/>
            <a:ext cx="7757751" cy="646557"/>
            <a:chOff x="448818" y="1498282"/>
            <a:chExt cx="7757751" cy="646557"/>
          </a:xfrm>
        </p:grpSpPr>
        <p:sp>
          <p:nvSpPr>
            <p:cNvPr id="9" name="TextBox 9"/>
            <p:cNvSpPr txBox="1"/>
            <p:nvPr/>
          </p:nvSpPr>
          <p:spPr>
            <a:xfrm>
              <a:off x="448818" y="1498282"/>
              <a:ext cx="713580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ビルド時の検証で確認されるのは、取り込んだコードがそのまま書き込まれたこと、それ以外の部分が</a:t>
              </a:r>
            </a:p>
          </p:txBody>
        </p:sp>
        <p:sp>
          <p:nvSpPr>
            <p:cNvPr id="10" name="TextBox 10"/>
            <p:cNvSpPr txBox="1"/>
            <p:nvPr/>
          </p:nvSpPr>
          <p:spPr>
            <a:xfrm>
              <a:off x="448818" y="1822132"/>
              <a:ext cx="7757751"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変更されていないことです。改修後のマクロが業務要件どおり動作するかは、以下の手順で確認します。</a:t>
              </a:r>
            </a:p>
          </p:txBody>
        </p:sp>
      </p:grpSp>
      <p:grpSp>
        <p:nvGrpSpPr>
          <p:cNvPr id="16" name="Group 16"/>
          <p:cNvGrpSpPr/>
          <p:nvPr/>
        </p:nvGrpSpPr>
        <p:grpSpPr>
          <a:xfrm>
            <a:off x="590550" y="2614136"/>
            <a:ext cx="4927394" cy="609315"/>
            <a:chOff x="590550" y="2614136"/>
            <a:chExt cx="4927394" cy="609315"/>
          </a:xfrm>
        </p:grpSpPr>
        <p:sp>
          <p:nvSpPr>
            <p:cNvPr id="12" name="Ellipse 12"/>
            <p:cNvSpPr/>
            <p:nvPr/>
          </p:nvSpPr>
          <p:spPr>
            <a:xfrm>
              <a:off x="590550" y="2667000"/>
              <a:ext cx="419100" cy="419100"/>
            </a:xfrm>
            <a:prstGeom prst="ellipse">
              <a:avLst/>
            </a:prstGeom>
            <a:solidFill>
              <a:schemeClr val="accent1"/>
            </a:solidFill>
            <a:ln>
              <a:noFill/>
            </a:ln>
          </p:spPr>
        </p:sp>
        <p:sp>
          <p:nvSpPr>
            <p:cNvPr id="13" name="TextBox 13"/>
            <p:cNvSpPr txBox="1"/>
            <p:nvPr/>
          </p:nvSpPr>
          <p:spPr>
            <a:xfrm>
              <a:off x="734173" y="27908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1</a:t>
              </a:r>
            </a:p>
          </p:txBody>
        </p:sp>
        <p:sp>
          <p:nvSpPr>
            <p:cNvPr id="14" name="TextBox 14"/>
            <p:cNvSpPr txBox="1"/>
            <p:nvPr/>
          </p:nvSpPr>
          <p:spPr>
            <a:xfrm>
              <a:off x="1210437" y="2614136"/>
              <a:ext cx="2709869" cy="337376"/>
            </a:xfrm>
            <a:prstGeom prst="rect">
              <a:avLst/>
            </a:prstGeom>
            <a:noFill/>
            <a:ln>
              <a:noFill/>
            </a:ln>
          </p:spPr>
          <p:txBody>
            <a:bodyPr wrap="none" lIns="0" tIns="0" rIns="0" bIns="0" anchor="t" anchorCtr="0">
              <a:spAutoFit/>
            </a:bodyPr>
            <a:lstStyle/>
            <a:p>
              <a:pPr algn="l"/>
              <a:r>
                <a:rPr lang="zh-CN" sz="1720" b="1" dirty="0">
                  <a:solidFill>
                    <a:schemeClr val="dk1"/>
                  </a:solidFill>
                  <a:latin typeface="+mn-lt"/>
                  <a:ea typeface="+mn-ea"/>
                  <a:cs typeface="+mn-cs"/>
                </a:rPr>
                <a:t>改修済みブックを Excel で開く</a:t>
              </a:r>
            </a:p>
          </p:txBody>
        </p:sp>
        <p:sp>
          <p:nvSpPr>
            <p:cNvPr id="15" name="TextBox 15"/>
            <p:cNvSpPr txBox="1"/>
            <p:nvPr/>
          </p:nvSpPr>
          <p:spPr>
            <a:xfrm>
              <a:off x="1212342" y="2959418"/>
              <a:ext cx="4305602"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開くのは -Modified- が付いたファイルです。元のブックではありません。</a:t>
              </a:r>
            </a:p>
          </p:txBody>
        </p:sp>
      </p:grpSp>
      <p:grpSp>
        <p:nvGrpSpPr>
          <p:cNvPr id="21" name="Group 21"/>
          <p:cNvGrpSpPr/>
          <p:nvPr/>
        </p:nvGrpSpPr>
        <p:grpSpPr>
          <a:xfrm>
            <a:off x="590550" y="3471386"/>
            <a:ext cx="4997196" cy="609315"/>
            <a:chOff x="590550" y="3471386"/>
            <a:chExt cx="4997196" cy="609315"/>
          </a:xfrm>
        </p:grpSpPr>
        <p:sp>
          <p:nvSpPr>
            <p:cNvPr id="17" name="Ellipse 17"/>
            <p:cNvSpPr/>
            <p:nvPr/>
          </p:nvSpPr>
          <p:spPr>
            <a:xfrm>
              <a:off x="590550" y="3524250"/>
              <a:ext cx="419100" cy="419100"/>
            </a:xfrm>
            <a:prstGeom prst="ellipse">
              <a:avLst/>
            </a:prstGeom>
            <a:solidFill>
              <a:schemeClr val="accent1"/>
            </a:solidFill>
            <a:ln>
              <a:noFill/>
            </a:ln>
          </p:spPr>
        </p:sp>
        <p:sp>
          <p:nvSpPr>
            <p:cNvPr id="18" name="TextBox 18"/>
            <p:cNvSpPr txBox="1"/>
            <p:nvPr/>
          </p:nvSpPr>
          <p:spPr>
            <a:xfrm>
              <a:off x="734173" y="36480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2</a:t>
              </a:r>
            </a:p>
          </p:txBody>
        </p:sp>
        <p:sp>
          <p:nvSpPr>
            <p:cNvPr id="19" name="TextBox 19"/>
            <p:cNvSpPr txBox="1"/>
            <p:nvPr/>
          </p:nvSpPr>
          <p:spPr>
            <a:xfrm>
              <a:off x="1210437" y="3471386"/>
              <a:ext cx="3165978" cy="337376"/>
            </a:xfrm>
            <a:prstGeom prst="rect">
              <a:avLst/>
            </a:prstGeom>
            <a:noFill/>
            <a:ln>
              <a:noFill/>
            </a:ln>
          </p:spPr>
          <p:txBody>
            <a:bodyPr wrap="none" lIns="0" tIns="0" rIns="0" bIns="0" anchor="t" anchorCtr="0">
              <a:spAutoFit/>
            </a:bodyPr>
            <a:lstStyle/>
            <a:p>
              <a:pPr algn="l"/>
              <a:r>
                <a:rPr lang="zh-CN" sz="1720" b="1" dirty="0">
                  <a:solidFill>
                    <a:schemeClr val="dk1"/>
                  </a:solidFill>
                  <a:latin typeface="+mn-lt"/>
                  <a:ea typeface="+mn-ea"/>
                  <a:cs typeface="+mn-cs"/>
                </a:rPr>
                <a:t>対象のマクロを通常の手順で実行する</a:t>
              </a:r>
            </a:p>
          </p:txBody>
        </p:sp>
        <p:sp>
          <p:nvSpPr>
            <p:cNvPr id="20" name="TextBox 20"/>
            <p:cNvSpPr txBox="1"/>
            <p:nvPr/>
          </p:nvSpPr>
          <p:spPr>
            <a:xfrm>
              <a:off x="1212342" y="3816668"/>
              <a:ext cx="4375404"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本書のサンプルでは、申請一覧シートに対して検証マクロを実行します。</a:t>
              </a:r>
            </a:p>
          </p:txBody>
        </p:sp>
      </p:grpSp>
      <p:grpSp>
        <p:nvGrpSpPr>
          <p:cNvPr id="26" name="Group 26"/>
          <p:cNvGrpSpPr/>
          <p:nvPr/>
        </p:nvGrpSpPr>
        <p:grpSpPr>
          <a:xfrm>
            <a:off x="590550" y="4328636"/>
            <a:ext cx="5424278" cy="609315"/>
            <a:chOff x="590550" y="4328636"/>
            <a:chExt cx="5424278" cy="609315"/>
          </a:xfrm>
        </p:grpSpPr>
        <p:sp>
          <p:nvSpPr>
            <p:cNvPr id="22" name="Ellipse 22"/>
            <p:cNvSpPr/>
            <p:nvPr/>
          </p:nvSpPr>
          <p:spPr>
            <a:xfrm>
              <a:off x="590550" y="4381500"/>
              <a:ext cx="419100" cy="419100"/>
            </a:xfrm>
            <a:prstGeom prst="ellipse">
              <a:avLst/>
            </a:prstGeom>
            <a:solidFill>
              <a:schemeClr val="accent1"/>
            </a:solidFill>
            <a:ln>
              <a:noFill/>
            </a:ln>
          </p:spPr>
        </p:sp>
        <p:sp>
          <p:nvSpPr>
            <p:cNvPr id="23" name="TextBox 23"/>
            <p:cNvSpPr txBox="1"/>
            <p:nvPr/>
          </p:nvSpPr>
          <p:spPr>
            <a:xfrm>
              <a:off x="734173" y="45053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3</a:t>
              </a:r>
            </a:p>
          </p:txBody>
        </p:sp>
        <p:sp>
          <p:nvSpPr>
            <p:cNvPr id="24" name="TextBox 24"/>
            <p:cNvSpPr txBox="1"/>
            <p:nvPr/>
          </p:nvSpPr>
          <p:spPr>
            <a:xfrm>
              <a:off x="1210437" y="4328636"/>
              <a:ext cx="3567132" cy="337376"/>
            </a:xfrm>
            <a:prstGeom prst="rect">
              <a:avLst/>
            </a:prstGeom>
            <a:noFill/>
            <a:ln>
              <a:noFill/>
            </a:ln>
          </p:spPr>
          <p:txBody>
            <a:bodyPr wrap="none" lIns="0" tIns="0" rIns="0" bIns="0" anchor="t" anchorCtr="0">
              <a:spAutoFit/>
            </a:bodyPr>
            <a:lstStyle/>
            <a:p>
              <a:pPr algn="l"/>
              <a:r>
                <a:rPr lang="zh-CN" sz="1720" b="1" dirty="0">
                  <a:solidFill>
                    <a:schemeClr val="dk1"/>
                  </a:solidFill>
                  <a:latin typeface="+mn-lt"/>
                  <a:ea typeface="+mn-ea"/>
                  <a:cs typeface="+mn-cs"/>
                </a:rPr>
                <a:t>実行結果が期待どおりであることを確認する</a:t>
              </a:r>
            </a:p>
          </p:txBody>
        </p:sp>
        <p:sp>
          <p:nvSpPr>
            <p:cNvPr id="25" name="TextBox 25"/>
            <p:cNvSpPr txBox="1"/>
            <p:nvPr/>
          </p:nvSpPr>
          <p:spPr>
            <a:xfrm>
              <a:off x="1212342" y="4673918"/>
              <a:ext cx="4802486"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出力・集計・保存されるファイルを、改修前の結果と比較して確認します。</a:t>
              </a:r>
            </a:p>
          </p:txBody>
        </p:sp>
      </p:grpSp>
      <p:grpSp>
        <p:nvGrpSpPr>
          <p:cNvPr id="31" name="Group 31"/>
          <p:cNvGrpSpPr/>
          <p:nvPr/>
        </p:nvGrpSpPr>
        <p:grpSpPr>
          <a:xfrm>
            <a:off x="590550" y="5185886"/>
            <a:ext cx="7106717" cy="609315"/>
            <a:chOff x="590550" y="5185886"/>
            <a:chExt cx="7106717" cy="609315"/>
          </a:xfrm>
        </p:grpSpPr>
        <p:sp>
          <p:nvSpPr>
            <p:cNvPr id="27" name="Ellipse 27"/>
            <p:cNvSpPr/>
            <p:nvPr/>
          </p:nvSpPr>
          <p:spPr>
            <a:xfrm>
              <a:off x="590550" y="5238750"/>
              <a:ext cx="419100" cy="419100"/>
            </a:xfrm>
            <a:prstGeom prst="ellipse">
              <a:avLst/>
            </a:prstGeom>
            <a:solidFill>
              <a:schemeClr val="accent1"/>
            </a:solidFill>
            <a:ln>
              <a:noFill/>
            </a:ln>
          </p:spPr>
        </p:sp>
        <p:sp>
          <p:nvSpPr>
            <p:cNvPr id="28" name="TextBox 28"/>
            <p:cNvSpPr txBox="1"/>
            <p:nvPr/>
          </p:nvSpPr>
          <p:spPr>
            <a:xfrm>
              <a:off x="734173" y="53625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4</a:t>
              </a:r>
            </a:p>
          </p:txBody>
        </p:sp>
        <p:sp>
          <p:nvSpPr>
            <p:cNvPr id="29" name="TextBox 29"/>
            <p:cNvSpPr txBox="1"/>
            <p:nvPr/>
          </p:nvSpPr>
          <p:spPr>
            <a:xfrm>
              <a:off x="1210437" y="5185886"/>
              <a:ext cx="4053380" cy="337376"/>
            </a:xfrm>
            <a:prstGeom prst="rect">
              <a:avLst/>
            </a:prstGeom>
            <a:noFill/>
            <a:ln>
              <a:noFill/>
            </a:ln>
          </p:spPr>
          <p:txBody>
            <a:bodyPr wrap="none" lIns="0" tIns="0" rIns="0" bIns="0" anchor="t" anchorCtr="0">
              <a:spAutoFit/>
            </a:bodyPr>
            <a:lstStyle/>
            <a:p>
              <a:pPr algn="l"/>
              <a:r>
                <a:rPr lang="zh-CN" sz="1720" b="1" dirty="0">
                  <a:solidFill>
                    <a:schemeClr val="dk1"/>
                  </a:solidFill>
                  <a:latin typeface="+mn-lt"/>
                  <a:ea typeface="+mn-ea"/>
                  <a:cs typeface="+mn-cs"/>
                </a:rPr>
                <a:t>問題がある場合は、元のブックで業務を継続する</a:t>
              </a:r>
            </a:p>
          </p:txBody>
        </p:sp>
        <p:sp>
          <p:nvSpPr>
            <p:cNvPr id="30" name="TextBox 30"/>
            <p:cNvSpPr txBox="1"/>
            <p:nvPr/>
          </p:nvSpPr>
          <p:spPr>
            <a:xfrm>
              <a:off x="1212342" y="5531168"/>
              <a:ext cx="6484925"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P21 の対処に従って改修をやり直します。動作確認が済むまで、元のブックは削除せずに残します。</a:t>
              </a:r>
            </a:p>
          </p:txBody>
        </p:sp>
      </p:grpSp>
      <p:grpSp>
        <p:nvGrpSpPr>
          <p:cNvPr id="34" name="Group 34"/>
          <p:cNvGrpSpPr/>
          <p:nvPr/>
        </p:nvGrpSpPr>
        <p:grpSpPr>
          <a:xfrm>
            <a:off x="451866" y="6477952"/>
            <a:ext cx="11288268" cy="205359"/>
            <a:chOff x="451866" y="6477952"/>
            <a:chExt cx="11288268" cy="205359"/>
          </a:xfrm>
        </p:grpSpPr>
        <p:sp>
          <p:nvSpPr>
            <p:cNvPr id="32" name="TextBox 32"/>
            <p:cNvSpPr txBox="1"/>
            <p:nvPr/>
          </p:nvSpPr>
          <p:spPr>
            <a:xfrm>
              <a:off x="451866" y="6477952"/>
              <a:ext cx="2252718"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MacroStudio 操作マニュアル（ベータ版）</a:t>
              </a:r>
            </a:p>
          </p:txBody>
        </p:sp>
        <p:sp>
          <p:nvSpPr>
            <p:cNvPr id="33" name="TextBox 33"/>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18</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65397" y="486728"/>
              <a:ext cx="30750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操作</a:t>
              </a:r>
            </a:p>
          </p:txBody>
        </p:sp>
        <p:sp>
          <p:nvSpPr>
            <p:cNvPr id="4" name="TextBox 4"/>
            <p:cNvSpPr txBox="1"/>
            <p:nvPr/>
          </p:nvSpPr>
          <p:spPr>
            <a:xfrm>
              <a:off x="441960" y="685800"/>
              <a:ext cx="3740944"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変更内容の確認レポート</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1" name="Group 11"/>
          <p:cNvGrpSpPr/>
          <p:nvPr/>
        </p:nvGrpSpPr>
        <p:grpSpPr>
          <a:xfrm>
            <a:off x="457200" y="1428750"/>
            <a:ext cx="5486400" cy="3505581"/>
            <a:chOff x="457200" y="1428750"/>
            <a:chExt cx="5486400" cy="3505581"/>
          </a:xfrm>
        </p:grpSpPr>
        <p:sp>
          <p:nvSpPr>
            <p:cNvPr id="7" name="Rectangle 7"/>
            <p:cNvSpPr/>
            <p:nvPr/>
          </p:nvSpPr>
          <p:spPr>
            <a:xfrm>
              <a:off x="457200" y="1428750"/>
              <a:ext cx="5486400" cy="3152775"/>
            </a:xfrm>
            <a:prstGeom prst="roundRect">
              <a:avLst>
                <a:gd name="adj" fmla="val 4230"/>
              </a:avLst>
            </a:prstGeom>
            <a:solidFill>
              <a:schemeClr val="lt2"/>
            </a:solidFill>
            <a:ln>
              <a:noFill/>
            </a:ln>
          </p:spPr>
        </p:sp>
        <p:pic>
          <p:nvPicPr>
            <p:cNvPr id="8" name="Image 8"/>
            <p:cNvPicPr>
              <a:picLocks noChangeAspect="1"/>
            </p:cNvPicPr>
            <p:nvPr/>
          </p:nvPicPr>
          <p:blipFill>
            <a:blip r:embed="rId2"/>
            <a:stretch>
              <a:fillRect/>
            </a:stretch>
          </p:blipFill>
          <p:spPr>
            <a:xfrm>
              <a:off x="533400" y="1504950"/>
              <a:ext cx="5334000" cy="3000375"/>
            </a:xfrm>
            <a:prstGeom prst="roundRect">
              <a:avLst>
                <a:gd name="adj" fmla="val 3174"/>
              </a:avLst>
            </a:prstGeom>
          </p:spPr>
        </p:pic>
        <p:sp>
          <p:nvSpPr>
            <p:cNvPr id="9" name="Rectangle 9"/>
            <p:cNvSpPr/>
            <p:nvPr/>
          </p:nvSpPr>
          <p:spPr>
            <a:xfrm>
              <a:off x="533400" y="1504950"/>
              <a:ext cx="5334000" cy="3000375"/>
            </a:xfrm>
            <a:prstGeom prst="roundRect">
              <a:avLst>
                <a:gd name="adj" fmla="val 3175"/>
              </a:avLst>
            </a:prstGeom>
            <a:noFill/>
            <a:ln w="14288">
              <a:solidFill>
                <a:schemeClr val="accent6"/>
              </a:solidFill>
            </a:ln>
          </p:spPr>
        </p:sp>
        <p:sp>
          <p:nvSpPr>
            <p:cNvPr id="10" name="TextBox 10"/>
            <p:cNvSpPr txBox="1"/>
            <p:nvPr/>
          </p:nvSpPr>
          <p:spPr>
            <a:xfrm>
              <a:off x="527304" y="4699635"/>
              <a:ext cx="5141214"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レポートをブラウザで開いた状態。アプリの「変更内容を見る」と同一の実装で表示されます。</a:t>
              </a:r>
            </a:p>
          </p:txBody>
        </p:sp>
      </p:grpSp>
      <p:grpSp>
        <p:nvGrpSpPr>
          <p:cNvPr id="16" name="Group 16"/>
          <p:cNvGrpSpPr/>
          <p:nvPr/>
        </p:nvGrpSpPr>
        <p:grpSpPr>
          <a:xfrm>
            <a:off x="6248400" y="1428750"/>
            <a:ext cx="5486400" cy="3505581"/>
            <a:chOff x="6248400" y="1428750"/>
            <a:chExt cx="5486400" cy="3505581"/>
          </a:xfrm>
        </p:grpSpPr>
        <p:sp>
          <p:nvSpPr>
            <p:cNvPr id="12" name="Rectangle 12"/>
            <p:cNvSpPr/>
            <p:nvPr/>
          </p:nvSpPr>
          <p:spPr>
            <a:xfrm>
              <a:off x="6248400" y="1428750"/>
              <a:ext cx="5486400" cy="3152775"/>
            </a:xfrm>
            <a:prstGeom prst="roundRect">
              <a:avLst>
                <a:gd name="adj" fmla="val 4230"/>
              </a:avLst>
            </a:prstGeom>
            <a:solidFill>
              <a:schemeClr val="lt2"/>
            </a:solidFill>
            <a:ln>
              <a:noFill/>
            </a:ln>
          </p:spPr>
        </p:sp>
        <p:pic>
          <p:nvPicPr>
            <p:cNvPr id="13" name="Image 13"/>
            <p:cNvPicPr>
              <a:picLocks noChangeAspect="1"/>
            </p:cNvPicPr>
            <p:nvPr/>
          </p:nvPicPr>
          <p:blipFill>
            <a:blip r:embed="rId3"/>
            <a:stretch>
              <a:fillRect/>
            </a:stretch>
          </p:blipFill>
          <p:spPr>
            <a:xfrm>
              <a:off x="6324600" y="1504950"/>
              <a:ext cx="5334000" cy="3000375"/>
            </a:xfrm>
            <a:prstGeom prst="roundRect">
              <a:avLst>
                <a:gd name="adj" fmla="val 3174"/>
              </a:avLst>
            </a:prstGeom>
          </p:spPr>
        </p:pic>
        <p:sp>
          <p:nvSpPr>
            <p:cNvPr id="14" name="Rectangle 14"/>
            <p:cNvSpPr/>
            <p:nvPr/>
          </p:nvSpPr>
          <p:spPr>
            <a:xfrm>
              <a:off x="6324600" y="1504950"/>
              <a:ext cx="5334000" cy="3000375"/>
            </a:xfrm>
            <a:prstGeom prst="roundRect">
              <a:avLst>
                <a:gd name="adj" fmla="val 3175"/>
              </a:avLst>
            </a:prstGeom>
            <a:noFill/>
            <a:ln w="14288">
              <a:solidFill>
                <a:schemeClr val="accent6"/>
              </a:solidFill>
            </a:ln>
          </p:spPr>
        </p:sp>
        <p:sp>
          <p:nvSpPr>
            <p:cNvPr id="15" name="TextBox 15"/>
            <p:cNvSpPr txBox="1"/>
            <p:nvPr/>
          </p:nvSpPr>
          <p:spPr>
            <a:xfrm>
              <a:off x="6318504" y="4699635"/>
              <a:ext cx="2709977"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ツールバー右端のボタンで表示を切り替えた状態。</a:t>
              </a:r>
            </a:p>
          </p:txBody>
        </p:sp>
      </p:grpSp>
      <p:grpSp>
        <p:nvGrpSpPr>
          <p:cNvPr id="24" name="Group 24"/>
          <p:cNvGrpSpPr/>
          <p:nvPr/>
        </p:nvGrpSpPr>
        <p:grpSpPr>
          <a:xfrm>
            <a:off x="476250" y="5114925"/>
            <a:ext cx="8535563" cy="1017270"/>
            <a:chOff x="476250" y="5114925"/>
            <a:chExt cx="8535563" cy="1017270"/>
          </a:xfrm>
        </p:grpSpPr>
        <p:sp>
          <p:nvSpPr>
            <p:cNvPr id="17" name="Ellipse 17"/>
            <p:cNvSpPr/>
            <p:nvPr/>
          </p:nvSpPr>
          <p:spPr>
            <a:xfrm>
              <a:off x="476250" y="5114925"/>
              <a:ext cx="285750" cy="285750"/>
            </a:xfrm>
            <a:prstGeom prst="ellipse">
              <a:avLst/>
            </a:prstGeom>
            <a:solidFill>
              <a:schemeClr val="accent1"/>
            </a:solidFill>
            <a:ln>
              <a:noFill/>
            </a:ln>
          </p:spPr>
        </p:sp>
        <p:sp>
          <p:nvSpPr>
            <p:cNvPr id="18" name="TextBox 18"/>
            <p:cNvSpPr txBox="1"/>
            <p:nvPr/>
          </p:nvSpPr>
          <p:spPr>
            <a:xfrm>
              <a:off x="566383" y="51854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19" name="TextBox 19"/>
            <p:cNvSpPr txBox="1"/>
            <p:nvPr/>
          </p:nvSpPr>
          <p:spPr>
            <a:xfrm>
              <a:off x="887730" y="5172075"/>
              <a:ext cx="8124083"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出力フォルダの </a:t>
              </a:r>
              <a:r>
                <a:rPr lang="en-US" sz="1350" dirty="0">
                  <a:solidFill>
                    <a:schemeClr val="dk1"/>
                  </a:solidFill>
                  <a:latin typeface="Consolas"/>
                  <a:ea typeface="Consolas"/>
                  <a:cs typeface="Consolas"/>
                </a:rPr>
                <a:t>sample_win32_sleep-Diff-Report-20260731.html</a:t>
              </a:r>
              <a:r>
                <a:rPr lang="zh-CN" sz="1500" dirty="0">
                  <a:solidFill>
                    <a:schemeClr val="dk1"/>
                  </a:solidFill>
                  <a:latin typeface="+mn-lt"/>
                  <a:ea typeface="+mn-ea"/>
                  <a:cs typeface="+mn-cs"/>
                </a:rPr>
                <a:t xml:space="preserve"> をダブルクリックすると、ブラウザで開きます。</a:t>
              </a:r>
            </a:p>
          </p:txBody>
        </p:sp>
        <p:sp>
          <p:nvSpPr>
            <p:cNvPr id="20" name="Ellipse 20"/>
            <p:cNvSpPr/>
            <p:nvPr/>
          </p:nvSpPr>
          <p:spPr>
            <a:xfrm>
              <a:off x="476250" y="5495925"/>
              <a:ext cx="285750" cy="285750"/>
            </a:xfrm>
            <a:prstGeom prst="ellipse">
              <a:avLst/>
            </a:prstGeom>
            <a:solidFill>
              <a:schemeClr val="accent1"/>
            </a:solidFill>
            <a:ln>
              <a:noFill/>
            </a:ln>
          </p:spPr>
        </p:sp>
        <p:sp>
          <p:nvSpPr>
            <p:cNvPr id="21" name="TextBox 21"/>
            <p:cNvSpPr txBox="1"/>
            <p:nvPr/>
          </p:nvSpPr>
          <p:spPr>
            <a:xfrm>
              <a:off x="566383" y="55664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22" name="TextBox 22"/>
            <p:cNvSpPr txBox="1"/>
            <p:nvPr/>
          </p:nvSpPr>
          <p:spPr>
            <a:xfrm>
              <a:off x="887730" y="5553075"/>
              <a:ext cx="736549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左の一覧には、変更しなかったモジュールも含めて全モジュールが収録されます。［前の変更］［次の変更］</a:t>
              </a:r>
            </a:p>
          </p:txBody>
        </p:sp>
        <p:sp>
          <p:nvSpPr>
            <p:cNvPr id="23" name="TextBox 23"/>
            <p:cNvSpPr txBox="1"/>
            <p:nvPr/>
          </p:nvSpPr>
          <p:spPr>
            <a:xfrm>
              <a:off x="887730" y="5838825"/>
              <a:ext cx="553802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［変更箇所のみ］［折り返し］と、明暗を切り替えるボタンが使用できます。</a:t>
              </a:r>
            </a:p>
          </p:txBody>
        </p:sp>
      </p:grpSp>
      <p:grpSp>
        <p:nvGrpSpPr>
          <p:cNvPr id="26" name="Group 26"/>
          <p:cNvGrpSpPr/>
          <p:nvPr/>
        </p:nvGrpSpPr>
        <p:grpSpPr>
          <a:xfrm>
            <a:off x="451104" y="6176010"/>
            <a:ext cx="8129778" cy="234696"/>
            <a:chOff x="451104" y="6176010"/>
            <a:chExt cx="8129778" cy="234696"/>
          </a:xfrm>
        </p:grpSpPr>
        <p:sp>
          <p:nvSpPr>
            <p:cNvPr id="25" name="TextBox 25"/>
            <p:cNvSpPr txBox="1"/>
            <p:nvPr/>
          </p:nvSpPr>
          <p:spPr>
            <a:xfrm>
              <a:off x="451104" y="6176010"/>
              <a:ext cx="8129778"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このファイルは単体で完結し、外部への通信や編集機能はありません。改修内容の確認を他の担当者へ依頼する場合は、このファイルを渡します。</a:t>
              </a:r>
            </a:p>
          </p:txBody>
        </p:sp>
      </p:grpSp>
      <p:grpSp>
        <p:nvGrpSpPr>
          <p:cNvPr id="29" name="Group 29"/>
          <p:cNvGrpSpPr/>
          <p:nvPr/>
        </p:nvGrpSpPr>
        <p:grpSpPr>
          <a:xfrm>
            <a:off x="451866" y="6477952"/>
            <a:ext cx="11288268" cy="205359"/>
            <a:chOff x="451866" y="6477952"/>
            <a:chExt cx="11288268" cy="205359"/>
          </a:xfrm>
        </p:grpSpPr>
        <p:sp>
          <p:nvSpPr>
            <p:cNvPr id="27" name="TextBox 27"/>
            <p:cNvSpPr txBox="1"/>
            <p:nvPr/>
          </p:nvSpPr>
          <p:spPr>
            <a:xfrm>
              <a:off x="451866" y="6477952"/>
              <a:ext cx="2252718"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MacroStudio 操作マニュアル（ベータ版）</a:t>
              </a:r>
            </a:p>
          </p:txBody>
        </p:sp>
        <p:sp>
          <p:nvSpPr>
            <p:cNvPr id="28" name="TextBox 28"/>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19</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3"/>
            </a:solidFill>
            <a:ln>
              <a:noFill/>
            </a:ln>
          </p:spPr>
        </p:sp>
        <p:sp>
          <p:nvSpPr>
            <p:cNvPr id="3" name="TextBox 3"/>
            <p:cNvSpPr txBox="1"/>
            <p:nvPr/>
          </p:nvSpPr>
          <p:spPr>
            <a:xfrm>
              <a:off x="665397" y="486728"/>
              <a:ext cx="30750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相談</a:t>
              </a:r>
            </a:p>
          </p:txBody>
        </p:sp>
        <p:sp>
          <p:nvSpPr>
            <p:cNvPr id="4" name="TextBox 4"/>
            <p:cNvSpPr txBox="1"/>
            <p:nvPr/>
          </p:nvSpPr>
          <p:spPr>
            <a:xfrm>
              <a:off x="441960" y="685800"/>
              <a:ext cx="2046732"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AIで相談する</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1" name="Group 11"/>
          <p:cNvGrpSpPr/>
          <p:nvPr/>
        </p:nvGrpSpPr>
        <p:grpSpPr>
          <a:xfrm>
            <a:off x="457200" y="1428750"/>
            <a:ext cx="5486400" cy="3505581"/>
            <a:chOff x="457200" y="1428750"/>
            <a:chExt cx="5486400" cy="3505581"/>
          </a:xfrm>
        </p:grpSpPr>
        <p:sp>
          <p:nvSpPr>
            <p:cNvPr id="7" name="Rectangle 7"/>
            <p:cNvSpPr/>
            <p:nvPr/>
          </p:nvSpPr>
          <p:spPr>
            <a:xfrm>
              <a:off x="457200" y="1428750"/>
              <a:ext cx="5486400" cy="3152775"/>
            </a:xfrm>
            <a:prstGeom prst="roundRect">
              <a:avLst>
                <a:gd name="adj" fmla="val 4230"/>
              </a:avLst>
            </a:prstGeom>
            <a:solidFill>
              <a:schemeClr val="lt2"/>
            </a:solidFill>
            <a:ln>
              <a:noFill/>
            </a:ln>
          </p:spPr>
        </p:sp>
        <p:pic>
          <p:nvPicPr>
            <p:cNvPr id="8" name="Image 8"/>
            <p:cNvPicPr>
              <a:picLocks noChangeAspect="1"/>
            </p:cNvPicPr>
            <p:nvPr/>
          </p:nvPicPr>
          <p:blipFill>
            <a:blip r:embed="rId2"/>
            <a:stretch>
              <a:fillRect/>
            </a:stretch>
          </p:blipFill>
          <p:spPr>
            <a:xfrm>
              <a:off x="533400" y="1504950"/>
              <a:ext cx="5334000" cy="3000375"/>
            </a:xfrm>
            <a:prstGeom prst="roundRect">
              <a:avLst>
                <a:gd name="adj" fmla="val 3174"/>
              </a:avLst>
            </a:prstGeom>
          </p:spPr>
        </p:pic>
        <p:sp>
          <p:nvSpPr>
            <p:cNvPr id="9" name="Rectangle 9"/>
            <p:cNvSpPr/>
            <p:nvPr/>
          </p:nvSpPr>
          <p:spPr>
            <a:xfrm>
              <a:off x="533400" y="1504950"/>
              <a:ext cx="5334000" cy="3000375"/>
            </a:xfrm>
            <a:prstGeom prst="roundRect">
              <a:avLst>
                <a:gd name="adj" fmla="val 3175"/>
              </a:avLst>
            </a:prstGeom>
            <a:noFill/>
            <a:ln w="14288">
              <a:solidFill>
                <a:schemeClr val="accent6"/>
              </a:solidFill>
            </a:ln>
          </p:spPr>
        </p:sp>
        <p:sp>
          <p:nvSpPr>
            <p:cNvPr id="10" name="TextBox 10"/>
            <p:cNvSpPr txBox="1"/>
            <p:nvPr/>
          </p:nvSpPr>
          <p:spPr>
            <a:xfrm>
              <a:off x="527304" y="4699635"/>
              <a:ext cx="2956560"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相談の選択画面「AIに何を聞くか選びます」。</a:t>
              </a:r>
            </a:p>
          </p:txBody>
        </p:sp>
      </p:grpSp>
      <p:grpSp>
        <p:nvGrpSpPr>
          <p:cNvPr id="16" name="Group 16"/>
          <p:cNvGrpSpPr/>
          <p:nvPr/>
        </p:nvGrpSpPr>
        <p:grpSpPr>
          <a:xfrm>
            <a:off x="6248400" y="1428750"/>
            <a:ext cx="5486400" cy="3505581"/>
            <a:chOff x="6248400" y="1428750"/>
            <a:chExt cx="5486400" cy="3505581"/>
          </a:xfrm>
        </p:grpSpPr>
        <p:sp>
          <p:nvSpPr>
            <p:cNvPr id="12" name="Rectangle 12"/>
            <p:cNvSpPr/>
            <p:nvPr/>
          </p:nvSpPr>
          <p:spPr>
            <a:xfrm>
              <a:off x="6248400" y="1428750"/>
              <a:ext cx="5486400" cy="3152775"/>
            </a:xfrm>
            <a:prstGeom prst="roundRect">
              <a:avLst>
                <a:gd name="adj" fmla="val 4230"/>
              </a:avLst>
            </a:prstGeom>
            <a:solidFill>
              <a:schemeClr val="lt2"/>
            </a:solidFill>
            <a:ln>
              <a:noFill/>
            </a:ln>
          </p:spPr>
        </p:sp>
        <p:pic>
          <p:nvPicPr>
            <p:cNvPr id="13" name="Image 13"/>
            <p:cNvPicPr>
              <a:picLocks noChangeAspect="1"/>
            </p:cNvPicPr>
            <p:nvPr/>
          </p:nvPicPr>
          <p:blipFill>
            <a:blip r:embed="rId3"/>
            <a:stretch>
              <a:fillRect/>
            </a:stretch>
          </p:blipFill>
          <p:spPr>
            <a:xfrm>
              <a:off x="6324600" y="1504950"/>
              <a:ext cx="5334000" cy="3000375"/>
            </a:xfrm>
            <a:prstGeom prst="roundRect">
              <a:avLst>
                <a:gd name="adj" fmla="val 3174"/>
              </a:avLst>
            </a:prstGeom>
          </p:spPr>
        </p:pic>
        <p:sp>
          <p:nvSpPr>
            <p:cNvPr id="14" name="Rectangle 14"/>
            <p:cNvSpPr/>
            <p:nvPr/>
          </p:nvSpPr>
          <p:spPr>
            <a:xfrm>
              <a:off x="6324600" y="1504950"/>
              <a:ext cx="5334000" cy="3000375"/>
            </a:xfrm>
            <a:prstGeom prst="roundRect">
              <a:avLst>
                <a:gd name="adj" fmla="val 3175"/>
              </a:avLst>
            </a:prstGeom>
            <a:noFill/>
            <a:ln w="14288">
              <a:solidFill>
                <a:schemeClr val="accent6"/>
              </a:solidFill>
            </a:ln>
          </p:spPr>
        </p:sp>
        <p:sp>
          <p:nvSpPr>
            <p:cNvPr id="15" name="TextBox 15"/>
            <p:cNvSpPr txBox="1"/>
            <p:nvPr/>
          </p:nvSpPr>
          <p:spPr>
            <a:xfrm>
              <a:off x="6318504" y="4699635"/>
              <a:ext cx="4075024"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受け渡し画面。両方の操作が完了すると右下が［完了］になります。</a:t>
              </a:r>
            </a:p>
          </p:txBody>
        </p:sp>
      </p:grpSp>
      <p:grpSp>
        <p:nvGrpSpPr>
          <p:cNvPr id="21" name="Group 21"/>
          <p:cNvGrpSpPr/>
          <p:nvPr/>
        </p:nvGrpSpPr>
        <p:grpSpPr>
          <a:xfrm>
            <a:off x="450723" y="5024914"/>
            <a:ext cx="8057464" cy="928592"/>
            <a:chOff x="450723" y="5024914"/>
            <a:chExt cx="8057464" cy="928592"/>
          </a:xfrm>
        </p:grpSpPr>
        <p:sp>
          <p:nvSpPr>
            <p:cNvPr id="17" name="TextBox 17"/>
            <p:cNvSpPr txBox="1"/>
            <p:nvPr/>
          </p:nvSpPr>
          <p:spPr>
            <a:xfrm>
              <a:off x="450723" y="5024914"/>
              <a:ext cx="2681661" cy="249364"/>
            </a:xfrm>
            <a:prstGeom prst="rect">
              <a:avLst/>
            </a:prstGeom>
            <a:noFill/>
            <a:ln>
              <a:noFill/>
            </a:ln>
          </p:spPr>
          <p:txBody>
            <a:bodyPr wrap="none" lIns="0" tIns="0" rIns="0" bIns="0" anchor="t" anchorCtr="0">
              <a:spAutoFit/>
            </a:bodyPr>
            <a:lstStyle/>
            <a:p>
              <a:pPr algn="l"/>
              <a:r>
                <a:rPr lang="zh-CN" sz="1280" b="1" dirty="0">
                  <a:solidFill>
                    <a:schemeClr val="dk1"/>
                  </a:solidFill>
                  <a:latin typeface="+mn-lt"/>
                  <a:ea typeface="+mn-ea"/>
                  <a:cs typeface="+mn-cs"/>
                </a:rPr>
                <a:t>選択できる相談（画面の表示と同一）</a:t>
              </a:r>
            </a:p>
          </p:txBody>
        </p:sp>
        <p:sp>
          <p:nvSpPr>
            <p:cNvPr id="18" name="TextBox 18"/>
            <p:cNvSpPr txBox="1"/>
            <p:nvPr/>
          </p:nvSpPr>
          <p:spPr>
            <a:xfrm>
              <a:off x="451104" y="5261610"/>
              <a:ext cx="5803544"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・新しい端末で動くかを調べてもらう — コードは直さず、新しい端末で困りそうな箇所を洗い出してもらいます。</a:t>
              </a:r>
            </a:p>
          </p:txBody>
        </p:sp>
        <p:sp>
          <p:nvSpPr>
            <p:cNvPr id="19" name="TextBox 19"/>
            <p:cNvSpPr txBox="1"/>
            <p:nvPr/>
          </p:nvSpPr>
          <p:spPr>
            <a:xfrm>
              <a:off x="451104" y="5490210"/>
              <a:ext cx="8057083"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・相談用の依頼文を作る（進め方を決めたいとき）— 質問に答えると、進め方を相談する依頼文ができます（回答は任意の項目のみで可）。</a:t>
              </a:r>
            </a:p>
          </p:txBody>
        </p:sp>
        <p:sp>
          <p:nvSpPr>
            <p:cNvPr id="20" name="TextBox 20"/>
            <p:cNvSpPr txBox="1"/>
            <p:nvPr/>
          </p:nvSpPr>
          <p:spPr>
            <a:xfrm>
              <a:off x="451104" y="5718810"/>
              <a:ext cx="5375453"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・聞きたいことを自分で書く — マクロについて聞きたいことを、この後の画面で自分の言葉で書きます。</a:t>
              </a:r>
            </a:p>
          </p:txBody>
        </p:sp>
      </p:grpSp>
      <p:grpSp>
        <p:nvGrpSpPr>
          <p:cNvPr id="24" name="Group 24"/>
          <p:cNvGrpSpPr/>
          <p:nvPr/>
        </p:nvGrpSpPr>
        <p:grpSpPr>
          <a:xfrm>
            <a:off x="451485" y="5974556"/>
            <a:ext cx="9336827" cy="429578"/>
            <a:chOff x="451485" y="5974556"/>
            <a:chExt cx="9336827" cy="429578"/>
          </a:xfrm>
        </p:grpSpPr>
        <p:sp>
          <p:nvSpPr>
            <p:cNvPr id="22" name="TextBox 22"/>
            <p:cNvSpPr txBox="1"/>
            <p:nvPr/>
          </p:nvSpPr>
          <p:spPr>
            <a:xfrm>
              <a:off x="451485" y="5974556"/>
              <a:ext cx="9336827" cy="220028"/>
            </a:xfrm>
            <a:prstGeom prst="rect">
              <a:avLst/>
            </a:prstGeom>
            <a:noFill/>
            <a:ln>
              <a:noFill/>
            </a:ln>
          </p:spPr>
          <p:txBody>
            <a:bodyPr wrap="none" lIns="0" tIns="0" rIns="0" bIns="0" anchor="t" anchorCtr="0">
              <a:spAutoFit/>
            </a:bodyPr>
            <a:lstStyle/>
            <a:p>
              <a:pPr algn="l"/>
              <a:r>
                <a:rPr lang="zh-CN" sz="1120" dirty="0">
                  <a:solidFill>
                    <a:srgbClr val="5D6B7A"/>
                  </a:solidFill>
                  <a:latin typeface="+mn-lt"/>
                  <a:ea typeface="+mn-ea"/>
                  <a:cs typeface="+mn-cs"/>
                </a:rPr>
                <a:t>操作は改修と同様です（依頼文の貼り付けと source-code.md の添付）。作成されるのは request.md と source-code.md の 2 つのみで、ブックは作成しません。</a:t>
              </a:r>
            </a:p>
          </p:txBody>
        </p:sp>
        <p:sp>
          <p:nvSpPr>
            <p:cNvPr id="23" name="TextBox 23"/>
            <p:cNvSpPr txBox="1"/>
            <p:nvPr/>
          </p:nvSpPr>
          <p:spPr>
            <a:xfrm>
              <a:off x="451485" y="6184106"/>
              <a:ext cx="8263626" cy="220028"/>
            </a:xfrm>
            <a:prstGeom prst="rect">
              <a:avLst/>
            </a:prstGeom>
            <a:noFill/>
            <a:ln>
              <a:noFill/>
            </a:ln>
          </p:spPr>
          <p:txBody>
            <a:bodyPr wrap="none" lIns="0" tIns="0" rIns="0" bIns="0" anchor="t" anchorCtr="0">
              <a:spAutoFit/>
            </a:bodyPr>
            <a:lstStyle/>
            <a:p>
              <a:pPr algn="l"/>
              <a:r>
                <a:rPr lang="zh-CN" sz="1120" dirty="0">
                  <a:solidFill>
                    <a:srgbClr val="5D6B7A"/>
                  </a:solidFill>
                  <a:latin typeface="+mn-lt"/>
                  <a:ea typeface="+mn-ea"/>
                  <a:cs typeface="+mn-cs"/>
                </a:rPr>
                <a:t>返答はチャット上で確認します。改修方針が決まった場合は、「AIで改修する」の「自分で改修内容を書く」に方針を記入して改修を行えます。</a:t>
              </a:r>
            </a:p>
          </p:txBody>
        </p:sp>
      </p:grpSp>
      <p:grpSp>
        <p:nvGrpSpPr>
          <p:cNvPr id="27" name="Group 27"/>
          <p:cNvGrpSpPr/>
          <p:nvPr/>
        </p:nvGrpSpPr>
        <p:grpSpPr>
          <a:xfrm>
            <a:off x="451866" y="6477952"/>
            <a:ext cx="11288268" cy="205359"/>
            <a:chOff x="451866" y="6477952"/>
            <a:chExt cx="11288268" cy="205359"/>
          </a:xfrm>
        </p:grpSpPr>
        <p:sp>
          <p:nvSpPr>
            <p:cNvPr id="25" name="TextBox 25"/>
            <p:cNvSpPr txBox="1"/>
            <p:nvPr/>
          </p:nvSpPr>
          <p:spPr>
            <a:xfrm>
              <a:off x="451866" y="6477952"/>
              <a:ext cx="2252718"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MacroStudio 操作マニュアル（ベータ版）</a:t>
              </a:r>
            </a:p>
          </p:txBody>
        </p:sp>
        <p:sp>
          <p:nvSpPr>
            <p:cNvPr id="26" name="TextBox 26"/>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20</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3"/>
            </a:solidFill>
            <a:ln>
              <a:noFill/>
            </a:ln>
          </p:spPr>
        </p:sp>
        <p:sp>
          <p:nvSpPr>
            <p:cNvPr id="3" name="TextBox 3"/>
            <p:cNvSpPr txBox="1"/>
            <p:nvPr/>
          </p:nvSpPr>
          <p:spPr>
            <a:xfrm>
              <a:off x="665397" y="486728"/>
              <a:ext cx="30750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参考</a:t>
              </a:r>
            </a:p>
          </p:txBody>
        </p:sp>
        <p:sp>
          <p:nvSpPr>
            <p:cNvPr id="4" name="TextBox 4"/>
            <p:cNvSpPr txBox="1"/>
            <p:nvPr/>
          </p:nvSpPr>
          <p:spPr>
            <a:xfrm>
              <a:off x="441960" y="685800"/>
              <a:ext cx="2468785"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トラブル時の対処</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9" name="Group 9"/>
          <p:cNvGrpSpPr/>
          <p:nvPr/>
        </p:nvGrpSpPr>
        <p:grpSpPr>
          <a:xfrm>
            <a:off x="471937" y="1352550"/>
            <a:ext cx="7655745" cy="293370"/>
            <a:chOff x="471937" y="1352550"/>
            <a:chExt cx="7655745" cy="293370"/>
          </a:xfrm>
        </p:grpSpPr>
        <p:sp>
          <p:nvSpPr>
            <p:cNvPr id="7" name="Freeform 7"/>
            <p:cNvSpPr/>
            <p:nvPr/>
          </p:nvSpPr>
          <p:spPr>
            <a:xfrm>
              <a:off x="471937" y="1352550"/>
              <a:ext cx="199117" cy="190602"/>
            </a:xfrm>
            <a:custGeom>
              <a:avLst/>
              <a:gdLst/>
              <a:ahLst/>
              <a:cxnLst/>
              <a:rect l="l" t="t" r="r" b="b"/>
              <a:pathLst>
                <a:path w="199117" h="190602">
                  <a:moveTo>
                    <a:pt x="99544" y="0"/>
                  </a:moveTo>
                  <a:lnTo>
                    <a:pt x="100668" y="67"/>
                  </a:lnTo>
                  <a:lnTo>
                    <a:pt x="101230" y="143"/>
                  </a:lnTo>
                  <a:lnTo>
                    <a:pt x="101811" y="267"/>
                  </a:lnTo>
                  <a:lnTo>
                    <a:pt x="102868" y="591"/>
                  </a:lnTo>
                  <a:cubicBezTo>
                    <a:pt x="103598" y="860"/>
                    <a:pt x="104293" y="1218"/>
                    <a:pt x="104935" y="1657"/>
                  </a:cubicBezTo>
                  <a:lnTo>
                    <a:pt x="105926" y="2438"/>
                  </a:lnTo>
                  <a:lnTo>
                    <a:pt x="108354" y="4515"/>
                  </a:lnTo>
                  <a:cubicBezTo>
                    <a:pt x="127569" y="20475"/>
                    <a:pt x="151854" y="29045"/>
                    <a:pt x="176830" y="28680"/>
                  </a:cubicBezTo>
                  <a:lnTo>
                    <a:pt x="180087" y="28585"/>
                  </a:lnTo>
                  <a:cubicBezTo>
                    <a:pt x="184470" y="28385"/>
                    <a:pt x="188423" y="31204"/>
                    <a:pt x="189660" y="35414"/>
                  </a:cubicBezTo>
                  <a:cubicBezTo>
                    <a:pt x="199117" y="67583"/>
                    <a:pt x="195123" y="102211"/>
                    <a:pt x="178593" y="131383"/>
                  </a:cubicBezTo>
                  <a:cubicBezTo>
                    <a:pt x="162063" y="160555"/>
                    <a:pt x="134409" y="181776"/>
                    <a:pt x="101954" y="190195"/>
                  </a:cubicBezTo>
                  <a:cubicBezTo>
                    <a:pt x="100386" y="190602"/>
                    <a:pt x="98740" y="190602"/>
                    <a:pt x="97172" y="190195"/>
                  </a:cubicBezTo>
                  <a:cubicBezTo>
                    <a:pt x="64715" y="181778"/>
                    <a:pt x="37059" y="160558"/>
                    <a:pt x="20527" y="131386"/>
                  </a:cubicBezTo>
                  <a:cubicBezTo>
                    <a:pt x="3994" y="102213"/>
                    <a:pt x="0" y="67584"/>
                    <a:pt x="9456" y="35414"/>
                  </a:cubicBezTo>
                  <a:cubicBezTo>
                    <a:pt x="10693" y="31204"/>
                    <a:pt x="14646" y="28385"/>
                    <a:pt x="19029" y="28585"/>
                  </a:cubicBezTo>
                  <a:cubicBezTo>
                    <a:pt x="45103" y="29776"/>
                    <a:pt x="70684" y="21193"/>
                    <a:pt x="90762" y="4515"/>
                  </a:cubicBezTo>
                  <a:lnTo>
                    <a:pt x="93267" y="2372"/>
                  </a:lnTo>
                  <a:lnTo>
                    <a:pt x="94181" y="1657"/>
                  </a:lnTo>
                  <a:cubicBezTo>
                    <a:pt x="94824" y="1218"/>
                    <a:pt x="95518" y="860"/>
                    <a:pt x="96248" y="591"/>
                  </a:cubicBezTo>
                  <a:lnTo>
                    <a:pt x="97315" y="267"/>
                  </a:lnTo>
                  <a:cubicBezTo>
                    <a:pt x="97688" y="177"/>
                    <a:pt x="98067" y="110"/>
                    <a:pt x="98448" y="67"/>
                  </a:cubicBezTo>
                  <a:lnTo>
                    <a:pt x="99544" y="0"/>
                  </a:lnTo>
                  <a:close/>
                  <a:moveTo>
                    <a:pt x="134882" y="69466"/>
                  </a:moveTo>
                  <a:cubicBezTo>
                    <a:pt x="133095" y="67677"/>
                    <a:pt x="130671" y="66672"/>
                    <a:pt x="128143" y="66672"/>
                  </a:cubicBezTo>
                  <a:cubicBezTo>
                    <a:pt x="125615" y="66672"/>
                    <a:pt x="123190" y="67677"/>
                    <a:pt x="121404" y="69466"/>
                  </a:cubicBezTo>
                  <a:lnTo>
                    <a:pt x="90038" y="100822"/>
                  </a:lnTo>
                  <a:lnTo>
                    <a:pt x="77722" y="88516"/>
                  </a:lnTo>
                  <a:lnTo>
                    <a:pt x="76827" y="87725"/>
                  </a:lnTo>
                  <a:cubicBezTo>
                    <a:pt x="72854" y="84653"/>
                    <a:pt x="67178" y="85194"/>
                    <a:pt x="63856" y="88961"/>
                  </a:cubicBezTo>
                  <a:cubicBezTo>
                    <a:pt x="60534" y="92728"/>
                    <a:pt x="60708" y="98427"/>
                    <a:pt x="64254" y="101984"/>
                  </a:cubicBezTo>
                  <a:lnTo>
                    <a:pt x="83304" y="121034"/>
                  </a:lnTo>
                  <a:lnTo>
                    <a:pt x="84199" y="121825"/>
                  </a:lnTo>
                  <a:cubicBezTo>
                    <a:pt x="87991" y="124766"/>
                    <a:pt x="93379" y="124427"/>
                    <a:pt x="96772" y="121034"/>
                  </a:cubicBezTo>
                  <a:lnTo>
                    <a:pt x="134872" y="82934"/>
                  </a:lnTo>
                  <a:lnTo>
                    <a:pt x="135663" y="82039"/>
                  </a:lnTo>
                  <a:cubicBezTo>
                    <a:pt x="138604" y="78247"/>
                    <a:pt x="138265" y="72859"/>
                    <a:pt x="134872" y="69466"/>
                  </a:cubicBezTo>
                  <a:close/>
                </a:path>
              </a:pathLst>
            </a:custGeom>
            <a:solidFill>
              <a:srgbClr val="3A7A47"/>
            </a:solidFill>
            <a:ln>
              <a:noFill/>
            </a:ln>
          </p:spPr>
        </p:sp>
        <p:sp>
          <p:nvSpPr>
            <p:cNvPr id="8" name="TextBox 8"/>
            <p:cNvSpPr txBox="1"/>
            <p:nvPr/>
          </p:nvSpPr>
          <p:spPr>
            <a:xfrm>
              <a:off x="792480" y="1352550"/>
              <a:ext cx="733520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いずれの状況でも、元のブックのファイルは変更されていません。状況に応じた画面へ戻って操作をやり直します。</a:t>
              </a:r>
            </a:p>
          </p:txBody>
        </p:sp>
      </p:grpSp>
      <p:grpSp>
        <p:nvGrpSpPr>
          <p:cNvPr id="40" name="Group 40"/>
          <p:cNvGrpSpPr/>
          <p:nvPr/>
        </p:nvGrpSpPr>
        <p:grpSpPr>
          <a:xfrm>
            <a:off x="457200" y="1752600"/>
            <a:ext cx="11277600" cy="4042601"/>
            <a:chOff x="457200" y="1752600"/>
            <a:chExt cx="11277600" cy="4042601"/>
          </a:xfrm>
        </p:grpSpPr>
        <p:sp>
          <p:nvSpPr>
            <p:cNvPr id="10" name="Rectangle 10"/>
            <p:cNvSpPr/>
            <p:nvPr/>
          </p:nvSpPr>
          <p:spPr>
            <a:xfrm>
              <a:off x="457200" y="1752600"/>
              <a:ext cx="11277600" cy="400050"/>
            </a:xfrm>
            <a:prstGeom prst="rect">
              <a:avLst/>
            </a:prstGeom>
            <a:solidFill>
              <a:schemeClr val="accent1"/>
            </a:solidFill>
            <a:ln>
              <a:noFill/>
            </a:ln>
          </p:spPr>
        </p:sp>
        <p:sp>
          <p:nvSpPr>
            <p:cNvPr id="11" name="TextBox 11"/>
            <p:cNvSpPr txBox="1"/>
            <p:nvPr/>
          </p:nvSpPr>
          <p:spPr>
            <a:xfrm>
              <a:off x="678942" y="1873568"/>
              <a:ext cx="395364"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状況</a:t>
              </a:r>
            </a:p>
          </p:txBody>
        </p:sp>
        <p:sp>
          <p:nvSpPr>
            <p:cNvPr id="12" name="TextBox 12"/>
            <p:cNvSpPr txBox="1"/>
            <p:nvPr/>
          </p:nvSpPr>
          <p:spPr>
            <a:xfrm>
              <a:off x="5289042" y="1873568"/>
              <a:ext cx="395364"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対処</a:t>
              </a:r>
            </a:p>
          </p:txBody>
        </p:sp>
        <p:sp>
          <p:nvSpPr>
            <p:cNvPr id="13" name="Rectangle 13"/>
            <p:cNvSpPr/>
            <p:nvPr/>
          </p:nvSpPr>
          <p:spPr>
            <a:xfrm>
              <a:off x="457200" y="2152650"/>
              <a:ext cx="11277600" cy="476250"/>
            </a:xfrm>
            <a:prstGeom prst="rect">
              <a:avLst/>
            </a:prstGeom>
            <a:solidFill>
              <a:schemeClr val="lt1"/>
            </a:solidFill>
            <a:ln>
              <a:noFill/>
            </a:ln>
          </p:spPr>
        </p:sp>
        <p:sp>
          <p:nvSpPr>
            <p:cNvPr id="14" name="TextBox 14"/>
            <p:cNvSpPr txBox="1"/>
            <p:nvPr/>
          </p:nvSpPr>
          <p:spPr>
            <a:xfrm>
              <a:off x="678942" y="2311718"/>
              <a:ext cx="124044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返答を取り込めない</a:t>
              </a:r>
            </a:p>
          </p:txBody>
        </p:sp>
        <p:sp>
          <p:nvSpPr>
            <p:cNvPr id="15" name="TextBox 15"/>
            <p:cNvSpPr txBox="1"/>
            <p:nvPr/>
          </p:nvSpPr>
          <p:spPr>
            <a:xfrm>
              <a:off x="5289042" y="2311718"/>
              <a:ext cx="404622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コードブロック全体をコピーし直し、もう一度取り込む（P14）</a:t>
              </a:r>
            </a:p>
          </p:txBody>
        </p:sp>
        <p:sp>
          <p:nvSpPr>
            <p:cNvPr id="16" name="Rectangle 16"/>
            <p:cNvSpPr/>
            <p:nvPr/>
          </p:nvSpPr>
          <p:spPr>
            <a:xfrm>
              <a:off x="457200" y="2628900"/>
              <a:ext cx="11277600" cy="552450"/>
            </a:xfrm>
            <a:prstGeom prst="rect">
              <a:avLst/>
            </a:prstGeom>
            <a:solidFill>
              <a:schemeClr val="accent5"/>
            </a:solidFill>
            <a:ln>
              <a:noFill/>
            </a:ln>
          </p:spPr>
        </p:sp>
        <p:sp>
          <p:nvSpPr>
            <p:cNvPr id="17" name="TextBox 17"/>
            <p:cNvSpPr txBox="1"/>
            <p:nvPr/>
          </p:nvSpPr>
          <p:spPr>
            <a:xfrm>
              <a:off x="678942" y="2807018"/>
              <a:ext cx="198556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取り込んだ内容が依頼と異なる</a:t>
              </a:r>
            </a:p>
          </p:txBody>
        </p:sp>
        <p:sp>
          <p:nvSpPr>
            <p:cNvPr id="18" name="TextBox 18"/>
            <p:cNvSpPr txBox="1"/>
            <p:nvPr/>
          </p:nvSpPr>
          <p:spPr>
            <a:xfrm>
              <a:off x="5289042" y="2730818"/>
              <a:ext cx="467989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［戻る］で取り込み画面へ戻り、AI に修正を依頼して新しい返答を</a:t>
              </a:r>
            </a:p>
          </p:txBody>
        </p:sp>
        <p:sp>
          <p:nvSpPr>
            <p:cNvPr id="19" name="TextBox 19"/>
            <p:cNvSpPr txBox="1"/>
            <p:nvPr/>
          </p:nvSpPr>
          <p:spPr>
            <a:xfrm>
              <a:off x="5289042" y="2959418"/>
              <a:ext cx="311233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取り込み直す。前の取り込みは全体が置き換わる</a:t>
              </a:r>
            </a:p>
          </p:txBody>
        </p:sp>
        <p:sp>
          <p:nvSpPr>
            <p:cNvPr id="20" name="Rectangle 20"/>
            <p:cNvSpPr/>
            <p:nvPr/>
          </p:nvSpPr>
          <p:spPr>
            <a:xfrm>
              <a:off x="457200" y="3181350"/>
              <a:ext cx="11277600" cy="476250"/>
            </a:xfrm>
            <a:prstGeom prst="rect">
              <a:avLst/>
            </a:prstGeom>
            <a:solidFill>
              <a:schemeClr val="lt1"/>
            </a:solidFill>
            <a:ln>
              <a:noFill/>
            </a:ln>
          </p:spPr>
        </p:sp>
        <p:sp>
          <p:nvSpPr>
            <p:cNvPr id="21" name="TextBox 21"/>
            <p:cNvSpPr txBox="1"/>
            <p:nvPr/>
          </p:nvSpPr>
          <p:spPr>
            <a:xfrm>
              <a:off x="678942" y="3340418"/>
              <a:ext cx="226725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コピー時の記号混入など軽微な崩れ</a:t>
              </a:r>
            </a:p>
          </p:txBody>
        </p:sp>
        <p:sp>
          <p:nvSpPr>
            <p:cNvPr id="22" name="TextBox 22"/>
            <p:cNvSpPr txBox="1"/>
            <p:nvPr/>
          </p:nvSpPr>
          <p:spPr>
            <a:xfrm>
              <a:off x="5289042" y="3340418"/>
              <a:ext cx="518876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確認画面の［手動修正］で修正し、［修正を反映］を押す（P15）</a:t>
              </a:r>
            </a:p>
          </p:txBody>
        </p:sp>
        <p:sp>
          <p:nvSpPr>
            <p:cNvPr id="23" name="Rectangle 23"/>
            <p:cNvSpPr/>
            <p:nvPr/>
          </p:nvSpPr>
          <p:spPr>
            <a:xfrm>
              <a:off x="457200" y="3657600"/>
              <a:ext cx="11277600" cy="628650"/>
            </a:xfrm>
            <a:prstGeom prst="rect">
              <a:avLst/>
            </a:prstGeom>
            <a:solidFill>
              <a:schemeClr val="accent5"/>
            </a:solidFill>
            <a:ln>
              <a:noFill/>
            </a:ln>
          </p:spPr>
        </p:sp>
        <p:sp>
          <p:nvSpPr>
            <p:cNvPr id="24" name="TextBox 24"/>
            <p:cNvSpPr txBox="1"/>
            <p:nvPr/>
          </p:nvSpPr>
          <p:spPr>
            <a:xfrm>
              <a:off x="678942" y="3740468"/>
              <a:ext cx="212186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「元のブックのマクロが、読み込んだ</a:t>
              </a:r>
            </a:p>
          </p:txBody>
        </p:sp>
        <p:sp>
          <p:nvSpPr>
            <p:cNvPr id="25" name="TextBox 25"/>
            <p:cNvSpPr txBox="1"/>
            <p:nvPr/>
          </p:nvSpPr>
          <p:spPr>
            <a:xfrm>
              <a:off x="678942" y="3969068"/>
              <a:ext cx="137674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ときから変わっています」</a:t>
              </a:r>
            </a:p>
          </p:txBody>
        </p:sp>
        <p:sp>
          <p:nvSpPr>
            <p:cNvPr id="26" name="TextBox 26"/>
            <p:cNvSpPr txBox="1"/>
            <p:nvPr/>
          </p:nvSpPr>
          <p:spPr>
            <a:xfrm>
              <a:off x="5289042" y="3740468"/>
              <a:ext cx="38938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読み込み後に元のブックのマクロが保存し直された状態。出力は</a:t>
              </a:r>
            </a:p>
          </p:txBody>
        </p:sp>
        <p:sp>
          <p:nvSpPr>
            <p:cNvPr id="27" name="TextBox 27"/>
            <p:cNvSpPr txBox="1"/>
            <p:nvPr/>
          </p:nvSpPr>
          <p:spPr>
            <a:xfrm>
              <a:off x="5289042" y="3969068"/>
              <a:ext cx="37120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作成されていない。ブックを読み込み直し、依頼から作り直す</a:t>
              </a:r>
            </a:p>
          </p:txBody>
        </p:sp>
        <p:sp>
          <p:nvSpPr>
            <p:cNvPr id="28" name="Rectangle 28"/>
            <p:cNvSpPr/>
            <p:nvPr/>
          </p:nvSpPr>
          <p:spPr>
            <a:xfrm>
              <a:off x="457200" y="4286250"/>
              <a:ext cx="11277600" cy="476250"/>
            </a:xfrm>
            <a:prstGeom prst="rect">
              <a:avLst/>
            </a:prstGeom>
            <a:solidFill>
              <a:schemeClr val="lt1"/>
            </a:solidFill>
            <a:ln>
              <a:noFill/>
            </a:ln>
          </p:spPr>
        </p:sp>
        <p:sp>
          <p:nvSpPr>
            <p:cNvPr id="29" name="TextBox 29"/>
            <p:cNvSpPr txBox="1"/>
            <p:nvPr/>
          </p:nvSpPr>
          <p:spPr>
            <a:xfrm>
              <a:off x="678942" y="4445318"/>
              <a:ext cx="147669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「ビルドできませんでした」</a:t>
              </a:r>
            </a:p>
          </p:txBody>
        </p:sp>
        <p:sp>
          <p:nvSpPr>
            <p:cNvPr id="30" name="TextBox 30"/>
            <p:cNvSpPr txBox="1"/>
            <p:nvPr/>
          </p:nvSpPr>
          <p:spPr>
            <a:xfrm>
              <a:off x="5289042" y="4445318"/>
              <a:ext cx="520230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［もう一度ビルドする］を実行する。再発する場合はログを添えて配布元へ連絡する</a:t>
              </a:r>
            </a:p>
          </p:txBody>
        </p:sp>
        <p:sp>
          <p:nvSpPr>
            <p:cNvPr id="31" name="Rectangle 31"/>
            <p:cNvSpPr/>
            <p:nvPr/>
          </p:nvSpPr>
          <p:spPr>
            <a:xfrm>
              <a:off x="457200" y="4762500"/>
              <a:ext cx="11277600" cy="438150"/>
            </a:xfrm>
            <a:prstGeom prst="rect">
              <a:avLst/>
            </a:prstGeom>
            <a:solidFill>
              <a:schemeClr val="accent5"/>
            </a:solidFill>
            <a:ln>
              <a:noFill/>
            </a:ln>
          </p:spPr>
        </p:sp>
        <p:sp>
          <p:nvSpPr>
            <p:cNvPr id="32" name="TextBox 32"/>
            <p:cNvSpPr txBox="1"/>
            <p:nvPr/>
          </p:nvSpPr>
          <p:spPr>
            <a:xfrm>
              <a:off x="678942" y="4902518"/>
              <a:ext cx="154030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「時間がかかっています」</a:t>
              </a:r>
            </a:p>
          </p:txBody>
        </p:sp>
        <p:sp>
          <p:nvSpPr>
            <p:cNvPr id="33" name="TextBox 33"/>
            <p:cNvSpPr txBox="1"/>
            <p:nvPr/>
          </p:nvSpPr>
          <p:spPr>
            <a:xfrm>
              <a:off x="5289042" y="4902518"/>
              <a:ext cx="226725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処理は継続している。終了まで待つ</a:t>
              </a:r>
            </a:p>
          </p:txBody>
        </p:sp>
        <p:sp>
          <p:nvSpPr>
            <p:cNvPr id="34" name="Rectangle 34"/>
            <p:cNvSpPr/>
            <p:nvPr/>
          </p:nvSpPr>
          <p:spPr>
            <a:xfrm>
              <a:off x="457200" y="5200650"/>
              <a:ext cx="11277600" cy="552450"/>
            </a:xfrm>
            <a:prstGeom prst="rect">
              <a:avLst/>
            </a:prstGeom>
            <a:solidFill>
              <a:schemeClr val="lt1"/>
            </a:solidFill>
            <a:ln>
              <a:noFill/>
            </a:ln>
          </p:spPr>
        </p:sp>
        <p:sp>
          <p:nvSpPr>
            <p:cNvPr id="35" name="TextBox 35"/>
            <p:cNvSpPr txBox="1"/>
            <p:nvPr/>
          </p:nvSpPr>
          <p:spPr>
            <a:xfrm>
              <a:off x="678942" y="5378768"/>
              <a:ext cx="124044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依頼を作り直したい</a:t>
              </a:r>
            </a:p>
          </p:txBody>
        </p:sp>
        <p:sp>
          <p:nvSpPr>
            <p:cNvPr id="36" name="TextBox 36"/>
            <p:cNvSpPr txBox="1"/>
            <p:nvPr/>
          </p:nvSpPr>
          <p:spPr>
            <a:xfrm>
              <a:off x="5289042" y="5302568"/>
              <a:ext cx="473750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目的を選び直すと依頼番号が更新される。依頼文を AI へ送り直して</a:t>
              </a:r>
            </a:p>
          </p:txBody>
        </p:sp>
        <p:sp>
          <p:nvSpPr>
            <p:cNvPr id="37" name="TextBox 37"/>
            <p:cNvSpPr txBox="1"/>
            <p:nvPr/>
          </p:nvSpPr>
          <p:spPr>
            <a:xfrm>
              <a:off x="5289042" y="5531168"/>
              <a:ext cx="180382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から、新しい返答を取り込む</a:t>
              </a:r>
            </a:p>
          </p:txBody>
        </p:sp>
        <p:sp>
          <p:nvSpPr>
            <p:cNvPr id="38" name="Rectangle 38"/>
            <p:cNvSpPr/>
            <p:nvPr/>
          </p:nvSpPr>
          <p:spPr>
            <a:xfrm>
              <a:off x="457200" y="1752600"/>
              <a:ext cx="11277600" cy="4000500"/>
            </a:xfrm>
            <a:prstGeom prst="roundRect">
              <a:avLst>
                <a:gd name="adj" fmla="val 1905"/>
              </a:avLst>
            </a:prstGeom>
            <a:noFill/>
            <a:ln w="14288">
              <a:solidFill>
                <a:schemeClr val="accent6"/>
              </a:solidFill>
            </a:ln>
          </p:spPr>
        </p:sp>
        <p:sp>
          <p:nvSpPr>
            <p:cNvPr id="39" name="Line 39"/>
            <p:cNvSpPr/>
            <p:nvPr/>
          </p:nvSpPr>
          <p:spPr>
            <a:xfrm>
              <a:off x="5143500" y="1752600"/>
              <a:ext cx="9525" cy="4000500"/>
            </a:xfrm>
            <a:custGeom>
              <a:avLst/>
              <a:gdLst/>
              <a:ahLst/>
              <a:cxnLst/>
              <a:rect l="l" t="t" r="r" b="b"/>
              <a:pathLst>
                <a:path w="9525" h="4000500">
                  <a:moveTo>
                    <a:pt x="0" y="0"/>
                  </a:moveTo>
                  <a:lnTo>
                    <a:pt x="0" y="4000500"/>
                  </a:lnTo>
                </a:path>
              </a:pathLst>
            </a:custGeom>
            <a:noFill/>
            <a:ln w="9525">
              <a:solidFill>
                <a:schemeClr val="accent6"/>
              </a:solidFill>
            </a:ln>
          </p:spPr>
        </p:sp>
      </p:grpSp>
      <p:grpSp>
        <p:nvGrpSpPr>
          <p:cNvPr id="43" name="Group 43"/>
          <p:cNvGrpSpPr/>
          <p:nvPr/>
        </p:nvGrpSpPr>
        <p:grpSpPr>
          <a:xfrm>
            <a:off x="474663" y="5942013"/>
            <a:ext cx="10937388" cy="265715"/>
            <a:chOff x="474663" y="5942013"/>
            <a:chExt cx="10937388" cy="265715"/>
          </a:xfrm>
        </p:grpSpPr>
        <p:sp>
          <p:nvSpPr>
            <p:cNvPr id="41" name="Freeform 41"/>
            <p:cNvSpPr/>
            <p:nvPr/>
          </p:nvSpPr>
          <p:spPr>
            <a:xfrm>
              <a:off x="474663" y="5942013"/>
              <a:ext cx="174663" cy="175455"/>
            </a:xfrm>
            <a:custGeom>
              <a:avLst/>
              <a:gdLst/>
              <a:ahLst/>
              <a:cxnLst/>
              <a:rect l="l" t="t" r="r" b="b"/>
              <a:pathLst>
                <a:path w="174663" h="175455">
                  <a:moveTo>
                    <a:pt x="87313" y="0"/>
                  </a:moveTo>
                  <a:cubicBezTo>
                    <a:pt x="135535" y="0"/>
                    <a:pt x="174625" y="39090"/>
                    <a:pt x="174625" y="87313"/>
                  </a:cubicBezTo>
                  <a:cubicBezTo>
                    <a:pt x="174663" y="135009"/>
                    <a:pt x="136418" y="173910"/>
                    <a:pt x="88727" y="174683"/>
                  </a:cubicBezTo>
                  <a:cubicBezTo>
                    <a:pt x="41037" y="175455"/>
                    <a:pt x="1551" y="137814"/>
                    <a:pt x="44" y="90141"/>
                  </a:cubicBezTo>
                  <a:lnTo>
                    <a:pt x="0" y="87313"/>
                  </a:lnTo>
                  <a:lnTo>
                    <a:pt x="35" y="84868"/>
                  </a:lnTo>
                  <a:cubicBezTo>
                    <a:pt x="1327" y="37780"/>
                    <a:pt x="39902" y="0"/>
                    <a:pt x="87313" y="0"/>
                  </a:cubicBezTo>
                  <a:close/>
                  <a:moveTo>
                    <a:pt x="87313" y="113506"/>
                  </a:moveTo>
                  <a:cubicBezTo>
                    <a:pt x="82886" y="113507"/>
                    <a:pt x="79160" y="116820"/>
                    <a:pt x="78642" y="121216"/>
                  </a:cubicBezTo>
                  <a:lnTo>
                    <a:pt x="78581" y="122238"/>
                  </a:lnTo>
                  <a:lnTo>
                    <a:pt x="78642" y="123346"/>
                  </a:lnTo>
                  <a:cubicBezTo>
                    <a:pt x="79165" y="127739"/>
                    <a:pt x="82889" y="131046"/>
                    <a:pt x="87313" y="131046"/>
                  </a:cubicBezTo>
                  <a:cubicBezTo>
                    <a:pt x="91736" y="131046"/>
                    <a:pt x="95460" y="127739"/>
                    <a:pt x="95983" y="123346"/>
                  </a:cubicBezTo>
                  <a:lnTo>
                    <a:pt x="96044" y="122325"/>
                  </a:lnTo>
                  <a:lnTo>
                    <a:pt x="95983" y="121216"/>
                  </a:lnTo>
                  <a:cubicBezTo>
                    <a:pt x="95465" y="116820"/>
                    <a:pt x="91739" y="113507"/>
                    <a:pt x="87313" y="113506"/>
                  </a:cubicBezTo>
                  <a:close/>
                  <a:moveTo>
                    <a:pt x="99257" y="55243"/>
                  </a:moveTo>
                  <a:cubicBezTo>
                    <a:pt x="88495" y="49741"/>
                    <a:pt x="75363" y="52374"/>
                    <a:pt x="67554" y="61599"/>
                  </a:cubicBezTo>
                  <a:cubicBezTo>
                    <a:pt x="64552" y="65115"/>
                    <a:pt x="64812" y="70363"/>
                    <a:pt x="68146" y="73565"/>
                  </a:cubicBezTo>
                  <a:cubicBezTo>
                    <a:pt x="71481" y="76768"/>
                    <a:pt x="76734" y="76816"/>
                    <a:pt x="80127" y="73674"/>
                  </a:cubicBezTo>
                  <a:lnTo>
                    <a:pt x="81620" y="72103"/>
                  </a:lnTo>
                  <a:cubicBezTo>
                    <a:pt x="84258" y="69681"/>
                    <a:pt x="88125" y="69158"/>
                    <a:pt x="91311" y="70793"/>
                  </a:cubicBezTo>
                  <a:cubicBezTo>
                    <a:pt x="94756" y="72536"/>
                    <a:pt x="96646" y="76334"/>
                    <a:pt x="95962" y="80132"/>
                  </a:cubicBezTo>
                  <a:cubicBezTo>
                    <a:pt x="95277" y="83931"/>
                    <a:pt x="92179" y="86830"/>
                    <a:pt x="88343" y="87260"/>
                  </a:cubicBezTo>
                  <a:lnTo>
                    <a:pt x="86317" y="87365"/>
                  </a:lnTo>
                  <a:cubicBezTo>
                    <a:pt x="81706" y="87872"/>
                    <a:pt x="78296" y="91897"/>
                    <a:pt x="78554" y="96529"/>
                  </a:cubicBezTo>
                  <a:cubicBezTo>
                    <a:pt x="78812" y="101161"/>
                    <a:pt x="82647" y="104783"/>
                    <a:pt x="87286" y="104775"/>
                  </a:cubicBezTo>
                  <a:cubicBezTo>
                    <a:pt x="99412" y="104811"/>
                    <a:pt x="109977" y="96521"/>
                    <a:pt x="112826" y="84735"/>
                  </a:cubicBezTo>
                  <a:cubicBezTo>
                    <a:pt x="115674" y="72948"/>
                    <a:pt x="110061" y="60748"/>
                    <a:pt x="99257" y="55243"/>
                  </a:cubicBezTo>
                  <a:close/>
                </a:path>
              </a:pathLst>
            </a:custGeom>
            <a:solidFill>
              <a:srgbClr val="5D6B7A"/>
            </a:solidFill>
            <a:ln>
              <a:noFill/>
            </a:ln>
          </p:spPr>
        </p:sp>
        <p:sp>
          <p:nvSpPr>
            <p:cNvPr id="42" name="TextBox 42"/>
            <p:cNvSpPr txBox="1"/>
            <p:nvPr/>
          </p:nvSpPr>
          <p:spPr>
            <a:xfrm>
              <a:off x="774573" y="5958364"/>
              <a:ext cx="10637478"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最初からやり直す場合は右上の［最初から］を押します。動作記録は %LOCALAPPDATA%\MacroStudio\logs に保存されます（コードの本文は記録されません）。</a:t>
              </a:r>
            </a:p>
          </p:txBody>
        </p:sp>
      </p:grpSp>
      <p:grpSp>
        <p:nvGrpSpPr>
          <p:cNvPr id="46" name="Group 46"/>
          <p:cNvGrpSpPr/>
          <p:nvPr/>
        </p:nvGrpSpPr>
        <p:grpSpPr>
          <a:xfrm>
            <a:off x="451866" y="6477952"/>
            <a:ext cx="11288268" cy="205359"/>
            <a:chOff x="451866" y="6477952"/>
            <a:chExt cx="11288268" cy="205359"/>
          </a:xfrm>
        </p:grpSpPr>
        <p:sp>
          <p:nvSpPr>
            <p:cNvPr id="44" name="TextBox 44"/>
            <p:cNvSpPr txBox="1"/>
            <p:nvPr/>
          </p:nvSpPr>
          <p:spPr>
            <a:xfrm>
              <a:off x="451866" y="6477952"/>
              <a:ext cx="2252718"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MacroStudio 操作マニュアル（ベータ版）</a:t>
              </a:r>
            </a:p>
          </p:txBody>
        </p:sp>
        <p:sp>
          <p:nvSpPr>
            <p:cNvPr id="45" name="TextBox 45"/>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21</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3"/>
            </a:solidFill>
            <a:ln>
              <a:noFill/>
            </a:ln>
          </p:spPr>
        </p:sp>
        <p:sp>
          <p:nvSpPr>
            <p:cNvPr id="3" name="TextBox 3"/>
            <p:cNvSpPr txBox="1"/>
            <p:nvPr/>
          </p:nvSpPr>
          <p:spPr>
            <a:xfrm>
              <a:off x="665397" y="486728"/>
              <a:ext cx="30750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参考</a:t>
              </a:r>
            </a:p>
          </p:txBody>
        </p:sp>
        <p:sp>
          <p:nvSpPr>
            <p:cNvPr id="4" name="TextBox 4"/>
            <p:cNvSpPr txBox="1"/>
            <p:nvPr/>
          </p:nvSpPr>
          <p:spPr>
            <a:xfrm>
              <a:off x="441960" y="685800"/>
              <a:ext cx="412259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動作要件と処理の仕組み</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9" name="Group 19"/>
          <p:cNvGrpSpPr/>
          <p:nvPr/>
        </p:nvGrpSpPr>
        <p:grpSpPr>
          <a:xfrm>
            <a:off x="457200" y="1333500"/>
            <a:ext cx="5334000" cy="3619500"/>
            <a:chOff x="457200" y="1333500"/>
            <a:chExt cx="5334000" cy="3619500"/>
          </a:xfrm>
        </p:grpSpPr>
        <p:sp>
          <p:nvSpPr>
            <p:cNvPr id="7" name="Rectangle 7"/>
            <p:cNvSpPr/>
            <p:nvPr/>
          </p:nvSpPr>
          <p:spPr>
            <a:xfrm>
              <a:off x="457200" y="1333500"/>
              <a:ext cx="5334000" cy="3619500"/>
            </a:xfrm>
            <a:prstGeom prst="roundRect">
              <a:avLst>
                <a:gd name="adj" fmla="val 4211"/>
              </a:avLst>
            </a:prstGeom>
            <a:solidFill>
              <a:schemeClr val="lt2"/>
            </a:solidFill>
            <a:ln>
              <a:noFill/>
            </a:ln>
          </p:spPr>
        </p:sp>
        <p:sp>
          <p:nvSpPr>
            <p:cNvPr id="8" name="Freeform 8"/>
            <p:cNvSpPr/>
            <p:nvPr/>
          </p:nvSpPr>
          <p:spPr>
            <a:xfrm>
              <a:off x="746125" y="1595438"/>
              <a:ext cx="222251" cy="200026"/>
            </a:xfrm>
            <a:custGeom>
              <a:avLst/>
              <a:gdLst/>
              <a:ahLst/>
              <a:cxnLst/>
              <a:rect l="l" t="t" r="r" b="b"/>
              <a:pathLst>
                <a:path w="222251" h="200026">
                  <a:moveTo>
                    <a:pt x="55563" y="200026"/>
                  </a:moveTo>
                  <a:cubicBezTo>
                    <a:pt x="49425" y="200026"/>
                    <a:pt x="44450" y="195050"/>
                    <a:pt x="44450" y="188913"/>
                  </a:cubicBezTo>
                  <a:cubicBezTo>
                    <a:pt x="44450" y="182776"/>
                    <a:pt x="49425" y="177801"/>
                    <a:pt x="55563" y="177801"/>
                  </a:cubicBezTo>
                  <a:lnTo>
                    <a:pt x="66675" y="177801"/>
                  </a:lnTo>
                  <a:lnTo>
                    <a:pt x="66675" y="155575"/>
                  </a:lnTo>
                  <a:lnTo>
                    <a:pt x="22225" y="155575"/>
                  </a:lnTo>
                  <a:cubicBezTo>
                    <a:pt x="9950" y="155575"/>
                    <a:pt x="0" y="145625"/>
                    <a:pt x="0" y="133350"/>
                  </a:cubicBezTo>
                  <a:lnTo>
                    <a:pt x="0" y="22225"/>
                  </a:lnTo>
                  <a:cubicBezTo>
                    <a:pt x="0" y="9950"/>
                    <a:pt x="9950" y="0"/>
                    <a:pt x="22225" y="0"/>
                  </a:cubicBezTo>
                  <a:lnTo>
                    <a:pt x="200026" y="0"/>
                  </a:lnTo>
                  <a:cubicBezTo>
                    <a:pt x="212300" y="0"/>
                    <a:pt x="222251" y="9950"/>
                    <a:pt x="222251" y="22225"/>
                  </a:cubicBezTo>
                  <a:lnTo>
                    <a:pt x="222251" y="133350"/>
                  </a:lnTo>
                  <a:cubicBezTo>
                    <a:pt x="222251" y="145625"/>
                    <a:pt x="212300" y="155575"/>
                    <a:pt x="200026" y="155575"/>
                  </a:cubicBezTo>
                  <a:lnTo>
                    <a:pt x="155575" y="155575"/>
                  </a:lnTo>
                  <a:lnTo>
                    <a:pt x="155575" y="177801"/>
                  </a:lnTo>
                  <a:lnTo>
                    <a:pt x="166688" y="177801"/>
                  </a:lnTo>
                  <a:cubicBezTo>
                    <a:pt x="172825" y="177801"/>
                    <a:pt x="177801" y="182776"/>
                    <a:pt x="177801" y="188913"/>
                  </a:cubicBezTo>
                  <a:cubicBezTo>
                    <a:pt x="177801" y="195050"/>
                    <a:pt x="172825" y="200026"/>
                    <a:pt x="166688" y="200026"/>
                  </a:cubicBezTo>
                  <a:close/>
                  <a:moveTo>
                    <a:pt x="133350" y="155575"/>
                  </a:moveTo>
                  <a:lnTo>
                    <a:pt x="88900" y="155575"/>
                  </a:lnTo>
                  <a:lnTo>
                    <a:pt x="88900" y="177801"/>
                  </a:lnTo>
                  <a:lnTo>
                    <a:pt x="133350" y="177801"/>
                  </a:lnTo>
                  <a:close/>
                </a:path>
              </a:pathLst>
            </a:custGeom>
            <a:solidFill>
              <a:schemeClr val="accent1"/>
            </a:solidFill>
            <a:ln>
              <a:noFill/>
            </a:ln>
          </p:spPr>
        </p:sp>
        <p:sp>
          <p:nvSpPr>
            <p:cNvPr id="9" name="TextBox 9"/>
            <p:cNvSpPr txBox="1"/>
            <p:nvPr/>
          </p:nvSpPr>
          <p:spPr>
            <a:xfrm>
              <a:off x="1096137" y="1585436"/>
              <a:ext cx="990021" cy="337376"/>
            </a:xfrm>
            <a:prstGeom prst="rect">
              <a:avLst/>
            </a:prstGeom>
            <a:noFill/>
            <a:ln>
              <a:noFill/>
            </a:ln>
          </p:spPr>
          <p:txBody>
            <a:bodyPr wrap="none" lIns="0" tIns="0" rIns="0" bIns="0" anchor="t" anchorCtr="0">
              <a:spAutoFit/>
            </a:bodyPr>
            <a:lstStyle/>
            <a:p>
              <a:pPr algn="l"/>
              <a:r>
                <a:rPr lang="zh-CN" sz="1720" b="1" dirty="0">
                  <a:solidFill>
                    <a:schemeClr val="dk1"/>
                  </a:solidFill>
                  <a:latin typeface="+mn-lt"/>
                  <a:ea typeface="+mn-ea"/>
                  <a:cs typeface="+mn-cs"/>
                </a:rPr>
                <a:t>動作要件</a:t>
              </a:r>
            </a:p>
          </p:txBody>
        </p:sp>
        <p:sp>
          <p:nvSpPr>
            <p:cNvPr id="10" name="TextBox 10"/>
            <p:cNvSpPr txBox="1"/>
            <p:nvPr/>
          </p:nvSpPr>
          <p:spPr>
            <a:xfrm>
              <a:off x="716661" y="2036921"/>
              <a:ext cx="159466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・Windows 10 / 11</a:t>
              </a:r>
            </a:p>
          </p:txBody>
        </p:sp>
        <p:sp>
          <p:nvSpPr>
            <p:cNvPr id="11" name="TextBox 11"/>
            <p:cNvSpPr txBox="1"/>
            <p:nvPr/>
          </p:nvSpPr>
          <p:spPr>
            <a:xfrm>
              <a:off x="716661" y="2379821"/>
              <a:ext cx="3429017"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・Windows PowerShell 5.1（OS 標準）</a:t>
              </a:r>
            </a:p>
          </p:txBody>
        </p:sp>
        <p:sp>
          <p:nvSpPr>
            <p:cNvPr id="12" name="TextBox 12"/>
            <p:cNvSpPr txBox="1"/>
            <p:nvPr/>
          </p:nvSpPr>
          <p:spPr>
            <a:xfrm>
              <a:off x="716661" y="2722721"/>
              <a:ext cx="159763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・WebView2 ランタイム</a:t>
              </a:r>
            </a:p>
          </p:txBody>
        </p:sp>
        <p:sp>
          <p:nvSpPr>
            <p:cNvPr id="13" name="TextBox 13"/>
            <p:cNvSpPr txBox="1"/>
            <p:nvPr/>
          </p:nvSpPr>
          <p:spPr>
            <a:xfrm>
              <a:off x="716661" y="2989421"/>
              <a:ext cx="2567835"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 xml:space="preserve">　（Windows 11 は標準搭載）</a:t>
              </a:r>
            </a:p>
          </p:txBody>
        </p:sp>
        <p:sp>
          <p:nvSpPr>
            <p:cNvPr id="14" name="TextBox 14"/>
            <p:cNvSpPr txBox="1"/>
            <p:nvPr/>
          </p:nvSpPr>
          <p:spPr>
            <a:xfrm>
              <a:off x="716661" y="3332321"/>
              <a:ext cx="3803164"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・.NET Framework 4.7.2 以降（OS 標準）</a:t>
              </a:r>
            </a:p>
          </p:txBody>
        </p:sp>
        <p:sp>
          <p:nvSpPr>
            <p:cNvPr id="15" name="TextBox 15"/>
            <p:cNvSpPr txBox="1"/>
            <p:nvPr/>
          </p:nvSpPr>
          <p:spPr>
            <a:xfrm>
              <a:off x="716661" y="3675221"/>
              <a:ext cx="2073384"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・Excel はツール自体には不要</a:t>
              </a:r>
            </a:p>
          </p:txBody>
        </p:sp>
        <p:sp>
          <p:nvSpPr>
            <p:cNvPr id="16" name="TextBox 16"/>
            <p:cNvSpPr txBox="1"/>
            <p:nvPr/>
          </p:nvSpPr>
          <p:spPr>
            <a:xfrm>
              <a:off x="716661" y="3941921"/>
              <a:ext cx="2031220"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 xml:space="preserve">　（動作確認時に使用）</a:t>
              </a:r>
            </a:p>
          </p:txBody>
        </p:sp>
        <p:sp>
          <p:nvSpPr>
            <p:cNvPr id="17" name="TextBox 17"/>
            <p:cNvSpPr txBox="1"/>
            <p:nvPr/>
          </p:nvSpPr>
          <p:spPr>
            <a:xfrm>
              <a:off x="717042" y="4407218"/>
              <a:ext cx="2458079"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インストールは不要です。フォルダをコピーして</a:t>
              </a:r>
            </a:p>
          </p:txBody>
        </p:sp>
        <p:sp>
          <p:nvSpPr>
            <p:cNvPr id="18" name="TextBox 18"/>
            <p:cNvSpPr txBox="1"/>
            <p:nvPr/>
          </p:nvSpPr>
          <p:spPr>
            <a:xfrm>
              <a:off x="717042" y="4654868"/>
              <a:ext cx="858793"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使用します。</a:t>
              </a:r>
            </a:p>
          </p:txBody>
        </p:sp>
      </p:grpSp>
      <p:grpSp>
        <p:nvGrpSpPr>
          <p:cNvPr id="27" name="Group 27"/>
          <p:cNvGrpSpPr/>
          <p:nvPr/>
        </p:nvGrpSpPr>
        <p:grpSpPr>
          <a:xfrm>
            <a:off x="6096000" y="1333500"/>
            <a:ext cx="5638800" cy="1771650"/>
            <a:chOff x="6096000" y="1333500"/>
            <a:chExt cx="5638800" cy="1771650"/>
          </a:xfrm>
        </p:grpSpPr>
        <p:sp>
          <p:nvSpPr>
            <p:cNvPr id="20" name="Rectangle 20"/>
            <p:cNvSpPr/>
            <p:nvPr/>
          </p:nvSpPr>
          <p:spPr>
            <a:xfrm>
              <a:off x="6096000" y="1333500"/>
              <a:ext cx="5638800" cy="1771650"/>
            </a:xfrm>
            <a:prstGeom prst="roundRect">
              <a:avLst>
                <a:gd name="adj" fmla="val 8602"/>
              </a:avLst>
            </a:prstGeom>
            <a:solidFill>
              <a:schemeClr val="lt2"/>
            </a:solidFill>
            <a:ln>
              <a:noFill/>
            </a:ln>
          </p:spPr>
        </p:sp>
        <p:sp>
          <p:nvSpPr>
            <p:cNvPr id="21" name="Freeform 21"/>
            <p:cNvSpPr/>
            <p:nvPr/>
          </p:nvSpPr>
          <p:spPr>
            <a:xfrm>
              <a:off x="6341793" y="1584325"/>
              <a:ext cx="232303" cy="222369"/>
            </a:xfrm>
            <a:custGeom>
              <a:avLst/>
              <a:gdLst/>
              <a:ahLst/>
              <a:cxnLst/>
              <a:rect l="l" t="t" r="r" b="b"/>
              <a:pathLst>
                <a:path w="232303" h="222369">
                  <a:moveTo>
                    <a:pt x="116135" y="0"/>
                  </a:moveTo>
                  <a:lnTo>
                    <a:pt x="117446" y="78"/>
                  </a:lnTo>
                  <a:lnTo>
                    <a:pt x="118102" y="167"/>
                  </a:lnTo>
                  <a:lnTo>
                    <a:pt x="118780" y="311"/>
                  </a:lnTo>
                  <a:lnTo>
                    <a:pt x="120013" y="689"/>
                  </a:lnTo>
                  <a:cubicBezTo>
                    <a:pt x="120865" y="1003"/>
                    <a:pt x="121675" y="1421"/>
                    <a:pt x="122424" y="1934"/>
                  </a:cubicBezTo>
                  <a:lnTo>
                    <a:pt x="123580" y="2845"/>
                  </a:lnTo>
                  <a:lnTo>
                    <a:pt x="126414" y="5267"/>
                  </a:lnTo>
                  <a:cubicBezTo>
                    <a:pt x="148831" y="23887"/>
                    <a:pt x="177163" y="33885"/>
                    <a:pt x="206302" y="33460"/>
                  </a:cubicBezTo>
                  <a:lnTo>
                    <a:pt x="210102" y="33349"/>
                  </a:lnTo>
                  <a:cubicBezTo>
                    <a:pt x="215216" y="33115"/>
                    <a:pt x="219827" y="36405"/>
                    <a:pt x="221270" y="41316"/>
                  </a:cubicBezTo>
                  <a:cubicBezTo>
                    <a:pt x="232303" y="78847"/>
                    <a:pt x="227645" y="119246"/>
                    <a:pt x="208359" y="153280"/>
                  </a:cubicBezTo>
                  <a:cubicBezTo>
                    <a:pt x="189074" y="187314"/>
                    <a:pt x="156811" y="212073"/>
                    <a:pt x="118946" y="221895"/>
                  </a:cubicBezTo>
                  <a:cubicBezTo>
                    <a:pt x="117117" y="222369"/>
                    <a:pt x="115197" y="222369"/>
                    <a:pt x="113368" y="221895"/>
                  </a:cubicBezTo>
                  <a:cubicBezTo>
                    <a:pt x="75501" y="212075"/>
                    <a:pt x="43235" y="187318"/>
                    <a:pt x="23948" y="153284"/>
                  </a:cubicBezTo>
                  <a:cubicBezTo>
                    <a:pt x="4660" y="119249"/>
                    <a:pt x="0" y="78848"/>
                    <a:pt x="11032" y="41316"/>
                  </a:cubicBezTo>
                  <a:cubicBezTo>
                    <a:pt x="12476" y="36405"/>
                    <a:pt x="17087" y="33115"/>
                    <a:pt x="22201" y="33349"/>
                  </a:cubicBezTo>
                  <a:cubicBezTo>
                    <a:pt x="52621" y="34739"/>
                    <a:pt x="82465" y="24725"/>
                    <a:pt x="105889" y="5267"/>
                  </a:cubicBezTo>
                  <a:lnTo>
                    <a:pt x="108812" y="2767"/>
                  </a:lnTo>
                  <a:lnTo>
                    <a:pt x="109878" y="1934"/>
                  </a:lnTo>
                  <a:cubicBezTo>
                    <a:pt x="110628" y="1421"/>
                    <a:pt x="111438" y="1003"/>
                    <a:pt x="112290" y="689"/>
                  </a:cubicBezTo>
                  <a:lnTo>
                    <a:pt x="113534" y="311"/>
                  </a:lnTo>
                  <a:cubicBezTo>
                    <a:pt x="113970" y="206"/>
                    <a:pt x="114412" y="128"/>
                    <a:pt x="114857" y="78"/>
                  </a:cubicBezTo>
                  <a:lnTo>
                    <a:pt x="116135" y="0"/>
                  </a:lnTo>
                  <a:close/>
                  <a:moveTo>
                    <a:pt x="157362" y="81044"/>
                  </a:moveTo>
                  <a:cubicBezTo>
                    <a:pt x="155278" y="78957"/>
                    <a:pt x="152450" y="77785"/>
                    <a:pt x="149500" y="77785"/>
                  </a:cubicBezTo>
                  <a:cubicBezTo>
                    <a:pt x="146551" y="77785"/>
                    <a:pt x="143722" y="78957"/>
                    <a:pt x="141638" y="81044"/>
                  </a:cubicBezTo>
                  <a:lnTo>
                    <a:pt x="105044" y="117626"/>
                  </a:lnTo>
                  <a:lnTo>
                    <a:pt x="90676" y="103269"/>
                  </a:lnTo>
                  <a:lnTo>
                    <a:pt x="89631" y="102346"/>
                  </a:lnTo>
                  <a:cubicBezTo>
                    <a:pt x="84996" y="98762"/>
                    <a:pt x="78374" y="99393"/>
                    <a:pt x="74499" y="103788"/>
                  </a:cubicBezTo>
                  <a:cubicBezTo>
                    <a:pt x="70624" y="108183"/>
                    <a:pt x="70827" y="114832"/>
                    <a:pt x="74963" y="118982"/>
                  </a:cubicBezTo>
                  <a:lnTo>
                    <a:pt x="97188" y="141207"/>
                  </a:lnTo>
                  <a:lnTo>
                    <a:pt x="98233" y="142129"/>
                  </a:lnTo>
                  <a:cubicBezTo>
                    <a:pt x="102656" y="145561"/>
                    <a:pt x="108942" y="145166"/>
                    <a:pt x="112901" y="141207"/>
                  </a:cubicBezTo>
                  <a:lnTo>
                    <a:pt x="157351" y="96757"/>
                  </a:lnTo>
                  <a:lnTo>
                    <a:pt x="158274" y="95712"/>
                  </a:lnTo>
                  <a:cubicBezTo>
                    <a:pt x="161705" y="91289"/>
                    <a:pt x="161310" y="85003"/>
                    <a:pt x="157351" y="81044"/>
                  </a:cubicBezTo>
                  <a:close/>
                </a:path>
              </a:pathLst>
            </a:custGeom>
            <a:solidFill>
              <a:schemeClr val="accent1"/>
            </a:solidFill>
            <a:ln>
              <a:noFill/>
            </a:ln>
          </p:spPr>
        </p:sp>
        <p:sp>
          <p:nvSpPr>
            <p:cNvPr id="22" name="TextBox 22"/>
            <p:cNvSpPr txBox="1"/>
            <p:nvPr/>
          </p:nvSpPr>
          <p:spPr>
            <a:xfrm>
              <a:off x="6696837" y="1585436"/>
              <a:ext cx="2658004" cy="337376"/>
            </a:xfrm>
            <a:prstGeom prst="rect">
              <a:avLst/>
            </a:prstGeom>
            <a:noFill/>
            <a:ln>
              <a:noFill/>
            </a:ln>
          </p:spPr>
          <p:txBody>
            <a:bodyPr wrap="none" lIns="0" tIns="0" rIns="0" bIns="0" anchor="t" anchorCtr="0">
              <a:spAutoFit/>
            </a:bodyPr>
            <a:lstStyle/>
            <a:p>
              <a:pPr algn="l"/>
              <a:r>
                <a:rPr lang="zh-CN" sz="1720" b="1" dirty="0">
                  <a:solidFill>
                    <a:schemeClr val="dk1"/>
                  </a:solidFill>
                  <a:latin typeface="+mn-lt"/>
                  <a:ea typeface="+mn-ea"/>
                  <a:cs typeface="+mn-cs"/>
                </a:rPr>
                <a:t>MacroStudioのローカル処理</a:t>
              </a:r>
            </a:p>
          </p:txBody>
        </p:sp>
        <p:sp>
          <p:nvSpPr>
            <p:cNvPr id="23" name="TextBox 23"/>
            <p:cNvSpPr txBox="1"/>
            <p:nvPr/>
          </p:nvSpPr>
          <p:spPr>
            <a:xfrm>
              <a:off x="6317742" y="2006918"/>
              <a:ext cx="485177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MacroStudio 自体は通信機能を持たず、コードの抽出・返答の検証・</a:t>
              </a:r>
            </a:p>
          </p:txBody>
        </p:sp>
        <p:sp>
          <p:nvSpPr>
            <p:cNvPr id="24" name="TextBox 24"/>
            <p:cNvSpPr txBox="1"/>
            <p:nvPr/>
          </p:nvSpPr>
          <p:spPr>
            <a:xfrm>
              <a:off x="6317742" y="2273618"/>
              <a:ext cx="463892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改修済みブックの作成を端末内で行います。コードが端末の外へ出るのは、</a:t>
              </a:r>
            </a:p>
          </p:txBody>
        </p:sp>
        <p:sp>
          <p:nvSpPr>
            <p:cNvPr id="25" name="TextBox 25"/>
            <p:cNvSpPr txBox="1"/>
            <p:nvPr/>
          </p:nvSpPr>
          <p:spPr>
            <a:xfrm>
              <a:off x="6317742" y="2540318"/>
              <a:ext cx="490533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利用者が依頼文の貼り付けと source-code.md の添付を、チャット AI</a:t>
              </a:r>
            </a:p>
          </p:txBody>
        </p:sp>
        <p:sp>
          <p:nvSpPr>
            <p:cNvPr id="26" name="TextBox 26"/>
            <p:cNvSpPr txBox="1"/>
            <p:nvPr/>
          </p:nvSpPr>
          <p:spPr>
            <a:xfrm>
              <a:off x="6317742" y="2807018"/>
              <a:ext cx="278520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（外部サービス）に対して行ったときだけです。</a:t>
              </a:r>
            </a:p>
          </p:txBody>
        </p:sp>
      </p:grpSp>
      <p:grpSp>
        <p:nvGrpSpPr>
          <p:cNvPr id="41" name="Group 41"/>
          <p:cNvGrpSpPr/>
          <p:nvPr/>
        </p:nvGrpSpPr>
        <p:grpSpPr>
          <a:xfrm>
            <a:off x="6096000" y="3314700"/>
            <a:ext cx="5638800" cy="1638300"/>
            <a:chOff x="6096000" y="3314700"/>
            <a:chExt cx="5638800" cy="1638300"/>
          </a:xfrm>
        </p:grpSpPr>
        <p:sp>
          <p:nvSpPr>
            <p:cNvPr id="28" name="Rectangle 28"/>
            <p:cNvSpPr/>
            <p:nvPr/>
          </p:nvSpPr>
          <p:spPr>
            <a:xfrm>
              <a:off x="6096000" y="3314700"/>
              <a:ext cx="5638800" cy="1638300"/>
            </a:xfrm>
            <a:prstGeom prst="roundRect">
              <a:avLst>
                <a:gd name="adj" fmla="val 9302"/>
              </a:avLst>
            </a:prstGeom>
            <a:solidFill>
              <a:schemeClr val="accent5"/>
            </a:solidFill>
            <a:ln w="9525">
              <a:solidFill>
                <a:schemeClr val="accent6"/>
              </a:solidFill>
            </a:ln>
          </p:spPr>
        </p:sp>
        <p:grpSp>
          <p:nvGrpSpPr>
            <p:cNvPr id="31" name="Group 31"/>
            <p:cNvGrpSpPr/>
            <p:nvPr/>
          </p:nvGrpSpPr>
          <p:grpSpPr>
            <a:xfrm>
              <a:off x="6365874" y="3544887"/>
              <a:ext cx="165101" cy="206375"/>
              <a:chOff x="6365874" y="3544887"/>
              <a:chExt cx="165101" cy="206375"/>
            </a:xfrm>
          </p:grpSpPr>
          <p:sp>
            <p:nvSpPr>
              <p:cNvPr id="29" name="Freeform 29"/>
              <p:cNvSpPr/>
              <p:nvPr/>
            </p:nvSpPr>
            <p:spPr>
              <a:xfrm>
                <a:off x="6365874" y="3544887"/>
                <a:ext cx="165101" cy="206375"/>
              </a:xfrm>
              <a:custGeom>
                <a:avLst/>
                <a:gdLst/>
                <a:ahLst/>
                <a:cxnLst/>
                <a:rect l="l" t="t" r="r" b="b"/>
                <a:pathLst>
                  <a:path w="165101" h="206375">
                    <a:moveTo>
                      <a:pt x="82551" y="0"/>
                    </a:moveTo>
                    <a:lnTo>
                      <a:pt x="83758" y="72"/>
                    </a:lnTo>
                    <a:cubicBezTo>
                      <a:pt x="88499" y="631"/>
                      <a:pt x="92238" y="4370"/>
                      <a:pt x="92797" y="9111"/>
                    </a:cubicBezTo>
                    <a:lnTo>
                      <a:pt x="92869" y="10319"/>
                    </a:lnTo>
                    <a:lnTo>
                      <a:pt x="92869" y="51594"/>
                    </a:lnTo>
                    <a:lnTo>
                      <a:pt x="92921" y="53141"/>
                    </a:lnTo>
                    <a:cubicBezTo>
                      <a:pt x="93684" y="63294"/>
                      <a:pt x="101737" y="71373"/>
                      <a:pt x="111887" y="72169"/>
                    </a:cubicBezTo>
                    <a:lnTo>
                      <a:pt x="113507" y="72231"/>
                    </a:lnTo>
                    <a:lnTo>
                      <a:pt x="154782" y="72231"/>
                    </a:lnTo>
                    <a:lnTo>
                      <a:pt x="155989" y="72303"/>
                    </a:lnTo>
                    <a:cubicBezTo>
                      <a:pt x="160730" y="72862"/>
                      <a:pt x="164469" y="76601"/>
                      <a:pt x="165028" y="81342"/>
                    </a:cubicBezTo>
                    <a:lnTo>
                      <a:pt x="165100" y="82550"/>
                    </a:lnTo>
                    <a:lnTo>
                      <a:pt x="165100" y="175418"/>
                    </a:lnTo>
                    <a:cubicBezTo>
                      <a:pt x="165101" y="191810"/>
                      <a:pt x="152324" y="205361"/>
                      <a:pt x="135960" y="206323"/>
                    </a:cubicBezTo>
                    <a:lnTo>
                      <a:pt x="134144" y="206374"/>
                    </a:lnTo>
                    <a:lnTo>
                      <a:pt x="30957" y="206374"/>
                    </a:lnTo>
                    <a:cubicBezTo>
                      <a:pt x="14565" y="206375"/>
                      <a:pt x="1014" y="193598"/>
                      <a:pt x="53" y="177234"/>
                    </a:cubicBezTo>
                    <a:lnTo>
                      <a:pt x="1" y="175418"/>
                    </a:lnTo>
                    <a:lnTo>
                      <a:pt x="1" y="30956"/>
                    </a:lnTo>
                    <a:cubicBezTo>
                      <a:pt x="0" y="14564"/>
                      <a:pt x="12777" y="1013"/>
                      <a:pt x="29141" y="52"/>
                    </a:cubicBezTo>
                    <a:lnTo>
                      <a:pt x="30957" y="0"/>
                    </a:lnTo>
                    <a:close/>
                    <a:moveTo>
                      <a:pt x="66526" y="114600"/>
                    </a:moveTo>
                    <a:cubicBezTo>
                      <a:pt x="61431" y="112055"/>
                      <a:pt x="55238" y="114120"/>
                      <a:pt x="52688" y="119212"/>
                    </a:cubicBezTo>
                    <a:lnTo>
                      <a:pt x="42370" y="139850"/>
                    </a:lnTo>
                    <a:cubicBezTo>
                      <a:pt x="40919" y="142753"/>
                      <a:pt x="40919" y="146171"/>
                      <a:pt x="42370" y="149075"/>
                    </a:cubicBezTo>
                    <a:lnTo>
                      <a:pt x="52688" y="169712"/>
                    </a:lnTo>
                    <a:cubicBezTo>
                      <a:pt x="55238" y="174805"/>
                      <a:pt x="61431" y="176869"/>
                      <a:pt x="66526" y="174324"/>
                    </a:cubicBezTo>
                    <a:lnTo>
                      <a:pt x="67578" y="173726"/>
                    </a:lnTo>
                    <a:cubicBezTo>
                      <a:pt x="71948" y="170853"/>
                      <a:pt x="73478" y="165164"/>
                      <a:pt x="71138" y="160487"/>
                    </a:cubicBezTo>
                    <a:lnTo>
                      <a:pt x="63131" y="144462"/>
                    </a:lnTo>
                    <a:lnTo>
                      <a:pt x="71138" y="128437"/>
                    </a:lnTo>
                    <a:cubicBezTo>
                      <a:pt x="73683" y="123342"/>
                      <a:pt x="71618" y="117149"/>
                      <a:pt x="66526" y="114600"/>
                    </a:cubicBezTo>
                    <a:moveTo>
                      <a:pt x="112413" y="119212"/>
                    </a:moveTo>
                    <a:cubicBezTo>
                      <a:pt x="109864" y="114120"/>
                      <a:pt x="103671" y="112055"/>
                      <a:pt x="98576" y="114600"/>
                    </a:cubicBezTo>
                    <a:lnTo>
                      <a:pt x="97523" y="115198"/>
                    </a:lnTo>
                    <a:cubicBezTo>
                      <a:pt x="93153" y="118071"/>
                      <a:pt x="91623" y="123760"/>
                      <a:pt x="93963" y="128437"/>
                    </a:cubicBezTo>
                    <a:lnTo>
                      <a:pt x="101950" y="144462"/>
                    </a:lnTo>
                    <a:lnTo>
                      <a:pt x="93953" y="160487"/>
                    </a:lnTo>
                    <a:cubicBezTo>
                      <a:pt x="91615" y="165548"/>
                      <a:pt x="93720" y="171551"/>
                      <a:pt x="98706" y="174044"/>
                    </a:cubicBezTo>
                    <a:cubicBezTo>
                      <a:pt x="103692" y="176537"/>
                      <a:pt x="109757" y="174619"/>
                      <a:pt x="112403" y="169712"/>
                    </a:cubicBezTo>
                    <a:lnTo>
                      <a:pt x="122721" y="149075"/>
                    </a:lnTo>
                    <a:cubicBezTo>
                      <a:pt x="124172" y="146171"/>
                      <a:pt x="124172" y="142753"/>
                      <a:pt x="122721" y="139850"/>
                    </a:cubicBezTo>
                    <a:close/>
                  </a:path>
                </a:pathLst>
              </a:custGeom>
              <a:solidFill>
                <a:schemeClr val="accent1"/>
              </a:solidFill>
              <a:ln>
                <a:noFill/>
              </a:ln>
            </p:spPr>
          </p:sp>
          <p:sp>
            <p:nvSpPr>
              <p:cNvPr id="30" name="Freeform 30"/>
              <p:cNvSpPr/>
              <p:nvPr/>
            </p:nvSpPr>
            <p:spPr>
              <a:xfrm>
                <a:off x="6479370" y="3555196"/>
                <a:ext cx="41285" cy="41285"/>
              </a:xfrm>
              <a:custGeom>
                <a:avLst/>
                <a:gdLst/>
                <a:ahLst/>
                <a:cxnLst/>
                <a:rect l="l" t="t" r="r" b="b"/>
                <a:pathLst>
                  <a:path w="41285" h="41285">
                    <a:moveTo>
                      <a:pt x="41285" y="41285"/>
                    </a:moveTo>
                    <a:lnTo>
                      <a:pt x="10" y="41285"/>
                    </a:lnTo>
                    <a:lnTo>
                      <a:pt x="0" y="0"/>
                    </a:lnTo>
                    <a:close/>
                  </a:path>
                </a:pathLst>
              </a:custGeom>
              <a:solidFill>
                <a:schemeClr val="accent1"/>
              </a:solidFill>
              <a:ln>
                <a:noFill/>
              </a:ln>
            </p:spPr>
          </p:sp>
        </p:grpSp>
        <p:sp>
          <p:nvSpPr>
            <p:cNvPr id="32" name="TextBox 32"/>
            <p:cNvSpPr txBox="1"/>
            <p:nvPr/>
          </p:nvSpPr>
          <p:spPr>
            <a:xfrm>
              <a:off x="6677787" y="3528536"/>
              <a:ext cx="1257457" cy="337376"/>
            </a:xfrm>
            <a:prstGeom prst="rect">
              <a:avLst/>
            </a:prstGeom>
            <a:noFill/>
            <a:ln>
              <a:noFill/>
            </a:ln>
          </p:spPr>
          <p:txBody>
            <a:bodyPr wrap="none" lIns="0" tIns="0" rIns="0" bIns="0" anchor="t" anchorCtr="0">
              <a:spAutoFit/>
            </a:bodyPr>
            <a:lstStyle/>
            <a:p>
              <a:pPr algn="l"/>
              <a:r>
                <a:rPr lang="zh-CN" sz="1720" b="1" dirty="0">
                  <a:solidFill>
                    <a:schemeClr val="dk1"/>
                  </a:solidFill>
                  <a:latin typeface="+mn-lt"/>
                  <a:ea typeface="+mn-ea"/>
                  <a:cs typeface="+mn-cs"/>
                </a:rPr>
                <a:t>処理の仕組み</a:t>
              </a:r>
            </a:p>
          </p:txBody>
        </p:sp>
        <p:sp>
          <p:nvSpPr>
            <p:cNvPr id="33" name="Rectangle 33"/>
            <p:cNvSpPr/>
            <p:nvPr/>
          </p:nvSpPr>
          <p:spPr>
            <a:xfrm>
              <a:off x="6324600" y="3886200"/>
              <a:ext cx="3200400" cy="876300"/>
            </a:xfrm>
            <a:prstGeom prst="roundRect">
              <a:avLst>
                <a:gd name="adj" fmla="val 10870"/>
              </a:avLst>
            </a:prstGeom>
            <a:solidFill>
              <a:schemeClr val="lt1"/>
            </a:solidFill>
            <a:ln w="14288">
              <a:solidFill>
                <a:srgbClr val="CFD7DE"/>
              </a:solidFill>
            </a:ln>
          </p:spPr>
        </p:sp>
        <p:sp>
          <p:nvSpPr>
            <p:cNvPr id="34" name="TextBox 34"/>
            <p:cNvSpPr txBox="1"/>
            <p:nvPr/>
          </p:nvSpPr>
          <p:spPr>
            <a:xfrm>
              <a:off x="6470904" y="4004310"/>
              <a:ext cx="1089287"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ブック（.xlsm）</a:t>
              </a:r>
            </a:p>
          </p:txBody>
        </p:sp>
        <p:sp>
          <p:nvSpPr>
            <p:cNvPr id="35" name="Rectangle 35"/>
            <p:cNvSpPr/>
            <p:nvPr/>
          </p:nvSpPr>
          <p:spPr>
            <a:xfrm>
              <a:off x="6477000" y="4229100"/>
              <a:ext cx="2895600" cy="438150"/>
            </a:xfrm>
            <a:prstGeom prst="roundRect">
              <a:avLst>
                <a:gd name="adj" fmla="val 17391"/>
              </a:avLst>
            </a:prstGeom>
            <a:solidFill>
              <a:schemeClr val="lt2"/>
            </a:solidFill>
            <a:ln w="14288">
              <a:solidFill>
                <a:schemeClr val="accent3"/>
              </a:solidFill>
            </a:ln>
          </p:spPr>
        </p:sp>
        <p:sp>
          <p:nvSpPr>
            <p:cNvPr id="36" name="TextBox 36"/>
            <p:cNvSpPr txBox="1"/>
            <p:nvPr/>
          </p:nvSpPr>
          <p:spPr>
            <a:xfrm>
              <a:off x="6623685" y="4298156"/>
              <a:ext cx="1312983" cy="220028"/>
            </a:xfrm>
            <a:prstGeom prst="rect">
              <a:avLst/>
            </a:prstGeom>
            <a:noFill/>
            <a:ln>
              <a:noFill/>
            </a:ln>
          </p:spPr>
          <p:txBody>
            <a:bodyPr wrap="none" lIns="0" tIns="0" rIns="0" bIns="0" anchor="t" anchorCtr="0">
              <a:spAutoFit/>
            </a:bodyPr>
            <a:lstStyle/>
            <a:p>
              <a:pPr algn="l"/>
              <a:r>
                <a:rPr lang="en-US" sz="1120" dirty="0">
                  <a:solidFill>
                    <a:schemeClr val="dk1"/>
                  </a:solidFill>
                  <a:latin typeface="Consolas"/>
                  <a:ea typeface="Consolas"/>
                  <a:cs typeface="Consolas"/>
                </a:rPr>
                <a:t>xl/vbaProject.bin</a:t>
              </a:r>
            </a:p>
          </p:txBody>
        </p:sp>
        <p:sp>
          <p:nvSpPr>
            <p:cNvPr id="37" name="TextBox 37"/>
            <p:cNvSpPr txBox="1"/>
            <p:nvPr/>
          </p:nvSpPr>
          <p:spPr>
            <a:xfrm>
              <a:off x="6624066" y="4496752"/>
              <a:ext cx="1763420"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マクロ全体が公開仕様どおりに格納</a:t>
              </a:r>
            </a:p>
          </p:txBody>
        </p:sp>
        <p:sp>
          <p:nvSpPr>
            <p:cNvPr id="38" name="TextBox 38"/>
            <p:cNvSpPr txBox="1"/>
            <p:nvPr/>
          </p:nvSpPr>
          <p:spPr>
            <a:xfrm>
              <a:off x="9671685" y="4069556"/>
              <a:ext cx="1222423"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MacroStudio はこの</a:t>
              </a:r>
            </a:p>
          </p:txBody>
        </p:sp>
        <p:sp>
          <p:nvSpPr>
            <p:cNvPr id="39" name="TextBox 39"/>
            <p:cNvSpPr txBox="1"/>
            <p:nvPr/>
          </p:nvSpPr>
          <p:spPr>
            <a:xfrm>
              <a:off x="9671685" y="4279106"/>
              <a:ext cx="1195009"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ファイルを直接読み取り</a:t>
              </a:r>
            </a:p>
          </p:txBody>
        </p:sp>
        <p:sp>
          <p:nvSpPr>
            <p:cNvPr id="40" name="TextBox 40"/>
            <p:cNvSpPr txBox="1"/>
            <p:nvPr/>
          </p:nvSpPr>
          <p:spPr>
            <a:xfrm>
              <a:off x="9671685" y="4488656"/>
              <a:ext cx="328056"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ます。</a:t>
              </a:r>
            </a:p>
          </p:txBody>
        </p:sp>
      </p:grpSp>
      <p:grpSp>
        <p:nvGrpSpPr>
          <p:cNvPr id="45" name="Group 45"/>
          <p:cNvGrpSpPr/>
          <p:nvPr/>
        </p:nvGrpSpPr>
        <p:grpSpPr>
          <a:xfrm>
            <a:off x="450342" y="5264468"/>
            <a:ext cx="9006588" cy="867060"/>
            <a:chOff x="450342" y="5264468"/>
            <a:chExt cx="9006588" cy="867060"/>
          </a:xfrm>
        </p:grpSpPr>
        <p:sp>
          <p:nvSpPr>
            <p:cNvPr id="42" name="TextBox 42"/>
            <p:cNvSpPr txBox="1"/>
            <p:nvPr/>
          </p:nvSpPr>
          <p:spPr>
            <a:xfrm>
              <a:off x="450342" y="5264468"/>
              <a:ext cx="65199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書き戻しは元のブックのコピーに対して行い、書き戻し後にブックを読み直して、取り込んだコードが書き込まれた</a:t>
              </a:r>
            </a:p>
          </p:txBody>
        </p:sp>
        <p:sp>
          <p:nvSpPr>
            <p:cNvPr id="43" name="TextBox 43"/>
            <p:cNvSpPr txBox="1"/>
            <p:nvPr/>
          </p:nvSpPr>
          <p:spPr>
            <a:xfrm>
              <a:off x="450342" y="5531168"/>
              <a:ext cx="555669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こと・それ以外が変更されていないことを検証します。シートの値・書式・数式には触れません。</a:t>
              </a:r>
            </a:p>
          </p:txBody>
        </p:sp>
        <p:sp>
          <p:nvSpPr>
            <p:cNvPr id="44" name="TextBox 44"/>
            <p:cNvSpPr txBox="1"/>
            <p:nvPr/>
          </p:nvSpPr>
          <p:spPr>
            <a:xfrm>
              <a:off x="450723" y="5882164"/>
              <a:ext cx="9006207"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マクロの格納形式（OLE2 / MS-OVBA）は Microsoft が公開している文書化された仕様です。読み書きの実装は本体に同梱されています。</a:t>
              </a:r>
            </a:p>
          </p:txBody>
        </p:sp>
      </p:grpSp>
      <p:grpSp>
        <p:nvGrpSpPr>
          <p:cNvPr id="48" name="Group 48"/>
          <p:cNvGrpSpPr/>
          <p:nvPr/>
        </p:nvGrpSpPr>
        <p:grpSpPr>
          <a:xfrm>
            <a:off x="451866" y="6477952"/>
            <a:ext cx="11288268" cy="205359"/>
            <a:chOff x="451866" y="6477952"/>
            <a:chExt cx="11288268" cy="205359"/>
          </a:xfrm>
        </p:grpSpPr>
        <p:sp>
          <p:nvSpPr>
            <p:cNvPr id="46" name="TextBox 46"/>
            <p:cNvSpPr txBox="1"/>
            <p:nvPr/>
          </p:nvSpPr>
          <p:spPr>
            <a:xfrm>
              <a:off x="451866" y="6477952"/>
              <a:ext cx="2252718"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MacroStudio 操作マニュアル（ベータ版）</a:t>
              </a:r>
            </a:p>
          </p:txBody>
        </p:sp>
        <p:sp>
          <p:nvSpPr>
            <p:cNvPr id="47" name="TextBox 47"/>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22</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manual-macrostudio-beta1-production-r2">
  <a:themeElements>
    <a:clrScheme name="manual-macrostudio-beta1-production-r2">
      <a:dk1>
        <a:srgbClr val="1F2A37"/>
      </a:dk1>
      <a:lt1>
        <a:srgbClr val="FFFFFF"/>
      </a:lt1>
      <a:dk2>
        <a:srgbClr val="1F2A37"/>
      </a:dk2>
      <a:lt2>
        <a:srgbClr val="F2F6FB"/>
      </a:lt2>
      <a:accent1>
        <a:srgbClr val="24507F"/>
      </a:accent1>
      <a:accent2>
        <a:srgbClr val="C05B21"/>
      </a:accent2>
      <a:accent3>
        <a:srgbClr val="2B5C96"/>
      </a:accent3>
      <a:accent4>
        <a:srgbClr val="24507F"/>
      </a:accent4>
      <a:accent5>
        <a:srgbClr val="FAFBFC"/>
      </a:accent5>
      <a:accent6>
        <a:srgbClr val="E2E7EC"/>
      </a:accent6>
      <a:hlink>
        <a:srgbClr val="C05B21"/>
      </a:hlink>
      <a:folHlink>
        <a:srgbClr val="2B5C96"/>
      </a:folHlink>
    </a:clrScheme>
    <a:fontScheme name="manual-macrostudio-beta1-production-r2">
      <a:majorFont>
        <a:latin typeface="Segoe UI"/>
        <a:ea typeface="Yu Gothic UI"/>
        <a:cs typeface="Segoe UI"/>
        <a:font script="Jpan" typeface="Yu Gothic UI"/>
        <a:font script="Hang" typeface="Yu Gothic UI"/>
        <a:font script="Hans" typeface="Yu Gothic UI"/>
        <a:font script="Hant" typeface="Yu Gothic U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Yu Gothic UI"/>
        <a:cs typeface="Segoe UI"/>
        <a:font script="Jpan" typeface="Yu Gothic UI"/>
        <a:font script="Hang" typeface="Yu Gothic UI"/>
        <a:font script="Hans" typeface="Yu Gothic UI"/>
        <a:font script="Hant" typeface="Yu Gothic U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nual-macrostudio-beta1-production-r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anual-macrostudio-beta1-production-r2">
  <a:themeElements>
    <a:clrScheme name="manual-macrostudio-beta1-production-r2">
      <a:dk1>
        <a:srgbClr val="1F2A37"/>
      </a:dk1>
      <a:lt1>
        <a:srgbClr val="FFFFFF"/>
      </a:lt1>
      <a:dk2>
        <a:srgbClr val="1F2A37"/>
      </a:dk2>
      <a:lt2>
        <a:srgbClr val="F2F6FB"/>
      </a:lt2>
      <a:accent1>
        <a:srgbClr val="24507F"/>
      </a:accent1>
      <a:accent2>
        <a:srgbClr val="C05B21"/>
      </a:accent2>
      <a:accent3>
        <a:srgbClr val="2B5C96"/>
      </a:accent3>
      <a:accent4>
        <a:srgbClr val="24507F"/>
      </a:accent4>
      <a:accent5>
        <a:srgbClr val="FAFBFC"/>
      </a:accent5>
      <a:accent6>
        <a:srgbClr val="E2E7EC"/>
      </a:accent6>
      <a:hlink>
        <a:srgbClr val="C05B21"/>
      </a:hlink>
      <a:folHlink>
        <a:srgbClr val="2B5C96"/>
      </a:folHlink>
    </a:clrScheme>
    <a:fontScheme name="manual-macrostudio-beta1-production-r2">
      <a:majorFont>
        <a:latin typeface="Segoe UI"/>
        <a:ea typeface="Yu Gothic UI"/>
        <a:cs typeface="Segoe UI"/>
        <a:font script="Jpan" typeface="Yu Gothic UI"/>
        <a:font script="Hang" typeface="Yu Gothic UI"/>
        <a:font script="Hans" typeface="Yu Gothic UI"/>
        <a:font script="Hant" typeface="Yu Gothic U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Yu Gothic UI"/>
        <a:cs typeface="Segoe UI"/>
        <a:font script="Jpan" typeface="Yu Gothic UI"/>
        <a:font script="Hang" typeface="Yu Gothic UI"/>
        <a:font script="Hans" typeface="Yu Gothic UI"/>
        <a:font script="Hant" typeface="Yu Gothic U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nual-macrostudio-beta1-production-r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2026-07-30T19:31:22Z</dcterms:created>
  <dcterms:modified xsi:type="dcterms:W3CDTF">2026-07-30T19:31:22Z</dcterms:modified>
  <cp:category/>
  <cp:contentStatus/>
</cp:coreProperties>
</file>