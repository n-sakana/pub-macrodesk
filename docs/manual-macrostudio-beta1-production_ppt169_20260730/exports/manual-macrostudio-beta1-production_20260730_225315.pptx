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  <Relationship Id="rId4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このマニュアルは MacroStudio ベータ一・ゼロ・ゼロ版に対応した二〇二六年七月三十日版です。表紙の画面は、読者が最後に到達する完了画面の実画面で、内容はすべて現行実装の実操作から採っています。配布するときは、このファイル一冊だけで完結することを伝えてください。</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最初に、読む人が自分の場所を見つけられるように全体の地図を示しています。業務担当者には第二部だけ通してもらえば十分で、付録は導入判断や社内説明が必要になったときに開いてもらう構成です。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三つの困りごとは、実際にこの道具が生まれた背景そのものです。紹介の場では、聞き手の部門に当てはまる困りごとがどれかを尋ねると、その後の説明が自分ごとになります。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の分担が、このマニュアル全体でいちばん大事な前提です。判断はチャットエーアイ、選択と確認は人、運搬と検証はアプリという線引きは製品仕様の中核思想で、ツールは返答の意味を解釈しません。だから利用者にコードの判断能力は要求されない、という安心につながりま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二つの作業は最初の画面の実物のカードの言葉で説明しています。相談は手順二で完了し取り込みやビルドを通らないこと、どちらでも元のブックが変わらないことが要点です。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守っている五項目は宣伝文句ではなく、実装が実際に行っている処理を利用者の言葉に直したものです。同時に、業務上の正しさは保証の外にあることを最初から明示します。過信も過度な恐れも、ここで取り除いておくのがこのページの役目で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四つの手順と、その中の画面の対応を先に見せておくと、進捗バーの現在地がそのまま道しるべになります。相談の分岐はここで一度だけ触れ、詳細は第三部に回しています。</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以降の画面写真はすべてこのサンプルの実操作で、ブック名とフォルダは読者向けの架空の例に置き換えた複製です。中身はリポジトリ指定の入力サンプルで、実在の業務データは含みません。ウィン三十二エーピーアイの困りごとは、新しい端末への移行という典型場面を選んでいま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画面の五つの部品を覚えれば、以降のページは写真と番号だけで追えます。迷ったら左下の一行を読む、という習慣をここで作ってもらうのが狙いです。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最初の決定が作業の選択で、ブックの読み込みはその次という順序が現行実装の画面順です。選んだ作業はブックを替えても残る、という仕様もここで伝えています。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ドラッグでもクリックでも同じ経路に合流します。読み込みは共有読み取りで、エクセルで開いたままでも読めること、元のブックには触れないことが安心材料です。</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読み取りの案内が二通りしかない、という整理は実装の describeReadResult の仕様どおりです。管理情報だけの話とコードに疑いがある話を区別することで、正常なブックの利用者を不安にさせないようにしています。</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カードの名前と説明はひな形ファイルの実物から一字一句そのまま載せています。ひな形はマークダウンを置くだけで増やせるので、組織の定番の依頼を追加した場合はこのページの一覧も更新してください。</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依頼文は既定のままで完結するのが設計意図なので、開いて編集するのは書き足したいときだけです。モジュール単位出力は例外的な状況用のオプションであることを、位置づけごと伝えています。</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渡すものは依頼文とコード全文ファイルの二つで、コード本文はクリップボードに入らない仕様です。シートも添付すると精度が上がるという案内は、画面の実文言をそのまま使っています。</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取り込みはボタン一つで、失敗しても何も取り込まれず状態が壊れない、というオール・オア・ナッシングの入口です。失敗時に画面へ出るのは次にすることだけで、エラーコードは出ません。</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エーアイ自身の説明を先に読んでから差分を見る、という順序にしています。何をしたつもりかと、実際に何が変わるかを突き合わせる読み方が、そのまま検収の作法になります。</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赤が消える行、緑が増える行という二色だけ覚えれば、コードが読めなくても変更の規模と場所は判断できます。ここで納得できなければ戻ってやり直せることが、この画面の安心の根拠です。</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出力名の既定は元の名前にモディファイドと日付を付けたもので、日付はブックを読み込んだ日で固定されます。ビルドは書き戻し後の再読検証まで自動で走ります。</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五つのファイルの役割をここで一度だけ説明しています。実行フォルダは依頼を作った時点で決まっており、一件の記録がまるごと一か所に残る設計です。</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アプリの検証とここから先の人の確認の境界を、ページの最初で言い切っています。四つのチェックは最小セットなので、部門の実情に合わせて増やすのは自由です。</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確認レポートは自己完結の一ファイルで、通信も編集機能もありません。詳しい人へのレビュー依頼や監査の記録に、そのまま使えます。</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相談側の三つのひな形も画面の実物の言葉です。質問画面はひな形が質問を持つときだけ現れる仕組みで、同梱では相談用の依頼文を作るが持っています。</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相談はアプリとしてはここで完了し、以降の往復はチャット側で続きます。まとまった改修方針を自分で書くひな形に貼れば、そのまま改修の一件につながる導線を最後に示しています。</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表の文言のうちかぎ括弧のものは、実際に画面に出る言葉です。どの行でも元のブックは無事という前提を最初に置き、症状から戻り先を引ける形にしています。ログにコード本文が残らないことも、問い合わせ時の安心材料です。</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ここから読者を管理者に切り替えます。動作要件はオーエス標準のものだけで、インストール不要、完全ローカル動作という三点が導入判断の入口です。</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入れ子の図は、ジップ、オーレ二、エムエス・オーブイビーエーという公開仕様の関係をそのまま描いたものです。シートのデータに触れない理由も、この構造から説明できます。</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依頼番号はユーユーアイディーで、目的を選び直すたびに新しくなります。検査はレスポンスパッケージの実装が持つ項目を利用者の言葉に直したもので、一つでも通らなければ何も取り込まれません。</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五段階の流れは実装のビルド手順そのままです。出力が存在すること自体が検証合格の証、という言い方は、失敗時に出力を残さない設計だから成立します。</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三つの保護の区別は、導入時に最も質問が集まるところです。実測済みの事実と見込み、未検証の区別をページ上で明示しているので、その線引きのまま案内してください。</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検証状態の列は二〇二六年七月三十日時点の事実です。未検証の形式が読めてしまった場合も、最終確認を省かないよう促してください。</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検証サンプルの実運用一環境の結果は、通常標本は通りウィン三十二宣言入り標本や新規ブック保存が遮断されたというものです。結果は環境固有なので、必ず対象環境で一件ずつ実行して管理コンソールと突き合わせてください。</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四枚のカードは配布後に実際に起きる運用作業を先回りしたものです。ひな形が文書であることは、この製品の思想の要なので、業務に合わせて育てる前提で案内してください。</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締めの三行は、このマニュアル全体の核メッセージです。元のブックは変わらない、やり直せる、最後の確認はあなたの目で。この三つが伝われば、この一冊の目的は果たされています。</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nual-macrostudio-beta1-productio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nual-macrostudio-beta1-productio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650" kern="1200">
          <a:solidFill>
            <a:schemeClr val="tx1"/>
          </a:solidFill>
          <a:latin typeface="+mn-lt"/>
          <a:ea typeface="+mn-ea"/>
          <a:cs typeface="+mn-cs"/>
        </a:defRPr>
      </a:lvl1pPr>
      <a:lvl2pPr marL="457200" algn="l" defTabSz="457200" rtl="0" eaLnBrk="1" latinLnBrk="0" hangingPunct="1">
        <a:defRPr sz="1550" kern="1200">
          <a:solidFill>
            <a:schemeClr val="tx1"/>
          </a:solidFill>
          <a:latin typeface="+mn-lt"/>
          <a:ea typeface="+mn-ea"/>
          <a:cs typeface="+mn-cs"/>
        </a:defRPr>
      </a:lvl2pPr>
      <a:lvl3pPr marL="914400" algn="l" defTabSz="457200" rtl="0" eaLnBrk="1" latinLnBrk="0" hangingPunct="1">
        <a:defRPr sz="1450" kern="1200">
          <a:solidFill>
            <a:schemeClr val="tx1"/>
          </a:solidFill>
          <a:latin typeface="+mn-lt"/>
          <a:ea typeface="+mn-ea"/>
          <a:cs typeface="+mn-cs"/>
        </a:defRPr>
      </a:lvl3pPr>
      <a:lvl4pPr marL="1371600" algn="l" defTabSz="457200" rtl="0" eaLnBrk="1" latinLnBrk="0" hangingPunct="1">
        <a:defRPr sz="1350" kern="1200">
          <a:solidFill>
            <a:schemeClr val="tx1"/>
          </a:solidFill>
          <a:latin typeface="+mn-lt"/>
          <a:ea typeface="+mn-ea"/>
          <a:cs typeface="+mn-cs"/>
        </a:defRPr>
      </a:lvl4pPr>
      <a:lvl5pPr marL="1828800" algn="l" defTabSz="457200" rtl="0" eaLnBrk="1" latinLnBrk="0" hangingPunct="1">
        <a:defRPr sz="1250" kern="1200">
          <a:solidFill>
            <a:schemeClr val="tx1"/>
          </a:solidFill>
          <a:latin typeface="+mn-lt"/>
          <a:ea typeface="+mn-ea"/>
          <a:cs typeface="+mn-cs"/>
        </a:defRPr>
      </a:lvl5pPr>
      <a:lvl6pPr marL="2286000" algn="l" defTabSz="457200" rtl="0" eaLnBrk="1" latinLnBrk="0" hangingPunct="1">
        <a:defRPr sz="1150" kern="1200">
          <a:solidFill>
            <a:schemeClr val="tx1"/>
          </a:solidFill>
          <a:latin typeface="+mn-lt"/>
          <a:ea typeface="+mn-ea"/>
          <a:cs typeface="+mn-cs"/>
        </a:defRPr>
      </a:lvl6pPr>
      <a:lvl7pPr marL="2743200" algn="l" defTabSz="457200" rtl="0" eaLnBrk="1" latinLnBrk="0" hangingPunct="1">
        <a:defRPr sz="1050" kern="1200">
          <a:solidFill>
            <a:schemeClr val="tx1"/>
          </a:solidFill>
          <a:latin typeface="+mn-lt"/>
          <a:ea typeface="+mn-ea"/>
          <a:cs typeface="+mn-cs"/>
        </a:defRPr>
      </a:lvl7pPr>
      <a:lvl8pPr marL="3200400" algn="l" defTabSz="457200" rtl="0" eaLnBrk="1" latinLnBrk="0" hangingPunct="1">
        <a:defRPr sz="9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6dc3bccd4d22983.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6ef09aa21554250.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0b50f2ea0b3f38d.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43be6822273060d.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b7e4bac775b7cdd.jpg"/>
  <Relationship Id="rId3" Type="http://schemas.openxmlformats.org/officeDocument/2006/relationships/image" Target="../media/image_70b50f2ea0b3f38d.jpg"/>
  <Relationship Id="rId4"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91f7ed1a5450f61.jpg"/>
  <Relationship Id="rId3" Type="http://schemas.openxmlformats.org/officeDocument/2006/relationships/image" Target="../media/image_203410f68f1d7ed2.jpg"/>
  <Relationship Id="rId4"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77b6b3745aa9a95.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f9b3e87c867ba75.jpg"/>
  <Relationship Id="rId3" Type="http://schemas.openxmlformats.org/officeDocument/2006/relationships/image" Target="../media/image_c91f012672c0c793.jpg"/>
  <Relationship Id="rId4"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32a08df358af9f9.jpg"/>
  <Relationship Id="rId3" Type="http://schemas.openxmlformats.org/officeDocument/2006/relationships/image" Target="../media/image_f48caa9c49ff34d6.jpg"/>
  <Relationship Id="rId4"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76db43b10f74b40.jpg"/>
  <Relationship Id="rId3" Type="http://schemas.openxmlformats.org/officeDocument/2006/relationships/image" Target="../media/image_69055b23543a0224.jpg"/>
  <Relationship Id="rId4"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82c16cf715ef08b.jpg"/>
  <Relationship Id="rId3" Type="http://schemas.openxmlformats.org/officeDocument/2006/relationships/image" Target="../media/image_7b089b783dc5ff89.jpg"/>
  <Relationship Id="rId4"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02842c179170c99.jp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fd6f70bf6c150d7.jpg"/>
  <Relationship Id="rId3" Type="http://schemas.openxmlformats.org/officeDocument/2006/relationships/image" Target="../media/image_c5178be7186ebffc.jpg"/>
  <Relationship Id="rId4"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6dc3bccd4d22983.jp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9a36a63b758452c.jpg"/>
  <Relationship Id="rId3" Type="http://schemas.openxmlformats.org/officeDocument/2006/relationships/image" Target="../media/image_ae807647ad7fe273.jpg"/>
  <Relationship Id="rId4"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bd47c2c770afa43.jpg"/>
  <Relationship Id="rId3" Type="http://schemas.openxmlformats.org/officeDocument/2006/relationships/image" Target="../media/image_7d93f3be51dec854.jpg"/>
  <Relationship Id="rId4"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5d452b4afb4544b.jpg"/>
  <Relationship Id="rId3" Type="http://schemas.openxmlformats.org/officeDocument/2006/relationships/image" Target="../media/image_847ac6130d113cf9.jpg"/>
  <Relationship Id="rId4"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4667250" y="3429000"/>
            <a:ext cx="9906000" cy="9906000"/>
          </a:xfrm>
          <a:prstGeom prst="ellipse">
            <a:avLst/>
          </a:prstGeom>
          <a:solidFill>
            <a:schemeClr val="lt2"/>
          </a:solidFill>
          <a:ln>
            <a:noFill/>
          </a:ln>
        </p:spPr>
      </p:sp>
      <p:grpSp>
        <p:nvGrpSpPr>
          <p:cNvPr id="6" name="Group 6"/>
          <p:cNvGrpSpPr/>
          <p:nvPr/>
        </p:nvGrpSpPr>
        <p:grpSpPr>
          <a:xfrm>
            <a:off x="6248400" y="1276350"/>
            <a:ext cx="8382000" cy="4933950"/>
            <a:chOff x="6248400" y="1276350"/>
            <a:chExt cx="8382000" cy="4933950"/>
          </a:xfrm>
        </p:grpSpPr>
        <p:sp>
          <p:nvSpPr>
            <p:cNvPr id="3" name="Rectangle 3"/>
            <p:cNvSpPr/>
            <p:nvPr/>
          </p:nvSpPr>
          <p:spPr>
            <a:xfrm>
              <a:off x="6248400" y="1276350"/>
              <a:ext cx="8382000" cy="4933950"/>
            </a:xfrm>
            <a:prstGeom prst="roundRect">
              <a:avLst>
                <a:gd name="adj" fmla="val 3861"/>
              </a:avLst>
            </a:prstGeom>
            <a:solidFill>
              <a:schemeClr val="lt1"/>
            </a:solidFill>
            <a:ln w="14288">
              <a:solidFill>
                <a:schemeClr val="accent6"/>
              </a:solidFill>
            </a:ln>
            <a:effectLst>
              <a:outerShdw blurRad="228600" dist="57150" dir="5400000" algn="ctr" rotWithShape="0">
                <a:srgbClr val="1F2A37">
                  <a:alpha val="9000"/>
                </a:srgbClr>
              </a:outerShdw>
            </a:effectLst>
          </p:spPr>
        </p:sp>
        <p:pic>
          <p:nvPicPr>
            <p:cNvPr id="4" name="Image 4"/>
            <p:cNvPicPr>
              <a:picLocks noChangeAspect="1"/>
            </p:cNvPicPr>
            <p:nvPr/>
          </p:nvPicPr>
          <p:blipFill>
            <a:blip r:embed="rId2"/>
            <a:stretch>
              <a:fillRect/>
            </a:stretch>
          </p:blipFill>
          <p:spPr>
            <a:xfrm>
              <a:off x="6400800" y="1428750"/>
              <a:ext cx="8229600" cy="4629150"/>
            </a:xfrm>
            <a:prstGeom prst="roundRect">
              <a:avLst>
                <a:gd name="adj" fmla="val 2469"/>
              </a:avLst>
            </a:prstGeom>
          </p:spPr>
        </p:pic>
        <p:sp>
          <p:nvSpPr>
            <p:cNvPr id="5" name="Rectangle 5"/>
            <p:cNvSpPr/>
            <p:nvPr/>
          </p:nvSpPr>
          <p:spPr>
            <a:xfrm>
              <a:off x="6400800" y="1428750"/>
              <a:ext cx="8229600" cy="4629150"/>
            </a:xfrm>
            <a:prstGeom prst="roundRect">
              <a:avLst>
                <a:gd name="adj" fmla="val 2469"/>
              </a:avLst>
            </a:prstGeom>
            <a:noFill/>
            <a:ln w="19050">
              <a:solidFill>
                <a:schemeClr val="accent3"/>
              </a:solidFill>
            </a:ln>
          </p:spPr>
        </p:sp>
      </p:grpSp>
      <p:grpSp>
        <p:nvGrpSpPr>
          <p:cNvPr id="9" name="Group 9"/>
          <p:cNvGrpSpPr/>
          <p:nvPr/>
        </p:nvGrpSpPr>
        <p:grpSpPr>
          <a:xfrm>
            <a:off x="590550" y="1539240"/>
            <a:ext cx="3430524" cy="1771650"/>
            <a:chOff x="590550" y="1539240"/>
            <a:chExt cx="3430524" cy="1771650"/>
          </a:xfrm>
        </p:grpSpPr>
        <p:sp>
          <p:nvSpPr>
            <p:cNvPr id="7" name="TextBox 7"/>
            <p:cNvSpPr txBox="1"/>
            <p:nvPr/>
          </p:nvSpPr>
          <p:spPr>
            <a:xfrm>
              <a:off x="590550" y="1539240"/>
              <a:ext cx="3430524" cy="1771650"/>
            </a:xfrm>
            <a:prstGeom prst="rect">
              <a:avLst/>
            </a:prstGeom>
            <a:noFill/>
            <a:ln>
              <a:noFill/>
            </a:ln>
          </p:spPr>
          <p:txBody>
            <a:bodyPr wrap="square" lIns="0" tIns="0" rIns="0" bIns="0" anchor="t" anchorCtr="0"/>
            <a:lstStyle/>
            <a:p>
              <a:pPr algn="l">
                <a:lnSpc>
                  <a:spcPts val="6600"/>
                </a:lnSpc>
              </a:pPr>
              <a:r>
                <a:rPr lang="zh-CN" sz="4800" b="1" dirty="0">
                  <a:solidFill>
                    <a:schemeClr val="dk1"/>
                  </a:solidFill>
                  <a:latin typeface="+mn-lt"/>
                  <a:ea typeface="+mn-ea"/>
                  <a:cs typeface="+mn-cs"/>
                </a:rPr>
                <a:t>コードは、読めなくていい。</a:t>
              </a:r>
            </a:p>
          </p:txBody>
        </p:sp>
        <p:sp>
          <p:nvSpPr>
            <p:cNvPr id="8" name="Rectangle 8"/>
            <p:cNvSpPr/>
            <p:nvPr/>
          </p:nvSpPr>
          <p:spPr>
            <a:xfrm>
              <a:off x="628650" y="3162300"/>
              <a:ext cx="914400" cy="76200"/>
            </a:xfrm>
            <a:prstGeom prst="roundRect">
              <a:avLst>
                <a:gd name="adj" fmla="val 50000"/>
              </a:avLst>
            </a:prstGeom>
            <a:solidFill>
              <a:schemeClr val="accent2"/>
            </a:solidFill>
            <a:ln>
              <a:noFill/>
            </a:ln>
          </p:spPr>
        </p:sp>
      </p:grpSp>
      <p:grpSp>
        <p:nvGrpSpPr>
          <p:cNvPr id="11" name="Group 11"/>
          <p:cNvGrpSpPr/>
          <p:nvPr/>
        </p:nvGrpSpPr>
        <p:grpSpPr>
          <a:xfrm>
            <a:off x="599694" y="3637598"/>
            <a:ext cx="3338322" cy="1181481"/>
            <a:chOff x="599694" y="3637598"/>
            <a:chExt cx="3338322" cy="1181481"/>
          </a:xfrm>
        </p:grpSpPr>
        <p:sp>
          <p:nvSpPr>
            <p:cNvPr id="10" name="TextBox 10"/>
            <p:cNvSpPr txBox="1"/>
            <p:nvPr/>
          </p:nvSpPr>
          <p:spPr>
            <a:xfrm>
              <a:off x="599694" y="3637598"/>
              <a:ext cx="3338322" cy="1181481"/>
            </a:xfrm>
            <a:prstGeom prst="rect">
              <a:avLst/>
            </a:prstGeom>
            <a:noFill/>
            <a:ln>
              <a:noFill/>
            </a:ln>
          </p:spPr>
          <p:txBody>
            <a:bodyPr wrap="square" lIns="0" tIns="0" rIns="0" bIns="0" anchor="t" anchorCtr="0"/>
            <a:lstStyle/>
            <a:p>
              <a:pPr algn="l">
                <a:lnSpc>
                  <a:spcPts val="3150"/>
                </a:lnSpc>
              </a:pPr>
              <a:r>
                <a:rPr lang="zh-CN" sz="1950" dirty="0">
                  <a:solidFill>
                    <a:schemeClr val="dk1"/>
                  </a:solidFill>
                  <a:latin typeface="+mn-lt"/>
                  <a:ea typeface="+mn-ea"/>
                  <a:cs typeface="+mn-cs"/>
                </a:rPr>
                <a:t>ブックを読み込み、AIへ依頼し、返答を取り込む。改修済みブックは、このアプリが別ファイルとして作ります。</a:t>
              </a:r>
            </a:p>
          </p:txBody>
        </p:sp>
      </p:grpSp>
      <p:grpSp>
        <p:nvGrpSpPr>
          <p:cNvPr id="14" name="Group 14"/>
          <p:cNvGrpSpPr/>
          <p:nvPr/>
        </p:nvGrpSpPr>
        <p:grpSpPr>
          <a:xfrm>
            <a:off x="598170" y="5376862"/>
            <a:ext cx="3573367" cy="723139"/>
            <a:chOff x="598170" y="5376862"/>
            <a:chExt cx="3573367" cy="723139"/>
          </a:xfrm>
        </p:grpSpPr>
        <p:sp>
          <p:nvSpPr>
            <p:cNvPr id="12" name="TextBox 12"/>
            <p:cNvSpPr txBox="1"/>
            <p:nvPr/>
          </p:nvSpPr>
          <p:spPr>
            <a:xfrm>
              <a:off x="598170" y="5376862"/>
              <a:ext cx="3573367"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MacroStudio 操作マニュアル</a:t>
              </a:r>
            </a:p>
          </p:txBody>
        </p:sp>
        <p:sp>
          <p:nvSpPr>
            <p:cNvPr id="13" name="TextBox 13"/>
            <p:cNvSpPr txBox="1"/>
            <p:nvPr/>
          </p:nvSpPr>
          <p:spPr>
            <a:xfrm>
              <a:off x="602742" y="5835968"/>
              <a:ext cx="2676163"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beta 1.0.0 対応 ／ 2026-07-30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第1部</a:t>
              </a:r>
            </a:p>
          </p:txBody>
        </p:sp>
        <p:sp>
          <p:nvSpPr>
            <p:cNvPr id="4" name="TextBox 4"/>
            <p:cNvSpPr txBox="1"/>
            <p:nvPr/>
          </p:nvSpPr>
          <p:spPr>
            <a:xfrm>
              <a:off x="441960" y="685800"/>
              <a:ext cx="297764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このマニュアルの読み方</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9" name="Group 9"/>
          <p:cNvGrpSpPr/>
          <p:nvPr/>
        </p:nvGrpSpPr>
        <p:grpSpPr>
          <a:xfrm>
            <a:off x="473165" y="1403032"/>
            <a:ext cx="8584024" cy="322707"/>
            <a:chOff x="473165" y="1403032"/>
            <a:chExt cx="8584024" cy="322707"/>
          </a:xfrm>
        </p:grpSpPr>
        <p:sp>
          <p:nvSpPr>
            <p:cNvPr id="7" name="Freeform 7"/>
            <p:cNvSpPr/>
            <p:nvPr/>
          </p:nvSpPr>
          <p:spPr>
            <a:xfrm>
              <a:off x="473165" y="141128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46121" y="75254"/>
                  </a:moveTo>
                  <a:cubicBezTo>
                    <a:pt x="144186" y="73317"/>
                    <a:pt x="141559" y="72228"/>
                    <a:pt x="138821" y="72228"/>
                  </a:cubicBezTo>
                  <a:cubicBezTo>
                    <a:pt x="136082" y="72228"/>
                    <a:pt x="133456" y="73317"/>
                    <a:pt x="131520" y="75254"/>
                  </a:cubicBezTo>
                  <a:lnTo>
                    <a:pt x="97541" y="109224"/>
                  </a:lnTo>
                  <a:lnTo>
                    <a:pt x="84199" y="95892"/>
                  </a:lnTo>
                  <a:lnTo>
                    <a:pt x="83229" y="95035"/>
                  </a:lnTo>
                  <a:cubicBezTo>
                    <a:pt x="78924" y="91707"/>
                    <a:pt x="72776" y="92293"/>
                    <a:pt x="69177" y="96374"/>
                  </a:cubicBezTo>
                  <a:cubicBezTo>
                    <a:pt x="65579" y="100455"/>
                    <a:pt x="65767" y="106629"/>
                    <a:pt x="69608" y="110483"/>
                  </a:cubicBezTo>
                  <a:lnTo>
                    <a:pt x="90245" y="131120"/>
                  </a:lnTo>
                  <a:lnTo>
                    <a:pt x="91215" y="131976"/>
                  </a:lnTo>
                  <a:cubicBezTo>
                    <a:pt x="95323" y="135163"/>
                    <a:pt x="101160" y="134796"/>
                    <a:pt x="104836" y="131120"/>
                  </a:cubicBezTo>
                  <a:lnTo>
                    <a:pt x="146111" y="89845"/>
                  </a:lnTo>
                  <a:lnTo>
                    <a:pt x="146967" y="88875"/>
                  </a:lnTo>
                  <a:cubicBezTo>
                    <a:pt x="150154" y="84767"/>
                    <a:pt x="149787" y="78931"/>
                    <a:pt x="146111" y="75254"/>
                  </a:cubicBezTo>
                  <a:close/>
                </a:path>
              </a:pathLst>
            </a:custGeom>
            <a:solidFill>
              <a:srgbClr val="3A7A47"/>
            </a:solidFill>
            <a:ln>
              <a:noFill/>
            </a:ln>
          </p:spPr>
        </p:sp>
        <p:sp>
          <p:nvSpPr>
            <p:cNvPr id="8" name="TextBox 8"/>
            <p:cNvSpPr txBox="1"/>
            <p:nvPr/>
          </p:nvSpPr>
          <p:spPr>
            <a:xfrm>
              <a:off x="810768" y="1403032"/>
              <a:ext cx="824642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この本は、初めての一件に付き添う手引きです。第2部は、一つのサンプルブックを最初から最後まで通します。</a:t>
              </a:r>
            </a:p>
          </p:txBody>
        </p:sp>
      </p:grpSp>
      <p:grpSp>
        <p:nvGrpSpPr>
          <p:cNvPr id="16" name="Group 16"/>
          <p:cNvGrpSpPr/>
          <p:nvPr/>
        </p:nvGrpSpPr>
        <p:grpSpPr>
          <a:xfrm>
            <a:off x="457200" y="1866900"/>
            <a:ext cx="11277600" cy="723900"/>
            <a:chOff x="457200" y="1866900"/>
            <a:chExt cx="11277600" cy="723900"/>
          </a:xfrm>
        </p:grpSpPr>
        <p:sp>
          <p:nvSpPr>
            <p:cNvPr id="10" name="Rectangle 10"/>
            <p:cNvSpPr/>
            <p:nvPr/>
          </p:nvSpPr>
          <p:spPr>
            <a:xfrm>
              <a:off x="457200" y="1866900"/>
              <a:ext cx="11277600" cy="723900"/>
            </a:xfrm>
            <a:prstGeom prst="roundRect">
              <a:avLst>
                <a:gd name="adj" fmla="val 15789"/>
              </a:avLst>
            </a:prstGeom>
            <a:solidFill>
              <a:schemeClr val="lt2"/>
            </a:solidFill>
            <a:ln>
              <a:noFill/>
            </a:ln>
          </p:spPr>
        </p:sp>
        <p:sp>
          <p:nvSpPr>
            <p:cNvPr id="11" name="Rectangle 11"/>
            <p:cNvSpPr/>
            <p:nvPr/>
          </p:nvSpPr>
          <p:spPr>
            <a:xfrm>
              <a:off x="647700" y="2057400"/>
              <a:ext cx="914400" cy="342900"/>
            </a:xfrm>
            <a:prstGeom prst="roundRect">
              <a:avLst>
                <a:gd name="adj" fmla="val 50000"/>
              </a:avLst>
            </a:prstGeom>
            <a:solidFill>
              <a:schemeClr val="accent1"/>
            </a:solidFill>
            <a:ln>
              <a:noFill/>
            </a:ln>
          </p:spPr>
        </p:sp>
        <p:sp>
          <p:nvSpPr>
            <p:cNvPr id="12" name="TextBox 12"/>
            <p:cNvSpPr txBox="1"/>
            <p:nvPr/>
          </p:nvSpPr>
          <p:spPr>
            <a:xfrm>
              <a:off x="882537" y="2156460"/>
              <a:ext cx="44472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第1部</a:t>
              </a:r>
            </a:p>
          </p:txBody>
        </p:sp>
        <p:sp>
          <p:nvSpPr>
            <p:cNvPr id="13" name="TextBox 13"/>
            <p:cNvSpPr txBox="1"/>
            <p:nvPr/>
          </p:nvSpPr>
          <p:spPr>
            <a:xfrm>
              <a:off x="1782318" y="2012632"/>
              <a:ext cx="192536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MacroStudioを知る</a:t>
              </a:r>
            </a:p>
          </p:txBody>
        </p:sp>
        <p:sp>
          <p:nvSpPr>
            <p:cNvPr id="14" name="TextBox 14"/>
            <p:cNvSpPr txBox="1"/>
            <p:nvPr/>
          </p:nvSpPr>
          <p:spPr>
            <a:xfrm>
              <a:off x="1783842" y="2311718"/>
              <a:ext cx="2803379"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どんな道具か・だれが何を担うか・何が守られるか</a:t>
              </a:r>
            </a:p>
          </p:txBody>
        </p:sp>
        <p:sp>
          <p:nvSpPr>
            <p:cNvPr id="15" name="TextBox 15"/>
            <p:cNvSpPr txBox="1"/>
            <p:nvPr/>
          </p:nvSpPr>
          <p:spPr>
            <a:xfrm>
              <a:off x="10903763" y="2140268"/>
              <a:ext cx="647395" cy="264033"/>
            </a:xfrm>
            <a:prstGeom prst="rect">
              <a:avLst/>
            </a:prstGeom>
            <a:noFill/>
            <a:ln>
              <a:noFill/>
            </a:ln>
          </p:spPr>
          <p:txBody>
            <a:bodyPr wrap="none" lIns="0" tIns="0" rIns="0" bIns="0" anchor="t" anchorCtr="0">
              <a:spAutoFit/>
            </a:bodyPr>
            <a:lstStyle/>
            <a:p>
              <a:pPr algn="r"/>
              <a:r>
                <a:rPr lang="en-US" sz="1350" dirty="0">
                  <a:solidFill>
                    <a:srgbClr val="5D6B7A"/>
                  </a:solidFill>
                  <a:latin typeface="+mn-lt"/>
                  <a:ea typeface="+mn-ea"/>
                  <a:cs typeface="+mn-cs"/>
                </a:rPr>
                <a:t>P03–06</a:t>
              </a:r>
            </a:p>
          </p:txBody>
        </p:sp>
      </p:grpSp>
      <p:grpSp>
        <p:nvGrpSpPr>
          <p:cNvPr id="25" name="Group 25"/>
          <p:cNvGrpSpPr/>
          <p:nvPr/>
        </p:nvGrpSpPr>
        <p:grpSpPr>
          <a:xfrm>
            <a:off x="457200" y="2667000"/>
            <a:ext cx="11277600" cy="723900"/>
            <a:chOff x="457200" y="2667000"/>
            <a:chExt cx="11277600" cy="723900"/>
          </a:xfrm>
        </p:grpSpPr>
        <p:sp>
          <p:nvSpPr>
            <p:cNvPr id="17" name="Rectangle 17"/>
            <p:cNvSpPr/>
            <p:nvPr/>
          </p:nvSpPr>
          <p:spPr>
            <a:xfrm>
              <a:off x="457200" y="2667000"/>
              <a:ext cx="11277600" cy="723900"/>
            </a:xfrm>
            <a:prstGeom prst="roundRect">
              <a:avLst>
                <a:gd name="adj" fmla="val 15789"/>
              </a:avLst>
            </a:prstGeom>
            <a:solidFill>
              <a:schemeClr val="lt2"/>
            </a:solidFill>
            <a:ln>
              <a:noFill/>
            </a:ln>
          </p:spPr>
        </p:sp>
        <p:sp>
          <p:nvSpPr>
            <p:cNvPr id="18" name="Rectangle 18"/>
            <p:cNvSpPr/>
            <p:nvPr/>
          </p:nvSpPr>
          <p:spPr>
            <a:xfrm>
              <a:off x="647700" y="2857500"/>
              <a:ext cx="914400" cy="342900"/>
            </a:xfrm>
            <a:prstGeom prst="roundRect">
              <a:avLst>
                <a:gd name="adj" fmla="val 50000"/>
              </a:avLst>
            </a:prstGeom>
            <a:solidFill>
              <a:schemeClr val="accent1"/>
            </a:solidFill>
            <a:ln>
              <a:noFill/>
            </a:ln>
          </p:spPr>
        </p:sp>
        <p:sp>
          <p:nvSpPr>
            <p:cNvPr id="19" name="TextBox 19"/>
            <p:cNvSpPr txBox="1"/>
            <p:nvPr/>
          </p:nvSpPr>
          <p:spPr>
            <a:xfrm>
              <a:off x="882537" y="2956560"/>
              <a:ext cx="44472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第2部</a:t>
              </a:r>
            </a:p>
          </p:txBody>
        </p:sp>
        <p:sp>
          <p:nvSpPr>
            <p:cNvPr id="20" name="TextBox 20"/>
            <p:cNvSpPr txBox="1"/>
            <p:nvPr/>
          </p:nvSpPr>
          <p:spPr>
            <a:xfrm>
              <a:off x="1782318" y="2812732"/>
              <a:ext cx="1077957"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最初の一件</a:t>
              </a:r>
            </a:p>
          </p:txBody>
        </p:sp>
        <p:sp>
          <p:nvSpPr>
            <p:cNvPr id="21" name="TextBox 21"/>
            <p:cNvSpPr txBox="1"/>
            <p:nvPr/>
          </p:nvSpPr>
          <p:spPr>
            <a:xfrm>
              <a:off x="1783842" y="3111818"/>
              <a:ext cx="4622292"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読み込みから、AIへの依頼、取り込み、ブック作成、最終確認まで</a:t>
              </a:r>
            </a:p>
          </p:txBody>
        </p:sp>
        <p:sp>
          <p:nvSpPr>
            <p:cNvPr id="22" name="TextBox 22"/>
            <p:cNvSpPr txBox="1"/>
            <p:nvPr/>
          </p:nvSpPr>
          <p:spPr>
            <a:xfrm>
              <a:off x="10903763" y="2940368"/>
              <a:ext cx="647395" cy="264033"/>
            </a:xfrm>
            <a:prstGeom prst="rect">
              <a:avLst/>
            </a:prstGeom>
            <a:noFill/>
            <a:ln>
              <a:noFill/>
            </a:ln>
          </p:spPr>
          <p:txBody>
            <a:bodyPr wrap="none" lIns="0" tIns="0" rIns="0" bIns="0" anchor="t" anchorCtr="0">
              <a:spAutoFit/>
            </a:bodyPr>
            <a:lstStyle/>
            <a:p>
              <a:pPr algn="r"/>
              <a:r>
                <a:rPr lang="en-US" sz="1350" dirty="0">
                  <a:solidFill>
                    <a:srgbClr val="5D6B7A"/>
                  </a:solidFill>
                  <a:latin typeface="+mn-lt"/>
                  <a:ea typeface="+mn-ea"/>
                  <a:cs typeface="+mn-cs"/>
                </a:rPr>
                <a:t>P07–22</a:t>
              </a:r>
            </a:p>
          </p:txBody>
        </p:sp>
        <p:sp>
          <p:nvSpPr>
            <p:cNvPr id="23" name="Rectangle 23"/>
            <p:cNvSpPr/>
            <p:nvPr/>
          </p:nvSpPr>
          <p:spPr>
            <a:xfrm>
              <a:off x="8801100" y="2895600"/>
              <a:ext cx="1123950" cy="247650"/>
            </a:xfrm>
            <a:prstGeom prst="roundRect">
              <a:avLst>
                <a:gd name="adj" fmla="val 50000"/>
              </a:avLst>
            </a:prstGeom>
            <a:solidFill>
              <a:schemeClr val="accent2"/>
            </a:solidFill>
            <a:ln>
              <a:noFill/>
            </a:ln>
          </p:spPr>
        </p:sp>
        <p:sp>
          <p:nvSpPr>
            <p:cNvPr id="24" name="TextBox 24"/>
            <p:cNvSpPr txBox="1"/>
            <p:nvPr/>
          </p:nvSpPr>
          <p:spPr>
            <a:xfrm>
              <a:off x="9120271" y="2953702"/>
              <a:ext cx="485607"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ここを通す</a:t>
              </a:r>
            </a:p>
          </p:txBody>
        </p:sp>
      </p:grpSp>
      <p:grpSp>
        <p:nvGrpSpPr>
          <p:cNvPr id="31" name="Group 31"/>
          <p:cNvGrpSpPr/>
          <p:nvPr/>
        </p:nvGrpSpPr>
        <p:grpSpPr>
          <a:xfrm>
            <a:off x="457200" y="3467100"/>
            <a:ext cx="11277600" cy="590550"/>
            <a:chOff x="457200" y="3467100"/>
            <a:chExt cx="11277600" cy="590550"/>
          </a:xfrm>
        </p:grpSpPr>
        <p:sp>
          <p:nvSpPr>
            <p:cNvPr id="26" name="Rectangle 26"/>
            <p:cNvSpPr/>
            <p:nvPr/>
          </p:nvSpPr>
          <p:spPr>
            <a:xfrm>
              <a:off x="457200" y="3467100"/>
              <a:ext cx="11277600" cy="590550"/>
            </a:xfrm>
            <a:prstGeom prst="roundRect">
              <a:avLst>
                <a:gd name="adj" fmla="val 19355"/>
              </a:avLst>
            </a:prstGeom>
            <a:solidFill>
              <a:schemeClr val="accent5"/>
            </a:solidFill>
            <a:ln w="9525">
              <a:solidFill>
                <a:schemeClr val="accent6"/>
              </a:solidFill>
            </a:ln>
          </p:spPr>
        </p:sp>
        <p:sp>
          <p:nvSpPr>
            <p:cNvPr id="27" name="Rectangle 27"/>
            <p:cNvSpPr/>
            <p:nvPr/>
          </p:nvSpPr>
          <p:spPr>
            <a:xfrm>
              <a:off x="647700" y="3590925"/>
              <a:ext cx="914400" cy="342900"/>
            </a:xfrm>
            <a:prstGeom prst="roundRect">
              <a:avLst>
                <a:gd name="adj" fmla="val 50000"/>
              </a:avLst>
            </a:prstGeom>
            <a:solidFill>
              <a:schemeClr val="accent3"/>
            </a:solidFill>
            <a:ln>
              <a:noFill/>
            </a:ln>
          </p:spPr>
        </p:sp>
        <p:sp>
          <p:nvSpPr>
            <p:cNvPr id="28" name="TextBox 28"/>
            <p:cNvSpPr txBox="1"/>
            <p:nvPr/>
          </p:nvSpPr>
          <p:spPr>
            <a:xfrm>
              <a:off x="882537" y="3689985"/>
              <a:ext cx="44472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第3部</a:t>
              </a:r>
            </a:p>
          </p:txBody>
        </p:sp>
        <p:sp>
          <p:nvSpPr>
            <p:cNvPr id="29" name="TextBox 29"/>
            <p:cNvSpPr txBox="1"/>
            <p:nvPr/>
          </p:nvSpPr>
          <p:spPr>
            <a:xfrm>
              <a:off x="1782318" y="3650932"/>
              <a:ext cx="3537684"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 xml:space="preserve">相談する使い方 </a:t>
              </a:r>
              <a:r>
                <a:rPr lang="zh-CN" sz="1350" dirty="0">
                  <a:solidFill>
                    <a:srgbClr val="5D6B7A"/>
                  </a:solidFill>
                  <a:latin typeface="+mn-lt"/>
                  <a:ea typeface="+mn-ea"/>
                  <a:cs typeface="+mn-cs"/>
                </a:rPr>
                <a:t xml:space="preserve">　直す前に、AIに聞くだけの道</a:t>
              </a:r>
            </a:p>
          </p:txBody>
        </p:sp>
        <p:sp>
          <p:nvSpPr>
            <p:cNvPr id="30" name="TextBox 30"/>
            <p:cNvSpPr txBox="1"/>
            <p:nvPr/>
          </p:nvSpPr>
          <p:spPr>
            <a:xfrm>
              <a:off x="10903763" y="3683318"/>
              <a:ext cx="647395" cy="264033"/>
            </a:xfrm>
            <a:prstGeom prst="rect">
              <a:avLst/>
            </a:prstGeom>
            <a:noFill/>
            <a:ln>
              <a:noFill/>
            </a:ln>
          </p:spPr>
          <p:txBody>
            <a:bodyPr wrap="none" lIns="0" tIns="0" rIns="0" bIns="0" anchor="t" anchorCtr="0">
              <a:spAutoFit/>
            </a:bodyPr>
            <a:lstStyle/>
            <a:p>
              <a:pPr algn="r"/>
              <a:r>
                <a:rPr lang="en-US" sz="1350" dirty="0">
                  <a:solidFill>
                    <a:srgbClr val="5D6B7A"/>
                  </a:solidFill>
                  <a:latin typeface="+mn-lt"/>
                  <a:ea typeface="+mn-ea"/>
                  <a:cs typeface="+mn-cs"/>
                </a:rPr>
                <a:t>P23–24</a:t>
              </a:r>
            </a:p>
          </p:txBody>
        </p:sp>
      </p:grpSp>
      <p:grpSp>
        <p:nvGrpSpPr>
          <p:cNvPr id="37" name="Group 37"/>
          <p:cNvGrpSpPr/>
          <p:nvPr/>
        </p:nvGrpSpPr>
        <p:grpSpPr>
          <a:xfrm>
            <a:off x="457200" y="4133850"/>
            <a:ext cx="11277600" cy="590550"/>
            <a:chOff x="457200" y="4133850"/>
            <a:chExt cx="11277600" cy="590550"/>
          </a:xfrm>
        </p:grpSpPr>
        <p:sp>
          <p:nvSpPr>
            <p:cNvPr id="32" name="Rectangle 32"/>
            <p:cNvSpPr/>
            <p:nvPr/>
          </p:nvSpPr>
          <p:spPr>
            <a:xfrm>
              <a:off x="457200" y="4133850"/>
              <a:ext cx="11277600" cy="590550"/>
            </a:xfrm>
            <a:prstGeom prst="roundRect">
              <a:avLst>
                <a:gd name="adj" fmla="val 19355"/>
              </a:avLst>
            </a:prstGeom>
            <a:solidFill>
              <a:schemeClr val="accent5"/>
            </a:solidFill>
            <a:ln w="9525">
              <a:solidFill>
                <a:schemeClr val="accent6"/>
              </a:solidFill>
            </a:ln>
          </p:spPr>
        </p:sp>
        <p:sp>
          <p:nvSpPr>
            <p:cNvPr id="33" name="Rectangle 33"/>
            <p:cNvSpPr/>
            <p:nvPr/>
          </p:nvSpPr>
          <p:spPr>
            <a:xfrm>
              <a:off x="647700" y="4257675"/>
              <a:ext cx="914400" cy="342900"/>
            </a:xfrm>
            <a:prstGeom prst="roundRect">
              <a:avLst>
                <a:gd name="adj" fmla="val 50000"/>
              </a:avLst>
            </a:prstGeom>
            <a:solidFill>
              <a:schemeClr val="accent3"/>
            </a:solidFill>
            <a:ln>
              <a:noFill/>
            </a:ln>
          </p:spPr>
        </p:sp>
        <p:sp>
          <p:nvSpPr>
            <p:cNvPr id="34" name="TextBox 34"/>
            <p:cNvSpPr txBox="1"/>
            <p:nvPr/>
          </p:nvSpPr>
          <p:spPr>
            <a:xfrm>
              <a:off x="882537" y="4356735"/>
              <a:ext cx="44472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第4部</a:t>
              </a:r>
            </a:p>
          </p:txBody>
        </p:sp>
        <p:sp>
          <p:nvSpPr>
            <p:cNvPr id="35" name="TextBox 35"/>
            <p:cNvSpPr txBox="1"/>
            <p:nvPr/>
          </p:nvSpPr>
          <p:spPr>
            <a:xfrm>
              <a:off x="1782318" y="4317682"/>
              <a:ext cx="2477786"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 xml:space="preserve">困ったとき </a:t>
              </a:r>
              <a:r>
                <a:rPr lang="zh-CN" sz="1350" dirty="0">
                  <a:solidFill>
                    <a:srgbClr val="5D6B7A"/>
                  </a:solidFill>
                  <a:latin typeface="+mn-lt"/>
                  <a:ea typeface="+mn-ea"/>
                  <a:cs typeface="+mn-cs"/>
                </a:rPr>
                <a:t xml:space="preserve">　つまずいたら、どこへ戻るか</a:t>
              </a:r>
            </a:p>
          </p:txBody>
        </p:sp>
        <p:sp>
          <p:nvSpPr>
            <p:cNvPr id="36" name="TextBox 36"/>
            <p:cNvSpPr txBox="1"/>
            <p:nvPr/>
          </p:nvSpPr>
          <p:spPr>
            <a:xfrm>
              <a:off x="11220602" y="4350068"/>
              <a:ext cx="330556" cy="264033"/>
            </a:xfrm>
            <a:prstGeom prst="rect">
              <a:avLst/>
            </a:prstGeom>
            <a:noFill/>
            <a:ln>
              <a:noFill/>
            </a:ln>
          </p:spPr>
          <p:txBody>
            <a:bodyPr wrap="none" lIns="0" tIns="0" rIns="0" bIns="0" anchor="t" anchorCtr="0">
              <a:spAutoFit/>
            </a:bodyPr>
            <a:lstStyle/>
            <a:p>
              <a:pPr algn="r"/>
              <a:r>
                <a:rPr lang="en-US" sz="1350" dirty="0">
                  <a:solidFill>
                    <a:srgbClr val="5D6B7A"/>
                  </a:solidFill>
                  <a:latin typeface="+mn-lt"/>
                  <a:ea typeface="+mn-ea"/>
                  <a:cs typeface="+mn-cs"/>
                </a:rPr>
                <a:t>P25</a:t>
              </a:r>
            </a:p>
          </p:txBody>
        </p:sp>
      </p:grpSp>
      <p:grpSp>
        <p:nvGrpSpPr>
          <p:cNvPr id="43" name="Group 43"/>
          <p:cNvGrpSpPr/>
          <p:nvPr/>
        </p:nvGrpSpPr>
        <p:grpSpPr>
          <a:xfrm>
            <a:off x="457200" y="4800600"/>
            <a:ext cx="11277600" cy="590550"/>
            <a:chOff x="457200" y="4800600"/>
            <a:chExt cx="11277600" cy="590550"/>
          </a:xfrm>
        </p:grpSpPr>
        <p:sp>
          <p:nvSpPr>
            <p:cNvPr id="38" name="Rectangle 38"/>
            <p:cNvSpPr/>
            <p:nvPr/>
          </p:nvSpPr>
          <p:spPr>
            <a:xfrm>
              <a:off x="457200" y="4800600"/>
              <a:ext cx="11277600" cy="590550"/>
            </a:xfrm>
            <a:prstGeom prst="roundRect">
              <a:avLst>
                <a:gd name="adj" fmla="val 19355"/>
              </a:avLst>
            </a:prstGeom>
            <a:solidFill>
              <a:schemeClr val="accent5"/>
            </a:solidFill>
            <a:ln w="9525">
              <a:solidFill>
                <a:schemeClr val="accent6"/>
              </a:solidFill>
            </a:ln>
          </p:spPr>
        </p:sp>
        <p:sp>
          <p:nvSpPr>
            <p:cNvPr id="39" name="Rectangle 39"/>
            <p:cNvSpPr/>
            <p:nvPr/>
          </p:nvSpPr>
          <p:spPr>
            <a:xfrm>
              <a:off x="647700" y="4924425"/>
              <a:ext cx="914400" cy="342900"/>
            </a:xfrm>
            <a:prstGeom prst="roundRect">
              <a:avLst>
                <a:gd name="adj" fmla="val 50000"/>
              </a:avLst>
            </a:prstGeom>
            <a:solidFill>
              <a:schemeClr val="accent3"/>
            </a:solidFill>
            <a:ln>
              <a:noFill/>
            </a:ln>
          </p:spPr>
        </p:sp>
        <p:sp>
          <p:nvSpPr>
            <p:cNvPr id="40" name="TextBox 40"/>
            <p:cNvSpPr txBox="1"/>
            <p:nvPr/>
          </p:nvSpPr>
          <p:spPr>
            <a:xfrm>
              <a:off x="882537" y="5023485"/>
              <a:ext cx="44472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第5部</a:t>
              </a:r>
            </a:p>
          </p:txBody>
        </p:sp>
        <p:sp>
          <p:nvSpPr>
            <p:cNvPr id="41" name="TextBox 41"/>
            <p:cNvSpPr txBox="1"/>
            <p:nvPr/>
          </p:nvSpPr>
          <p:spPr>
            <a:xfrm>
              <a:off x="1782318" y="4984432"/>
              <a:ext cx="585253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 xml:space="preserve">技術・運用付録 </a:t>
              </a:r>
              <a:r>
                <a:rPr lang="zh-CN" sz="1350" dirty="0">
                  <a:solidFill>
                    <a:srgbClr val="5D6B7A"/>
                  </a:solidFill>
                  <a:latin typeface="+mn-lt"/>
                  <a:ea typeface="+mn-ea"/>
                  <a:cs typeface="+mn-cs"/>
                </a:rPr>
                <a:t xml:space="preserve">　IT・管理担当者向け。仕組み・対応範囲・導入判断</a:t>
              </a:r>
            </a:p>
          </p:txBody>
        </p:sp>
        <p:sp>
          <p:nvSpPr>
            <p:cNvPr id="42" name="TextBox 42"/>
            <p:cNvSpPr txBox="1"/>
            <p:nvPr/>
          </p:nvSpPr>
          <p:spPr>
            <a:xfrm>
              <a:off x="10903763" y="5016818"/>
              <a:ext cx="647395" cy="264033"/>
            </a:xfrm>
            <a:prstGeom prst="rect">
              <a:avLst/>
            </a:prstGeom>
            <a:noFill/>
            <a:ln>
              <a:noFill/>
            </a:ln>
          </p:spPr>
          <p:txBody>
            <a:bodyPr wrap="none" lIns="0" tIns="0" rIns="0" bIns="0" anchor="t" anchorCtr="0">
              <a:spAutoFit/>
            </a:bodyPr>
            <a:lstStyle/>
            <a:p>
              <a:pPr algn="r"/>
              <a:r>
                <a:rPr lang="en-US" sz="1350" dirty="0">
                  <a:solidFill>
                    <a:srgbClr val="5D6B7A"/>
                  </a:solidFill>
                  <a:latin typeface="+mn-lt"/>
                  <a:ea typeface="+mn-ea"/>
                  <a:cs typeface="+mn-cs"/>
                </a:rPr>
                <a:t>P26–33</a:t>
              </a:r>
            </a:p>
          </p:txBody>
        </p:sp>
      </p:grpSp>
      <p:grpSp>
        <p:nvGrpSpPr>
          <p:cNvPr id="45" name="Group 45"/>
          <p:cNvGrpSpPr/>
          <p:nvPr/>
        </p:nvGrpSpPr>
        <p:grpSpPr>
          <a:xfrm>
            <a:off x="450342" y="5683568"/>
            <a:ext cx="6465380" cy="264033"/>
            <a:chOff x="450342" y="5683568"/>
            <a:chExt cx="6465380" cy="264033"/>
          </a:xfrm>
        </p:grpSpPr>
        <p:sp>
          <p:nvSpPr>
            <p:cNvPr id="44" name="TextBox 44"/>
            <p:cNvSpPr txBox="1"/>
            <p:nvPr/>
          </p:nvSpPr>
          <p:spPr>
            <a:xfrm>
              <a:off x="450342" y="5683568"/>
              <a:ext cx="6465380"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付録は、仕組みを詳しく知りたくなったときに開いてください。本編を読むのに、付録の知識は要りません。</a:t>
              </a:r>
            </a:p>
          </p:txBody>
        </p:sp>
      </p:grpSp>
      <p:grpSp>
        <p:nvGrpSpPr>
          <p:cNvPr id="48" name="Group 48"/>
          <p:cNvGrpSpPr/>
          <p:nvPr/>
        </p:nvGrpSpPr>
        <p:grpSpPr>
          <a:xfrm>
            <a:off x="451866" y="6477952"/>
            <a:ext cx="11288268" cy="205359"/>
            <a:chOff x="451866" y="6477952"/>
            <a:chExt cx="11288268" cy="205359"/>
          </a:xfrm>
        </p:grpSpPr>
        <p:sp>
          <p:nvSpPr>
            <p:cNvPr id="46" name="TextBox 46"/>
            <p:cNvSpPr txBox="1"/>
            <p:nvPr/>
          </p:nvSpPr>
          <p:spPr>
            <a:xfrm>
              <a:off x="451866" y="6477952"/>
              <a:ext cx="1674355"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第1部　MacroStudioを知る</a:t>
              </a:r>
            </a:p>
          </p:txBody>
        </p:sp>
        <p:sp>
          <p:nvSpPr>
            <p:cNvPr id="47" name="TextBox 47"/>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第1部</a:t>
              </a:r>
            </a:p>
          </p:txBody>
        </p:sp>
        <p:sp>
          <p:nvSpPr>
            <p:cNvPr id="4" name="TextBox 4"/>
            <p:cNvSpPr txBox="1"/>
            <p:nvPr/>
          </p:nvSpPr>
          <p:spPr>
            <a:xfrm>
              <a:off x="441960" y="685800"/>
              <a:ext cx="35501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どんな場面で使う道具か</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8" name="Group 8"/>
          <p:cNvGrpSpPr/>
          <p:nvPr/>
        </p:nvGrpSpPr>
        <p:grpSpPr>
          <a:xfrm>
            <a:off x="447294" y="1408748"/>
            <a:ext cx="5095646" cy="381381"/>
            <a:chOff x="447294" y="1408748"/>
            <a:chExt cx="5095646" cy="381381"/>
          </a:xfrm>
        </p:grpSpPr>
        <p:sp>
          <p:nvSpPr>
            <p:cNvPr id="7" name="TextBox 7"/>
            <p:cNvSpPr txBox="1"/>
            <p:nvPr/>
          </p:nvSpPr>
          <p:spPr>
            <a:xfrm>
              <a:off x="447294" y="1408748"/>
              <a:ext cx="5095646"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マクロを直したいのに、VBA に詳しい人が身近にいない。</a:t>
              </a:r>
            </a:p>
          </p:txBody>
        </p:sp>
      </p:grpSp>
      <p:grpSp>
        <p:nvGrpSpPr>
          <p:cNvPr id="16" name="Group 16"/>
          <p:cNvGrpSpPr/>
          <p:nvPr/>
        </p:nvGrpSpPr>
        <p:grpSpPr>
          <a:xfrm>
            <a:off x="457200" y="1981200"/>
            <a:ext cx="3505200" cy="2095500"/>
            <a:chOff x="457200" y="1981200"/>
            <a:chExt cx="3505200" cy="2095500"/>
          </a:xfrm>
        </p:grpSpPr>
        <p:sp>
          <p:nvSpPr>
            <p:cNvPr id="9" name="Rectangle 9"/>
            <p:cNvSpPr/>
            <p:nvPr/>
          </p:nvSpPr>
          <p:spPr>
            <a:xfrm>
              <a:off x="457200" y="1981200"/>
              <a:ext cx="3505200" cy="2095500"/>
            </a:xfrm>
            <a:prstGeom prst="roundRect">
              <a:avLst>
                <a:gd name="adj" fmla="val 7273"/>
              </a:avLst>
            </a:prstGeom>
            <a:solidFill>
              <a:schemeClr val="lt2"/>
            </a:solidFill>
            <a:ln>
              <a:noFill/>
            </a:ln>
          </p:spPr>
        </p:sp>
        <p:sp>
          <p:nvSpPr>
            <p:cNvPr id="10" name="Ellipse 10"/>
            <p:cNvSpPr/>
            <p:nvPr/>
          </p:nvSpPr>
          <p:spPr>
            <a:xfrm>
              <a:off x="704850" y="2343150"/>
              <a:ext cx="495300" cy="495300"/>
            </a:xfrm>
            <a:prstGeom prst="ellipse">
              <a:avLst/>
            </a:prstGeom>
            <a:solidFill>
              <a:schemeClr val="lt1"/>
            </a:solidFill>
            <a:ln>
              <a:noFill/>
            </a:ln>
          </p:spPr>
        </p:sp>
        <p:grpSp>
          <p:nvGrpSpPr>
            <p:cNvPr id="13" name="Group 13"/>
            <p:cNvGrpSpPr/>
            <p:nvPr/>
          </p:nvGrpSpPr>
          <p:grpSpPr>
            <a:xfrm>
              <a:off x="850899" y="2463800"/>
              <a:ext cx="203202" cy="254000"/>
              <a:chOff x="850899" y="2463800"/>
              <a:chExt cx="203202" cy="254000"/>
            </a:xfrm>
          </p:grpSpPr>
          <p:sp>
            <p:nvSpPr>
              <p:cNvPr id="11" name="Freeform 11"/>
              <p:cNvSpPr/>
              <p:nvPr/>
            </p:nvSpPr>
            <p:spPr>
              <a:xfrm>
                <a:off x="850899" y="2463800"/>
                <a:ext cx="203202" cy="254000"/>
              </a:xfrm>
              <a:custGeom>
                <a:avLst/>
                <a:gdLst/>
                <a:ahLst/>
                <a:cxnLst/>
                <a:rect l="l" t="t" r="r" b="b"/>
                <a:pathLst>
                  <a:path w="203202" h="254000">
                    <a:moveTo>
                      <a:pt x="101601" y="0"/>
                    </a:moveTo>
                    <a:lnTo>
                      <a:pt x="103087" y="89"/>
                    </a:lnTo>
                    <a:cubicBezTo>
                      <a:pt x="108922" y="777"/>
                      <a:pt x="113524" y="5379"/>
                      <a:pt x="114212" y="11214"/>
                    </a:cubicBezTo>
                    <a:lnTo>
                      <a:pt x="114301" y="12700"/>
                    </a:lnTo>
                    <a:lnTo>
                      <a:pt x="114301" y="63500"/>
                    </a:lnTo>
                    <a:lnTo>
                      <a:pt x="114364" y="65405"/>
                    </a:lnTo>
                    <a:cubicBezTo>
                      <a:pt x="115303" y="77900"/>
                      <a:pt x="125215" y="87844"/>
                      <a:pt x="137707" y="88824"/>
                    </a:cubicBezTo>
                    <a:lnTo>
                      <a:pt x="139701" y="88900"/>
                    </a:lnTo>
                    <a:lnTo>
                      <a:pt x="190501" y="88900"/>
                    </a:lnTo>
                    <a:lnTo>
                      <a:pt x="191987" y="88989"/>
                    </a:lnTo>
                    <a:cubicBezTo>
                      <a:pt x="197822" y="89677"/>
                      <a:pt x="202424" y="94278"/>
                      <a:pt x="203112" y="100114"/>
                    </a:cubicBezTo>
                    <a:lnTo>
                      <a:pt x="203201" y="101600"/>
                    </a:lnTo>
                    <a:lnTo>
                      <a:pt x="203201" y="215899"/>
                    </a:lnTo>
                    <a:cubicBezTo>
                      <a:pt x="203202" y="236074"/>
                      <a:pt x="187476" y="252752"/>
                      <a:pt x="167336" y="253936"/>
                    </a:cubicBezTo>
                    <a:lnTo>
                      <a:pt x="165101" y="253999"/>
                    </a:lnTo>
                    <a:lnTo>
                      <a:pt x="38101" y="253999"/>
                    </a:lnTo>
                    <a:cubicBezTo>
                      <a:pt x="17926" y="254000"/>
                      <a:pt x="1248" y="238275"/>
                      <a:pt x="65" y="218135"/>
                    </a:cubicBezTo>
                    <a:lnTo>
                      <a:pt x="1" y="215899"/>
                    </a:lnTo>
                    <a:lnTo>
                      <a:pt x="1" y="38100"/>
                    </a:lnTo>
                    <a:cubicBezTo>
                      <a:pt x="0" y="17925"/>
                      <a:pt x="15726" y="1247"/>
                      <a:pt x="35866" y="63"/>
                    </a:cubicBezTo>
                    <a:lnTo>
                      <a:pt x="38101" y="0"/>
                    </a:lnTo>
                    <a:close/>
                    <a:moveTo>
                      <a:pt x="81878" y="141046"/>
                    </a:moveTo>
                    <a:cubicBezTo>
                      <a:pt x="75607" y="137914"/>
                      <a:pt x="67985" y="140455"/>
                      <a:pt x="64847" y="146723"/>
                    </a:cubicBezTo>
                    <a:lnTo>
                      <a:pt x="52147" y="172123"/>
                    </a:lnTo>
                    <a:cubicBezTo>
                      <a:pt x="50361" y="175697"/>
                      <a:pt x="50361" y="179903"/>
                      <a:pt x="52147" y="183476"/>
                    </a:cubicBezTo>
                    <a:lnTo>
                      <a:pt x="64847" y="208876"/>
                    </a:lnTo>
                    <a:cubicBezTo>
                      <a:pt x="67985" y="215144"/>
                      <a:pt x="75607" y="217685"/>
                      <a:pt x="81878" y="214553"/>
                    </a:cubicBezTo>
                    <a:lnTo>
                      <a:pt x="83173" y="213817"/>
                    </a:lnTo>
                    <a:cubicBezTo>
                      <a:pt x="88552" y="210281"/>
                      <a:pt x="90435" y="203279"/>
                      <a:pt x="87555" y="197523"/>
                    </a:cubicBezTo>
                    <a:lnTo>
                      <a:pt x="77700" y="177800"/>
                    </a:lnTo>
                    <a:lnTo>
                      <a:pt x="87555" y="158077"/>
                    </a:lnTo>
                    <a:cubicBezTo>
                      <a:pt x="90686" y="151806"/>
                      <a:pt x="88146" y="144183"/>
                      <a:pt x="81878" y="141046"/>
                    </a:cubicBezTo>
                    <a:moveTo>
                      <a:pt x="138355" y="146723"/>
                    </a:moveTo>
                    <a:cubicBezTo>
                      <a:pt x="135217" y="140455"/>
                      <a:pt x="127595" y="137914"/>
                      <a:pt x="121324" y="141046"/>
                    </a:cubicBezTo>
                    <a:lnTo>
                      <a:pt x="120029" y="141782"/>
                    </a:lnTo>
                    <a:cubicBezTo>
                      <a:pt x="114650" y="145319"/>
                      <a:pt x="112767" y="152320"/>
                      <a:pt x="115647" y="158077"/>
                    </a:cubicBezTo>
                    <a:lnTo>
                      <a:pt x="125477" y="177800"/>
                    </a:lnTo>
                    <a:lnTo>
                      <a:pt x="115634" y="197523"/>
                    </a:lnTo>
                    <a:cubicBezTo>
                      <a:pt x="112757" y="203751"/>
                      <a:pt x="115347" y="211139"/>
                      <a:pt x="121484" y="214208"/>
                    </a:cubicBezTo>
                    <a:cubicBezTo>
                      <a:pt x="127621" y="217276"/>
                      <a:pt x="135085" y="214915"/>
                      <a:pt x="138342" y="208876"/>
                    </a:cubicBezTo>
                    <a:lnTo>
                      <a:pt x="151042" y="183476"/>
                    </a:lnTo>
                    <a:cubicBezTo>
                      <a:pt x="152828" y="179903"/>
                      <a:pt x="152828" y="175697"/>
                      <a:pt x="151042" y="172123"/>
                    </a:cubicBezTo>
                    <a:close/>
                  </a:path>
                </a:pathLst>
              </a:custGeom>
              <a:solidFill>
                <a:schemeClr val="accent1"/>
              </a:solidFill>
              <a:ln>
                <a:noFill/>
              </a:ln>
            </p:spPr>
          </p:sp>
          <p:sp>
            <p:nvSpPr>
              <p:cNvPr id="12" name="Freeform 12"/>
              <p:cNvSpPr/>
              <p:nvPr/>
            </p:nvSpPr>
            <p:spPr>
              <a:xfrm>
                <a:off x="990587" y="2476487"/>
                <a:ext cx="50813" cy="50813"/>
              </a:xfrm>
              <a:custGeom>
                <a:avLst/>
                <a:gdLst/>
                <a:ahLst/>
                <a:cxnLst/>
                <a:rect l="l" t="t" r="r" b="b"/>
                <a:pathLst>
                  <a:path w="50813" h="50813">
                    <a:moveTo>
                      <a:pt x="50813" y="50813"/>
                    </a:moveTo>
                    <a:lnTo>
                      <a:pt x="13" y="50813"/>
                    </a:lnTo>
                    <a:lnTo>
                      <a:pt x="0" y="0"/>
                    </a:lnTo>
                    <a:close/>
                  </a:path>
                </a:pathLst>
              </a:custGeom>
              <a:solidFill>
                <a:schemeClr val="accent1"/>
              </a:solidFill>
              <a:ln>
                <a:noFill/>
              </a:ln>
            </p:spPr>
          </p:sp>
        </p:grpSp>
        <p:sp>
          <p:nvSpPr>
            <p:cNvPr id="14" name="TextBox 14"/>
            <p:cNvSpPr txBox="1"/>
            <p:nvPr/>
          </p:nvSpPr>
          <p:spPr>
            <a:xfrm>
              <a:off x="752856" y="3006090"/>
              <a:ext cx="187564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新しい端末で動かない</a:t>
              </a:r>
            </a:p>
          </p:txBody>
        </p:sp>
        <p:sp>
          <p:nvSpPr>
            <p:cNvPr id="15" name="TextBox 15"/>
            <p:cNvSpPr txBox="1"/>
            <p:nvPr/>
          </p:nvSpPr>
          <p:spPr>
            <a:xfrm>
              <a:off x="755142" y="3397568"/>
              <a:ext cx="1642491" cy="530733"/>
            </a:xfrm>
            <a:prstGeom prst="rect">
              <a:avLst/>
            </a:prstGeom>
            <a:noFill/>
            <a:ln>
              <a:noFill/>
            </a:ln>
          </p:spPr>
          <p:txBody>
            <a:bodyPr wrap="square" lIns="0" tIns="0" rIns="0" bIns="0" anchor="t" anchorCtr="0"/>
            <a:lstStyle/>
            <a:p>
              <a:pPr algn="l">
                <a:lnSpc>
                  <a:spcPts val="2100"/>
                </a:lnSpc>
              </a:pPr>
              <a:r>
                <a:rPr lang="zh-CN" sz="1350" dirty="0">
                  <a:solidFill>
                    <a:srgbClr val="5D6B7A"/>
                  </a:solidFill>
                  <a:latin typeface="+mn-lt"/>
                  <a:ea typeface="+mn-ea"/>
                  <a:cs typeface="+mn-cs"/>
                </a:rPr>
                <a:t>パソコンの入れ替えで、今まで動いていたマクロが止まった。</a:t>
              </a:r>
            </a:p>
          </p:txBody>
        </p:sp>
      </p:grpSp>
      <p:grpSp>
        <p:nvGrpSpPr>
          <p:cNvPr id="24" name="Group 24"/>
          <p:cNvGrpSpPr/>
          <p:nvPr/>
        </p:nvGrpSpPr>
        <p:grpSpPr>
          <a:xfrm>
            <a:off x="4343400" y="1981200"/>
            <a:ext cx="3505200" cy="2095500"/>
            <a:chOff x="4343400" y="1981200"/>
            <a:chExt cx="3505200" cy="2095500"/>
          </a:xfrm>
        </p:grpSpPr>
        <p:sp>
          <p:nvSpPr>
            <p:cNvPr id="17" name="Rectangle 17"/>
            <p:cNvSpPr/>
            <p:nvPr/>
          </p:nvSpPr>
          <p:spPr>
            <a:xfrm>
              <a:off x="4343400" y="1981200"/>
              <a:ext cx="3505200" cy="2095500"/>
            </a:xfrm>
            <a:prstGeom prst="roundRect">
              <a:avLst>
                <a:gd name="adj" fmla="val 7273"/>
              </a:avLst>
            </a:prstGeom>
            <a:solidFill>
              <a:schemeClr val="lt2"/>
            </a:solidFill>
            <a:ln>
              <a:noFill/>
            </a:ln>
          </p:spPr>
        </p:sp>
        <p:sp>
          <p:nvSpPr>
            <p:cNvPr id="18" name="Ellipse 18"/>
            <p:cNvSpPr/>
            <p:nvPr/>
          </p:nvSpPr>
          <p:spPr>
            <a:xfrm>
              <a:off x="4591050" y="2343150"/>
              <a:ext cx="495300" cy="495300"/>
            </a:xfrm>
            <a:prstGeom prst="ellipse">
              <a:avLst/>
            </a:prstGeom>
            <a:solidFill>
              <a:schemeClr val="lt1"/>
            </a:solidFill>
            <a:ln>
              <a:noFill/>
            </a:ln>
          </p:spPr>
        </p:sp>
        <p:grpSp>
          <p:nvGrpSpPr>
            <p:cNvPr id="21" name="Group 21"/>
            <p:cNvGrpSpPr/>
            <p:nvPr/>
          </p:nvGrpSpPr>
          <p:grpSpPr>
            <a:xfrm>
              <a:off x="4749800" y="2463800"/>
              <a:ext cx="177800" cy="254000"/>
              <a:chOff x="4749800" y="2463800"/>
              <a:chExt cx="177800" cy="254000"/>
            </a:xfrm>
          </p:grpSpPr>
          <p:sp>
            <p:nvSpPr>
              <p:cNvPr id="19" name="Freeform 19"/>
              <p:cNvSpPr/>
              <p:nvPr/>
            </p:nvSpPr>
            <p:spPr>
              <a:xfrm>
                <a:off x="4775200" y="2463800"/>
                <a:ext cx="127000" cy="127000"/>
              </a:xfrm>
              <a:custGeom>
                <a:avLst/>
                <a:gdLst/>
                <a:ahLst/>
                <a:cxnLst/>
                <a:rect l="l" t="t" r="r" b="b"/>
                <a:pathLst>
                  <a:path w="127000" h="127000">
                    <a:moveTo>
                      <a:pt x="63500" y="0"/>
                    </a:moveTo>
                    <a:cubicBezTo>
                      <a:pt x="98570" y="0"/>
                      <a:pt x="127000" y="28430"/>
                      <a:pt x="127000" y="63500"/>
                    </a:cubicBezTo>
                    <a:cubicBezTo>
                      <a:pt x="127000" y="98570"/>
                      <a:pt x="98570" y="127000"/>
                      <a:pt x="63500" y="127000"/>
                    </a:cubicBezTo>
                    <a:cubicBezTo>
                      <a:pt x="28430" y="127000"/>
                      <a:pt x="0" y="98570"/>
                      <a:pt x="0" y="63500"/>
                    </a:cubicBezTo>
                    <a:lnTo>
                      <a:pt x="63" y="60744"/>
                    </a:lnTo>
                    <a:cubicBezTo>
                      <a:pt x="1539" y="26779"/>
                      <a:pt x="29503" y="2"/>
                      <a:pt x="63500" y="0"/>
                    </a:cubicBezTo>
                    <a:close/>
                  </a:path>
                </a:pathLst>
              </a:custGeom>
              <a:solidFill>
                <a:schemeClr val="accent1"/>
              </a:solidFill>
              <a:ln>
                <a:noFill/>
              </a:ln>
            </p:spPr>
          </p:sp>
          <p:sp>
            <p:nvSpPr>
              <p:cNvPr id="20" name="Freeform 20"/>
              <p:cNvSpPr/>
              <p:nvPr/>
            </p:nvSpPr>
            <p:spPr>
              <a:xfrm>
                <a:off x="4749800" y="2616200"/>
                <a:ext cx="177800" cy="101600"/>
              </a:xfrm>
              <a:custGeom>
                <a:avLst/>
                <a:gdLst/>
                <a:ahLst/>
                <a:cxnLst/>
                <a:rect l="l" t="t" r="r" b="b"/>
                <a:pathLst>
                  <a:path w="177800" h="101600">
                    <a:moveTo>
                      <a:pt x="114300" y="0"/>
                    </a:moveTo>
                    <a:cubicBezTo>
                      <a:pt x="149370" y="0"/>
                      <a:pt x="177800" y="28430"/>
                      <a:pt x="177800" y="63500"/>
                    </a:cubicBezTo>
                    <a:lnTo>
                      <a:pt x="177800" y="76200"/>
                    </a:lnTo>
                    <a:cubicBezTo>
                      <a:pt x="177800" y="90228"/>
                      <a:pt x="166428" y="101600"/>
                      <a:pt x="152400" y="101600"/>
                    </a:cubicBezTo>
                    <a:lnTo>
                      <a:pt x="25400" y="101600"/>
                    </a:lnTo>
                    <a:cubicBezTo>
                      <a:pt x="11372" y="101600"/>
                      <a:pt x="0" y="90228"/>
                      <a:pt x="0" y="76200"/>
                    </a:cubicBezTo>
                    <a:lnTo>
                      <a:pt x="0" y="63500"/>
                    </a:lnTo>
                    <a:cubicBezTo>
                      <a:pt x="0" y="28430"/>
                      <a:pt x="28430" y="0"/>
                      <a:pt x="63500" y="0"/>
                    </a:cubicBezTo>
                    <a:lnTo>
                      <a:pt x="114300" y="0"/>
                    </a:lnTo>
                    <a:close/>
                  </a:path>
                </a:pathLst>
              </a:custGeom>
              <a:solidFill>
                <a:schemeClr val="accent1"/>
              </a:solidFill>
              <a:ln>
                <a:noFill/>
              </a:ln>
            </p:spPr>
          </p:sp>
        </p:grpSp>
        <p:sp>
          <p:nvSpPr>
            <p:cNvPr id="22" name="TextBox 22"/>
            <p:cNvSpPr txBox="1"/>
            <p:nvPr/>
          </p:nvSpPr>
          <p:spPr>
            <a:xfrm>
              <a:off x="4639056" y="3006090"/>
              <a:ext cx="164665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作った人がもういない</a:t>
              </a:r>
            </a:p>
          </p:txBody>
        </p:sp>
        <p:sp>
          <p:nvSpPr>
            <p:cNvPr id="23" name="TextBox 23"/>
            <p:cNvSpPr txBox="1"/>
            <p:nvPr/>
          </p:nvSpPr>
          <p:spPr>
            <a:xfrm>
              <a:off x="4641342" y="3397568"/>
              <a:ext cx="1796796" cy="530733"/>
            </a:xfrm>
            <a:prstGeom prst="rect">
              <a:avLst/>
            </a:prstGeom>
            <a:noFill/>
            <a:ln>
              <a:noFill/>
            </a:ln>
          </p:spPr>
          <p:txBody>
            <a:bodyPr wrap="square" lIns="0" tIns="0" rIns="0" bIns="0" anchor="t" anchorCtr="0"/>
            <a:lstStyle/>
            <a:p>
              <a:pPr algn="l">
                <a:lnSpc>
                  <a:spcPts val="2100"/>
                </a:lnSpc>
              </a:pPr>
              <a:r>
                <a:rPr lang="zh-CN" sz="1350" dirty="0">
                  <a:solidFill>
                    <a:srgbClr val="5D6B7A"/>
                  </a:solidFill>
                  <a:latin typeface="+mn-lt"/>
                  <a:ea typeface="+mn-ea"/>
                  <a:cs typeface="+mn-cs"/>
                </a:rPr>
                <a:t>中身が分からないまま、部門の</a:t>
              </a:r>
              <a:r>
                <a:rPr lang="en-US" sz="1350" dirty="0">
                  <a:solidFill>
                    <a:srgbClr val="5D6B7A"/>
                  </a:solidFill>
                  <a:latin typeface="+mn-lt"/>
                  <a:ea typeface="+mn-ea"/>
                  <a:cs typeface="+mn-cs"/>
                </a:rPr>
                <a:t xml:space="preserve"> </a:t>
              </a:r>
              <a:r>
                <a:rPr lang="zh-CN" sz="1350" dirty="0">
                  <a:solidFill>
                    <a:srgbClr val="5D6B7A"/>
                  </a:solidFill>
                  <a:latin typeface="+mn-lt"/>
                  <a:ea typeface="+mn-ea"/>
                  <a:cs typeface="+mn-cs"/>
                </a:rPr>
                <a:t>マクロを預かっている。</a:t>
              </a:r>
            </a:p>
          </p:txBody>
        </p:sp>
      </p:grpSp>
      <p:grpSp>
        <p:nvGrpSpPr>
          <p:cNvPr id="30" name="Group 30"/>
          <p:cNvGrpSpPr/>
          <p:nvPr/>
        </p:nvGrpSpPr>
        <p:grpSpPr>
          <a:xfrm>
            <a:off x="8229600" y="1981200"/>
            <a:ext cx="3505200" cy="2095500"/>
            <a:chOff x="8229600" y="1981200"/>
            <a:chExt cx="3505200" cy="2095500"/>
          </a:xfrm>
        </p:grpSpPr>
        <p:sp>
          <p:nvSpPr>
            <p:cNvPr id="25" name="Rectangle 25"/>
            <p:cNvSpPr/>
            <p:nvPr/>
          </p:nvSpPr>
          <p:spPr>
            <a:xfrm>
              <a:off x="8229600" y="1981200"/>
              <a:ext cx="3505200" cy="2095500"/>
            </a:xfrm>
            <a:prstGeom prst="roundRect">
              <a:avLst>
                <a:gd name="adj" fmla="val 7273"/>
              </a:avLst>
            </a:prstGeom>
            <a:solidFill>
              <a:schemeClr val="lt2"/>
            </a:solidFill>
            <a:ln>
              <a:noFill/>
            </a:ln>
          </p:spPr>
        </p:sp>
        <p:sp>
          <p:nvSpPr>
            <p:cNvPr id="26" name="Ellipse 26"/>
            <p:cNvSpPr/>
            <p:nvPr/>
          </p:nvSpPr>
          <p:spPr>
            <a:xfrm>
              <a:off x="8477250" y="2343150"/>
              <a:ext cx="495300" cy="495300"/>
            </a:xfrm>
            <a:prstGeom prst="ellipse">
              <a:avLst/>
            </a:prstGeom>
            <a:solidFill>
              <a:schemeClr val="lt1"/>
            </a:solidFill>
            <a:ln>
              <a:noFill/>
            </a:ln>
          </p:spPr>
        </p:sp>
        <p:sp>
          <p:nvSpPr>
            <p:cNvPr id="27" name="Freeform 27"/>
            <p:cNvSpPr/>
            <p:nvPr/>
          </p:nvSpPr>
          <p:spPr>
            <a:xfrm>
              <a:off x="8597900" y="2463800"/>
              <a:ext cx="254054" cy="255207"/>
            </a:xfrm>
            <a:custGeom>
              <a:avLst/>
              <a:gdLst/>
              <a:ahLst/>
              <a:cxnLst/>
              <a:rect l="l" t="t" r="r" b="b"/>
              <a:pathLst>
                <a:path w="254054" h="255207">
                  <a:moveTo>
                    <a:pt x="127000" y="0"/>
                  </a:moveTo>
                  <a:cubicBezTo>
                    <a:pt x="197142" y="0"/>
                    <a:pt x="253999" y="56858"/>
                    <a:pt x="253999" y="127000"/>
                  </a:cubicBezTo>
                  <a:cubicBezTo>
                    <a:pt x="254054" y="196377"/>
                    <a:pt x="198425" y="252959"/>
                    <a:pt x="129057" y="254083"/>
                  </a:cubicBezTo>
                  <a:cubicBezTo>
                    <a:pt x="59690" y="255207"/>
                    <a:pt x="2256" y="200457"/>
                    <a:pt x="63" y="131114"/>
                  </a:cubicBezTo>
                  <a:lnTo>
                    <a:pt x="0" y="127000"/>
                  </a:lnTo>
                  <a:lnTo>
                    <a:pt x="51" y="123444"/>
                  </a:lnTo>
                  <a:cubicBezTo>
                    <a:pt x="1930" y="54953"/>
                    <a:pt x="58039" y="0"/>
                    <a:pt x="127000" y="0"/>
                  </a:cubicBezTo>
                  <a:close/>
                  <a:moveTo>
                    <a:pt x="127000" y="165100"/>
                  </a:moveTo>
                  <a:cubicBezTo>
                    <a:pt x="120561" y="165100"/>
                    <a:pt x="115142" y="169919"/>
                    <a:pt x="114389" y="176314"/>
                  </a:cubicBezTo>
                  <a:lnTo>
                    <a:pt x="114300" y="177800"/>
                  </a:lnTo>
                  <a:lnTo>
                    <a:pt x="114389" y="179412"/>
                  </a:lnTo>
                  <a:cubicBezTo>
                    <a:pt x="115149" y="185801"/>
                    <a:pt x="120566" y="190612"/>
                    <a:pt x="127000" y="190612"/>
                  </a:cubicBezTo>
                  <a:cubicBezTo>
                    <a:pt x="133433" y="190612"/>
                    <a:pt x="138851" y="185801"/>
                    <a:pt x="139611" y="179412"/>
                  </a:cubicBezTo>
                  <a:lnTo>
                    <a:pt x="139700" y="177927"/>
                  </a:lnTo>
                  <a:lnTo>
                    <a:pt x="139611" y="176314"/>
                  </a:lnTo>
                  <a:cubicBezTo>
                    <a:pt x="138857" y="169919"/>
                    <a:pt x="133438" y="165100"/>
                    <a:pt x="127000" y="165100"/>
                  </a:cubicBezTo>
                  <a:close/>
                  <a:moveTo>
                    <a:pt x="144373" y="80353"/>
                  </a:moveTo>
                  <a:cubicBezTo>
                    <a:pt x="128720" y="72350"/>
                    <a:pt x="109618" y="76180"/>
                    <a:pt x="98260" y="89598"/>
                  </a:cubicBezTo>
                  <a:cubicBezTo>
                    <a:pt x="93893" y="94713"/>
                    <a:pt x="94271" y="102345"/>
                    <a:pt x="99122" y="107004"/>
                  </a:cubicBezTo>
                  <a:cubicBezTo>
                    <a:pt x="103972" y="111662"/>
                    <a:pt x="111613" y="111732"/>
                    <a:pt x="116548" y="107162"/>
                  </a:cubicBezTo>
                  <a:lnTo>
                    <a:pt x="118719" y="104876"/>
                  </a:lnTo>
                  <a:cubicBezTo>
                    <a:pt x="122557" y="101354"/>
                    <a:pt x="128182" y="100594"/>
                    <a:pt x="132816" y="102971"/>
                  </a:cubicBezTo>
                  <a:cubicBezTo>
                    <a:pt x="137826" y="105507"/>
                    <a:pt x="140576" y="111030"/>
                    <a:pt x="139580" y="116556"/>
                  </a:cubicBezTo>
                  <a:cubicBezTo>
                    <a:pt x="138584" y="122081"/>
                    <a:pt x="134078" y="126297"/>
                    <a:pt x="128498" y="126923"/>
                  </a:cubicBezTo>
                  <a:lnTo>
                    <a:pt x="125552" y="127076"/>
                  </a:lnTo>
                  <a:cubicBezTo>
                    <a:pt x="118845" y="127814"/>
                    <a:pt x="113885" y="133668"/>
                    <a:pt x="114261" y="140406"/>
                  </a:cubicBezTo>
                  <a:cubicBezTo>
                    <a:pt x="114636" y="147143"/>
                    <a:pt x="120214" y="152411"/>
                    <a:pt x="126962" y="152400"/>
                  </a:cubicBezTo>
                  <a:cubicBezTo>
                    <a:pt x="144599" y="152453"/>
                    <a:pt x="159967" y="140394"/>
                    <a:pt x="164110" y="123250"/>
                  </a:cubicBezTo>
                  <a:cubicBezTo>
                    <a:pt x="168253" y="106106"/>
                    <a:pt x="160088" y="88360"/>
                    <a:pt x="144373" y="80353"/>
                  </a:cubicBezTo>
                  <a:close/>
                </a:path>
              </a:pathLst>
            </a:custGeom>
            <a:solidFill>
              <a:schemeClr val="accent1"/>
            </a:solidFill>
            <a:ln>
              <a:noFill/>
            </a:ln>
          </p:spPr>
        </p:sp>
        <p:sp>
          <p:nvSpPr>
            <p:cNvPr id="28" name="TextBox 28"/>
            <p:cNvSpPr txBox="1"/>
            <p:nvPr/>
          </p:nvSpPr>
          <p:spPr>
            <a:xfrm>
              <a:off x="8525256" y="3006090"/>
              <a:ext cx="190108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直せる人が近くにいない</a:t>
              </a:r>
            </a:p>
          </p:txBody>
        </p:sp>
        <p:sp>
          <p:nvSpPr>
            <p:cNvPr id="29" name="TextBox 29"/>
            <p:cNvSpPr txBox="1"/>
            <p:nvPr/>
          </p:nvSpPr>
          <p:spPr>
            <a:xfrm>
              <a:off x="8527542" y="3397568"/>
              <a:ext cx="1171004" cy="530733"/>
            </a:xfrm>
            <a:prstGeom prst="rect">
              <a:avLst/>
            </a:prstGeom>
            <a:noFill/>
            <a:ln>
              <a:noFill/>
            </a:ln>
          </p:spPr>
          <p:txBody>
            <a:bodyPr wrap="square" lIns="0" tIns="0" rIns="0" bIns="0" anchor="t" anchorCtr="0"/>
            <a:lstStyle/>
            <a:p>
              <a:pPr algn="l">
                <a:lnSpc>
                  <a:spcPts val="2100"/>
                </a:lnSpc>
              </a:pPr>
              <a:r>
                <a:rPr lang="zh-CN" sz="1350" dirty="0">
                  <a:solidFill>
                    <a:srgbClr val="5D6B7A"/>
                  </a:solidFill>
                  <a:latin typeface="+mn-lt"/>
                  <a:ea typeface="+mn-ea"/>
                  <a:cs typeface="+mn-cs"/>
                </a:rPr>
                <a:t>詳しい人に頼めず、そのままになっている。</a:t>
              </a:r>
            </a:p>
          </p:txBody>
        </p:sp>
      </p:grpSp>
      <p:grpSp>
        <p:nvGrpSpPr>
          <p:cNvPr id="35" name="Group 35"/>
          <p:cNvGrpSpPr/>
          <p:nvPr/>
        </p:nvGrpSpPr>
        <p:grpSpPr>
          <a:xfrm>
            <a:off x="457200" y="4476750"/>
            <a:ext cx="11277600" cy="1428750"/>
            <a:chOff x="457200" y="4476750"/>
            <a:chExt cx="11277600" cy="1428750"/>
          </a:xfrm>
        </p:grpSpPr>
        <p:sp>
          <p:nvSpPr>
            <p:cNvPr id="31" name="Rectangle 31"/>
            <p:cNvSpPr/>
            <p:nvPr/>
          </p:nvSpPr>
          <p:spPr>
            <a:xfrm>
              <a:off x="457200" y="4476750"/>
              <a:ext cx="11277600" cy="1428750"/>
            </a:xfrm>
            <a:prstGeom prst="roundRect">
              <a:avLst>
                <a:gd name="adj" fmla="val 10667"/>
              </a:avLst>
            </a:prstGeom>
            <a:solidFill>
              <a:schemeClr val="accent1"/>
            </a:solidFill>
            <a:ln>
              <a:noFill/>
            </a:ln>
          </p:spPr>
        </p:sp>
        <p:sp>
          <p:nvSpPr>
            <p:cNvPr id="32" name="TextBox 32"/>
            <p:cNvSpPr txBox="1"/>
            <p:nvPr/>
          </p:nvSpPr>
          <p:spPr>
            <a:xfrm>
              <a:off x="1056894" y="4894898"/>
              <a:ext cx="7422760" cy="381381"/>
            </a:xfrm>
            <a:prstGeom prst="rect">
              <a:avLst/>
            </a:prstGeom>
            <a:noFill/>
            <a:ln>
              <a:noFill/>
            </a:ln>
          </p:spPr>
          <p:txBody>
            <a:bodyPr wrap="none" lIns="0" tIns="0" rIns="0" bIns="0" anchor="t" anchorCtr="0">
              <a:spAutoFit/>
            </a:bodyPr>
            <a:lstStyle/>
            <a:p>
              <a:pPr algn="l"/>
              <a:r>
                <a:rPr lang="zh-CN" sz="1950" b="1" dirty="0">
                  <a:solidFill>
                    <a:srgbClr val="FFFFFF"/>
                  </a:solidFill>
                  <a:latin typeface="+mn-lt"/>
                  <a:ea typeface="+mn-ea"/>
                  <a:cs typeface="+mn-cs"/>
                </a:rPr>
                <a:t>MacroStudio は、Excel のマクロ（VBA）を、開発画面（VBE）を</a:t>
              </a:r>
            </a:p>
          </p:txBody>
        </p:sp>
        <p:sp>
          <p:nvSpPr>
            <p:cNvPr id="33" name="TextBox 33"/>
            <p:cNvSpPr txBox="1"/>
            <p:nvPr/>
          </p:nvSpPr>
          <p:spPr>
            <a:xfrm>
              <a:off x="1056894" y="5294948"/>
              <a:ext cx="5050141" cy="381381"/>
            </a:xfrm>
            <a:prstGeom prst="rect">
              <a:avLst/>
            </a:prstGeom>
            <a:noFill/>
            <a:ln>
              <a:noFill/>
            </a:ln>
          </p:spPr>
          <p:txBody>
            <a:bodyPr wrap="none" lIns="0" tIns="0" rIns="0" bIns="0" anchor="t" anchorCtr="0">
              <a:spAutoFit/>
            </a:bodyPr>
            <a:lstStyle/>
            <a:p>
              <a:pPr algn="l"/>
              <a:r>
                <a:rPr lang="zh-CN" sz="1950" b="1" dirty="0">
                  <a:solidFill>
                    <a:srgbClr val="FFFFFF"/>
                  </a:solidFill>
                  <a:latin typeface="+mn-lt"/>
                  <a:ea typeface="+mn-ea"/>
                  <a:cs typeface="+mn-cs"/>
                </a:rPr>
                <a:t>一度も開かずに、見て・調べて・直すための道具です。</a:t>
              </a:r>
            </a:p>
          </p:txBody>
        </p:sp>
        <p:sp>
          <p:nvSpPr>
            <p:cNvPr id="34" name="Rectangle 34"/>
            <p:cNvSpPr/>
            <p:nvPr/>
          </p:nvSpPr>
          <p:spPr>
            <a:xfrm>
              <a:off x="628650" y="4876800"/>
              <a:ext cx="76200" cy="762000"/>
            </a:xfrm>
            <a:prstGeom prst="roundRect">
              <a:avLst>
                <a:gd name="adj" fmla="val 50000"/>
              </a:avLst>
            </a:prstGeom>
            <a:solidFill>
              <a:schemeClr val="accent2"/>
            </a:solidFill>
            <a:ln>
              <a:noFill/>
            </a:ln>
          </p:spPr>
        </p:sp>
      </p:grpSp>
      <p:grpSp>
        <p:nvGrpSpPr>
          <p:cNvPr id="38" name="Group 38"/>
          <p:cNvGrpSpPr/>
          <p:nvPr/>
        </p:nvGrpSpPr>
        <p:grpSpPr>
          <a:xfrm>
            <a:off x="451866" y="6477952"/>
            <a:ext cx="11288268" cy="205359"/>
            <a:chOff x="451866" y="6477952"/>
            <a:chExt cx="11288268" cy="205359"/>
          </a:xfrm>
        </p:grpSpPr>
        <p:sp>
          <p:nvSpPr>
            <p:cNvPr id="36" name="TextBox 36"/>
            <p:cNvSpPr txBox="1"/>
            <p:nvPr/>
          </p:nvSpPr>
          <p:spPr>
            <a:xfrm>
              <a:off x="451866" y="6477952"/>
              <a:ext cx="1674355"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第1部　MacroStudioを知る</a:t>
              </a:r>
            </a:p>
          </p:txBody>
        </p:sp>
        <p:sp>
          <p:nvSpPr>
            <p:cNvPr id="37" name="TextBox 37"/>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第1部</a:t>
              </a:r>
            </a:p>
          </p:txBody>
        </p:sp>
        <p:sp>
          <p:nvSpPr>
            <p:cNvPr id="4" name="TextBox 4"/>
            <p:cNvSpPr txBox="1"/>
            <p:nvPr/>
          </p:nvSpPr>
          <p:spPr>
            <a:xfrm>
              <a:off x="441960" y="685800"/>
              <a:ext cx="251119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だれが何を担うのか</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8" name="Group 8"/>
          <p:cNvGrpSpPr/>
          <p:nvPr/>
        </p:nvGrpSpPr>
        <p:grpSpPr>
          <a:xfrm>
            <a:off x="447294" y="1370648"/>
            <a:ext cx="8091221" cy="381381"/>
            <a:chOff x="447294" y="1370648"/>
            <a:chExt cx="8091221" cy="381381"/>
          </a:xfrm>
        </p:grpSpPr>
        <p:sp>
          <p:nvSpPr>
            <p:cNvPr id="7" name="TextBox 7"/>
            <p:cNvSpPr txBox="1"/>
            <p:nvPr/>
          </p:nvSpPr>
          <p:spPr>
            <a:xfrm>
              <a:off x="447294" y="1370648"/>
              <a:ext cx="8091221"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このアプリは判断をしません。判断は AI、選ぶのはあなた、運んで検証するのがアプリです。</a:t>
              </a:r>
            </a:p>
          </p:txBody>
        </p:sp>
      </p:grpSp>
      <p:grpSp>
        <p:nvGrpSpPr>
          <p:cNvPr id="14" name="Group 14"/>
          <p:cNvGrpSpPr/>
          <p:nvPr/>
        </p:nvGrpSpPr>
        <p:grpSpPr>
          <a:xfrm>
            <a:off x="457200" y="1943100"/>
            <a:ext cx="3505200" cy="2514600"/>
            <a:chOff x="457200" y="1943100"/>
            <a:chExt cx="3505200" cy="2514600"/>
          </a:xfrm>
        </p:grpSpPr>
        <p:sp>
          <p:nvSpPr>
            <p:cNvPr id="9" name="Rectangle 9"/>
            <p:cNvSpPr/>
            <p:nvPr/>
          </p:nvSpPr>
          <p:spPr>
            <a:xfrm>
              <a:off x="457200" y="1943100"/>
              <a:ext cx="3505200" cy="2514600"/>
            </a:xfrm>
            <a:prstGeom prst="roundRect">
              <a:avLst>
                <a:gd name="adj" fmla="val 6061"/>
              </a:avLst>
            </a:prstGeom>
            <a:solidFill>
              <a:schemeClr val="lt2"/>
            </a:solidFill>
            <a:ln>
              <a:noFill/>
            </a:ln>
          </p:spPr>
        </p:sp>
        <p:sp>
          <p:nvSpPr>
            <p:cNvPr id="10" name="Freeform 10"/>
            <p:cNvSpPr/>
            <p:nvPr/>
          </p:nvSpPr>
          <p:spPr>
            <a:xfrm>
              <a:off x="788988" y="2250281"/>
              <a:ext cx="269876" cy="257013"/>
            </a:xfrm>
            <a:custGeom>
              <a:avLst/>
              <a:gdLst/>
              <a:ahLst/>
              <a:cxnLst/>
              <a:rect l="l" t="t" r="r" b="b"/>
              <a:pathLst>
                <a:path w="269876" h="257013">
                  <a:moveTo>
                    <a:pt x="215901" y="0"/>
                  </a:moveTo>
                  <a:cubicBezTo>
                    <a:pt x="245710" y="0"/>
                    <a:pt x="269876" y="24165"/>
                    <a:pt x="269876" y="53975"/>
                  </a:cubicBezTo>
                  <a:lnTo>
                    <a:pt x="269876" y="161925"/>
                  </a:lnTo>
                  <a:cubicBezTo>
                    <a:pt x="269876" y="191735"/>
                    <a:pt x="245710" y="215901"/>
                    <a:pt x="215901" y="215901"/>
                  </a:cubicBezTo>
                  <a:lnTo>
                    <a:pt x="152156" y="215901"/>
                  </a:lnTo>
                  <a:lnTo>
                    <a:pt x="87898" y="254452"/>
                  </a:lnTo>
                  <a:cubicBezTo>
                    <a:pt x="83966" y="256812"/>
                    <a:pt x="79105" y="257013"/>
                    <a:pt x="74991" y="254986"/>
                  </a:cubicBezTo>
                  <a:cubicBezTo>
                    <a:pt x="70877" y="252960"/>
                    <a:pt x="68075" y="248982"/>
                    <a:pt x="67550" y="244426"/>
                  </a:cubicBezTo>
                  <a:lnTo>
                    <a:pt x="67469" y="242888"/>
                  </a:lnTo>
                  <a:lnTo>
                    <a:pt x="67469" y="215901"/>
                  </a:lnTo>
                  <a:lnTo>
                    <a:pt x="53975" y="215901"/>
                  </a:lnTo>
                  <a:cubicBezTo>
                    <a:pt x="25214" y="215901"/>
                    <a:pt x="1506" y="193349"/>
                    <a:pt x="67" y="164624"/>
                  </a:cubicBezTo>
                  <a:lnTo>
                    <a:pt x="0" y="161925"/>
                  </a:lnTo>
                  <a:lnTo>
                    <a:pt x="0" y="53975"/>
                  </a:lnTo>
                  <a:cubicBezTo>
                    <a:pt x="0" y="24165"/>
                    <a:pt x="24165" y="0"/>
                    <a:pt x="53975" y="0"/>
                  </a:cubicBezTo>
                  <a:close/>
                  <a:moveTo>
                    <a:pt x="178118" y="125303"/>
                  </a:moveTo>
                  <a:cubicBezTo>
                    <a:pt x="172797" y="120087"/>
                    <a:pt x="164255" y="120172"/>
                    <a:pt x="159038" y="125492"/>
                  </a:cubicBezTo>
                  <a:cubicBezTo>
                    <a:pt x="152692" y="131970"/>
                    <a:pt x="144006" y="135621"/>
                    <a:pt x="134938" y="135621"/>
                  </a:cubicBezTo>
                  <a:cubicBezTo>
                    <a:pt x="125870" y="135621"/>
                    <a:pt x="117183" y="131970"/>
                    <a:pt x="110838" y="125492"/>
                  </a:cubicBezTo>
                  <a:cubicBezTo>
                    <a:pt x="105599" y="120299"/>
                    <a:pt x="97160" y="120275"/>
                    <a:pt x="91892" y="125440"/>
                  </a:cubicBezTo>
                  <a:cubicBezTo>
                    <a:pt x="86624" y="130605"/>
                    <a:pt x="86480" y="139042"/>
                    <a:pt x="91569" y="144383"/>
                  </a:cubicBezTo>
                  <a:cubicBezTo>
                    <a:pt x="102990" y="156038"/>
                    <a:pt x="118620" y="162605"/>
                    <a:pt x="134938" y="162605"/>
                  </a:cubicBezTo>
                  <a:cubicBezTo>
                    <a:pt x="151255" y="162605"/>
                    <a:pt x="166886" y="156038"/>
                    <a:pt x="178307" y="144383"/>
                  </a:cubicBezTo>
                  <a:cubicBezTo>
                    <a:pt x="183523" y="139062"/>
                    <a:pt x="183438" y="130520"/>
                    <a:pt x="178118" y="125303"/>
                  </a:cubicBezTo>
                  <a:moveTo>
                    <a:pt x="101338" y="67469"/>
                  </a:moveTo>
                  <a:lnTo>
                    <a:pt x="101203" y="67469"/>
                  </a:lnTo>
                  <a:cubicBezTo>
                    <a:pt x="93751" y="67469"/>
                    <a:pt x="87710" y="73510"/>
                    <a:pt x="87710" y="80963"/>
                  </a:cubicBezTo>
                  <a:cubicBezTo>
                    <a:pt x="87710" y="88415"/>
                    <a:pt x="93751" y="94456"/>
                    <a:pt x="101203" y="94456"/>
                  </a:cubicBezTo>
                  <a:lnTo>
                    <a:pt x="101338" y="94456"/>
                  </a:lnTo>
                  <a:cubicBezTo>
                    <a:pt x="108791" y="94456"/>
                    <a:pt x="114832" y="88415"/>
                    <a:pt x="114832" y="80963"/>
                  </a:cubicBezTo>
                  <a:cubicBezTo>
                    <a:pt x="114832" y="73510"/>
                    <a:pt x="108791" y="67469"/>
                    <a:pt x="101338" y="67469"/>
                  </a:cubicBezTo>
                  <a:moveTo>
                    <a:pt x="168807" y="67469"/>
                  </a:moveTo>
                  <a:lnTo>
                    <a:pt x="168672" y="67469"/>
                  </a:lnTo>
                  <a:cubicBezTo>
                    <a:pt x="161220" y="67469"/>
                    <a:pt x="155178" y="73510"/>
                    <a:pt x="155178" y="80963"/>
                  </a:cubicBezTo>
                  <a:cubicBezTo>
                    <a:pt x="155178" y="88415"/>
                    <a:pt x="161220" y="94456"/>
                    <a:pt x="168672" y="94456"/>
                  </a:cubicBezTo>
                  <a:lnTo>
                    <a:pt x="168807" y="94456"/>
                  </a:lnTo>
                  <a:cubicBezTo>
                    <a:pt x="176260" y="94456"/>
                    <a:pt x="182301" y="88415"/>
                    <a:pt x="182301" y="80963"/>
                  </a:cubicBezTo>
                  <a:cubicBezTo>
                    <a:pt x="182301" y="73510"/>
                    <a:pt x="176260" y="67469"/>
                    <a:pt x="168807" y="67469"/>
                  </a:cubicBezTo>
                </a:path>
              </a:pathLst>
            </a:custGeom>
            <a:solidFill>
              <a:schemeClr val="accent1"/>
            </a:solidFill>
            <a:ln>
              <a:noFill/>
            </a:ln>
          </p:spPr>
        </p:sp>
        <p:sp>
          <p:nvSpPr>
            <p:cNvPr id="11" name="TextBox 11"/>
            <p:cNvSpPr txBox="1"/>
            <p:nvPr/>
          </p:nvSpPr>
          <p:spPr>
            <a:xfrm>
              <a:off x="1210056" y="2263140"/>
              <a:ext cx="83823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チャットAI</a:t>
              </a:r>
            </a:p>
          </p:txBody>
        </p:sp>
        <p:sp>
          <p:nvSpPr>
            <p:cNvPr id="12" name="TextBox 12"/>
            <p:cNvSpPr txBox="1"/>
            <p:nvPr/>
          </p:nvSpPr>
          <p:spPr>
            <a:xfrm>
              <a:off x="2699004" y="2327910"/>
              <a:ext cx="722986"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 判断する</a:t>
              </a:r>
            </a:p>
          </p:txBody>
        </p:sp>
        <p:sp>
          <p:nvSpPr>
            <p:cNvPr id="13" name="TextBox 13"/>
            <p:cNvSpPr txBox="1"/>
            <p:nvPr/>
          </p:nvSpPr>
          <p:spPr>
            <a:xfrm>
              <a:off x="754380" y="2771775"/>
              <a:ext cx="1739265" cy="1303020"/>
            </a:xfrm>
            <a:prstGeom prst="rect">
              <a:avLst/>
            </a:prstGeom>
            <a:noFill/>
            <a:ln>
              <a:noFill/>
            </a:ln>
          </p:spPr>
          <p:txBody>
            <a:bodyPr wrap="square" lIns="0" tIns="0" rIns="0" bIns="0" anchor="t" anchorCtr="0"/>
            <a:lstStyle/>
            <a:p>
              <a:pPr algn="l">
                <a:lnSpc>
                  <a:spcPts val="2250"/>
                </a:lnSpc>
              </a:pPr>
              <a:r>
                <a:rPr lang="zh-CN" sz="1500" dirty="0">
                  <a:solidFill>
                    <a:schemeClr val="dk1"/>
                  </a:solidFill>
                  <a:latin typeface="+mn-lt"/>
                  <a:ea typeface="+mn-ea"/>
                  <a:cs typeface="+mn-cs"/>
                </a:rPr>
                <a:t>・どこを直すか、どう直すかを　判断する</a:t>
              </a:r>
            </a:p>
            <a:p>
              <a:pPr algn="l">
                <a:lnSpc>
                  <a:spcPts val="2250"/>
                </a:lnSpc>
                <a:spcBef>
                  <a:spcPts val="600"/>
                </a:spcBef>
              </a:pPr>
              <a:r>
                <a:rPr lang="zh-CN" sz="1500" dirty="0">
                  <a:solidFill>
                    <a:schemeClr val="dk1"/>
                  </a:solidFill>
                  <a:latin typeface="+mn-lt"/>
                  <a:ea typeface="+mn-ea"/>
                  <a:cs typeface="+mn-cs"/>
                </a:rPr>
                <a:t>・コードを書く</a:t>
              </a:r>
            </a:p>
            <a:p>
              <a:pPr algn="l">
                <a:lnSpc>
                  <a:spcPts val="2250"/>
                </a:lnSpc>
                <a:spcBef>
                  <a:spcPts val="600"/>
                </a:spcBef>
              </a:pPr>
              <a:r>
                <a:rPr lang="zh-CN" sz="1500" dirty="0">
                  <a:solidFill>
                    <a:schemeClr val="dk1"/>
                  </a:solidFill>
                  <a:latin typeface="+mn-lt"/>
                  <a:ea typeface="+mn-ea"/>
                  <a:cs typeface="+mn-cs"/>
                </a:rPr>
                <a:t>・改修内容を説明する</a:t>
              </a:r>
            </a:p>
          </p:txBody>
        </p:sp>
      </p:grpSp>
      <p:grpSp>
        <p:nvGrpSpPr>
          <p:cNvPr id="22" name="Group 22"/>
          <p:cNvGrpSpPr/>
          <p:nvPr/>
        </p:nvGrpSpPr>
        <p:grpSpPr>
          <a:xfrm>
            <a:off x="4343400" y="1943100"/>
            <a:ext cx="3505200" cy="2514600"/>
            <a:chOff x="4343400" y="1943100"/>
            <a:chExt cx="3505200" cy="2514600"/>
          </a:xfrm>
        </p:grpSpPr>
        <p:sp>
          <p:nvSpPr>
            <p:cNvPr id="15" name="Rectangle 15"/>
            <p:cNvSpPr/>
            <p:nvPr/>
          </p:nvSpPr>
          <p:spPr>
            <a:xfrm>
              <a:off x="4343400" y="1943100"/>
              <a:ext cx="3505200" cy="2514600"/>
            </a:xfrm>
            <a:prstGeom prst="roundRect">
              <a:avLst>
                <a:gd name="adj" fmla="val 6061"/>
              </a:avLst>
            </a:prstGeom>
            <a:solidFill>
              <a:schemeClr val="lt1"/>
            </a:solidFill>
            <a:ln w="19050">
              <a:solidFill>
                <a:schemeClr val="accent2"/>
              </a:solidFill>
            </a:ln>
          </p:spPr>
        </p:sp>
        <p:grpSp>
          <p:nvGrpSpPr>
            <p:cNvPr id="18" name="Group 18"/>
            <p:cNvGrpSpPr/>
            <p:nvPr/>
          </p:nvGrpSpPr>
          <p:grpSpPr>
            <a:xfrm>
              <a:off x="4715669" y="2236788"/>
              <a:ext cx="188913" cy="269875"/>
              <a:chOff x="4715669" y="2236788"/>
              <a:chExt cx="188913" cy="269875"/>
            </a:xfrm>
          </p:grpSpPr>
          <p:sp>
            <p:nvSpPr>
              <p:cNvPr id="16" name="Freeform 16"/>
              <p:cNvSpPr/>
              <p:nvPr/>
            </p:nvSpPr>
            <p:spPr>
              <a:xfrm>
                <a:off x="4742656" y="2236788"/>
                <a:ext cx="134938" cy="134938"/>
              </a:xfrm>
              <a:custGeom>
                <a:avLst/>
                <a:gdLst/>
                <a:ahLst/>
                <a:cxnLst/>
                <a:rect l="l" t="t" r="r" b="b"/>
                <a:pathLst>
                  <a:path w="134938" h="134938">
                    <a:moveTo>
                      <a:pt x="67469" y="0"/>
                    </a:moveTo>
                    <a:cubicBezTo>
                      <a:pt x="104731" y="0"/>
                      <a:pt x="134938" y="30207"/>
                      <a:pt x="134938" y="67469"/>
                    </a:cubicBezTo>
                    <a:cubicBezTo>
                      <a:pt x="134938" y="104731"/>
                      <a:pt x="104731" y="134938"/>
                      <a:pt x="67469" y="134938"/>
                    </a:cubicBezTo>
                    <a:cubicBezTo>
                      <a:pt x="30207" y="134938"/>
                      <a:pt x="0" y="104731"/>
                      <a:pt x="0" y="67469"/>
                    </a:cubicBezTo>
                    <a:lnTo>
                      <a:pt x="67" y="64541"/>
                    </a:lnTo>
                    <a:cubicBezTo>
                      <a:pt x="1635" y="28453"/>
                      <a:pt x="31347" y="2"/>
                      <a:pt x="67469" y="0"/>
                    </a:cubicBezTo>
                    <a:close/>
                  </a:path>
                </a:pathLst>
              </a:custGeom>
              <a:solidFill>
                <a:schemeClr val="accent2"/>
              </a:solidFill>
              <a:ln>
                <a:noFill/>
              </a:ln>
            </p:spPr>
          </p:sp>
          <p:sp>
            <p:nvSpPr>
              <p:cNvPr id="17" name="Freeform 17"/>
              <p:cNvSpPr/>
              <p:nvPr/>
            </p:nvSpPr>
            <p:spPr>
              <a:xfrm>
                <a:off x="4715669" y="2398713"/>
                <a:ext cx="188913" cy="107950"/>
              </a:xfrm>
              <a:custGeom>
                <a:avLst/>
                <a:gdLst/>
                <a:ahLst/>
                <a:cxnLst/>
                <a:rect l="l" t="t" r="r" b="b"/>
                <a:pathLst>
                  <a:path w="188913" h="107950">
                    <a:moveTo>
                      <a:pt x="121444" y="0"/>
                    </a:moveTo>
                    <a:cubicBezTo>
                      <a:pt x="158706" y="0"/>
                      <a:pt x="188913" y="30207"/>
                      <a:pt x="188913" y="67469"/>
                    </a:cubicBezTo>
                    <a:lnTo>
                      <a:pt x="188913" y="80963"/>
                    </a:lnTo>
                    <a:cubicBezTo>
                      <a:pt x="188913" y="95868"/>
                      <a:pt x="176830" y="107950"/>
                      <a:pt x="161925" y="107950"/>
                    </a:cubicBezTo>
                    <a:lnTo>
                      <a:pt x="26988" y="107950"/>
                    </a:lnTo>
                    <a:cubicBezTo>
                      <a:pt x="12083" y="107950"/>
                      <a:pt x="0" y="95868"/>
                      <a:pt x="0" y="80963"/>
                    </a:cubicBezTo>
                    <a:lnTo>
                      <a:pt x="0" y="67469"/>
                    </a:lnTo>
                    <a:cubicBezTo>
                      <a:pt x="0" y="30207"/>
                      <a:pt x="30207" y="0"/>
                      <a:pt x="67469" y="0"/>
                    </a:cubicBezTo>
                    <a:lnTo>
                      <a:pt x="121444" y="0"/>
                    </a:lnTo>
                    <a:close/>
                  </a:path>
                </a:pathLst>
              </a:custGeom>
              <a:solidFill>
                <a:schemeClr val="accent2"/>
              </a:solidFill>
              <a:ln>
                <a:noFill/>
              </a:ln>
            </p:spPr>
          </p:sp>
        </p:grpSp>
        <p:sp>
          <p:nvSpPr>
            <p:cNvPr id="19" name="TextBox 19"/>
            <p:cNvSpPr txBox="1"/>
            <p:nvPr/>
          </p:nvSpPr>
          <p:spPr>
            <a:xfrm>
              <a:off x="5096256" y="2263140"/>
              <a:ext cx="43810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あなた</a:t>
              </a:r>
            </a:p>
          </p:txBody>
        </p:sp>
        <p:sp>
          <p:nvSpPr>
            <p:cNvPr id="20" name="TextBox 20"/>
            <p:cNvSpPr txBox="1"/>
            <p:nvPr/>
          </p:nvSpPr>
          <p:spPr>
            <a:xfrm>
              <a:off x="6585204" y="2327910"/>
              <a:ext cx="989533"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 選んで確かめる</a:t>
              </a:r>
            </a:p>
          </p:txBody>
        </p:sp>
        <p:sp>
          <p:nvSpPr>
            <p:cNvPr id="21" name="TextBox 21"/>
            <p:cNvSpPr txBox="1"/>
            <p:nvPr/>
          </p:nvSpPr>
          <p:spPr>
            <a:xfrm>
              <a:off x="4640580" y="2695575"/>
              <a:ext cx="2253615" cy="1207770"/>
            </a:xfrm>
            <a:prstGeom prst="rect">
              <a:avLst/>
            </a:prstGeom>
            <a:noFill/>
            <a:ln>
              <a:noFill/>
            </a:ln>
          </p:spPr>
          <p:txBody>
            <a:bodyPr wrap="square" lIns="0" tIns="0" rIns="0" bIns="0" anchor="t" anchorCtr="0"/>
            <a:lstStyle/>
            <a:p>
              <a:pPr algn="l">
                <a:lnSpc>
                  <a:spcPts val="2400"/>
                </a:lnSpc>
              </a:pPr>
              <a:r>
                <a:rPr lang="zh-CN" sz="1500" dirty="0">
                  <a:solidFill>
                    <a:schemeClr val="dk1"/>
                  </a:solidFill>
                  <a:latin typeface="+mn-lt"/>
                  <a:ea typeface="+mn-ea"/>
                  <a:cs typeface="+mn-cs"/>
                </a:rPr>
                <a:t>・作業と目的を選ぶ</a:t>
              </a:r>
            </a:p>
            <a:p>
              <a:pPr algn="l">
                <a:lnSpc>
                  <a:spcPts val="2400"/>
                </a:lnSpc>
              </a:pPr>
              <a:r>
                <a:rPr lang="zh-CN" sz="1500" dirty="0">
                  <a:solidFill>
                    <a:schemeClr val="dk1"/>
                  </a:solidFill>
                  <a:latin typeface="+mn-lt"/>
                  <a:ea typeface="+mn-ea"/>
                  <a:cs typeface="+mn-cs"/>
                </a:rPr>
                <a:t>・依頼文とファイルを渡す</a:t>
              </a:r>
            </a:p>
            <a:p>
              <a:pPr algn="l">
                <a:lnSpc>
                  <a:spcPts val="2400"/>
                </a:lnSpc>
              </a:pPr>
              <a:r>
                <a:rPr lang="zh-CN" sz="1500" dirty="0">
                  <a:solidFill>
                    <a:schemeClr val="dk1"/>
                  </a:solidFill>
                  <a:latin typeface="+mn-lt"/>
                  <a:ea typeface="+mn-ea"/>
                  <a:cs typeface="+mn-cs"/>
                </a:rPr>
                <a:t>・返答を取り込み、変更を確認</a:t>
              </a:r>
            </a:p>
            <a:p>
              <a:pPr algn="l">
                <a:lnSpc>
                  <a:spcPts val="2400"/>
                </a:lnSpc>
              </a:pPr>
              <a:r>
                <a:rPr lang="zh-CN" sz="1500" dirty="0">
                  <a:solidFill>
                    <a:schemeClr val="dk1"/>
                  </a:solidFill>
                  <a:latin typeface="+mn-lt"/>
                  <a:ea typeface="+mn-ea"/>
                  <a:cs typeface="+mn-cs"/>
                </a:rPr>
                <a:t>・最後に Excel で動作を確認</a:t>
              </a:r>
            </a:p>
          </p:txBody>
        </p:sp>
      </p:grpSp>
      <p:grpSp>
        <p:nvGrpSpPr>
          <p:cNvPr id="30" name="Group 30"/>
          <p:cNvGrpSpPr/>
          <p:nvPr/>
        </p:nvGrpSpPr>
        <p:grpSpPr>
          <a:xfrm>
            <a:off x="8229600" y="1943100"/>
            <a:ext cx="3505200" cy="2514600"/>
            <a:chOff x="8229600" y="1943100"/>
            <a:chExt cx="3505200" cy="2514600"/>
          </a:xfrm>
        </p:grpSpPr>
        <p:sp>
          <p:nvSpPr>
            <p:cNvPr id="23" name="Rectangle 23"/>
            <p:cNvSpPr/>
            <p:nvPr/>
          </p:nvSpPr>
          <p:spPr>
            <a:xfrm>
              <a:off x="8229600" y="1943100"/>
              <a:ext cx="3505200" cy="2514600"/>
            </a:xfrm>
            <a:prstGeom prst="roundRect">
              <a:avLst>
                <a:gd name="adj" fmla="val 6061"/>
              </a:avLst>
            </a:prstGeom>
            <a:solidFill>
              <a:schemeClr val="lt2"/>
            </a:solidFill>
            <a:ln>
              <a:noFill/>
            </a:ln>
          </p:spPr>
        </p:sp>
        <p:grpSp>
          <p:nvGrpSpPr>
            <p:cNvPr id="26" name="Group 26"/>
            <p:cNvGrpSpPr/>
            <p:nvPr/>
          </p:nvGrpSpPr>
          <p:grpSpPr>
            <a:xfrm>
              <a:off x="8588374" y="2236788"/>
              <a:ext cx="215903" cy="269877"/>
              <a:chOff x="8588374" y="2236788"/>
              <a:chExt cx="215903" cy="269877"/>
            </a:xfrm>
          </p:grpSpPr>
          <p:sp>
            <p:nvSpPr>
              <p:cNvPr id="24" name="Freeform 24"/>
              <p:cNvSpPr/>
              <p:nvPr/>
            </p:nvSpPr>
            <p:spPr>
              <a:xfrm>
                <a:off x="8588374" y="2236788"/>
                <a:ext cx="215903" cy="269877"/>
              </a:xfrm>
              <a:custGeom>
                <a:avLst/>
                <a:gdLst/>
                <a:ahLst/>
                <a:cxnLst/>
                <a:rect l="l" t="t" r="r" b="b"/>
                <a:pathLst>
                  <a:path w="215903" h="269877">
                    <a:moveTo>
                      <a:pt x="107951" y="0"/>
                    </a:moveTo>
                    <a:lnTo>
                      <a:pt x="109530" y="94"/>
                    </a:lnTo>
                    <a:cubicBezTo>
                      <a:pt x="115730" y="826"/>
                      <a:pt x="120620" y="5715"/>
                      <a:pt x="121351" y="11915"/>
                    </a:cubicBezTo>
                    <a:lnTo>
                      <a:pt x="121445" y="13494"/>
                    </a:lnTo>
                    <a:lnTo>
                      <a:pt x="121445" y="67469"/>
                    </a:lnTo>
                    <a:lnTo>
                      <a:pt x="121513" y="69493"/>
                    </a:lnTo>
                    <a:cubicBezTo>
                      <a:pt x="122510" y="82769"/>
                      <a:pt x="133041" y="93335"/>
                      <a:pt x="146314" y="94376"/>
                    </a:cubicBezTo>
                    <a:lnTo>
                      <a:pt x="148433" y="94456"/>
                    </a:lnTo>
                    <a:lnTo>
                      <a:pt x="202408" y="94456"/>
                    </a:lnTo>
                    <a:lnTo>
                      <a:pt x="203987" y="94551"/>
                    </a:lnTo>
                    <a:cubicBezTo>
                      <a:pt x="210187" y="95282"/>
                      <a:pt x="215076" y="100171"/>
                      <a:pt x="215807" y="106371"/>
                    </a:cubicBezTo>
                    <a:lnTo>
                      <a:pt x="215902" y="107950"/>
                    </a:lnTo>
                    <a:lnTo>
                      <a:pt x="215902" y="229394"/>
                    </a:lnTo>
                    <a:cubicBezTo>
                      <a:pt x="215903" y="250830"/>
                      <a:pt x="199194" y="268551"/>
                      <a:pt x="177795" y="269808"/>
                    </a:cubicBezTo>
                    <a:lnTo>
                      <a:pt x="175420" y="269876"/>
                    </a:lnTo>
                    <a:lnTo>
                      <a:pt x="40483" y="269876"/>
                    </a:lnTo>
                    <a:cubicBezTo>
                      <a:pt x="19047" y="269877"/>
                      <a:pt x="1326" y="253168"/>
                      <a:pt x="69" y="231769"/>
                    </a:cubicBezTo>
                    <a:lnTo>
                      <a:pt x="1" y="229394"/>
                    </a:lnTo>
                    <a:lnTo>
                      <a:pt x="1" y="40481"/>
                    </a:lnTo>
                    <a:cubicBezTo>
                      <a:pt x="0" y="19046"/>
                      <a:pt x="16709" y="1325"/>
                      <a:pt x="38108" y="67"/>
                    </a:cubicBezTo>
                    <a:lnTo>
                      <a:pt x="40483" y="0"/>
                    </a:lnTo>
                    <a:close/>
                    <a:moveTo>
                      <a:pt x="86996" y="149862"/>
                    </a:moveTo>
                    <a:cubicBezTo>
                      <a:pt x="80333" y="146535"/>
                      <a:pt x="72234" y="149234"/>
                      <a:pt x="68900" y="155894"/>
                    </a:cubicBezTo>
                    <a:lnTo>
                      <a:pt x="55407" y="182881"/>
                    </a:lnTo>
                    <a:cubicBezTo>
                      <a:pt x="53509" y="186679"/>
                      <a:pt x="53509" y="191147"/>
                      <a:pt x="55407" y="194945"/>
                    </a:cubicBezTo>
                    <a:lnTo>
                      <a:pt x="68900" y="221932"/>
                    </a:lnTo>
                    <a:cubicBezTo>
                      <a:pt x="72234" y="228592"/>
                      <a:pt x="80333" y="231291"/>
                      <a:pt x="86996" y="227964"/>
                    </a:cubicBezTo>
                    <a:lnTo>
                      <a:pt x="88372" y="227181"/>
                    </a:lnTo>
                    <a:cubicBezTo>
                      <a:pt x="94087" y="223424"/>
                      <a:pt x="96087" y="215985"/>
                      <a:pt x="93027" y="209869"/>
                    </a:cubicBezTo>
                    <a:lnTo>
                      <a:pt x="82556" y="188913"/>
                    </a:lnTo>
                    <a:lnTo>
                      <a:pt x="93027" y="167957"/>
                    </a:lnTo>
                    <a:cubicBezTo>
                      <a:pt x="96355" y="161294"/>
                      <a:pt x="93655" y="153196"/>
                      <a:pt x="86996" y="149862"/>
                    </a:cubicBezTo>
                    <a:moveTo>
                      <a:pt x="147002" y="155894"/>
                    </a:moveTo>
                    <a:cubicBezTo>
                      <a:pt x="143669" y="149234"/>
                      <a:pt x="135570" y="146535"/>
                      <a:pt x="128907" y="149862"/>
                    </a:cubicBezTo>
                    <a:lnTo>
                      <a:pt x="127531" y="150645"/>
                    </a:lnTo>
                    <a:cubicBezTo>
                      <a:pt x="121816" y="154402"/>
                      <a:pt x="119816" y="161840"/>
                      <a:pt x="122876" y="167957"/>
                    </a:cubicBezTo>
                    <a:lnTo>
                      <a:pt x="133320" y="188913"/>
                    </a:lnTo>
                    <a:lnTo>
                      <a:pt x="122862" y="209869"/>
                    </a:lnTo>
                    <a:cubicBezTo>
                      <a:pt x="119805" y="216487"/>
                      <a:pt x="122557" y="224337"/>
                      <a:pt x="129077" y="227597"/>
                    </a:cubicBezTo>
                    <a:cubicBezTo>
                      <a:pt x="135598" y="230857"/>
                      <a:pt x="143529" y="228349"/>
                      <a:pt x="146989" y="221932"/>
                    </a:cubicBezTo>
                    <a:lnTo>
                      <a:pt x="160483" y="194945"/>
                    </a:lnTo>
                    <a:cubicBezTo>
                      <a:pt x="162380" y="191147"/>
                      <a:pt x="162380" y="186679"/>
                      <a:pt x="160483" y="182881"/>
                    </a:cubicBezTo>
                    <a:close/>
                  </a:path>
                </a:pathLst>
              </a:custGeom>
              <a:solidFill>
                <a:schemeClr val="accent1"/>
              </a:solidFill>
              <a:ln>
                <a:noFill/>
              </a:ln>
            </p:spPr>
          </p:sp>
          <p:sp>
            <p:nvSpPr>
              <p:cNvPr id="25" name="Freeform 25"/>
              <p:cNvSpPr/>
              <p:nvPr/>
            </p:nvSpPr>
            <p:spPr>
              <a:xfrm>
                <a:off x="8736793" y="2250268"/>
                <a:ext cx="53989" cy="53989"/>
              </a:xfrm>
              <a:custGeom>
                <a:avLst/>
                <a:gdLst/>
                <a:ahLst/>
                <a:cxnLst/>
                <a:rect l="l" t="t" r="r" b="b"/>
                <a:pathLst>
                  <a:path w="53989" h="53989">
                    <a:moveTo>
                      <a:pt x="53989" y="53989"/>
                    </a:moveTo>
                    <a:lnTo>
                      <a:pt x="13" y="53989"/>
                    </a:lnTo>
                    <a:lnTo>
                      <a:pt x="0" y="0"/>
                    </a:lnTo>
                    <a:close/>
                  </a:path>
                </a:pathLst>
              </a:custGeom>
              <a:solidFill>
                <a:schemeClr val="accent1"/>
              </a:solidFill>
              <a:ln>
                <a:noFill/>
              </a:ln>
            </p:spPr>
          </p:sp>
        </p:grpSp>
        <p:sp>
          <p:nvSpPr>
            <p:cNvPr id="27" name="TextBox 27"/>
            <p:cNvSpPr txBox="1"/>
            <p:nvPr/>
          </p:nvSpPr>
          <p:spPr>
            <a:xfrm>
              <a:off x="8982456" y="2263140"/>
              <a:ext cx="156059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MacroStudio</a:t>
              </a:r>
            </a:p>
          </p:txBody>
        </p:sp>
        <p:sp>
          <p:nvSpPr>
            <p:cNvPr id="28" name="TextBox 28"/>
            <p:cNvSpPr txBox="1"/>
            <p:nvPr/>
          </p:nvSpPr>
          <p:spPr>
            <a:xfrm>
              <a:off x="10471404" y="2327910"/>
              <a:ext cx="88453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 運んで検証</a:t>
              </a:r>
            </a:p>
          </p:txBody>
        </p:sp>
        <p:sp>
          <p:nvSpPr>
            <p:cNvPr id="29" name="TextBox 29"/>
            <p:cNvSpPr txBox="1"/>
            <p:nvPr/>
          </p:nvSpPr>
          <p:spPr>
            <a:xfrm>
              <a:off x="8526780" y="2771775"/>
              <a:ext cx="1872615" cy="1188720"/>
            </a:xfrm>
            <a:prstGeom prst="rect">
              <a:avLst/>
            </a:prstGeom>
            <a:noFill/>
            <a:ln>
              <a:noFill/>
            </a:ln>
          </p:spPr>
          <p:txBody>
            <a:bodyPr wrap="square" lIns="0" tIns="0" rIns="0" bIns="0" anchor="t" anchorCtr="0"/>
            <a:lstStyle/>
            <a:p>
              <a:pPr algn="l">
                <a:lnSpc>
                  <a:spcPts val="2250"/>
                </a:lnSpc>
              </a:pPr>
              <a:r>
                <a:rPr lang="zh-CN" sz="1500" dirty="0">
                  <a:solidFill>
                    <a:schemeClr val="dk1"/>
                  </a:solidFill>
                  <a:latin typeface="+mn-lt"/>
                  <a:ea typeface="+mn-ea"/>
                  <a:cs typeface="+mn-cs"/>
                </a:rPr>
                <a:t>・コードを取り出して運ぶ</a:t>
              </a:r>
            </a:p>
            <a:p>
              <a:pPr algn="l">
                <a:lnSpc>
                  <a:spcPts val="2250"/>
                </a:lnSpc>
                <a:spcBef>
                  <a:spcPts val="150"/>
                </a:spcBef>
              </a:pPr>
              <a:r>
                <a:rPr lang="zh-CN" sz="1500" dirty="0">
                  <a:solidFill>
                    <a:schemeClr val="dk1"/>
                  </a:solidFill>
                  <a:latin typeface="+mn-lt"/>
                  <a:ea typeface="+mn-ea"/>
                  <a:cs typeface="+mn-cs"/>
                </a:rPr>
                <a:t>・返答を機械的に検証する</a:t>
              </a:r>
            </a:p>
            <a:p>
              <a:pPr algn="l">
                <a:lnSpc>
                  <a:spcPts val="2250"/>
                </a:lnSpc>
                <a:spcBef>
                  <a:spcPts val="150"/>
                </a:spcBef>
              </a:pPr>
              <a:r>
                <a:rPr lang="zh-CN" sz="1500" dirty="0">
                  <a:solidFill>
                    <a:schemeClr val="dk1"/>
                  </a:solidFill>
                  <a:latin typeface="+mn-lt"/>
                  <a:ea typeface="+mn-ea"/>
                  <a:cs typeface="+mn-cs"/>
                </a:rPr>
                <a:t>・別ファイルへ書き戻し、　読み直して確認する</a:t>
              </a:r>
            </a:p>
          </p:txBody>
        </p:sp>
      </p:grpSp>
      <p:grpSp>
        <p:nvGrpSpPr>
          <p:cNvPr id="33" name="Group 33"/>
          <p:cNvGrpSpPr/>
          <p:nvPr/>
        </p:nvGrpSpPr>
        <p:grpSpPr>
          <a:xfrm>
            <a:off x="4000500" y="3200400"/>
            <a:ext cx="4191000" cy="9525"/>
            <a:chOff x="4000500" y="3200400"/>
            <a:chExt cx="4191000" cy="9525"/>
          </a:xfrm>
        </p:grpSpPr>
        <p:sp>
          <p:nvSpPr>
            <p:cNvPr id="31" name="Line 31"/>
            <p:cNvSpPr/>
            <p:nvPr/>
          </p:nvSpPr>
          <p:spPr>
            <a:xfrm>
              <a:off x="4000500" y="3200400"/>
              <a:ext cx="304800" cy="9525"/>
            </a:xfrm>
            <a:custGeom>
              <a:avLst/>
              <a:gdLst/>
              <a:ahLst/>
              <a:cxnLst/>
              <a:rect l="l" t="t" r="r" b="b"/>
              <a:pathLst>
                <a:path w="304800" h="9525">
                  <a:moveTo>
                    <a:pt x="0" y="0"/>
                  </a:moveTo>
                  <a:lnTo>
                    <a:pt x="304800" y="0"/>
                  </a:lnTo>
                </a:path>
              </a:pathLst>
            </a:custGeom>
            <a:noFill/>
            <a:ln w="28575">
              <a:solidFill>
                <a:srgbClr val="CFD7DE"/>
              </a:solidFill>
            </a:ln>
          </p:spPr>
        </p:sp>
        <p:sp>
          <p:nvSpPr>
            <p:cNvPr id="32" name="Line 32"/>
            <p:cNvSpPr/>
            <p:nvPr/>
          </p:nvSpPr>
          <p:spPr>
            <a:xfrm>
              <a:off x="7886700" y="3200400"/>
              <a:ext cx="304800" cy="9525"/>
            </a:xfrm>
            <a:custGeom>
              <a:avLst/>
              <a:gdLst/>
              <a:ahLst/>
              <a:cxnLst/>
              <a:rect l="l" t="t" r="r" b="b"/>
              <a:pathLst>
                <a:path w="304800" h="9525">
                  <a:moveTo>
                    <a:pt x="0" y="0"/>
                  </a:moveTo>
                  <a:lnTo>
                    <a:pt x="304800" y="0"/>
                  </a:lnTo>
                </a:path>
              </a:pathLst>
            </a:custGeom>
            <a:noFill/>
            <a:ln w="28575">
              <a:solidFill>
                <a:srgbClr val="CFD7DE"/>
              </a:solidFill>
            </a:ln>
          </p:spPr>
        </p:sp>
      </p:grpSp>
      <p:grpSp>
        <p:nvGrpSpPr>
          <p:cNvPr id="38" name="Group 38"/>
          <p:cNvGrpSpPr/>
          <p:nvPr/>
        </p:nvGrpSpPr>
        <p:grpSpPr>
          <a:xfrm>
            <a:off x="457200" y="4857750"/>
            <a:ext cx="11277600" cy="1143000"/>
            <a:chOff x="457200" y="4857750"/>
            <a:chExt cx="11277600" cy="1143000"/>
          </a:xfrm>
        </p:grpSpPr>
        <p:sp>
          <p:nvSpPr>
            <p:cNvPr id="34" name="Rectangle 34"/>
            <p:cNvSpPr/>
            <p:nvPr/>
          </p:nvSpPr>
          <p:spPr>
            <a:xfrm>
              <a:off x="457200" y="4857750"/>
              <a:ext cx="11277600" cy="1143000"/>
            </a:xfrm>
            <a:prstGeom prst="roundRect">
              <a:avLst>
                <a:gd name="adj" fmla="val 13333"/>
              </a:avLst>
            </a:prstGeom>
            <a:solidFill>
              <a:schemeClr val="lt1"/>
            </a:solidFill>
            <a:ln w="14288">
              <a:solidFill>
                <a:srgbClr val="3A7A47"/>
              </a:solidFill>
            </a:ln>
          </p:spPr>
        </p:sp>
        <p:sp>
          <p:nvSpPr>
            <p:cNvPr id="35" name="Freeform 35"/>
            <p:cNvSpPr/>
            <p:nvPr/>
          </p:nvSpPr>
          <p:spPr>
            <a:xfrm>
              <a:off x="746125" y="521789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rgbClr val="3A7A47"/>
            </a:solidFill>
            <a:ln>
              <a:noFill/>
            </a:ln>
          </p:spPr>
        </p:sp>
        <p:sp>
          <p:nvSpPr>
            <p:cNvPr id="36" name="TextBox 36"/>
            <p:cNvSpPr txBox="1"/>
            <p:nvPr/>
          </p:nvSpPr>
          <p:spPr>
            <a:xfrm>
              <a:off x="1134618" y="5136832"/>
              <a:ext cx="563647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コードの中身を判断する場面は、あなたには回ってきません。あなたが見るのは、</a:t>
              </a:r>
            </a:p>
          </p:txBody>
        </p:sp>
        <p:sp>
          <p:nvSpPr>
            <p:cNvPr id="37" name="TextBox 37"/>
            <p:cNvSpPr txBox="1"/>
            <p:nvPr/>
          </p:nvSpPr>
          <p:spPr>
            <a:xfrm>
              <a:off x="1134618" y="5479732"/>
              <a:ext cx="7485964"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「何が変わるか」（画面の差分）と「業務でいつもどおり動くか」（Excel での確認）です。</a:t>
              </a:r>
            </a:p>
          </p:txBody>
        </p:sp>
      </p:grpSp>
      <p:grpSp>
        <p:nvGrpSpPr>
          <p:cNvPr id="41" name="Group 41"/>
          <p:cNvGrpSpPr/>
          <p:nvPr/>
        </p:nvGrpSpPr>
        <p:grpSpPr>
          <a:xfrm>
            <a:off x="451866" y="6477952"/>
            <a:ext cx="11288268" cy="205359"/>
            <a:chOff x="451866" y="6477952"/>
            <a:chExt cx="11288268" cy="205359"/>
          </a:xfrm>
        </p:grpSpPr>
        <p:sp>
          <p:nvSpPr>
            <p:cNvPr id="39" name="TextBox 39"/>
            <p:cNvSpPr txBox="1"/>
            <p:nvPr/>
          </p:nvSpPr>
          <p:spPr>
            <a:xfrm>
              <a:off x="451866" y="6477952"/>
              <a:ext cx="1674355"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第1部　MacroStudioを知る</a:t>
              </a:r>
            </a:p>
          </p:txBody>
        </p:sp>
        <p:sp>
          <p:nvSpPr>
            <p:cNvPr id="40" name="TextBox 40"/>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第1部</a:t>
              </a:r>
            </a:p>
          </p:txBody>
        </p:sp>
        <p:sp>
          <p:nvSpPr>
            <p:cNvPr id="4" name="TextBox 4"/>
            <p:cNvSpPr txBox="1"/>
            <p:nvPr/>
          </p:nvSpPr>
          <p:spPr>
            <a:xfrm>
              <a:off x="441960" y="685800"/>
              <a:ext cx="610163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「AIで改修する」と「AIで相談する」</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1" name="Group 11"/>
          <p:cNvGrpSpPr/>
          <p:nvPr/>
        </p:nvGrpSpPr>
        <p:grpSpPr>
          <a:xfrm>
            <a:off x="457200" y="1428750"/>
            <a:ext cx="6858000" cy="4277106"/>
            <a:chOff x="457200" y="1428750"/>
            <a:chExt cx="6858000" cy="4277106"/>
          </a:xfrm>
        </p:grpSpPr>
        <p:sp>
          <p:nvSpPr>
            <p:cNvPr id="7" name="Rectangle 7"/>
            <p:cNvSpPr/>
            <p:nvPr/>
          </p:nvSpPr>
          <p:spPr>
            <a:xfrm>
              <a:off x="457200" y="1428750"/>
              <a:ext cx="6858000" cy="3924300"/>
            </a:xfrm>
            <a:prstGeom prst="roundRect">
              <a:avLst>
                <a:gd name="adj" fmla="val 3398"/>
              </a:avLst>
            </a:prstGeom>
            <a:solidFill>
              <a:schemeClr val="lt2"/>
            </a:solidFill>
            <a:ln>
              <a:noFill/>
            </a:ln>
          </p:spPr>
        </p:sp>
        <p:pic>
          <p:nvPicPr>
            <p:cNvPr id="8" name="Image 8"/>
            <p:cNvPicPr>
              <a:picLocks noChangeAspect="1"/>
            </p:cNvPicPr>
            <p:nvPr/>
          </p:nvPicPr>
          <p:blipFill>
            <a:blip r:embed="rId2"/>
            <a:stretch>
              <a:fillRect/>
            </a:stretch>
          </p:blipFill>
          <p:spPr>
            <a:xfrm>
              <a:off x="533400" y="1504950"/>
              <a:ext cx="6705600" cy="3771900"/>
            </a:xfrm>
            <a:prstGeom prst="roundRect">
              <a:avLst>
                <a:gd name="adj" fmla="val 2525"/>
              </a:avLst>
            </a:prstGeom>
          </p:spPr>
        </p:pic>
        <p:sp>
          <p:nvSpPr>
            <p:cNvPr id="9" name="Rectangle 9"/>
            <p:cNvSpPr/>
            <p:nvPr/>
          </p:nvSpPr>
          <p:spPr>
            <a:xfrm>
              <a:off x="533400" y="1504950"/>
              <a:ext cx="6705600" cy="3771900"/>
            </a:xfrm>
            <a:prstGeom prst="roundRect">
              <a:avLst>
                <a:gd name="adj" fmla="val 2525"/>
              </a:avLst>
            </a:prstGeom>
            <a:noFill/>
            <a:ln w="14288">
              <a:solidFill>
                <a:schemeClr val="accent6"/>
              </a:solidFill>
            </a:ln>
          </p:spPr>
        </p:sp>
        <p:sp>
          <p:nvSpPr>
            <p:cNvPr id="10" name="TextBox 10"/>
            <p:cNvSpPr txBox="1"/>
            <p:nvPr/>
          </p:nvSpPr>
          <p:spPr>
            <a:xfrm>
              <a:off x="527304" y="5471160"/>
              <a:ext cx="4785817"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最初の画面「作業を選んでください」。ブックを読み込む前に、まず作業を選びます。</a:t>
              </a:r>
            </a:p>
          </p:txBody>
        </p:sp>
      </p:grpSp>
      <p:grpSp>
        <p:nvGrpSpPr>
          <p:cNvPr id="17" name="Group 17"/>
          <p:cNvGrpSpPr/>
          <p:nvPr/>
        </p:nvGrpSpPr>
        <p:grpSpPr>
          <a:xfrm>
            <a:off x="7620000" y="1428750"/>
            <a:ext cx="4114800" cy="1905000"/>
            <a:chOff x="7620000" y="1428750"/>
            <a:chExt cx="4114800" cy="1905000"/>
          </a:xfrm>
        </p:grpSpPr>
        <p:sp>
          <p:nvSpPr>
            <p:cNvPr id="12" name="Rectangle 12"/>
            <p:cNvSpPr/>
            <p:nvPr/>
          </p:nvSpPr>
          <p:spPr>
            <a:xfrm>
              <a:off x="7620000" y="1428750"/>
              <a:ext cx="4114800" cy="1905000"/>
            </a:xfrm>
            <a:prstGeom prst="roundRect">
              <a:avLst>
                <a:gd name="adj" fmla="val 8000"/>
              </a:avLst>
            </a:prstGeom>
            <a:solidFill>
              <a:schemeClr val="lt2"/>
            </a:solidFill>
            <a:ln>
              <a:noFill/>
            </a:ln>
          </p:spPr>
        </p:sp>
        <p:sp>
          <p:nvSpPr>
            <p:cNvPr id="13" name="Freeform 13"/>
            <p:cNvSpPr/>
            <p:nvPr/>
          </p:nvSpPr>
          <p:spPr>
            <a:xfrm>
              <a:off x="7870825" y="167459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1"/>
            </a:solidFill>
            <a:ln>
              <a:noFill/>
            </a:ln>
          </p:spPr>
        </p:sp>
        <p:sp>
          <p:nvSpPr>
            <p:cNvPr id="14" name="TextBox 14"/>
            <p:cNvSpPr txBox="1"/>
            <p:nvPr/>
          </p:nvSpPr>
          <p:spPr>
            <a:xfrm>
              <a:off x="8220456" y="1672590"/>
              <a:ext cx="122803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AIで改修する</a:t>
              </a:r>
            </a:p>
          </p:txBody>
        </p:sp>
        <p:sp>
          <p:nvSpPr>
            <p:cNvPr id="15" name="TextBox 15"/>
            <p:cNvSpPr txBox="1"/>
            <p:nvPr/>
          </p:nvSpPr>
          <p:spPr>
            <a:xfrm>
              <a:off x="7841361" y="2113121"/>
              <a:ext cx="2259711" cy="564452"/>
            </a:xfrm>
            <a:prstGeom prst="rect">
              <a:avLst/>
            </a:prstGeom>
            <a:noFill/>
            <a:ln>
              <a:noFill/>
            </a:ln>
          </p:spPr>
          <p:txBody>
            <a:bodyPr wrap="square" lIns="0" tIns="0" rIns="0" bIns="0" anchor="t" anchorCtr="0"/>
            <a:lstStyle/>
            <a:p>
              <a:pPr algn="l">
                <a:lnSpc>
                  <a:spcPts val="2250"/>
                </a:lnSpc>
              </a:pPr>
              <a:r>
                <a:rPr lang="zh-CN" sz="1420" dirty="0">
                  <a:solidFill>
                    <a:schemeClr val="dk1"/>
                  </a:solidFill>
                  <a:latin typeface="+mn-lt"/>
                  <a:ea typeface="+mn-ea"/>
                  <a:cs typeface="+mn-cs"/>
                </a:rPr>
                <a:t>AI の返答を取り込んで、改修済み</a:t>
              </a:r>
              <a:r>
                <a:rPr lang="en-US" sz="1420" dirty="0">
                  <a:solidFill>
                    <a:schemeClr val="dk1"/>
                  </a:solidFill>
                  <a:latin typeface="+mn-lt"/>
                  <a:ea typeface="+mn-ea"/>
                  <a:cs typeface="+mn-cs"/>
                </a:rPr>
                <a:t xml:space="preserve"> </a:t>
              </a:r>
              <a:r>
                <a:rPr lang="zh-CN" sz="1420" dirty="0">
                  <a:solidFill>
                    <a:schemeClr val="dk1"/>
                  </a:solidFill>
                  <a:latin typeface="+mn-lt"/>
                  <a:ea typeface="+mn-ea"/>
                  <a:cs typeface="+mn-cs"/>
                </a:rPr>
                <a:t>ブックをこのアプリで作ります。</a:t>
              </a:r>
            </a:p>
          </p:txBody>
        </p:sp>
        <p:sp>
          <p:nvSpPr>
            <p:cNvPr id="16" name="TextBox 16"/>
            <p:cNvSpPr txBox="1"/>
            <p:nvPr/>
          </p:nvSpPr>
          <p:spPr>
            <a:xfrm>
              <a:off x="7842123" y="2815114"/>
              <a:ext cx="2036826" cy="497014"/>
            </a:xfrm>
            <a:prstGeom prst="rect">
              <a:avLst/>
            </a:prstGeom>
            <a:noFill/>
            <a:ln>
              <a:noFill/>
            </a:ln>
          </p:spPr>
          <p:txBody>
            <a:bodyPr wrap="square" lIns="0" tIns="0" rIns="0" bIns="0" anchor="t" anchorCtr="0"/>
            <a:lstStyle/>
            <a:p>
              <a:pPr algn="l">
                <a:lnSpc>
                  <a:spcPts val="1950"/>
                </a:lnSpc>
              </a:pPr>
              <a:r>
                <a:rPr lang="zh-CN" sz="1280" dirty="0">
                  <a:solidFill>
                    <a:srgbClr val="5D6B7A"/>
                  </a:solidFill>
                  <a:latin typeface="+mn-lt"/>
                  <a:ea typeface="+mn-ea"/>
                  <a:cs typeface="+mn-cs"/>
                </a:rPr>
                <a:t>できあがるもの: 改修済みブック・確認レポート・概要メモ　→ 手順 4 まで</a:t>
              </a:r>
            </a:p>
          </p:txBody>
        </p:sp>
      </p:grpSp>
      <p:grpSp>
        <p:nvGrpSpPr>
          <p:cNvPr id="23" name="Group 23"/>
          <p:cNvGrpSpPr/>
          <p:nvPr/>
        </p:nvGrpSpPr>
        <p:grpSpPr>
          <a:xfrm>
            <a:off x="7620000" y="3486150"/>
            <a:ext cx="4114800" cy="1905000"/>
            <a:chOff x="7620000" y="3486150"/>
            <a:chExt cx="4114800" cy="1905000"/>
          </a:xfrm>
        </p:grpSpPr>
        <p:sp>
          <p:nvSpPr>
            <p:cNvPr id="18" name="Rectangle 18"/>
            <p:cNvSpPr/>
            <p:nvPr/>
          </p:nvSpPr>
          <p:spPr>
            <a:xfrm>
              <a:off x="7620000" y="3486150"/>
              <a:ext cx="4114800" cy="1905000"/>
            </a:xfrm>
            <a:prstGeom prst="roundRect">
              <a:avLst>
                <a:gd name="adj" fmla="val 8000"/>
              </a:avLst>
            </a:prstGeom>
            <a:solidFill>
              <a:schemeClr val="lt2"/>
            </a:solidFill>
            <a:ln>
              <a:noFill/>
            </a:ln>
          </p:spPr>
        </p:sp>
        <p:sp>
          <p:nvSpPr>
            <p:cNvPr id="19" name="Freeform 19"/>
            <p:cNvSpPr/>
            <p:nvPr/>
          </p:nvSpPr>
          <p:spPr>
            <a:xfrm>
              <a:off x="7861974" y="3726544"/>
              <a:ext cx="232057" cy="233637"/>
            </a:xfrm>
            <a:custGeom>
              <a:avLst/>
              <a:gdLst/>
              <a:ahLst/>
              <a:cxnLst/>
              <a:rect l="l" t="t" r="r" b="b"/>
              <a:pathLst>
                <a:path w="232057" h="233637">
                  <a:moveTo>
                    <a:pt x="142202" y="22344"/>
                  </a:moveTo>
                  <a:cubicBezTo>
                    <a:pt x="164450" y="35186"/>
                    <a:pt x="180055" y="57025"/>
                    <a:pt x="184997" y="82234"/>
                  </a:cubicBezTo>
                  <a:cubicBezTo>
                    <a:pt x="189939" y="107443"/>
                    <a:pt x="183735" y="133557"/>
                    <a:pt x="167983" y="153849"/>
                  </a:cubicBezTo>
                  <a:lnTo>
                    <a:pt x="227846" y="213713"/>
                  </a:lnTo>
                  <a:cubicBezTo>
                    <a:pt x="232057" y="218073"/>
                    <a:pt x="231997" y="225004"/>
                    <a:pt x="227711" y="229290"/>
                  </a:cubicBezTo>
                  <a:cubicBezTo>
                    <a:pt x="223424" y="233577"/>
                    <a:pt x="216493" y="233637"/>
                    <a:pt x="212133" y="229426"/>
                  </a:cubicBezTo>
                  <a:lnTo>
                    <a:pt x="152259" y="169563"/>
                  </a:lnTo>
                  <a:cubicBezTo>
                    <a:pt x="116965" y="196949"/>
                    <a:pt x="66829" y="193890"/>
                    <a:pt x="35126" y="162417"/>
                  </a:cubicBezTo>
                  <a:cubicBezTo>
                    <a:pt x="3423" y="130944"/>
                    <a:pt x="0" y="80832"/>
                    <a:pt x="27129" y="45340"/>
                  </a:cubicBezTo>
                  <a:cubicBezTo>
                    <a:pt x="54258" y="9848"/>
                    <a:pt x="103512" y="0"/>
                    <a:pt x="142202" y="22333"/>
                  </a:cubicBezTo>
                </a:path>
              </a:pathLst>
            </a:custGeom>
            <a:solidFill>
              <a:schemeClr val="accent3"/>
            </a:solidFill>
            <a:ln>
              <a:noFill/>
            </a:ln>
          </p:spPr>
        </p:sp>
        <p:sp>
          <p:nvSpPr>
            <p:cNvPr id="20" name="TextBox 20"/>
            <p:cNvSpPr txBox="1"/>
            <p:nvPr/>
          </p:nvSpPr>
          <p:spPr>
            <a:xfrm>
              <a:off x="8220456" y="3729990"/>
              <a:ext cx="122803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AIで相談する</a:t>
              </a:r>
            </a:p>
          </p:txBody>
        </p:sp>
        <p:sp>
          <p:nvSpPr>
            <p:cNvPr id="21" name="TextBox 21"/>
            <p:cNvSpPr txBox="1"/>
            <p:nvPr/>
          </p:nvSpPr>
          <p:spPr>
            <a:xfrm>
              <a:off x="7841361" y="4170521"/>
              <a:ext cx="2169541" cy="564452"/>
            </a:xfrm>
            <a:prstGeom prst="rect">
              <a:avLst/>
            </a:prstGeom>
            <a:noFill/>
            <a:ln>
              <a:noFill/>
            </a:ln>
          </p:spPr>
          <p:txBody>
            <a:bodyPr wrap="square" lIns="0" tIns="0" rIns="0" bIns="0" anchor="t" anchorCtr="0"/>
            <a:lstStyle/>
            <a:p>
              <a:pPr algn="l">
                <a:lnSpc>
                  <a:spcPts val="2250"/>
                </a:lnSpc>
              </a:pPr>
              <a:r>
                <a:rPr lang="zh-CN" sz="1420" dirty="0">
                  <a:solidFill>
                    <a:schemeClr val="dk1"/>
                  </a:solidFill>
                  <a:latin typeface="+mn-lt"/>
                  <a:ea typeface="+mn-ea"/>
                  <a:cs typeface="+mn-cs"/>
                </a:rPr>
                <a:t>診断や質問のための依頼文とコード全文を作って、AI へ渡します。</a:t>
              </a:r>
            </a:p>
          </p:txBody>
        </p:sp>
        <p:sp>
          <p:nvSpPr>
            <p:cNvPr id="22" name="TextBox 22"/>
            <p:cNvSpPr txBox="1"/>
            <p:nvPr/>
          </p:nvSpPr>
          <p:spPr>
            <a:xfrm>
              <a:off x="7842123" y="4872514"/>
              <a:ext cx="2524506" cy="497014"/>
            </a:xfrm>
            <a:prstGeom prst="rect">
              <a:avLst/>
            </a:prstGeom>
            <a:noFill/>
            <a:ln>
              <a:noFill/>
            </a:ln>
          </p:spPr>
          <p:txBody>
            <a:bodyPr wrap="square" lIns="0" tIns="0" rIns="0" bIns="0" anchor="t" anchorCtr="0"/>
            <a:lstStyle/>
            <a:p>
              <a:pPr algn="l">
                <a:lnSpc>
                  <a:spcPts val="1950"/>
                </a:lnSpc>
              </a:pPr>
              <a:r>
                <a:rPr lang="en-US" sz="1280" dirty="0">
                  <a:solidFill>
                    <a:srgbClr val="5D6B7A"/>
                  </a:solidFill>
                  <a:latin typeface="+mn-lt"/>
                  <a:ea typeface="+mn-ea"/>
                  <a:cs typeface="+mn-cs"/>
                </a:rPr>
                <a:t xml:space="preserve">できあがるもの: request.md と </a:t>
              </a:r>
              <a:r>
                <a:rPr lang="zh-CN" sz="1280" dirty="0">
                  <a:solidFill>
                    <a:srgbClr val="5D6B7A"/>
                  </a:solidFill>
                  <a:latin typeface="+mn-lt"/>
                  <a:ea typeface="+mn-ea"/>
                  <a:cs typeface="+mn-cs"/>
                </a:rPr>
                <a:t>source-code.md　→ 手順 2 で完了</a:t>
              </a:r>
            </a:p>
          </p:txBody>
        </p:sp>
      </p:grpSp>
      <p:grpSp>
        <p:nvGrpSpPr>
          <p:cNvPr id="26" name="Group 26"/>
          <p:cNvGrpSpPr/>
          <p:nvPr/>
        </p:nvGrpSpPr>
        <p:grpSpPr>
          <a:xfrm>
            <a:off x="471937" y="5934075"/>
            <a:ext cx="7504679" cy="293370"/>
            <a:chOff x="471937" y="5934075"/>
            <a:chExt cx="7504679" cy="293370"/>
          </a:xfrm>
        </p:grpSpPr>
        <p:sp>
          <p:nvSpPr>
            <p:cNvPr id="24" name="Freeform 24"/>
            <p:cNvSpPr/>
            <p:nvPr/>
          </p:nvSpPr>
          <p:spPr>
            <a:xfrm>
              <a:off x="471937" y="5943600"/>
              <a:ext cx="199117" cy="190602"/>
            </a:xfrm>
            <a:custGeom>
              <a:avLst/>
              <a:gdLst/>
              <a:ahLst/>
              <a:cxnLst/>
              <a:rect l="l" t="t" r="r" b="b"/>
              <a:pathLst>
                <a:path w="199117" h="190602">
                  <a:moveTo>
                    <a:pt x="99544" y="0"/>
                  </a:moveTo>
                  <a:lnTo>
                    <a:pt x="100668" y="67"/>
                  </a:lnTo>
                  <a:lnTo>
                    <a:pt x="101230" y="143"/>
                  </a:lnTo>
                  <a:lnTo>
                    <a:pt x="101811" y="267"/>
                  </a:lnTo>
                  <a:lnTo>
                    <a:pt x="102868" y="591"/>
                  </a:lnTo>
                  <a:cubicBezTo>
                    <a:pt x="103598" y="860"/>
                    <a:pt x="104293" y="1218"/>
                    <a:pt x="104935" y="1657"/>
                  </a:cubicBezTo>
                  <a:lnTo>
                    <a:pt x="105926" y="2438"/>
                  </a:lnTo>
                  <a:lnTo>
                    <a:pt x="108354" y="4515"/>
                  </a:lnTo>
                  <a:cubicBezTo>
                    <a:pt x="127569" y="20475"/>
                    <a:pt x="151854" y="29045"/>
                    <a:pt x="176830" y="28680"/>
                  </a:cubicBezTo>
                  <a:lnTo>
                    <a:pt x="180087" y="28585"/>
                  </a:lnTo>
                  <a:cubicBezTo>
                    <a:pt x="184470" y="28385"/>
                    <a:pt x="188423" y="31204"/>
                    <a:pt x="189660" y="35414"/>
                  </a:cubicBezTo>
                  <a:cubicBezTo>
                    <a:pt x="199117" y="67583"/>
                    <a:pt x="195123" y="102211"/>
                    <a:pt x="178593" y="131383"/>
                  </a:cubicBezTo>
                  <a:cubicBezTo>
                    <a:pt x="162063" y="160555"/>
                    <a:pt x="134409" y="181776"/>
                    <a:pt x="101954" y="190195"/>
                  </a:cubicBezTo>
                  <a:cubicBezTo>
                    <a:pt x="100386" y="190602"/>
                    <a:pt x="98740" y="190602"/>
                    <a:pt x="97172" y="190195"/>
                  </a:cubicBezTo>
                  <a:cubicBezTo>
                    <a:pt x="64715" y="181778"/>
                    <a:pt x="37059" y="160558"/>
                    <a:pt x="20527" y="131386"/>
                  </a:cubicBezTo>
                  <a:cubicBezTo>
                    <a:pt x="3994" y="102213"/>
                    <a:pt x="0" y="67584"/>
                    <a:pt x="9456" y="35414"/>
                  </a:cubicBezTo>
                  <a:cubicBezTo>
                    <a:pt x="10693" y="31204"/>
                    <a:pt x="14646" y="28385"/>
                    <a:pt x="19029" y="28585"/>
                  </a:cubicBezTo>
                  <a:cubicBezTo>
                    <a:pt x="45103" y="29776"/>
                    <a:pt x="70684" y="21193"/>
                    <a:pt x="90762" y="4515"/>
                  </a:cubicBezTo>
                  <a:lnTo>
                    <a:pt x="93267" y="2372"/>
                  </a:lnTo>
                  <a:lnTo>
                    <a:pt x="94181" y="1657"/>
                  </a:lnTo>
                  <a:cubicBezTo>
                    <a:pt x="94824" y="1218"/>
                    <a:pt x="95518" y="860"/>
                    <a:pt x="96248" y="591"/>
                  </a:cubicBezTo>
                  <a:lnTo>
                    <a:pt x="97315" y="267"/>
                  </a:lnTo>
                  <a:cubicBezTo>
                    <a:pt x="97688" y="177"/>
                    <a:pt x="98067" y="110"/>
                    <a:pt x="98448" y="67"/>
                  </a:cubicBezTo>
                  <a:lnTo>
                    <a:pt x="99544" y="0"/>
                  </a:lnTo>
                  <a:close/>
                  <a:moveTo>
                    <a:pt x="134882" y="69466"/>
                  </a:moveTo>
                  <a:cubicBezTo>
                    <a:pt x="133095" y="67677"/>
                    <a:pt x="130671" y="66672"/>
                    <a:pt x="128143" y="66672"/>
                  </a:cubicBezTo>
                  <a:cubicBezTo>
                    <a:pt x="125615" y="66672"/>
                    <a:pt x="123190" y="67677"/>
                    <a:pt x="121404" y="69466"/>
                  </a:cubicBezTo>
                  <a:lnTo>
                    <a:pt x="90038" y="100822"/>
                  </a:lnTo>
                  <a:lnTo>
                    <a:pt x="77722" y="88516"/>
                  </a:lnTo>
                  <a:lnTo>
                    <a:pt x="76827" y="87725"/>
                  </a:lnTo>
                  <a:cubicBezTo>
                    <a:pt x="72854" y="84653"/>
                    <a:pt x="67178" y="85194"/>
                    <a:pt x="63856" y="88961"/>
                  </a:cubicBezTo>
                  <a:cubicBezTo>
                    <a:pt x="60534" y="92728"/>
                    <a:pt x="60708" y="98427"/>
                    <a:pt x="64254" y="101984"/>
                  </a:cubicBezTo>
                  <a:lnTo>
                    <a:pt x="83304" y="121034"/>
                  </a:lnTo>
                  <a:lnTo>
                    <a:pt x="84199" y="121825"/>
                  </a:lnTo>
                  <a:cubicBezTo>
                    <a:pt x="87991" y="124766"/>
                    <a:pt x="93379" y="124427"/>
                    <a:pt x="96772" y="121034"/>
                  </a:cubicBezTo>
                  <a:lnTo>
                    <a:pt x="134872" y="82934"/>
                  </a:lnTo>
                  <a:lnTo>
                    <a:pt x="135663" y="82039"/>
                  </a:lnTo>
                  <a:cubicBezTo>
                    <a:pt x="138604" y="78247"/>
                    <a:pt x="138265" y="72859"/>
                    <a:pt x="134872" y="69466"/>
                  </a:cubicBezTo>
                  <a:close/>
                </a:path>
              </a:pathLst>
            </a:custGeom>
            <a:solidFill>
              <a:srgbClr val="3A7A47"/>
            </a:solidFill>
            <a:ln>
              <a:noFill/>
            </a:ln>
          </p:spPr>
        </p:sp>
        <p:sp>
          <p:nvSpPr>
            <p:cNvPr id="25" name="TextBox 25"/>
            <p:cNvSpPr txBox="1"/>
            <p:nvPr/>
          </p:nvSpPr>
          <p:spPr>
            <a:xfrm>
              <a:off x="792480" y="5934075"/>
              <a:ext cx="7184136" cy="293370"/>
            </a:xfrm>
            <a:prstGeom prst="rect">
              <a:avLst/>
            </a:prstGeom>
            <a:noFill/>
            <a:ln>
              <a:noFill/>
            </a:ln>
          </p:spPr>
          <p:txBody>
            <a:bodyPr wrap="none" lIns="0" tIns="0" rIns="0" bIns="0" anchor="t" anchorCtr="0">
              <a:spAutoFit/>
            </a:bodyPr>
            <a:lstStyle/>
            <a:p>
              <a:pPr algn="l"/>
              <a:r>
                <a:rPr lang="zh-CN" sz="1500" b="1" dirty="0">
                  <a:solidFill>
                    <a:srgbClr val="3A7A47"/>
                  </a:solidFill>
                  <a:latin typeface="+mn-lt"/>
                  <a:ea typeface="+mn-ea"/>
                  <a:cs typeface="+mn-cs"/>
                </a:rPr>
                <a:t>どちらを選んでも、元のブックは変更されません。ブックを作り替えるのは「AIで改修する」だけです。</a:t>
              </a:r>
            </a:p>
          </p:txBody>
        </p:sp>
      </p:grpSp>
      <p:grpSp>
        <p:nvGrpSpPr>
          <p:cNvPr id="29" name="Group 29"/>
          <p:cNvGrpSpPr/>
          <p:nvPr/>
        </p:nvGrpSpPr>
        <p:grpSpPr>
          <a:xfrm>
            <a:off x="451866" y="6477952"/>
            <a:ext cx="11288268" cy="205359"/>
            <a:chOff x="451866" y="6477952"/>
            <a:chExt cx="11288268" cy="205359"/>
          </a:xfrm>
        </p:grpSpPr>
        <p:sp>
          <p:nvSpPr>
            <p:cNvPr id="27" name="TextBox 27"/>
            <p:cNvSpPr txBox="1"/>
            <p:nvPr/>
          </p:nvSpPr>
          <p:spPr>
            <a:xfrm>
              <a:off x="451866" y="6477952"/>
              <a:ext cx="1674355"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第1部　MacroStudioを知る</a:t>
              </a:r>
            </a:p>
          </p:txBody>
        </p:sp>
        <p:sp>
          <p:nvSpPr>
            <p:cNvPr id="28" name="TextBox 28"/>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第1部</a:t>
              </a:r>
            </a:p>
          </p:txBody>
        </p:sp>
        <p:sp>
          <p:nvSpPr>
            <p:cNvPr id="4" name="TextBox 4"/>
            <p:cNvSpPr txBox="1"/>
            <p:nvPr/>
          </p:nvSpPr>
          <p:spPr>
            <a:xfrm>
              <a:off x="441960" y="685800"/>
              <a:ext cx="484348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守られていること・あなたが確かめること</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7" name="Group 17"/>
          <p:cNvGrpSpPr/>
          <p:nvPr/>
        </p:nvGrpSpPr>
        <p:grpSpPr>
          <a:xfrm>
            <a:off x="457200" y="1333500"/>
            <a:ext cx="6667500" cy="3771900"/>
            <a:chOff x="457200" y="1333500"/>
            <a:chExt cx="6667500" cy="3771900"/>
          </a:xfrm>
        </p:grpSpPr>
        <p:sp>
          <p:nvSpPr>
            <p:cNvPr id="7" name="Rectangle 7"/>
            <p:cNvSpPr/>
            <p:nvPr/>
          </p:nvSpPr>
          <p:spPr>
            <a:xfrm>
              <a:off x="457200" y="1333500"/>
              <a:ext cx="6667500" cy="3771900"/>
            </a:xfrm>
            <a:prstGeom prst="roundRect">
              <a:avLst>
                <a:gd name="adj" fmla="val 4040"/>
              </a:avLst>
            </a:prstGeom>
            <a:solidFill>
              <a:schemeClr val="lt2"/>
            </a:solidFill>
            <a:ln>
              <a:noFill/>
            </a:ln>
          </p:spPr>
        </p:sp>
        <p:sp>
          <p:nvSpPr>
            <p:cNvPr id="8" name="Freeform 8"/>
            <p:cNvSpPr/>
            <p:nvPr/>
          </p:nvSpPr>
          <p:spPr>
            <a:xfrm>
              <a:off x="741093" y="158432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chemeClr val="accent1"/>
            </a:solidFill>
            <a:ln>
              <a:noFill/>
            </a:ln>
          </p:spPr>
        </p:sp>
        <p:sp>
          <p:nvSpPr>
            <p:cNvPr id="9" name="TextBox 9"/>
            <p:cNvSpPr txBox="1"/>
            <p:nvPr/>
          </p:nvSpPr>
          <p:spPr>
            <a:xfrm>
              <a:off x="1095756" y="1577340"/>
              <a:ext cx="1672095"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アプリが守っていること</a:t>
              </a:r>
            </a:p>
          </p:txBody>
        </p:sp>
        <p:sp>
          <p:nvSpPr>
            <p:cNvPr id="10" name="TextBox 10"/>
            <p:cNvSpPr txBox="1"/>
            <p:nvPr/>
          </p:nvSpPr>
          <p:spPr>
            <a:xfrm>
              <a:off x="716280" y="2066925"/>
              <a:ext cx="381152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1　元のブックは上書きしない。結果は必ず別ファイル。</a:t>
              </a:r>
            </a:p>
          </p:txBody>
        </p:sp>
        <p:sp>
          <p:nvSpPr>
            <p:cNvPr id="11" name="TextBox 11"/>
            <p:cNvSpPr txBox="1"/>
            <p:nvPr/>
          </p:nvSpPr>
          <p:spPr>
            <a:xfrm>
              <a:off x="716280" y="2581275"/>
              <a:ext cx="421843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2　コードを AI へ自動送信しない。渡すのはあなた自身。</a:t>
              </a:r>
            </a:p>
          </p:txBody>
        </p:sp>
        <p:sp>
          <p:nvSpPr>
            <p:cNvPr id="12" name="TextBox 12"/>
            <p:cNvSpPr txBox="1"/>
            <p:nvPr/>
          </p:nvSpPr>
          <p:spPr>
            <a:xfrm>
              <a:off x="716280" y="3095625"/>
              <a:ext cx="395287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3　返答は依頼番号や区切りを機械的に確認してから</a:t>
              </a:r>
            </a:p>
          </p:txBody>
        </p:sp>
        <p:sp>
          <p:nvSpPr>
            <p:cNvPr id="13" name="TextBox 13"/>
            <p:cNvSpPr txBox="1"/>
            <p:nvPr/>
          </p:nvSpPr>
          <p:spPr>
            <a:xfrm>
              <a:off x="982980" y="3381375"/>
              <a:ext cx="316534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取り込む。合わなければ、何も取り込まない。</a:t>
              </a:r>
            </a:p>
          </p:txBody>
        </p:sp>
        <p:sp>
          <p:nvSpPr>
            <p:cNvPr id="14" name="TextBox 14"/>
            <p:cNvSpPr txBox="1"/>
            <p:nvPr/>
          </p:nvSpPr>
          <p:spPr>
            <a:xfrm>
              <a:off x="716280" y="3895725"/>
              <a:ext cx="403364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4　ビルド前に、元のブックが途中で変わっていないか確認。</a:t>
              </a:r>
            </a:p>
          </p:txBody>
        </p:sp>
        <p:sp>
          <p:nvSpPr>
            <p:cNvPr id="15" name="TextBox 15"/>
            <p:cNvSpPr txBox="1"/>
            <p:nvPr/>
          </p:nvSpPr>
          <p:spPr>
            <a:xfrm>
              <a:off x="716280" y="4410075"/>
              <a:ext cx="392258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5　書き戻したブックを読み直して検証。意図したコードが</a:t>
              </a:r>
            </a:p>
          </p:txBody>
        </p:sp>
        <p:sp>
          <p:nvSpPr>
            <p:cNvPr id="16" name="TextBox 16"/>
            <p:cNvSpPr txBox="1"/>
            <p:nvPr/>
          </p:nvSpPr>
          <p:spPr>
            <a:xfrm>
              <a:off x="982980" y="4695825"/>
              <a:ext cx="267062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入らなければ、出力そのものを残さない。</a:t>
              </a:r>
            </a:p>
          </p:txBody>
        </p:sp>
      </p:grpSp>
      <p:grpSp>
        <p:nvGrpSpPr>
          <p:cNvPr id="25" name="Group 25"/>
          <p:cNvGrpSpPr/>
          <p:nvPr/>
        </p:nvGrpSpPr>
        <p:grpSpPr>
          <a:xfrm>
            <a:off x="7429500" y="1333500"/>
            <a:ext cx="4305300" cy="3801523"/>
            <a:chOff x="7429500" y="1333500"/>
            <a:chExt cx="4305300" cy="3801523"/>
          </a:xfrm>
        </p:grpSpPr>
        <p:sp>
          <p:nvSpPr>
            <p:cNvPr id="18" name="Rectangle 18"/>
            <p:cNvSpPr/>
            <p:nvPr/>
          </p:nvSpPr>
          <p:spPr>
            <a:xfrm>
              <a:off x="7429500" y="1333500"/>
              <a:ext cx="4305300" cy="3771900"/>
            </a:xfrm>
            <a:prstGeom prst="roundRect">
              <a:avLst>
                <a:gd name="adj" fmla="val 4040"/>
              </a:avLst>
            </a:prstGeom>
            <a:solidFill>
              <a:schemeClr val="lt1"/>
            </a:solidFill>
            <a:ln w="19050">
              <a:solidFill>
                <a:schemeClr val="accent2"/>
              </a:solidFill>
            </a:ln>
          </p:spPr>
        </p:sp>
        <p:sp>
          <p:nvSpPr>
            <p:cNvPr id="19" name="Freeform 19"/>
            <p:cNvSpPr/>
            <p:nvPr/>
          </p:nvSpPr>
          <p:spPr>
            <a:xfrm>
              <a:off x="7705738" y="158065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chemeClr val="accent2"/>
            </a:solidFill>
            <a:ln>
              <a:noFill/>
            </a:ln>
          </p:spPr>
        </p:sp>
        <p:sp>
          <p:nvSpPr>
            <p:cNvPr id="20" name="TextBox 20"/>
            <p:cNvSpPr txBox="1"/>
            <p:nvPr/>
          </p:nvSpPr>
          <p:spPr>
            <a:xfrm>
              <a:off x="8068056" y="1577340"/>
              <a:ext cx="178658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アプリが保証しないこと</a:t>
              </a:r>
            </a:p>
          </p:txBody>
        </p:sp>
        <p:sp>
          <p:nvSpPr>
            <p:cNvPr id="21" name="TextBox 21"/>
            <p:cNvSpPr txBox="1"/>
            <p:nvPr/>
          </p:nvSpPr>
          <p:spPr>
            <a:xfrm>
              <a:off x="7688580" y="2066925"/>
              <a:ext cx="2196465" cy="902970"/>
            </a:xfrm>
            <a:prstGeom prst="rect">
              <a:avLst/>
            </a:prstGeom>
            <a:noFill/>
            <a:ln>
              <a:noFill/>
            </a:ln>
          </p:spPr>
          <p:txBody>
            <a:bodyPr wrap="square" lIns="0" tIns="0" rIns="0" bIns="0" anchor="t" anchorCtr="0"/>
            <a:lstStyle/>
            <a:p>
              <a:pPr algn="l">
                <a:lnSpc>
                  <a:spcPts val="2400"/>
                </a:lnSpc>
              </a:pPr>
              <a:r>
                <a:rPr lang="zh-CN" sz="1500" dirty="0">
                  <a:solidFill>
                    <a:schemeClr val="dk1"/>
                  </a:solidFill>
                  <a:latin typeface="+mn-lt"/>
                  <a:ea typeface="+mn-ea"/>
                  <a:cs typeface="+mn-cs"/>
                </a:rPr>
                <a:t>AI の返答の中身が、業務として正しいかどうかは、アプリには分かりません。</a:t>
              </a:r>
            </a:p>
          </p:txBody>
        </p:sp>
        <p:sp>
          <p:nvSpPr>
            <p:cNvPr id="22" name="Line 22"/>
            <p:cNvSpPr/>
            <p:nvPr/>
          </p:nvSpPr>
          <p:spPr>
            <a:xfrm>
              <a:off x="7696200" y="3314700"/>
              <a:ext cx="3771900" cy="9525"/>
            </a:xfrm>
            <a:custGeom>
              <a:avLst/>
              <a:gdLst/>
              <a:ahLst/>
              <a:cxnLst/>
              <a:rect l="l" t="t" r="r" b="b"/>
              <a:pathLst>
                <a:path w="3771900" h="9525">
                  <a:moveTo>
                    <a:pt x="0" y="0"/>
                  </a:moveTo>
                  <a:lnTo>
                    <a:pt x="3771900" y="0"/>
                  </a:lnTo>
                </a:path>
              </a:pathLst>
            </a:custGeom>
            <a:noFill/>
            <a:ln w="14288">
              <a:solidFill>
                <a:schemeClr val="accent6"/>
              </a:solidFill>
            </a:ln>
          </p:spPr>
        </p:sp>
        <p:sp>
          <p:nvSpPr>
            <p:cNvPr id="23" name="TextBox 23"/>
            <p:cNvSpPr txBox="1"/>
            <p:nvPr/>
          </p:nvSpPr>
          <p:spPr>
            <a:xfrm>
              <a:off x="7688580" y="3571875"/>
              <a:ext cx="193408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だから、あなたが確かめます。</a:t>
              </a:r>
            </a:p>
          </p:txBody>
        </p:sp>
        <p:sp>
          <p:nvSpPr>
            <p:cNvPr id="24" name="TextBox 24"/>
            <p:cNvSpPr txBox="1"/>
            <p:nvPr/>
          </p:nvSpPr>
          <p:spPr>
            <a:xfrm>
              <a:off x="7688961" y="3960971"/>
              <a:ext cx="2250694" cy="1174052"/>
            </a:xfrm>
            <a:prstGeom prst="rect">
              <a:avLst/>
            </a:prstGeom>
            <a:noFill/>
            <a:ln>
              <a:noFill/>
            </a:ln>
          </p:spPr>
          <p:txBody>
            <a:bodyPr wrap="square" lIns="0" tIns="0" rIns="0" bIns="0" anchor="t" anchorCtr="0"/>
            <a:lstStyle/>
            <a:p>
              <a:pPr algn="l">
                <a:lnSpc>
                  <a:spcPts val="2250"/>
                </a:lnSpc>
              </a:pPr>
              <a:r>
                <a:rPr lang="zh-CN" sz="1420" dirty="0">
                  <a:solidFill>
                    <a:schemeClr val="dk1"/>
                  </a:solidFill>
                  <a:latin typeface="+mn-lt"/>
                  <a:ea typeface="+mn-ea"/>
                  <a:cs typeface="+mn-cs"/>
                </a:rPr>
                <a:t>・変更内容を画面の差分で見る　（→ P18）</a:t>
              </a:r>
            </a:p>
            <a:p>
              <a:pPr algn="l">
                <a:lnSpc>
                  <a:spcPts val="2250"/>
                </a:lnSpc>
                <a:spcBef>
                  <a:spcPts val="300"/>
                </a:spcBef>
              </a:pPr>
              <a:r>
                <a:rPr lang="zh-CN" sz="1420" dirty="0">
                  <a:solidFill>
                    <a:schemeClr val="dk1"/>
                  </a:solidFill>
                  <a:latin typeface="+mn-lt"/>
                  <a:ea typeface="+mn-ea"/>
                  <a:cs typeface="+mn-cs"/>
                </a:rPr>
                <a:t>・最後に Excel で動作を確認する　（→ P21）</a:t>
              </a:r>
            </a:p>
          </p:txBody>
        </p:sp>
      </p:grpSp>
      <p:grpSp>
        <p:nvGrpSpPr>
          <p:cNvPr id="29" name="Group 29"/>
          <p:cNvGrpSpPr/>
          <p:nvPr/>
        </p:nvGrpSpPr>
        <p:grpSpPr>
          <a:xfrm>
            <a:off x="457200" y="5334000"/>
            <a:ext cx="11277600" cy="800100"/>
            <a:chOff x="457200" y="5334000"/>
            <a:chExt cx="11277600" cy="800100"/>
          </a:xfrm>
        </p:grpSpPr>
        <p:sp>
          <p:nvSpPr>
            <p:cNvPr id="26" name="Rectangle 26"/>
            <p:cNvSpPr/>
            <p:nvPr/>
          </p:nvSpPr>
          <p:spPr>
            <a:xfrm>
              <a:off x="457200" y="5334000"/>
              <a:ext cx="11277600" cy="800100"/>
            </a:xfrm>
            <a:prstGeom prst="roundRect">
              <a:avLst>
                <a:gd name="adj" fmla="val 19048"/>
              </a:avLst>
            </a:prstGeom>
            <a:solidFill>
              <a:schemeClr val="lt1"/>
            </a:solidFill>
            <a:ln w="14288">
              <a:solidFill>
                <a:srgbClr val="3A7A47"/>
              </a:solidFill>
            </a:ln>
          </p:spPr>
        </p:sp>
        <p:sp>
          <p:nvSpPr>
            <p:cNvPr id="27" name="Freeform 27"/>
            <p:cNvSpPr/>
            <p:nvPr/>
          </p:nvSpPr>
          <p:spPr>
            <a:xfrm>
              <a:off x="741093" y="562292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57362" y="81044"/>
                  </a:moveTo>
                  <a:cubicBezTo>
                    <a:pt x="155278" y="78957"/>
                    <a:pt x="152450" y="77785"/>
                    <a:pt x="149500" y="77785"/>
                  </a:cubicBezTo>
                  <a:cubicBezTo>
                    <a:pt x="146551" y="77785"/>
                    <a:pt x="143722" y="78957"/>
                    <a:pt x="141638" y="81044"/>
                  </a:cubicBezTo>
                  <a:lnTo>
                    <a:pt x="105044" y="117626"/>
                  </a:lnTo>
                  <a:lnTo>
                    <a:pt x="90676" y="103269"/>
                  </a:lnTo>
                  <a:lnTo>
                    <a:pt x="89631" y="102346"/>
                  </a:lnTo>
                  <a:cubicBezTo>
                    <a:pt x="84996" y="98762"/>
                    <a:pt x="78374" y="99393"/>
                    <a:pt x="74499" y="103788"/>
                  </a:cubicBezTo>
                  <a:cubicBezTo>
                    <a:pt x="70624" y="108183"/>
                    <a:pt x="70827" y="114832"/>
                    <a:pt x="74963" y="118982"/>
                  </a:cubicBezTo>
                  <a:lnTo>
                    <a:pt x="97188" y="141207"/>
                  </a:lnTo>
                  <a:lnTo>
                    <a:pt x="98233" y="142129"/>
                  </a:lnTo>
                  <a:cubicBezTo>
                    <a:pt x="102656" y="145561"/>
                    <a:pt x="108942" y="145166"/>
                    <a:pt x="112901" y="141207"/>
                  </a:cubicBezTo>
                  <a:lnTo>
                    <a:pt x="157351" y="96757"/>
                  </a:lnTo>
                  <a:lnTo>
                    <a:pt x="158274" y="95712"/>
                  </a:lnTo>
                  <a:cubicBezTo>
                    <a:pt x="161705" y="91289"/>
                    <a:pt x="161310" y="85003"/>
                    <a:pt x="157351" y="81044"/>
                  </a:cubicBezTo>
                  <a:close/>
                </a:path>
              </a:pathLst>
            </a:custGeom>
            <a:solidFill>
              <a:srgbClr val="3A7A47"/>
            </a:solidFill>
            <a:ln>
              <a:noFill/>
            </a:ln>
          </p:spPr>
        </p:sp>
        <p:sp>
          <p:nvSpPr>
            <p:cNvPr id="28" name="TextBox 28"/>
            <p:cNvSpPr txBox="1"/>
            <p:nvPr/>
          </p:nvSpPr>
          <p:spPr>
            <a:xfrm>
              <a:off x="1134618" y="5651182"/>
              <a:ext cx="6202890"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途中でやめても、失敗しても、元のブックは変わっていません。何度でもやり直せます。</a:t>
              </a:r>
            </a:p>
          </p:txBody>
        </p:sp>
      </p:grpSp>
      <p:grpSp>
        <p:nvGrpSpPr>
          <p:cNvPr id="32" name="Group 32"/>
          <p:cNvGrpSpPr/>
          <p:nvPr/>
        </p:nvGrpSpPr>
        <p:grpSpPr>
          <a:xfrm>
            <a:off x="451866" y="6477952"/>
            <a:ext cx="11288268" cy="205359"/>
            <a:chOff x="451866" y="6477952"/>
            <a:chExt cx="11288268" cy="205359"/>
          </a:xfrm>
        </p:grpSpPr>
        <p:sp>
          <p:nvSpPr>
            <p:cNvPr id="30" name="TextBox 30"/>
            <p:cNvSpPr txBox="1"/>
            <p:nvPr/>
          </p:nvSpPr>
          <p:spPr>
            <a:xfrm>
              <a:off x="451866" y="6477952"/>
              <a:ext cx="1674355"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第1部　MacroStudioを知る</a:t>
              </a:r>
            </a:p>
          </p:txBody>
        </p:sp>
        <p:sp>
          <p:nvSpPr>
            <p:cNvPr id="31" name="TextBox 31"/>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TextBox 4"/>
            <p:cNvSpPr txBox="1"/>
            <p:nvPr/>
          </p:nvSpPr>
          <p:spPr>
            <a:xfrm>
              <a:off x="441960" y="685800"/>
              <a:ext cx="176909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全体の流れ</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8" name="Group 8"/>
          <p:cNvGrpSpPr/>
          <p:nvPr/>
        </p:nvGrpSpPr>
        <p:grpSpPr>
          <a:xfrm>
            <a:off x="447294" y="1370648"/>
            <a:ext cx="8511978" cy="381381"/>
            <a:chOff x="447294" y="1370648"/>
            <a:chExt cx="8511978" cy="381381"/>
          </a:xfrm>
        </p:grpSpPr>
        <p:sp>
          <p:nvSpPr>
            <p:cNvPr id="7" name="TextBox 7"/>
            <p:cNvSpPr txBox="1"/>
            <p:nvPr/>
          </p:nvSpPr>
          <p:spPr>
            <a:xfrm>
              <a:off x="447294" y="1370648"/>
              <a:ext cx="8511978" cy="381381"/>
            </a:xfrm>
            <a:prstGeom prst="rect">
              <a:avLst/>
            </a:prstGeom>
            <a:noFill/>
            <a:ln>
              <a:noFill/>
            </a:ln>
          </p:spPr>
          <p:txBody>
            <a:bodyPr wrap="none" lIns="0" tIns="0" rIns="0" bIns="0" anchor="t" anchorCtr="0">
              <a:spAutoFit/>
            </a:bodyPr>
            <a:lstStyle/>
            <a:p>
              <a:pPr algn="l"/>
              <a:r>
                <a:rPr lang="zh-CN" sz="1950" dirty="0">
                  <a:solidFill>
                    <a:schemeClr val="dk1"/>
                  </a:solidFill>
                  <a:latin typeface="+mn-lt"/>
                  <a:ea typeface="+mn-ea"/>
                  <a:cs typeface="+mn-cs"/>
                </a:rPr>
                <a:t>手順は 4 つ。画面はひとつずつ進み、右下の［次へ］が青くなったら、その画面は終わりです。</a:t>
              </a:r>
            </a:p>
          </p:txBody>
        </p:sp>
      </p:grpSp>
      <p:grpSp>
        <p:nvGrpSpPr>
          <p:cNvPr id="14" name="Group 14"/>
          <p:cNvGrpSpPr/>
          <p:nvPr/>
        </p:nvGrpSpPr>
        <p:grpSpPr>
          <a:xfrm>
            <a:off x="457200" y="1905000"/>
            <a:ext cx="2362200" cy="2286000"/>
            <a:chOff x="457200" y="1905000"/>
            <a:chExt cx="2362200" cy="2286000"/>
          </a:xfrm>
        </p:grpSpPr>
        <p:sp>
          <p:nvSpPr>
            <p:cNvPr id="9" name="Rectangle 9"/>
            <p:cNvSpPr/>
            <p:nvPr/>
          </p:nvSpPr>
          <p:spPr>
            <a:xfrm>
              <a:off x="457200" y="1905000"/>
              <a:ext cx="2362200" cy="2286000"/>
            </a:xfrm>
            <a:prstGeom prst="roundRect">
              <a:avLst>
                <a:gd name="adj" fmla="val 6667"/>
              </a:avLst>
            </a:prstGeom>
            <a:solidFill>
              <a:schemeClr val="lt2"/>
            </a:solidFill>
            <a:ln>
              <a:noFill/>
            </a:ln>
          </p:spPr>
        </p:sp>
        <p:sp>
          <p:nvSpPr>
            <p:cNvPr id="10" name="Ellipse 10"/>
            <p:cNvSpPr/>
            <p:nvPr/>
          </p:nvSpPr>
          <p:spPr>
            <a:xfrm>
              <a:off x="666750" y="2114550"/>
              <a:ext cx="381000" cy="381000"/>
            </a:xfrm>
            <a:prstGeom prst="ellipse">
              <a:avLst/>
            </a:prstGeom>
            <a:solidFill>
              <a:schemeClr val="accent1"/>
            </a:solidFill>
            <a:ln>
              <a:noFill/>
            </a:ln>
          </p:spPr>
        </p:sp>
        <p:sp>
          <p:nvSpPr>
            <p:cNvPr id="11" name="TextBox 11"/>
            <p:cNvSpPr txBox="1"/>
            <p:nvPr/>
          </p:nvSpPr>
          <p:spPr>
            <a:xfrm>
              <a:off x="791323" y="2219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2" name="TextBox 12"/>
            <p:cNvSpPr txBox="1"/>
            <p:nvPr/>
          </p:nvSpPr>
          <p:spPr>
            <a:xfrm>
              <a:off x="1172718" y="2203132"/>
              <a:ext cx="940880" cy="589407"/>
            </a:xfrm>
            <a:prstGeom prst="rect">
              <a:avLst/>
            </a:prstGeom>
            <a:noFill/>
            <a:ln>
              <a:noFill/>
            </a:ln>
          </p:spPr>
          <p:txBody>
            <a:bodyPr wrap="square" lIns="0" tIns="0" rIns="0" bIns="0" anchor="t" anchorCtr="0"/>
            <a:lstStyle/>
            <a:p>
              <a:pPr algn="l">
                <a:lnSpc>
                  <a:spcPts val="2100"/>
                </a:lnSpc>
              </a:pPr>
              <a:r>
                <a:rPr lang="zh-CN" sz="1650" b="1" dirty="0">
                  <a:solidFill>
                    <a:schemeClr val="dk1"/>
                  </a:solidFill>
                  <a:latin typeface="+mn-lt"/>
                  <a:ea typeface="+mn-ea"/>
                  <a:cs typeface="+mn-cs"/>
                </a:rPr>
                <a:t>作業とブック</a:t>
              </a:r>
              <a:r>
                <a:rPr lang="en-US" sz="1650" b="1" dirty="0">
                  <a:solidFill>
                    <a:schemeClr val="dk1"/>
                  </a:solidFill>
                  <a:latin typeface="+mn-lt"/>
                  <a:ea typeface="+mn-ea"/>
                  <a:cs typeface="+mn-cs"/>
                </a:rPr>
                <a:t xml:space="preserve"> </a:t>
              </a:r>
              <a:r>
                <a:rPr lang="zh-CN" sz="1650" b="1" dirty="0">
                  <a:solidFill>
                    <a:schemeClr val="dk1"/>
                  </a:solidFill>
                  <a:latin typeface="+mn-lt"/>
                  <a:ea typeface="+mn-ea"/>
                  <a:cs typeface="+mn-cs"/>
                </a:rPr>
                <a:t>を選ぶ</a:t>
              </a:r>
            </a:p>
          </p:txBody>
        </p:sp>
        <p:sp>
          <p:nvSpPr>
            <p:cNvPr id="13" name="TextBox 13"/>
            <p:cNvSpPr txBox="1"/>
            <p:nvPr/>
          </p:nvSpPr>
          <p:spPr>
            <a:xfrm>
              <a:off x="717423" y="3005614"/>
              <a:ext cx="1126490" cy="782765"/>
            </a:xfrm>
            <a:prstGeom prst="rect">
              <a:avLst/>
            </a:prstGeom>
            <a:noFill/>
            <a:ln>
              <a:noFill/>
            </a:ln>
          </p:spPr>
          <p:txBody>
            <a:bodyPr wrap="square" lIns="0" tIns="0" rIns="0" bIns="0" anchor="t" anchorCtr="0"/>
            <a:lstStyle/>
            <a:p>
              <a:pPr algn="l">
                <a:lnSpc>
                  <a:spcPts val="2100"/>
                </a:lnSpc>
              </a:pPr>
              <a:r>
                <a:rPr lang="zh-CN" sz="1280" dirty="0">
                  <a:solidFill>
                    <a:srgbClr val="5D6B7A"/>
                  </a:solidFill>
                  <a:latin typeface="+mn-lt"/>
                  <a:ea typeface="+mn-ea"/>
                  <a:cs typeface="+mn-cs"/>
                </a:rPr>
                <a:t>・作業を選ぶ</a:t>
              </a:r>
            </a:p>
            <a:p>
              <a:pPr algn="l">
                <a:lnSpc>
                  <a:spcPts val="2100"/>
                </a:lnSpc>
              </a:pPr>
              <a:r>
                <a:rPr lang="zh-CN" sz="1280" dirty="0">
                  <a:solidFill>
                    <a:srgbClr val="5D6B7A"/>
                  </a:solidFill>
                  <a:latin typeface="+mn-lt"/>
                  <a:ea typeface="+mn-ea"/>
                  <a:cs typeface="+mn-cs"/>
                </a:rPr>
                <a:t>・ブックを読み込む</a:t>
              </a:r>
            </a:p>
            <a:p>
              <a:pPr algn="l">
                <a:lnSpc>
                  <a:spcPts val="2100"/>
                </a:lnSpc>
              </a:pPr>
              <a:r>
                <a:rPr lang="zh-CN" sz="1280" dirty="0">
                  <a:solidFill>
                    <a:srgbClr val="5D6B7A"/>
                  </a:solidFill>
                  <a:latin typeface="+mn-lt"/>
                  <a:ea typeface="+mn-ea"/>
                  <a:cs typeface="+mn-cs"/>
                </a:rPr>
                <a:t>・読み取りを確かめる</a:t>
              </a:r>
            </a:p>
          </p:txBody>
        </p:sp>
      </p:grpSp>
      <p:grpSp>
        <p:nvGrpSpPr>
          <p:cNvPr id="20" name="Group 20"/>
          <p:cNvGrpSpPr/>
          <p:nvPr/>
        </p:nvGrpSpPr>
        <p:grpSpPr>
          <a:xfrm>
            <a:off x="3276600" y="1905000"/>
            <a:ext cx="2362200" cy="2286000"/>
            <a:chOff x="3276600" y="1905000"/>
            <a:chExt cx="2362200" cy="2286000"/>
          </a:xfrm>
        </p:grpSpPr>
        <p:sp>
          <p:nvSpPr>
            <p:cNvPr id="15" name="Rectangle 15"/>
            <p:cNvSpPr/>
            <p:nvPr/>
          </p:nvSpPr>
          <p:spPr>
            <a:xfrm>
              <a:off x="3276600" y="1905000"/>
              <a:ext cx="2362200" cy="2286000"/>
            </a:xfrm>
            <a:prstGeom prst="roundRect">
              <a:avLst>
                <a:gd name="adj" fmla="val 6667"/>
              </a:avLst>
            </a:prstGeom>
            <a:solidFill>
              <a:schemeClr val="lt2"/>
            </a:solidFill>
            <a:ln>
              <a:noFill/>
            </a:ln>
          </p:spPr>
        </p:sp>
        <p:sp>
          <p:nvSpPr>
            <p:cNvPr id="16" name="Ellipse 16"/>
            <p:cNvSpPr/>
            <p:nvPr/>
          </p:nvSpPr>
          <p:spPr>
            <a:xfrm>
              <a:off x="3486150" y="2114550"/>
              <a:ext cx="381000" cy="381000"/>
            </a:xfrm>
            <a:prstGeom prst="ellipse">
              <a:avLst/>
            </a:prstGeom>
            <a:solidFill>
              <a:schemeClr val="accent1"/>
            </a:solidFill>
            <a:ln>
              <a:noFill/>
            </a:ln>
          </p:spPr>
        </p:sp>
        <p:sp>
          <p:nvSpPr>
            <p:cNvPr id="17" name="TextBox 17"/>
            <p:cNvSpPr txBox="1"/>
            <p:nvPr/>
          </p:nvSpPr>
          <p:spPr>
            <a:xfrm>
              <a:off x="3610723" y="2219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18" name="TextBox 18"/>
            <p:cNvSpPr txBox="1"/>
            <p:nvPr/>
          </p:nvSpPr>
          <p:spPr>
            <a:xfrm>
              <a:off x="3992118" y="2203132"/>
              <a:ext cx="112570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AIへ依頼する</a:t>
              </a:r>
            </a:p>
          </p:txBody>
        </p:sp>
        <p:sp>
          <p:nvSpPr>
            <p:cNvPr id="19" name="TextBox 19"/>
            <p:cNvSpPr txBox="1"/>
            <p:nvPr/>
          </p:nvSpPr>
          <p:spPr>
            <a:xfrm>
              <a:off x="3536823" y="3005614"/>
              <a:ext cx="1110234" cy="782765"/>
            </a:xfrm>
            <a:prstGeom prst="rect">
              <a:avLst/>
            </a:prstGeom>
            <a:noFill/>
            <a:ln>
              <a:noFill/>
            </a:ln>
          </p:spPr>
          <p:txBody>
            <a:bodyPr wrap="square" lIns="0" tIns="0" rIns="0" bIns="0" anchor="t" anchorCtr="0"/>
            <a:lstStyle/>
            <a:p>
              <a:pPr algn="l">
                <a:lnSpc>
                  <a:spcPts val="2100"/>
                </a:lnSpc>
              </a:pPr>
              <a:r>
                <a:rPr lang="zh-CN" sz="1280" dirty="0">
                  <a:solidFill>
                    <a:srgbClr val="5D6B7A"/>
                  </a:solidFill>
                  <a:latin typeface="+mn-lt"/>
                  <a:ea typeface="+mn-ea"/>
                  <a:cs typeface="+mn-cs"/>
                </a:rPr>
                <a:t>・目的を選ぶ</a:t>
              </a:r>
            </a:p>
            <a:p>
              <a:pPr algn="l">
                <a:lnSpc>
                  <a:spcPts val="2100"/>
                </a:lnSpc>
              </a:pPr>
              <a:r>
                <a:rPr lang="zh-CN" sz="1280" dirty="0">
                  <a:solidFill>
                    <a:srgbClr val="5D6B7A"/>
                  </a:solidFill>
                  <a:latin typeface="+mn-lt"/>
                  <a:ea typeface="+mn-ea"/>
                  <a:cs typeface="+mn-cs"/>
                </a:rPr>
                <a:t>・依頼文を確かめる</a:t>
              </a:r>
            </a:p>
            <a:p>
              <a:pPr algn="l">
                <a:lnSpc>
                  <a:spcPts val="2100"/>
                </a:lnSpc>
              </a:pPr>
              <a:r>
                <a:rPr lang="zh-CN" sz="1280" dirty="0">
                  <a:solidFill>
                    <a:srgbClr val="5D6B7A"/>
                  </a:solidFill>
                  <a:latin typeface="+mn-lt"/>
                  <a:ea typeface="+mn-ea"/>
                  <a:cs typeface="+mn-cs"/>
                </a:rPr>
                <a:t>・AIチャットへ渡す</a:t>
              </a:r>
            </a:p>
          </p:txBody>
        </p:sp>
      </p:grpSp>
      <p:grpSp>
        <p:nvGrpSpPr>
          <p:cNvPr id="26" name="Group 26"/>
          <p:cNvGrpSpPr/>
          <p:nvPr/>
        </p:nvGrpSpPr>
        <p:grpSpPr>
          <a:xfrm>
            <a:off x="6096000" y="1905000"/>
            <a:ext cx="2362200" cy="2286000"/>
            <a:chOff x="6096000" y="1905000"/>
            <a:chExt cx="2362200" cy="2286000"/>
          </a:xfrm>
        </p:grpSpPr>
        <p:sp>
          <p:nvSpPr>
            <p:cNvPr id="21" name="Rectangle 21"/>
            <p:cNvSpPr/>
            <p:nvPr/>
          </p:nvSpPr>
          <p:spPr>
            <a:xfrm>
              <a:off x="6096000" y="1905000"/>
              <a:ext cx="2362200" cy="2286000"/>
            </a:xfrm>
            <a:prstGeom prst="roundRect">
              <a:avLst>
                <a:gd name="adj" fmla="val 6667"/>
              </a:avLst>
            </a:prstGeom>
            <a:solidFill>
              <a:schemeClr val="lt2"/>
            </a:solidFill>
            <a:ln>
              <a:noFill/>
            </a:ln>
          </p:spPr>
        </p:sp>
        <p:sp>
          <p:nvSpPr>
            <p:cNvPr id="22" name="Ellipse 22"/>
            <p:cNvSpPr/>
            <p:nvPr/>
          </p:nvSpPr>
          <p:spPr>
            <a:xfrm>
              <a:off x="6305550" y="2114550"/>
              <a:ext cx="381000" cy="381000"/>
            </a:xfrm>
            <a:prstGeom prst="ellipse">
              <a:avLst/>
            </a:prstGeom>
            <a:solidFill>
              <a:schemeClr val="accent1"/>
            </a:solidFill>
            <a:ln>
              <a:noFill/>
            </a:ln>
          </p:spPr>
        </p:sp>
        <p:sp>
          <p:nvSpPr>
            <p:cNvPr id="23" name="TextBox 23"/>
            <p:cNvSpPr txBox="1"/>
            <p:nvPr/>
          </p:nvSpPr>
          <p:spPr>
            <a:xfrm>
              <a:off x="6430123" y="2219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4" name="TextBox 24"/>
            <p:cNvSpPr txBox="1"/>
            <p:nvPr/>
          </p:nvSpPr>
          <p:spPr>
            <a:xfrm>
              <a:off x="6811518" y="2203132"/>
              <a:ext cx="698849" cy="589407"/>
            </a:xfrm>
            <a:prstGeom prst="rect">
              <a:avLst/>
            </a:prstGeom>
            <a:noFill/>
            <a:ln>
              <a:noFill/>
            </a:ln>
          </p:spPr>
          <p:txBody>
            <a:bodyPr wrap="square" lIns="0" tIns="0" rIns="0" bIns="0" anchor="t" anchorCtr="0"/>
            <a:lstStyle/>
            <a:p>
              <a:pPr algn="l">
                <a:lnSpc>
                  <a:spcPts val="2100"/>
                </a:lnSpc>
              </a:pPr>
              <a:r>
                <a:rPr lang="zh-CN" sz="1650" b="1" dirty="0">
                  <a:solidFill>
                    <a:schemeClr val="dk1"/>
                  </a:solidFill>
                  <a:latin typeface="+mn-lt"/>
                  <a:ea typeface="+mn-ea"/>
                  <a:cs typeface="+mn-cs"/>
                </a:rPr>
                <a:t>返答を取り込む</a:t>
              </a:r>
            </a:p>
          </p:txBody>
        </p:sp>
        <p:sp>
          <p:nvSpPr>
            <p:cNvPr id="25" name="TextBox 25"/>
            <p:cNvSpPr txBox="1"/>
            <p:nvPr/>
          </p:nvSpPr>
          <p:spPr>
            <a:xfrm>
              <a:off x="6356223" y="3005614"/>
              <a:ext cx="1020826" cy="516064"/>
            </a:xfrm>
            <a:prstGeom prst="rect">
              <a:avLst/>
            </a:prstGeom>
            <a:noFill/>
            <a:ln>
              <a:noFill/>
            </a:ln>
          </p:spPr>
          <p:txBody>
            <a:bodyPr wrap="square" lIns="0" tIns="0" rIns="0" bIns="0" anchor="t" anchorCtr="0"/>
            <a:lstStyle/>
            <a:p>
              <a:pPr algn="l">
                <a:lnSpc>
                  <a:spcPts val="2100"/>
                </a:lnSpc>
              </a:pPr>
              <a:r>
                <a:rPr lang="zh-CN" sz="1280" dirty="0">
                  <a:solidFill>
                    <a:srgbClr val="5D6B7A"/>
                  </a:solidFill>
                  <a:latin typeface="+mn-lt"/>
                  <a:ea typeface="+mn-ea"/>
                  <a:cs typeface="+mn-cs"/>
                </a:rPr>
                <a:t>・返答を取り込む</a:t>
              </a:r>
            </a:p>
            <a:p>
              <a:pPr algn="l">
                <a:lnSpc>
                  <a:spcPts val="2100"/>
                </a:lnSpc>
              </a:pPr>
              <a:r>
                <a:rPr lang="zh-CN" sz="1280" dirty="0">
                  <a:solidFill>
                    <a:srgbClr val="5D6B7A"/>
                  </a:solidFill>
                  <a:latin typeface="+mn-lt"/>
                  <a:ea typeface="+mn-ea"/>
                  <a:cs typeface="+mn-cs"/>
                </a:rPr>
                <a:t>・変更を確かめる</a:t>
              </a:r>
            </a:p>
          </p:txBody>
        </p:sp>
      </p:grpSp>
      <p:grpSp>
        <p:nvGrpSpPr>
          <p:cNvPr id="32" name="Group 32"/>
          <p:cNvGrpSpPr/>
          <p:nvPr/>
        </p:nvGrpSpPr>
        <p:grpSpPr>
          <a:xfrm>
            <a:off x="8915400" y="1905000"/>
            <a:ext cx="2362200" cy="2286000"/>
            <a:chOff x="8915400" y="1905000"/>
            <a:chExt cx="2362200" cy="2286000"/>
          </a:xfrm>
        </p:grpSpPr>
        <p:sp>
          <p:nvSpPr>
            <p:cNvPr id="27" name="Rectangle 27"/>
            <p:cNvSpPr/>
            <p:nvPr/>
          </p:nvSpPr>
          <p:spPr>
            <a:xfrm>
              <a:off x="8915400" y="1905000"/>
              <a:ext cx="2362200" cy="2286000"/>
            </a:xfrm>
            <a:prstGeom prst="roundRect">
              <a:avLst>
                <a:gd name="adj" fmla="val 6667"/>
              </a:avLst>
            </a:prstGeom>
            <a:solidFill>
              <a:schemeClr val="lt2"/>
            </a:solidFill>
            <a:ln>
              <a:noFill/>
            </a:ln>
          </p:spPr>
        </p:sp>
        <p:sp>
          <p:nvSpPr>
            <p:cNvPr id="28" name="Ellipse 28"/>
            <p:cNvSpPr/>
            <p:nvPr/>
          </p:nvSpPr>
          <p:spPr>
            <a:xfrm>
              <a:off x="9124950" y="2114550"/>
              <a:ext cx="381000" cy="381000"/>
            </a:xfrm>
            <a:prstGeom prst="ellipse">
              <a:avLst/>
            </a:prstGeom>
            <a:solidFill>
              <a:schemeClr val="accent1"/>
            </a:solidFill>
            <a:ln>
              <a:noFill/>
            </a:ln>
          </p:spPr>
        </p:sp>
        <p:sp>
          <p:nvSpPr>
            <p:cNvPr id="29" name="TextBox 29"/>
            <p:cNvSpPr txBox="1"/>
            <p:nvPr/>
          </p:nvSpPr>
          <p:spPr>
            <a:xfrm>
              <a:off x="9249523" y="2219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4</a:t>
              </a:r>
            </a:p>
          </p:txBody>
        </p:sp>
        <p:sp>
          <p:nvSpPr>
            <p:cNvPr id="30" name="TextBox 30"/>
            <p:cNvSpPr txBox="1"/>
            <p:nvPr/>
          </p:nvSpPr>
          <p:spPr>
            <a:xfrm>
              <a:off x="9630918" y="2203132"/>
              <a:ext cx="891373"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ブックを作る</a:t>
              </a:r>
            </a:p>
          </p:txBody>
        </p:sp>
        <p:sp>
          <p:nvSpPr>
            <p:cNvPr id="31" name="TextBox 31"/>
            <p:cNvSpPr txBox="1"/>
            <p:nvPr/>
          </p:nvSpPr>
          <p:spPr>
            <a:xfrm>
              <a:off x="9175623" y="3005614"/>
              <a:ext cx="1020826" cy="782765"/>
            </a:xfrm>
            <a:prstGeom prst="rect">
              <a:avLst/>
            </a:prstGeom>
            <a:noFill/>
            <a:ln>
              <a:noFill/>
            </a:ln>
          </p:spPr>
          <p:txBody>
            <a:bodyPr wrap="square" lIns="0" tIns="0" rIns="0" bIns="0" anchor="t" anchorCtr="0"/>
            <a:lstStyle/>
            <a:p>
              <a:pPr algn="l">
                <a:lnSpc>
                  <a:spcPts val="2100"/>
                </a:lnSpc>
              </a:pPr>
              <a:r>
                <a:rPr lang="zh-CN" sz="1280" dirty="0">
                  <a:solidFill>
                    <a:srgbClr val="5D6B7A"/>
                  </a:solidFill>
                  <a:latin typeface="+mn-lt"/>
                  <a:ea typeface="+mn-ea"/>
                  <a:cs typeface="+mn-cs"/>
                </a:rPr>
                <a:t>・名前を確かめる</a:t>
              </a:r>
            </a:p>
            <a:p>
              <a:pPr algn="l">
                <a:lnSpc>
                  <a:spcPts val="2100"/>
                </a:lnSpc>
              </a:pPr>
              <a:r>
                <a:rPr lang="zh-CN" sz="1280" dirty="0">
                  <a:solidFill>
                    <a:srgbClr val="5D6B7A"/>
                  </a:solidFill>
                  <a:latin typeface="+mn-lt"/>
                  <a:ea typeface="+mn-ea"/>
                  <a:cs typeface="+mn-cs"/>
                </a:rPr>
                <a:t>・ビルド（自動）</a:t>
              </a:r>
            </a:p>
            <a:p>
              <a:pPr algn="l">
                <a:lnSpc>
                  <a:spcPts val="2100"/>
                </a:lnSpc>
              </a:pPr>
              <a:r>
                <a:rPr lang="en-US" sz="1280" dirty="0">
                  <a:solidFill>
                    <a:srgbClr val="5D6B7A"/>
                  </a:solidFill>
                  <a:latin typeface="+mn-lt"/>
                  <a:ea typeface="+mn-ea"/>
                  <a:cs typeface="+mn-cs"/>
                </a:rPr>
                <a:t>・できあがり</a:t>
              </a:r>
            </a:p>
          </p:txBody>
        </p:sp>
      </p:grpSp>
      <p:grpSp>
        <p:nvGrpSpPr>
          <p:cNvPr id="36" name="Group 36"/>
          <p:cNvGrpSpPr/>
          <p:nvPr/>
        </p:nvGrpSpPr>
        <p:grpSpPr>
          <a:xfrm>
            <a:off x="2857500" y="2286000"/>
            <a:ext cx="5981700" cy="323850"/>
            <a:chOff x="2857500" y="2286000"/>
            <a:chExt cx="5981700" cy="323850"/>
          </a:xfrm>
        </p:grpSpPr>
        <p:sp>
          <p:nvSpPr>
            <p:cNvPr id="33" name="Freeform 33"/>
            <p:cNvSpPr/>
            <p:nvPr/>
          </p:nvSpPr>
          <p:spPr>
            <a:xfrm>
              <a:off x="2857500" y="2286000"/>
              <a:ext cx="342900" cy="323850"/>
            </a:xfrm>
            <a:prstGeom prst="rightArrow">
              <a:avLst/>
            </a:prstGeom>
            <a:solidFill>
              <a:schemeClr val="accent3"/>
            </a:solidFill>
            <a:ln>
              <a:noFill/>
            </a:ln>
          </p:spPr>
        </p:sp>
        <p:sp>
          <p:nvSpPr>
            <p:cNvPr id="34" name="Freeform 34"/>
            <p:cNvSpPr/>
            <p:nvPr/>
          </p:nvSpPr>
          <p:spPr>
            <a:xfrm>
              <a:off x="5676900" y="2286000"/>
              <a:ext cx="342900" cy="323850"/>
            </a:xfrm>
            <a:prstGeom prst="rightArrow">
              <a:avLst/>
            </a:prstGeom>
            <a:solidFill>
              <a:schemeClr val="accent3"/>
            </a:solidFill>
            <a:ln>
              <a:noFill/>
            </a:ln>
          </p:spPr>
        </p:sp>
        <p:sp>
          <p:nvSpPr>
            <p:cNvPr id="35" name="Freeform 35"/>
            <p:cNvSpPr/>
            <p:nvPr/>
          </p:nvSpPr>
          <p:spPr>
            <a:xfrm>
              <a:off x="8496300" y="2286000"/>
              <a:ext cx="342900" cy="323850"/>
            </a:xfrm>
            <a:prstGeom prst="rightArrow">
              <a:avLst/>
            </a:prstGeom>
            <a:solidFill>
              <a:schemeClr val="accent3"/>
            </a:solidFill>
            <a:ln>
              <a:noFill/>
            </a:ln>
          </p:spPr>
        </p:sp>
      </p:grpSp>
      <p:grpSp>
        <p:nvGrpSpPr>
          <p:cNvPr id="40" name="Group 40"/>
          <p:cNvGrpSpPr/>
          <p:nvPr/>
        </p:nvGrpSpPr>
        <p:grpSpPr>
          <a:xfrm>
            <a:off x="457200" y="4533900"/>
            <a:ext cx="11277600" cy="800100"/>
            <a:chOff x="457200" y="4533900"/>
            <a:chExt cx="11277600" cy="800100"/>
          </a:xfrm>
        </p:grpSpPr>
        <p:sp>
          <p:nvSpPr>
            <p:cNvPr id="37" name="Rectangle 37"/>
            <p:cNvSpPr/>
            <p:nvPr/>
          </p:nvSpPr>
          <p:spPr>
            <a:xfrm>
              <a:off x="457200" y="4533900"/>
              <a:ext cx="11277600" cy="800100"/>
            </a:xfrm>
            <a:prstGeom prst="roundRect">
              <a:avLst>
                <a:gd name="adj" fmla="val 19048"/>
              </a:avLst>
            </a:prstGeom>
            <a:solidFill>
              <a:schemeClr val="accent5"/>
            </a:solidFill>
            <a:ln w="9525">
              <a:solidFill>
                <a:schemeClr val="accent6"/>
              </a:solidFill>
            </a:ln>
          </p:spPr>
        </p:sp>
        <p:sp>
          <p:nvSpPr>
            <p:cNvPr id="38" name="Freeform 38"/>
            <p:cNvSpPr/>
            <p:nvPr/>
          </p:nvSpPr>
          <p:spPr>
            <a:xfrm>
              <a:off x="737274" y="4812394"/>
              <a:ext cx="232057" cy="233637"/>
            </a:xfrm>
            <a:custGeom>
              <a:avLst/>
              <a:gdLst/>
              <a:ahLst/>
              <a:cxnLst/>
              <a:rect l="l" t="t" r="r" b="b"/>
              <a:pathLst>
                <a:path w="232057" h="233637">
                  <a:moveTo>
                    <a:pt x="142202" y="22344"/>
                  </a:moveTo>
                  <a:cubicBezTo>
                    <a:pt x="164450" y="35186"/>
                    <a:pt x="180055" y="57025"/>
                    <a:pt x="184997" y="82234"/>
                  </a:cubicBezTo>
                  <a:cubicBezTo>
                    <a:pt x="189939" y="107443"/>
                    <a:pt x="183735" y="133557"/>
                    <a:pt x="167983" y="153849"/>
                  </a:cubicBezTo>
                  <a:lnTo>
                    <a:pt x="227846" y="213713"/>
                  </a:lnTo>
                  <a:cubicBezTo>
                    <a:pt x="232057" y="218073"/>
                    <a:pt x="231997" y="225004"/>
                    <a:pt x="227711" y="229290"/>
                  </a:cubicBezTo>
                  <a:cubicBezTo>
                    <a:pt x="223424" y="233577"/>
                    <a:pt x="216493" y="233637"/>
                    <a:pt x="212133" y="229426"/>
                  </a:cubicBezTo>
                  <a:lnTo>
                    <a:pt x="152259" y="169563"/>
                  </a:lnTo>
                  <a:cubicBezTo>
                    <a:pt x="116965" y="196949"/>
                    <a:pt x="66829" y="193890"/>
                    <a:pt x="35126" y="162417"/>
                  </a:cubicBezTo>
                  <a:cubicBezTo>
                    <a:pt x="3423" y="130944"/>
                    <a:pt x="0" y="80832"/>
                    <a:pt x="27129" y="45340"/>
                  </a:cubicBezTo>
                  <a:cubicBezTo>
                    <a:pt x="54258" y="9848"/>
                    <a:pt x="103512" y="0"/>
                    <a:pt x="142202" y="22333"/>
                  </a:cubicBezTo>
                </a:path>
              </a:pathLst>
            </a:custGeom>
            <a:solidFill>
              <a:schemeClr val="accent3"/>
            </a:solidFill>
            <a:ln>
              <a:noFill/>
            </a:ln>
          </p:spPr>
        </p:sp>
        <p:sp>
          <p:nvSpPr>
            <p:cNvPr id="39" name="TextBox 39"/>
            <p:cNvSpPr txBox="1"/>
            <p:nvPr/>
          </p:nvSpPr>
          <p:spPr>
            <a:xfrm>
              <a:off x="1135380" y="4867275"/>
              <a:ext cx="784555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「AIで相談する」を選んだときは、手順 2 で完了になります（依頼文とコードを渡して終わり。→ P23）。</a:t>
              </a:r>
            </a:p>
          </p:txBody>
        </p:sp>
      </p:grpSp>
      <p:grpSp>
        <p:nvGrpSpPr>
          <p:cNvPr id="43" name="Group 43"/>
          <p:cNvGrpSpPr/>
          <p:nvPr/>
        </p:nvGrpSpPr>
        <p:grpSpPr>
          <a:xfrm>
            <a:off x="476938" y="5697537"/>
            <a:ext cx="5973583" cy="301308"/>
            <a:chOff x="476938" y="5697537"/>
            <a:chExt cx="5973583" cy="301308"/>
          </a:xfrm>
        </p:grpSpPr>
        <p:sp>
          <p:nvSpPr>
            <p:cNvPr id="41" name="Freeform 41"/>
            <p:cNvSpPr/>
            <p:nvPr/>
          </p:nvSpPr>
          <p:spPr>
            <a:xfrm>
              <a:off x="476938" y="5697537"/>
              <a:ext cx="208173" cy="206372"/>
            </a:xfrm>
            <a:custGeom>
              <a:avLst/>
              <a:gdLst/>
              <a:ahLst/>
              <a:cxnLst/>
              <a:rect l="l" t="t" r="r" b="b"/>
              <a:pathLst>
                <a:path w="208173" h="206372">
                  <a:moveTo>
                    <a:pt x="104086" y="0"/>
                  </a:moveTo>
                  <a:lnTo>
                    <a:pt x="107430" y="52"/>
                  </a:lnTo>
                  <a:cubicBezTo>
                    <a:pt x="163737" y="1877"/>
                    <a:pt x="208173" y="48527"/>
                    <a:pt x="207260" y="104856"/>
                  </a:cubicBezTo>
                  <a:cubicBezTo>
                    <a:pt x="206347" y="161186"/>
                    <a:pt x="160423" y="206372"/>
                    <a:pt x="104086" y="206372"/>
                  </a:cubicBezTo>
                  <a:cubicBezTo>
                    <a:pt x="47750" y="206372"/>
                    <a:pt x="1826" y="161186"/>
                    <a:pt x="913" y="104856"/>
                  </a:cubicBezTo>
                  <a:cubicBezTo>
                    <a:pt x="0" y="48527"/>
                    <a:pt x="44436" y="1877"/>
                    <a:pt x="100743" y="52"/>
                  </a:cubicBezTo>
                  <a:lnTo>
                    <a:pt x="104086" y="0"/>
                  </a:lnTo>
                  <a:close/>
                  <a:moveTo>
                    <a:pt x="110412" y="53761"/>
                  </a:moveTo>
                  <a:cubicBezTo>
                    <a:pt x="106108" y="50432"/>
                    <a:pt x="99959" y="51018"/>
                    <a:pt x="96360" y="55099"/>
                  </a:cubicBezTo>
                  <a:cubicBezTo>
                    <a:pt x="92762" y="59180"/>
                    <a:pt x="92950" y="65354"/>
                    <a:pt x="96791" y="69208"/>
                  </a:cubicBezTo>
                  <a:lnTo>
                    <a:pt x="120431" y="92868"/>
                  </a:lnTo>
                  <a:lnTo>
                    <a:pt x="62812" y="92868"/>
                  </a:lnTo>
                  <a:lnTo>
                    <a:pt x="61604" y="92941"/>
                  </a:lnTo>
                  <a:cubicBezTo>
                    <a:pt x="56183" y="93586"/>
                    <a:pt x="52202" y="98342"/>
                    <a:pt x="52522" y="103792"/>
                  </a:cubicBezTo>
                  <a:cubicBezTo>
                    <a:pt x="52842" y="109242"/>
                    <a:pt x="57352" y="113500"/>
                    <a:pt x="62812" y="113506"/>
                  </a:cubicBezTo>
                  <a:lnTo>
                    <a:pt x="120431" y="113506"/>
                  </a:lnTo>
                  <a:lnTo>
                    <a:pt x="96791" y="137167"/>
                  </a:lnTo>
                  <a:lnTo>
                    <a:pt x="95935" y="138137"/>
                  </a:lnTo>
                  <a:cubicBezTo>
                    <a:pt x="92606" y="142441"/>
                    <a:pt x="93192" y="148590"/>
                    <a:pt x="97273" y="152188"/>
                  </a:cubicBezTo>
                  <a:cubicBezTo>
                    <a:pt x="101354" y="155787"/>
                    <a:pt x="107528" y="155598"/>
                    <a:pt x="111382" y="151757"/>
                  </a:cubicBezTo>
                  <a:lnTo>
                    <a:pt x="152657" y="110483"/>
                  </a:lnTo>
                  <a:lnTo>
                    <a:pt x="153410" y="109636"/>
                  </a:lnTo>
                  <a:lnTo>
                    <a:pt x="154070" y="108718"/>
                  </a:lnTo>
                  <a:lnTo>
                    <a:pt x="154710" y="107552"/>
                  </a:lnTo>
                  <a:lnTo>
                    <a:pt x="155164" y="106417"/>
                  </a:lnTo>
                  <a:lnTo>
                    <a:pt x="155474" y="105261"/>
                  </a:lnTo>
                  <a:lnTo>
                    <a:pt x="155649" y="103961"/>
                  </a:lnTo>
                  <a:lnTo>
                    <a:pt x="155680" y="103187"/>
                  </a:lnTo>
                  <a:lnTo>
                    <a:pt x="155608" y="101970"/>
                  </a:lnTo>
                  <a:lnTo>
                    <a:pt x="155309" y="100442"/>
                  </a:lnTo>
                  <a:lnTo>
                    <a:pt x="154947" y="99359"/>
                  </a:lnTo>
                  <a:lnTo>
                    <a:pt x="154390" y="98193"/>
                  </a:lnTo>
                  <a:lnTo>
                    <a:pt x="153658" y="97048"/>
                  </a:lnTo>
                  <a:cubicBezTo>
                    <a:pt x="153353" y="96638"/>
                    <a:pt x="153018" y="96252"/>
                    <a:pt x="152657" y="95892"/>
                  </a:cubicBezTo>
                  <a:lnTo>
                    <a:pt x="111382" y="54617"/>
                  </a:lnTo>
                  <a:close/>
                </a:path>
              </a:pathLst>
            </a:custGeom>
            <a:solidFill>
              <a:schemeClr val="accent1"/>
            </a:solidFill>
            <a:ln>
              <a:noFill/>
            </a:ln>
          </p:spPr>
        </p:sp>
        <p:sp>
          <p:nvSpPr>
            <p:cNvPr id="42" name="TextBox 42"/>
            <p:cNvSpPr txBox="1"/>
            <p:nvPr/>
          </p:nvSpPr>
          <p:spPr>
            <a:xfrm>
              <a:off x="811530" y="5705475"/>
              <a:ext cx="5638991" cy="293370"/>
            </a:xfrm>
            <a:prstGeom prst="rect">
              <a:avLst/>
            </a:prstGeom>
            <a:noFill/>
            <a:ln>
              <a:noFill/>
            </a:ln>
          </p:spPr>
          <p:txBody>
            <a:bodyPr wrap="none" lIns="0" tIns="0" rIns="0" bIns="0" anchor="t" anchorCtr="0">
              <a:spAutoFit/>
            </a:bodyPr>
            <a:lstStyle/>
            <a:p>
              <a:pPr algn="l"/>
              <a:r>
                <a:rPr lang="zh-CN" sz="1500" dirty="0">
                  <a:solidFill>
                    <a:srgbClr val="5D6B7A"/>
                  </a:solidFill>
                  <a:latin typeface="+mn-lt"/>
                  <a:ea typeface="+mn-ea"/>
                  <a:cs typeface="+mn-cs"/>
                </a:rPr>
                <a:t>やり直したいときは［戻る］で通った道を戻れます。ビルド中の画面だけは戻れません。</a:t>
              </a:r>
            </a:p>
          </p:txBody>
        </p:sp>
      </p:grpSp>
      <p:grpSp>
        <p:nvGrpSpPr>
          <p:cNvPr id="46" name="Group 46"/>
          <p:cNvGrpSpPr/>
          <p:nvPr/>
        </p:nvGrpSpPr>
        <p:grpSpPr>
          <a:xfrm>
            <a:off x="451866" y="6477952"/>
            <a:ext cx="11288268" cy="205359"/>
            <a:chOff x="451866" y="6477952"/>
            <a:chExt cx="11288268" cy="205359"/>
          </a:xfrm>
        </p:grpSpPr>
        <p:sp>
          <p:nvSpPr>
            <p:cNvPr id="44" name="TextBox 44"/>
            <p:cNvSpPr txBox="1"/>
            <p:nvPr/>
          </p:nvSpPr>
          <p:spPr>
            <a:xfrm>
              <a:off x="451866" y="6477952"/>
              <a:ext cx="1155611"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a:t>
              </a:r>
            </a:p>
          </p:txBody>
        </p:sp>
        <p:sp>
          <p:nvSpPr>
            <p:cNvPr id="45" name="TextBox 45"/>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TextBox 4"/>
            <p:cNvSpPr txBox="1"/>
            <p:nvPr/>
          </p:nvSpPr>
          <p:spPr>
            <a:xfrm>
              <a:off x="441960" y="685800"/>
              <a:ext cx="274441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この本で使うサンプル</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39" name="Group 39"/>
          <p:cNvGrpSpPr/>
          <p:nvPr/>
        </p:nvGrpSpPr>
        <p:grpSpPr>
          <a:xfrm>
            <a:off x="457200" y="1333500"/>
            <a:ext cx="6096000" cy="4038600"/>
            <a:chOff x="457200" y="1333500"/>
            <a:chExt cx="6096000" cy="4038600"/>
          </a:xfrm>
        </p:grpSpPr>
        <p:sp>
          <p:nvSpPr>
            <p:cNvPr id="7" name="Rectangle 7"/>
            <p:cNvSpPr/>
            <p:nvPr/>
          </p:nvSpPr>
          <p:spPr>
            <a:xfrm>
              <a:off x="457200" y="1333500"/>
              <a:ext cx="6096000" cy="4038600"/>
            </a:xfrm>
            <a:prstGeom prst="roundRect">
              <a:avLst>
                <a:gd name="adj" fmla="val 3774"/>
              </a:avLst>
            </a:prstGeom>
            <a:solidFill>
              <a:schemeClr val="lt2"/>
            </a:solidFill>
            <a:ln>
              <a:noFill/>
            </a:ln>
          </p:spPr>
        </p:sp>
        <p:grpSp>
          <p:nvGrpSpPr>
            <p:cNvPr id="10" name="Group 10"/>
            <p:cNvGrpSpPr/>
            <p:nvPr/>
          </p:nvGrpSpPr>
          <p:grpSpPr>
            <a:xfrm>
              <a:off x="771524" y="1604962"/>
              <a:ext cx="190502" cy="238126"/>
              <a:chOff x="771524" y="1604962"/>
              <a:chExt cx="190502" cy="238126"/>
            </a:xfrm>
          </p:grpSpPr>
          <p:sp>
            <p:nvSpPr>
              <p:cNvPr id="8" name="Freeform 8"/>
              <p:cNvSpPr/>
              <p:nvPr/>
            </p:nvSpPr>
            <p:spPr>
              <a:xfrm>
                <a:off x="771524" y="1604962"/>
                <a:ext cx="190502" cy="238126"/>
              </a:xfrm>
              <a:custGeom>
                <a:avLst/>
                <a:gdLst/>
                <a:ahLst/>
                <a:cxnLst/>
                <a:rect l="l" t="t" r="r" b="b"/>
                <a:pathLst>
                  <a:path w="190502" h="238126">
                    <a:moveTo>
                      <a:pt x="95251" y="0"/>
                    </a:moveTo>
                    <a:lnTo>
                      <a:pt x="96644" y="83"/>
                    </a:lnTo>
                    <a:cubicBezTo>
                      <a:pt x="102115" y="729"/>
                      <a:pt x="106429" y="5042"/>
                      <a:pt x="107074" y="10513"/>
                    </a:cubicBezTo>
                    <a:lnTo>
                      <a:pt x="107157" y="11906"/>
                    </a:lnTo>
                    <a:lnTo>
                      <a:pt x="107157" y="59531"/>
                    </a:lnTo>
                    <a:lnTo>
                      <a:pt x="107217" y="61317"/>
                    </a:lnTo>
                    <a:cubicBezTo>
                      <a:pt x="108097" y="73032"/>
                      <a:pt x="117389" y="82354"/>
                      <a:pt x="129101" y="83272"/>
                    </a:cubicBezTo>
                    <a:lnTo>
                      <a:pt x="130970" y="83344"/>
                    </a:lnTo>
                    <a:lnTo>
                      <a:pt x="178595" y="83344"/>
                    </a:lnTo>
                    <a:lnTo>
                      <a:pt x="179988" y="83427"/>
                    </a:lnTo>
                    <a:cubicBezTo>
                      <a:pt x="185459" y="84072"/>
                      <a:pt x="189773" y="88386"/>
                      <a:pt x="190418" y="93857"/>
                    </a:cubicBezTo>
                    <a:lnTo>
                      <a:pt x="190501" y="95250"/>
                    </a:lnTo>
                    <a:lnTo>
                      <a:pt x="190501" y="202406"/>
                    </a:lnTo>
                    <a:cubicBezTo>
                      <a:pt x="190502" y="221320"/>
                      <a:pt x="175759" y="236956"/>
                      <a:pt x="156878" y="238065"/>
                    </a:cubicBezTo>
                    <a:lnTo>
                      <a:pt x="154782" y="238125"/>
                    </a:lnTo>
                    <a:lnTo>
                      <a:pt x="35720" y="238125"/>
                    </a:lnTo>
                    <a:cubicBezTo>
                      <a:pt x="16806" y="238126"/>
                      <a:pt x="1170" y="223383"/>
                      <a:pt x="61" y="204502"/>
                    </a:cubicBezTo>
                    <a:lnTo>
                      <a:pt x="1" y="202406"/>
                    </a:lnTo>
                    <a:lnTo>
                      <a:pt x="1" y="35719"/>
                    </a:lnTo>
                    <a:cubicBezTo>
                      <a:pt x="0" y="16805"/>
                      <a:pt x="14743" y="1169"/>
                      <a:pt x="33624" y="60"/>
                    </a:cubicBezTo>
                    <a:lnTo>
                      <a:pt x="35720" y="0"/>
                    </a:lnTo>
                    <a:close/>
                    <a:moveTo>
                      <a:pt x="76761" y="132231"/>
                    </a:moveTo>
                    <a:cubicBezTo>
                      <a:pt x="70882" y="129295"/>
                      <a:pt x="63736" y="131677"/>
                      <a:pt x="60794" y="137553"/>
                    </a:cubicBezTo>
                    <a:lnTo>
                      <a:pt x="48888" y="161365"/>
                    </a:lnTo>
                    <a:cubicBezTo>
                      <a:pt x="47214" y="164716"/>
                      <a:pt x="47214" y="168659"/>
                      <a:pt x="48888" y="172010"/>
                    </a:cubicBezTo>
                    <a:lnTo>
                      <a:pt x="60794" y="195822"/>
                    </a:lnTo>
                    <a:cubicBezTo>
                      <a:pt x="63736" y="201698"/>
                      <a:pt x="70882" y="204080"/>
                      <a:pt x="76761" y="201144"/>
                    </a:cubicBezTo>
                    <a:lnTo>
                      <a:pt x="77975" y="200454"/>
                    </a:lnTo>
                    <a:cubicBezTo>
                      <a:pt x="83018" y="197139"/>
                      <a:pt x="84783" y="190575"/>
                      <a:pt x="82083" y="185178"/>
                    </a:cubicBezTo>
                    <a:lnTo>
                      <a:pt x="72843" y="166688"/>
                    </a:lnTo>
                    <a:lnTo>
                      <a:pt x="82083" y="148197"/>
                    </a:lnTo>
                    <a:cubicBezTo>
                      <a:pt x="85019" y="142318"/>
                      <a:pt x="82637" y="135172"/>
                      <a:pt x="76761" y="132231"/>
                    </a:cubicBezTo>
                    <a:moveTo>
                      <a:pt x="129708" y="137553"/>
                    </a:moveTo>
                    <a:cubicBezTo>
                      <a:pt x="126766" y="131677"/>
                      <a:pt x="119620" y="129295"/>
                      <a:pt x="113741" y="132231"/>
                    </a:cubicBezTo>
                    <a:lnTo>
                      <a:pt x="112527" y="132921"/>
                    </a:lnTo>
                    <a:cubicBezTo>
                      <a:pt x="107484" y="136236"/>
                      <a:pt x="105719" y="142800"/>
                      <a:pt x="108419" y="148197"/>
                    </a:cubicBezTo>
                    <a:lnTo>
                      <a:pt x="117635" y="166688"/>
                    </a:lnTo>
                    <a:lnTo>
                      <a:pt x="108407" y="185178"/>
                    </a:lnTo>
                    <a:cubicBezTo>
                      <a:pt x="105710" y="191017"/>
                      <a:pt x="108138" y="197944"/>
                      <a:pt x="113892" y="200820"/>
                    </a:cubicBezTo>
                    <a:cubicBezTo>
                      <a:pt x="119645" y="203697"/>
                      <a:pt x="126643" y="201484"/>
                      <a:pt x="129696" y="195822"/>
                    </a:cubicBezTo>
                    <a:lnTo>
                      <a:pt x="141602" y="172010"/>
                    </a:lnTo>
                    <a:cubicBezTo>
                      <a:pt x="143276" y="168659"/>
                      <a:pt x="143276" y="164716"/>
                      <a:pt x="141602" y="161365"/>
                    </a:cubicBezTo>
                    <a:close/>
                  </a:path>
                </a:pathLst>
              </a:custGeom>
              <a:solidFill>
                <a:schemeClr val="accent1"/>
              </a:solidFill>
              <a:ln>
                <a:noFill/>
              </a:ln>
            </p:spPr>
          </p:sp>
          <p:sp>
            <p:nvSpPr>
              <p:cNvPr id="9" name="Freeform 9"/>
              <p:cNvSpPr/>
              <p:nvPr/>
            </p:nvSpPr>
            <p:spPr>
              <a:xfrm>
                <a:off x="902482" y="1616857"/>
                <a:ext cx="47637" cy="47637"/>
              </a:xfrm>
              <a:custGeom>
                <a:avLst/>
                <a:gdLst/>
                <a:ahLst/>
                <a:cxnLst/>
                <a:rect l="l" t="t" r="r" b="b"/>
                <a:pathLst>
                  <a:path w="47637" h="47637">
                    <a:moveTo>
                      <a:pt x="47637" y="47637"/>
                    </a:moveTo>
                    <a:lnTo>
                      <a:pt x="12" y="47637"/>
                    </a:lnTo>
                    <a:lnTo>
                      <a:pt x="0" y="0"/>
                    </a:lnTo>
                    <a:close/>
                  </a:path>
                </a:pathLst>
              </a:custGeom>
              <a:solidFill>
                <a:schemeClr val="accent1"/>
              </a:solidFill>
              <a:ln>
                <a:noFill/>
              </a:ln>
            </p:spPr>
          </p:sp>
        </p:grpSp>
        <p:sp>
          <p:nvSpPr>
            <p:cNvPr id="11" name="TextBox 11"/>
            <p:cNvSpPr txBox="1"/>
            <p:nvPr/>
          </p:nvSpPr>
          <p:spPr>
            <a:xfrm>
              <a:off x="1133856" y="1615440"/>
              <a:ext cx="2142794"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申請データ検証.xlsm</a:t>
              </a:r>
            </a:p>
          </p:txBody>
        </p:sp>
        <p:sp>
          <p:nvSpPr>
            <p:cNvPr id="12" name="TextBox 12"/>
            <p:cNvSpPr txBox="1"/>
            <p:nvPr/>
          </p:nvSpPr>
          <p:spPr>
            <a:xfrm>
              <a:off x="716661" y="2075021"/>
              <a:ext cx="3549142" cy="564452"/>
            </a:xfrm>
            <a:prstGeom prst="rect">
              <a:avLst/>
            </a:prstGeom>
            <a:noFill/>
            <a:ln>
              <a:noFill/>
            </a:ln>
          </p:spPr>
          <p:txBody>
            <a:bodyPr wrap="square" lIns="0" tIns="0" rIns="0" bIns="0" anchor="t" anchorCtr="0"/>
            <a:lstStyle/>
            <a:p>
              <a:pPr algn="l">
                <a:lnSpc>
                  <a:spcPts val="2250"/>
                </a:lnSpc>
              </a:pPr>
              <a:r>
                <a:rPr lang="zh-CN" sz="1420" dirty="0">
                  <a:solidFill>
                    <a:schemeClr val="dk1"/>
                  </a:solidFill>
                  <a:latin typeface="+mn-lt"/>
                  <a:ea typeface="+mn-ea"/>
                  <a:cs typeface="+mn-cs"/>
                </a:rPr>
                <a:t>申請一覧シートの内容を検証し、結果とログを書き込む部門マクロ。8 モジュール・484 行。</a:t>
              </a:r>
            </a:p>
          </p:txBody>
        </p:sp>
        <p:grpSp>
          <p:nvGrpSpPr>
            <p:cNvPr id="38" name="Group 38"/>
            <p:cNvGrpSpPr/>
            <p:nvPr/>
          </p:nvGrpSpPr>
          <p:grpSpPr>
            <a:xfrm>
              <a:off x="723900" y="2857500"/>
              <a:ext cx="5562600" cy="2247900"/>
              <a:chOff x="723900" y="2857500"/>
              <a:chExt cx="5562600" cy="2247900"/>
            </a:xfrm>
          </p:grpSpPr>
          <p:sp>
            <p:nvSpPr>
              <p:cNvPr id="13" name="Rectangle 13"/>
              <p:cNvSpPr/>
              <p:nvPr/>
            </p:nvSpPr>
            <p:spPr>
              <a:xfrm>
                <a:off x="723900" y="2857500"/>
                <a:ext cx="5562600" cy="381000"/>
              </a:xfrm>
              <a:prstGeom prst="rect">
                <a:avLst/>
              </a:prstGeom>
              <a:solidFill>
                <a:schemeClr val="accent1"/>
              </a:solidFill>
              <a:ln>
                <a:noFill/>
              </a:ln>
            </p:spPr>
          </p:sp>
          <p:sp>
            <p:nvSpPr>
              <p:cNvPr id="14" name="TextBox 14"/>
              <p:cNvSpPr txBox="1"/>
              <p:nvPr/>
            </p:nvSpPr>
            <p:spPr>
              <a:xfrm>
                <a:off x="869442" y="2968942"/>
                <a:ext cx="538482"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モジュール</a:t>
                </a:r>
              </a:p>
            </p:txBody>
          </p:sp>
          <p:sp>
            <p:nvSpPr>
              <p:cNvPr id="15" name="TextBox 15"/>
              <p:cNvSpPr txBox="1"/>
              <p:nvPr/>
            </p:nvSpPr>
            <p:spPr>
              <a:xfrm>
                <a:off x="2754744" y="2968942"/>
                <a:ext cx="395364"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行数</a:t>
                </a:r>
              </a:p>
            </p:txBody>
          </p:sp>
          <p:sp>
            <p:nvSpPr>
              <p:cNvPr id="16" name="TextBox 16"/>
              <p:cNvSpPr txBox="1"/>
              <p:nvPr/>
            </p:nvSpPr>
            <p:spPr>
              <a:xfrm>
                <a:off x="3384042" y="2968942"/>
                <a:ext cx="433528"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はたらき</a:t>
                </a:r>
              </a:p>
            </p:txBody>
          </p:sp>
          <p:sp>
            <p:nvSpPr>
              <p:cNvPr id="17" name="Rectangle 17"/>
              <p:cNvSpPr/>
              <p:nvPr/>
            </p:nvSpPr>
            <p:spPr>
              <a:xfrm>
                <a:off x="723900" y="3238500"/>
                <a:ext cx="5562600" cy="371475"/>
              </a:xfrm>
              <a:prstGeom prst="rect">
                <a:avLst/>
              </a:prstGeom>
              <a:solidFill>
                <a:schemeClr val="lt1"/>
              </a:solidFill>
              <a:ln>
                <a:noFill/>
              </a:ln>
            </p:spPr>
          </p:sp>
          <p:sp>
            <p:nvSpPr>
              <p:cNvPr id="18" name="TextBox 18"/>
              <p:cNvSpPr txBox="1"/>
              <p:nvPr/>
            </p:nvSpPr>
            <p:spPr>
              <a:xfrm>
                <a:off x="869442" y="3340418"/>
                <a:ext cx="12327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AppController</a:t>
                </a:r>
              </a:p>
            </p:txBody>
          </p:sp>
          <p:sp>
            <p:nvSpPr>
              <p:cNvPr id="19" name="TextBox 19"/>
              <p:cNvSpPr txBox="1"/>
              <p:nvPr/>
            </p:nvSpPr>
            <p:spPr>
              <a:xfrm>
                <a:off x="2836526" y="3340418"/>
                <a:ext cx="313582"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103</a:t>
                </a:r>
              </a:p>
            </p:txBody>
          </p:sp>
          <p:sp>
            <p:nvSpPr>
              <p:cNvPr id="20" name="TextBox 20"/>
              <p:cNvSpPr txBox="1"/>
              <p:nvPr/>
            </p:nvSpPr>
            <p:spPr>
              <a:xfrm>
                <a:off x="3384042" y="3340418"/>
                <a:ext cx="166752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検証全体の入口と進行</a:t>
                </a:r>
              </a:p>
            </p:txBody>
          </p:sp>
          <p:sp>
            <p:nvSpPr>
              <p:cNvPr id="21" name="Rectangle 21"/>
              <p:cNvSpPr/>
              <p:nvPr/>
            </p:nvSpPr>
            <p:spPr>
              <a:xfrm>
                <a:off x="723900" y="3609975"/>
                <a:ext cx="5562600" cy="371475"/>
              </a:xfrm>
              <a:prstGeom prst="rect">
                <a:avLst/>
              </a:prstGeom>
              <a:solidFill>
                <a:schemeClr val="accent5"/>
              </a:solidFill>
              <a:ln>
                <a:noFill/>
              </a:ln>
            </p:spPr>
          </p:sp>
          <p:sp>
            <p:nvSpPr>
              <p:cNvPr id="22" name="TextBox 22"/>
              <p:cNvSpPr txBox="1"/>
              <p:nvPr/>
            </p:nvSpPr>
            <p:spPr>
              <a:xfrm>
                <a:off x="869442" y="3711892"/>
                <a:ext cx="101539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SystemInfo</a:t>
                </a:r>
              </a:p>
            </p:txBody>
          </p:sp>
          <p:sp>
            <p:nvSpPr>
              <p:cNvPr id="23" name="TextBox 23"/>
              <p:cNvSpPr txBox="1"/>
              <p:nvPr/>
            </p:nvSpPr>
            <p:spPr>
              <a:xfrm>
                <a:off x="2836526" y="3711892"/>
                <a:ext cx="313582"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157</a:t>
                </a:r>
              </a:p>
            </p:txBody>
          </p:sp>
          <p:sp>
            <p:nvSpPr>
              <p:cNvPr id="24" name="TextBox 24"/>
              <p:cNvSpPr txBox="1"/>
              <p:nvPr/>
            </p:nvSpPr>
            <p:spPr>
              <a:xfrm>
                <a:off x="3384042" y="3711892"/>
                <a:ext cx="226725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シート構成の確認と設定の読み取り</a:t>
                </a:r>
              </a:p>
            </p:txBody>
          </p:sp>
          <p:sp>
            <p:nvSpPr>
              <p:cNvPr id="25" name="Rectangle 25"/>
              <p:cNvSpPr/>
              <p:nvPr/>
            </p:nvSpPr>
            <p:spPr>
              <a:xfrm>
                <a:off x="723900" y="3981450"/>
                <a:ext cx="5562600" cy="371475"/>
              </a:xfrm>
              <a:prstGeom prst="rect">
                <a:avLst/>
              </a:prstGeom>
              <a:solidFill>
                <a:schemeClr val="lt1"/>
              </a:solidFill>
              <a:ln>
                <a:noFill/>
              </a:ln>
            </p:spPr>
          </p:sp>
          <p:sp>
            <p:nvSpPr>
              <p:cNvPr id="26" name="TextBox 26"/>
              <p:cNvSpPr txBox="1"/>
              <p:nvPr/>
            </p:nvSpPr>
            <p:spPr>
              <a:xfrm>
                <a:off x="869442" y="4083368"/>
                <a:ext cx="92349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TimerUtils</a:t>
                </a:r>
              </a:p>
            </p:txBody>
          </p:sp>
          <p:sp>
            <p:nvSpPr>
              <p:cNvPr id="27" name="TextBox 27"/>
              <p:cNvSpPr txBox="1"/>
              <p:nvPr/>
            </p:nvSpPr>
            <p:spPr>
              <a:xfrm>
                <a:off x="2936481" y="4083368"/>
                <a:ext cx="213627"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14</a:t>
                </a:r>
              </a:p>
            </p:txBody>
          </p:sp>
          <p:sp>
            <p:nvSpPr>
              <p:cNvPr id="28" name="TextBox 28"/>
              <p:cNvSpPr txBox="1"/>
              <p:nvPr/>
            </p:nvSpPr>
            <p:spPr>
              <a:xfrm>
                <a:off x="3384042" y="4083368"/>
                <a:ext cx="14857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待ち時間と経過時間</a:t>
                </a:r>
              </a:p>
            </p:txBody>
          </p:sp>
          <p:sp>
            <p:nvSpPr>
              <p:cNvPr id="29" name="Rectangle 29"/>
              <p:cNvSpPr/>
              <p:nvPr/>
            </p:nvSpPr>
            <p:spPr>
              <a:xfrm>
                <a:off x="723900" y="4352925"/>
                <a:ext cx="5562600" cy="371475"/>
              </a:xfrm>
              <a:prstGeom prst="rect">
                <a:avLst/>
              </a:prstGeom>
              <a:solidFill>
                <a:schemeClr val="accent5"/>
              </a:solidFill>
              <a:ln>
                <a:noFill/>
              </a:ln>
            </p:spPr>
          </p:sp>
          <p:sp>
            <p:nvSpPr>
              <p:cNvPr id="30" name="TextBox 30"/>
              <p:cNvSpPr txBox="1"/>
              <p:nvPr/>
            </p:nvSpPr>
            <p:spPr>
              <a:xfrm>
                <a:off x="869442" y="4454842"/>
                <a:ext cx="106027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WindowUtils</a:t>
                </a:r>
              </a:p>
            </p:txBody>
          </p:sp>
          <p:sp>
            <p:nvSpPr>
              <p:cNvPr id="31" name="TextBox 31"/>
              <p:cNvSpPr txBox="1"/>
              <p:nvPr/>
            </p:nvSpPr>
            <p:spPr>
              <a:xfrm>
                <a:off x="2836526" y="4454842"/>
                <a:ext cx="313582" cy="264033"/>
              </a:xfrm>
              <a:prstGeom prst="rect">
                <a:avLst/>
              </a:prstGeom>
              <a:noFill/>
              <a:ln>
                <a:noFill/>
              </a:ln>
            </p:spPr>
            <p:txBody>
              <a:bodyPr wrap="none" lIns="0" tIns="0" rIns="0" bIns="0" anchor="t" anchorCtr="0">
                <a:spAutoFit/>
              </a:bodyPr>
              <a:lstStyle/>
              <a:p>
                <a:pPr algn="r"/>
                <a:r>
                  <a:rPr lang="en-US" sz="1350" dirty="0">
                    <a:solidFill>
                      <a:schemeClr val="dk1"/>
                    </a:solidFill>
                    <a:latin typeface="+mn-lt"/>
                    <a:ea typeface="+mn-ea"/>
                    <a:cs typeface="+mn-cs"/>
                  </a:rPr>
                  <a:t>210</a:t>
                </a:r>
              </a:p>
            </p:txBody>
          </p:sp>
          <p:sp>
            <p:nvSpPr>
              <p:cNvPr id="32" name="TextBox 32"/>
              <p:cNvSpPr txBox="1"/>
              <p:nvPr/>
            </p:nvSpPr>
            <p:spPr>
              <a:xfrm>
                <a:off x="3384042" y="4454842"/>
                <a:ext cx="255803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申請 1 行ずつの検証と結果の書き込み</a:t>
                </a:r>
              </a:p>
            </p:txBody>
          </p:sp>
          <p:sp>
            <p:nvSpPr>
              <p:cNvPr id="33" name="Rectangle 33"/>
              <p:cNvSpPr/>
              <p:nvPr/>
            </p:nvSpPr>
            <p:spPr>
              <a:xfrm>
                <a:off x="723900" y="4724400"/>
                <a:ext cx="5562600" cy="371475"/>
              </a:xfrm>
              <a:prstGeom prst="rect">
                <a:avLst/>
              </a:prstGeom>
              <a:solidFill>
                <a:schemeClr val="lt1"/>
              </a:solidFill>
              <a:ln>
                <a:noFill/>
              </a:ln>
            </p:spPr>
          </p:sp>
          <p:sp>
            <p:nvSpPr>
              <p:cNvPr id="34" name="TextBox 34"/>
              <p:cNvSpPr txBox="1"/>
              <p:nvPr/>
            </p:nvSpPr>
            <p:spPr>
              <a:xfrm>
                <a:off x="869442" y="4826318"/>
                <a:ext cx="522580" cy="264033"/>
              </a:xfrm>
              <a:prstGeom prst="rect">
                <a:avLst/>
              </a:prstGeom>
              <a:noFill/>
              <a:ln>
                <a:noFill/>
              </a:ln>
            </p:spPr>
            <p:txBody>
              <a:bodyPr wrap="none" lIns="0" tIns="0" rIns="0" bIns="0" anchor="t" anchorCtr="0">
                <a:spAutoFit/>
              </a:bodyPr>
              <a:lstStyle/>
              <a:p>
                <a:pPr algn="l"/>
                <a:r>
                  <a:rPr lang="en-US" sz="1350" dirty="0">
                    <a:solidFill>
                      <a:srgbClr val="5D6B7A"/>
                    </a:solidFill>
                    <a:latin typeface="+mn-lt"/>
                    <a:ea typeface="+mn-ea"/>
                    <a:cs typeface="+mn-cs"/>
                  </a:rPr>
                  <a:t>ほか 4 つ</a:t>
                </a:r>
              </a:p>
            </p:txBody>
          </p:sp>
          <p:sp>
            <p:nvSpPr>
              <p:cNvPr id="35" name="TextBox 35"/>
              <p:cNvSpPr txBox="1"/>
              <p:nvPr/>
            </p:nvSpPr>
            <p:spPr>
              <a:xfrm>
                <a:off x="3036437" y="4826318"/>
                <a:ext cx="113671" cy="264033"/>
              </a:xfrm>
              <a:prstGeom prst="rect">
                <a:avLst/>
              </a:prstGeom>
              <a:noFill/>
              <a:ln>
                <a:noFill/>
              </a:ln>
            </p:spPr>
            <p:txBody>
              <a:bodyPr wrap="none" lIns="0" tIns="0" rIns="0" bIns="0" anchor="t" anchorCtr="0">
                <a:spAutoFit/>
              </a:bodyPr>
              <a:lstStyle/>
              <a:p>
                <a:pPr algn="r"/>
                <a:r>
                  <a:rPr lang="en-US" sz="1350" dirty="0">
                    <a:solidFill>
                      <a:srgbClr val="5D6B7A"/>
                    </a:solidFill>
                    <a:latin typeface="+mn-lt"/>
                    <a:ea typeface="+mn-ea"/>
                    <a:cs typeface="+mn-cs"/>
                  </a:rPr>
                  <a:t>0</a:t>
                </a:r>
              </a:p>
            </p:txBody>
          </p:sp>
          <p:sp>
            <p:nvSpPr>
              <p:cNvPr id="36" name="TextBox 36"/>
              <p:cNvSpPr txBox="1"/>
              <p:nvPr/>
            </p:nvSpPr>
            <p:spPr>
              <a:xfrm>
                <a:off x="3384042" y="4826318"/>
                <a:ext cx="1958302" cy="264033"/>
              </a:xfrm>
              <a:prstGeom prst="rect">
                <a:avLst/>
              </a:prstGeom>
              <a:noFill/>
              <a:ln>
                <a:noFill/>
              </a:ln>
            </p:spPr>
            <p:txBody>
              <a:bodyPr wrap="none" lIns="0" tIns="0" rIns="0" bIns="0" anchor="t" anchorCtr="0">
                <a:spAutoFit/>
              </a:bodyPr>
              <a:lstStyle/>
              <a:p>
                <a:pPr algn="l"/>
                <a:r>
                  <a:rPr lang="zh-CN" sz="1350" dirty="0">
                    <a:solidFill>
                      <a:srgbClr val="5D6B7A"/>
                    </a:solidFill>
                    <a:latin typeface="+mn-lt"/>
                    <a:ea typeface="+mn-ea"/>
                    <a:cs typeface="+mn-cs"/>
                  </a:rPr>
                  <a:t>シート側のモジュール（コードなし）</a:t>
                </a:r>
              </a:p>
            </p:txBody>
          </p:sp>
          <p:sp>
            <p:nvSpPr>
              <p:cNvPr id="37" name="Rectangle 37"/>
              <p:cNvSpPr/>
              <p:nvPr/>
            </p:nvSpPr>
            <p:spPr>
              <a:xfrm>
                <a:off x="723900" y="2857500"/>
                <a:ext cx="5562600" cy="2247900"/>
              </a:xfrm>
              <a:prstGeom prst="roundRect">
                <a:avLst>
                  <a:gd name="adj" fmla="val 3390"/>
                </a:avLst>
              </a:prstGeom>
              <a:noFill/>
              <a:ln w="14288">
                <a:solidFill>
                  <a:schemeClr val="accent6"/>
                </a:solidFill>
              </a:ln>
            </p:spPr>
          </p:sp>
        </p:grpSp>
      </p:grpSp>
      <p:grpSp>
        <p:nvGrpSpPr>
          <p:cNvPr id="44" name="Group 44"/>
          <p:cNvGrpSpPr/>
          <p:nvPr/>
        </p:nvGrpSpPr>
        <p:grpSpPr>
          <a:xfrm>
            <a:off x="6858000" y="1333500"/>
            <a:ext cx="4876800" cy="1905000"/>
            <a:chOff x="6858000" y="1333500"/>
            <a:chExt cx="4876800" cy="1905000"/>
          </a:xfrm>
        </p:grpSpPr>
        <p:sp>
          <p:nvSpPr>
            <p:cNvPr id="40" name="Rectangle 40"/>
            <p:cNvSpPr/>
            <p:nvPr/>
          </p:nvSpPr>
          <p:spPr>
            <a:xfrm>
              <a:off x="6858000" y="1333500"/>
              <a:ext cx="4876800" cy="1905000"/>
            </a:xfrm>
            <a:prstGeom prst="roundRect">
              <a:avLst>
                <a:gd name="adj" fmla="val 8000"/>
              </a:avLst>
            </a:prstGeom>
            <a:solidFill>
              <a:schemeClr val="lt1"/>
            </a:solidFill>
            <a:ln w="19050">
              <a:solidFill>
                <a:schemeClr val="accent2"/>
              </a:solidFill>
            </a:ln>
          </p:spPr>
        </p:sp>
        <p:sp>
          <p:nvSpPr>
            <p:cNvPr id="41" name="Freeform 41"/>
            <p:cNvSpPr/>
            <p:nvPr/>
          </p:nvSpPr>
          <p:spPr>
            <a:xfrm>
              <a:off x="7134238" y="1580658"/>
              <a:ext cx="247496" cy="214761"/>
            </a:xfrm>
            <a:custGeom>
              <a:avLst/>
              <a:gdLst/>
              <a:ahLst/>
              <a:cxnLst/>
              <a:rect l="l" t="t" r="r" b="b"/>
              <a:pathLst>
                <a:path w="247496" h="214761">
                  <a:moveTo>
                    <a:pt x="123812" y="0"/>
                  </a:moveTo>
                  <a:cubicBezTo>
                    <a:pt x="134425" y="0"/>
                    <a:pt x="144315" y="5190"/>
                    <a:pt x="150371" y="13857"/>
                  </a:cubicBezTo>
                  <a:lnTo>
                    <a:pt x="151538" y="15635"/>
                  </a:lnTo>
                  <a:lnTo>
                    <a:pt x="241705" y="166188"/>
                  </a:lnTo>
                  <a:cubicBezTo>
                    <a:pt x="247275" y="175835"/>
                    <a:pt x="247496" y="187668"/>
                    <a:pt x="242289" y="197516"/>
                  </a:cubicBezTo>
                  <a:cubicBezTo>
                    <a:pt x="237081" y="207364"/>
                    <a:pt x="227178" y="213844"/>
                    <a:pt x="216069" y="214672"/>
                  </a:cubicBezTo>
                  <a:lnTo>
                    <a:pt x="213902" y="214761"/>
                  </a:lnTo>
                  <a:lnTo>
                    <a:pt x="33601" y="214761"/>
                  </a:lnTo>
                  <a:cubicBezTo>
                    <a:pt x="22481" y="214636"/>
                    <a:pt x="12203" y="208813"/>
                    <a:pt x="6379" y="199340"/>
                  </a:cubicBezTo>
                  <a:cubicBezTo>
                    <a:pt x="555" y="189866"/>
                    <a:pt x="0" y="178067"/>
                    <a:pt x="4908" y="168088"/>
                  </a:cubicBezTo>
                  <a:lnTo>
                    <a:pt x="6009" y="166032"/>
                  </a:lnTo>
                  <a:lnTo>
                    <a:pt x="96131" y="15591"/>
                  </a:lnTo>
                  <a:cubicBezTo>
                    <a:pt x="102000" y="5914"/>
                    <a:pt x="112495" y="2"/>
                    <a:pt x="123812" y="0"/>
                  </a:cubicBezTo>
                  <a:close/>
                  <a:moveTo>
                    <a:pt x="123924" y="148130"/>
                  </a:moveTo>
                  <a:lnTo>
                    <a:pt x="122512" y="148208"/>
                  </a:lnTo>
                  <a:cubicBezTo>
                    <a:pt x="116922" y="148873"/>
                    <a:pt x="112712" y="153613"/>
                    <a:pt x="112712" y="159243"/>
                  </a:cubicBezTo>
                  <a:cubicBezTo>
                    <a:pt x="112712" y="164872"/>
                    <a:pt x="116922" y="169612"/>
                    <a:pt x="122512" y="170277"/>
                  </a:cubicBezTo>
                  <a:lnTo>
                    <a:pt x="123812" y="170355"/>
                  </a:lnTo>
                  <a:lnTo>
                    <a:pt x="125224" y="170277"/>
                  </a:lnTo>
                  <a:cubicBezTo>
                    <a:pt x="130814" y="169612"/>
                    <a:pt x="135024" y="164872"/>
                    <a:pt x="135024" y="159243"/>
                  </a:cubicBezTo>
                  <a:cubicBezTo>
                    <a:pt x="135024" y="153613"/>
                    <a:pt x="130814" y="148873"/>
                    <a:pt x="125224" y="148208"/>
                  </a:cubicBezTo>
                  <a:lnTo>
                    <a:pt x="123924" y="148130"/>
                  </a:lnTo>
                  <a:close/>
                  <a:moveTo>
                    <a:pt x="123812" y="70342"/>
                  </a:moveTo>
                  <a:cubicBezTo>
                    <a:pt x="118179" y="70343"/>
                    <a:pt x="113437" y="74560"/>
                    <a:pt x="112778" y="80155"/>
                  </a:cubicBezTo>
                  <a:lnTo>
                    <a:pt x="112700" y="81455"/>
                  </a:lnTo>
                  <a:lnTo>
                    <a:pt x="112700" y="125905"/>
                  </a:lnTo>
                  <a:lnTo>
                    <a:pt x="112778" y="127205"/>
                  </a:lnTo>
                  <a:cubicBezTo>
                    <a:pt x="113443" y="132795"/>
                    <a:pt x="118183" y="137005"/>
                    <a:pt x="123812" y="137005"/>
                  </a:cubicBezTo>
                  <a:cubicBezTo>
                    <a:pt x="129442" y="137005"/>
                    <a:pt x="134182" y="132795"/>
                    <a:pt x="134847" y="127205"/>
                  </a:cubicBezTo>
                  <a:lnTo>
                    <a:pt x="134925" y="125905"/>
                  </a:lnTo>
                  <a:lnTo>
                    <a:pt x="134925" y="81455"/>
                  </a:lnTo>
                  <a:lnTo>
                    <a:pt x="134847" y="80155"/>
                  </a:lnTo>
                  <a:cubicBezTo>
                    <a:pt x="134188" y="74560"/>
                    <a:pt x="129446" y="70343"/>
                    <a:pt x="123812" y="70342"/>
                  </a:cubicBezTo>
                  <a:close/>
                </a:path>
              </a:pathLst>
            </a:custGeom>
            <a:solidFill>
              <a:schemeClr val="accent2"/>
            </a:solidFill>
            <a:ln>
              <a:noFill/>
            </a:ln>
          </p:spPr>
        </p:sp>
        <p:sp>
          <p:nvSpPr>
            <p:cNvPr id="42" name="TextBox 42"/>
            <p:cNvSpPr txBox="1"/>
            <p:nvPr/>
          </p:nvSpPr>
          <p:spPr>
            <a:xfrm>
              <a:off x="7497318" y="1593532"/>
              <a:ext cx="634821"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困りごと</a:t>
              </a:r>
            </a:p>
          </p:txBody>
        </p:sp>
        <p:sp>
          <p:nvSpPr>
            <p:cNvPr id="43" name="TextBox 43"/>
            <p:cNvSpPr txBox="1"/>
            <p:nvPr/>
          </p:nvSpPr>
          <p:spPr>
            <a:xfrm>
              <a:off x="7117461" y="2017871"/>
              <a:ext cx="2917952" cy="1135952"/>
            </a:xfrm>
            <a:prstGeom prst="rect">
              <a:avLst/>
            </a:prstGeom>
            <a:noFill/>
            <a:ln>
              <a:noFill/>
            </a:ln>
          </p:spPr>
          <p:txBody>
            <a:bodyPr wrap="square" lIns="0" tIns="0" rIns="0" bIns="0" anchor="t" anchorCtr="0"/>
            <a:lstStyle/>
            <a:p>
              <a:pPr algn="l">
                <a:lnSpc>
                  <a:spcPts val="2250"/>
                </a:lnSpc>
              </a:pPr>
              <a:r>
                <a:rPr lang="zh-CN" sz="1420" dirty="0">
                  <a:solidFill>
                    <a:schemeClr val="dk1"/>
                  </a:solidFill>
                  <a:latin typeface="+mn-lt"/>
                  <a:ea typeface="+mn-ea"/>
                  <a:cs typeface="+mn-cs"/>
                </a:rPr>
                <a:t>新しい業務端末では、Win32 API という古い仕組みが使えません。このマクロは待ち時間を作るために、それ（Sleep）を 19 か所で使っています。</a:t>
              </a:r>
            </a:p>
          </p:txBody>
        </p:sp>
      </p:grpSp>
      <p:grpSp>
        <p:nvGrpSpPr>
          <p:cNvPr id="49" name="Group 49"/>
          <p:cNvGrpSpPr/>
          <p:nvPr/>
        </p:nvGrpSpPr>
        <p:grpSpPr>
          <a:xfrm>
            <a:off x="6858000" y="3467100"/>
            <a:ext cx="4876800" cy="1905000"/>
            <a:chOff x="6858000" y="3467100"/>
            <a:chExt cx="4876800" cy="1905000"/>
          </a:xfrm>
        </p:grpSpPr>
        <p:sp>
          <p:nvSpPr>
            <p:cNvPr id="45" name="Rectangle 45"/>
            <p:cNvSpPr/>
            <p:nvPr/>
          </p:nvSpPr>
          <p:spPr>
            <a:xfrm>
              <a:off x="6858000" y="3467100"/>
              <a:ext cx="4876800" cy="1905000"/>
            </a:xfrm>
            <a:prstGeom prst="roundRect">
              <a:avLst>
                <a:gd name="adj" fmla="val 8000"/>
              </a:avLst>
            </a:prstGeom>
            <a:solidFill>
              <a:schemeClr val="lt2"/>
            </a:solidFill>
            <a:ln>
              <a:noFill/>
            </a:ln>
          </p:spPr>
        </p:sp>
        <p:sp>
          <p:nvSpPr>
            <p:cNvPr id="46" name="Freeform 46"/>
            <p:cNvSpPr/>
            <p:nvPr/>
          </p:nvSpPr>
          <p:spPr>
            <a:xfrm>
              <a:off x="7146925" y="371294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1"/>
            </a:solidFill>
            <a:ln>
              <a:noFill/>
            </a:ln>
          </p:spPr>
        </p:sp>
        <p:sp>
          <p:nvSpPr>
            <p:cNvPr id="47" name="TextBox 47"/>
            <p:cNvSpPr txBox="1"/>
            <p:nvPr/>
          </p:nvSpPr>
          <p:spPr>
            <a:xfrm>
              <a:off x="7497318" y="3727132"/>
              <a:ext cx="996326"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今回やること</a:t>
              </a:r>
            </a:p>
          </p:txBody>
        </p:sp>
        <p:sp>
          <p:nvSpPr>
            <p:cNvPr id="48" name="TextBox 48"/>
            <p:cNvSpPr txBox="1"/>
            <p:nvPr/>
          </p:nvSpPr>
          <p:spPr>
            <a:xfrm>
              <a:off x="7117461" y="4151471"/>
              <a:ext cx="2818765" cy="850202"/>
            </a:xfrm>
            <a:prstGeom prst="rect">
              <a:avLst/>
            </a:prstGeom>
            <a:noFill/>
            <a:ln>
              <a:noFill/>
            </a:ln>
          </p:spPr>
          <p:txBody>
            <a:bodyPr wrap="square" lIns="0" tIns="0" rIns="0" bIns="0" anchor="t" anchorCtr="0"/>
            <a:lstStyle/>
            <a:p>
              <a:pPr algn="l">
                <a:lnSpc>
                  <a:spcPts val="2250"/>
                </a:lnSpc>
              </a:pPr>
              <a:r>
                <a:rPr lang="zh-CN" sz="1420" dirty="0">
                  <a:solidFill>
                    <a:schemeClr val="dk1"/>
                  </a:solidFill>
                  <a:latin typeface="+mn-lt"/>
                  <a:ea typeface="+mn-ea"/>
                  <a:cs typeface="+mn-cs"/>
                </a:rPr>
                <a:t>目的「Win32 API を使わない形へ直す」で</a:t>
              </a:r>
              <a:r>
                <a:rPr lang="en-US" sz="1420" dirty="0">
                  <a:solidFill>
                    <a:schemeClr val="dk1"/>
                  </a:solidFill>
                  <a:latin typeface="+mn-lt"/>
                  <a:ea typeface="+mn-ea"/>
                  <a:cs typeface="+mn-cs"/>
                </a:rPr>
                <a:t xml:space="preserve"> </a:t>
              </a:r>
              <a:r>
                <a:rPr lang="zh-CN" sz="1420" dirty="0">
                  <a:solidFill>
                    <a:schemeClr val="dk1"/>
                  </a:solidFill>
                  <a:latin typeface="+mn-lt"/>
                  <a:ea typeface="+mn-ea"/>
                  <a:cs typeface="+mn-cs"/>
                </a:rPr>
                <a:t>AI に依頼し、改修済みブックを作って、Excel で動作を確かめるところまで通します。</a:t>
              </a:r>
            </a:p>
          </p:txBody>
        </p:sp>
      </p:grpSp>
      <p:grpSp>
        <p:nvGrpSpPr>
          <p:cNvPr id="51" name="Group 51"/>
          <p:cNvGrpSpPr/>
          <p:nvPr/>
        </p:nvGrpSpPr>
        <p:grpSpPr>
          <a:xfrm>
            <a:off x="450723" y="5767864"/>
            <a:ext cx="7043349" cy="249364"/>
            <a:chOff x="450723" y="5767864"/>
            <a:chExt cx="7043349" cy="249364"/>
          </a:xfrm>
        </p:grpSpPr>
        <p:sp>
          <p:nvSpPr>
            <p:cNvPr id="50" name="TextBox 50"/>
            <p:cNvSpPr txBox="1"/>
            <p:nvPr/>
          </p:nvSpPr>
          <p:spPr>
            <a:xfrm>
              <a:off x="450723" y="5767864"/>
              <a:ext cx="7043349"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この先の画面写真は、すべてこのサンプルの実操作です。ブック名やフォルダは架空の例で、実在の業務データは含みません。</a:t>
              </a:r>
            </a:p>
          </p:txBody>
        </p:sp>
      </p:grpSp>
      <p:grpSp>
        <p:nvGrpSpPr>
          <p:cNvPr id="54" name="Group 54"/>
          <p:cNvGrpSpPr/>
          <p:nvPr/>
        </p:nvGrpSpPr>
        <p:grpSpPr>
          <a:xfrm>
            <a:off x="451866" y="6477952"/>
            <a:ext cx="11288268" cy="205359"/>
            <a:chOff x="451866" y="6477952"/>
            <a:chExt cx="11288268" cy="205359"/>
          </a:xfrm>
        </p:grpSpPr>
        <p:sp>
          <p:nvSpPr>
            <p:cNvPr id="52" name="TextBox 52"/>
            <p:cNvSpPr txBox="1"/>
            <p:nvPr/>
          </p:nvSpPr>
          <p:spPr>
            <a:xfrm>
              <a:off x="451866" y="6477952"/>
              <a:ext cx="1155611"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a:t>
              </a:r>
            </a:p>
          </p:txBody>
        </p:sp>
        <p:sp>
          <p:nvSpPr>
            <p:cNvPr id="53" name="TextBox 53"/>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TextBox 4"/>
            <p:cNvSpPr txBox="1"/>
            <p:nvPr/>
          </p:nvSpPr>
          <p:spPr>
            <a:xfrm>
              <a:off x="441960" y="685800"/>
              <a:ext cx="308366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起動と画面の見かた</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9" name="Group 9"/>
          <p:cNvGrpSpPr/>
          <p:nvPr/>
        </p:nvGrpSpPr>
        <p:grpSpPr>
          <a:xfrm>
            <a:off x="519111" y="1345882"/>
            <a:ext cx="5342283" cy="322707"/>
            <a:chOff x="519111" y="1345882"/>
            <a:chExt cx="5342283" cy="322707"/>
          </a:xfrm>
        </p:grpSpPr>
        <p:sp>
          <p:nvSpPr>
            <p:cNvPr id="7" name="Freeform 7"/>
            <p:cNvSpPr/>
            <p:nvPr/>
          </p:nvSpPr>
          <p:spPr>
            <a:xfrm>
              <a:off x="519111" y="1363941"/>
              <a:ext cx="154787" cy="186768"/>
            </a:xfrm>
            <a:custGeom>
              <a:avLst/>
              <a:gdLst/>
              <a:ahLst/>
              <a:cxnLst/>
              <a:rect l="l" t="t" r="r" b="b"/>
              <a:pathLst>
                <a:path w="154787" h="186768">
                  <a:moveTo>
                    <a:pt x="1" y="10834"/>
                  </a:moveTo>
                  <a:lnTo>
                    <a:pt x="1" y="175934"/>
                  </a:lnTo>
                  <a:cubicBezTo>
                    <a:pt x="0" y="179672"/>
                    <a:pt x="2021" y="183119"/>
                    <a:pt x="5284" y="184943"/>
                  </a:cubicBezTo>
                  <a:cubicBezTo>
                    <a:pt x="8548" y="186768"/>
                    <a:pt x="12543" y="186684"/>
                    <a:pt x="15727" y="184725"/>
                  </a:cubicBezTo>
                  <a:lnTo>
                    <a:pt x="149870" y="102175"/>
                  </a:lnTo>
                  <a:cubicBezTo>
                    <a:pt x="152925" y="100298"/>
                    <a:pt x="154787" y="96969"/>
                    <a:pt x="154787" y="93384"/>
                  </a:cubicBezTo>
                  <a:cubicBezTo>
                    <a:pt x="154787" y="89798"/>
                    <a:pt x="152925" y="86469"/>
                    <a:pt x="149870" y="84592"/>
                  </a:cubicBezTo>
                  <a:lnTo>
                    <a:pt x="15727" y="2042"/>
                  </a:lnTo>
                  <a:cubicBezTo>
                    <a:pt x="12543" y="83"/>
                    <a:pt x="8548" y="0"/>
                    <a:pt x="5284" y="1824"/>
                  </a:cubicBezTo>
                  <a:cubicBezTo>
                    <a:pt x="2021" y="3649"/>
                    <a:pt x="0" y="7095"/>
                    <a:pt x="1" y="10834"/>
                  </a:cubicBezTo>
                  <a:close/>
                </a:path>
              </a:pathLst>
            </a:custGeom>
            <a:solidFill>
              <a:schemeClr val="accent1"/>
            </a:solidFill>
            <a:ln>
              <a:noFill/>
            </a:ln>
          </p:spPr>
        </p:sp>
        <p:sp>
          <p:nvSpPr>
            <p:cNvPr id="8" name="TextBox 8"/>
            <p:cNvSpPr txBox="1"/>
            <p:nvPr/>
          </p:nvSpPr>
          <p:spPr>
            <a:xfrm>
              <a:off x="810768" y="1345882"/>
              <a:ext cx="505062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 xml:space="preserve">起動は、フォルダの中の </a:t>
              </a:r>
              <a:r>
                <a:rPr lang="en-US" sz="1650" b="1" dirty="0">
                  <a:solidFill>
                    <a:schemeClr val="dk1"/>
                  </a:solidFill>
                  <a:latin typeface="Consolas"/>
                  <a:ea typeface="Consolas"/>
                  <a:cs typeface="Consolas"/>
                </a:rPr>
                <a:t>launch.vbs</a:t>
              </a:r>
              <a:r>
                <a:rPr lang="zh-CN" sz="1650" dirty="0">
                  <a:solidFill>
                    <a:schemeClr val="dk1"/>
                  </a:solidFill>
                  <a:latin typeface="+mn-lt"/>
                  <a:ea typeface="+mn-ea"/>
                  <a:cs typeface="+mn-cs"/>
                </a:rPr>
                <a:t xml:space="preserve"> をダブルクリックするだけです。</a:t>
              </a:r>
            </a:p>
          </p:txBody>
        </p:sp>
      </p:grpSp>
      <p:grpSp>
        <p:nvGrpSpPr>
          <p:cNvPr id="23" name="Group 23"/>
          <p:cNvGrpSpPr/>
          <p:nvPr/>
        </p:nvGrpSpPr>
        <p:grpSpPr>
          <a:xfrm>
            <a:off x="533400" y="1790700"/>
            <a:ext cx="8153400" cy="4648200"/>
            <a:chOff x="533400" y="1790700"/>
            <a:chExt cx="8153400" cy="4648200"/>
          </a:xfrm>
        </p:grpSpPr>
        <p:sp>
          <p:nvSpPr>
            <p:cNvPr id="10" name="Rectangle 10"/>
            <p:cNvSpPr/>
            <p:nvPr/>
          </p:nvSpPr>
          <p:spPr>
            <a:xfrm>
              <a:off x="533400" y="1790700"/>
              <a:ext cx="8153400" cy="4648200"/>
            </a:xfrm>
            <a:prstGeom prst="roundRect">
              <a:avLst>
                <a:gd name="adj" fmla="val 2869"/>
              </a:avLst>
            </a:prstGeom>
            <a:solidFill>
              <a:schemeClr val="lt2"/>
            </a:solidFill>
            <a:ln>
              <a:noFill/>
            </a:ln>
          </p:spPr>
        </p:sp>
        <p:pic>
          <p:nvPicPr>
            <p:cNvPr id="11" name="Image 11"/>
            <p:cNvPicPr>
              <a:picLocks noChangeAspect="1"/>
            </p:cNvPicPr>
            <p:nvPr/>
          </p:nvPicPr>
          <p:blipFill>
            <a:blip r:embed="rId2"/>
            <a:stretch>
              <a:fillRect/>
            </a:stretch>
          </p:blipFill>
          <p:spPr>
            <a:xfrm>
              <a:off x="609600" y="1866900"/>
              <a:ext cx="8001000" cy="4495800"/>
            </a:xfrm>
            <a:prstGeom prst="roundRect">
              <a:avLst>
                <a:gd name="adj" fmla="val 2118"/>
              </a:avLst>
            </a:prstGeom>
          </p:spPr>
        </p:pic>
        <p:sp>
          <p:nvSpPr>
            <p:cNvPr id="12" name="Rectangle 12"/>
            <p:cNvSpPr/>
            <p:nvPr/>
          </p:nvSpPr>
          <p:spPr>
            <a:xfrm>
              <a:off x="609600" y="1866900"/>
              <a:ext cx="8001000" cy="4495800"/>
            </a:xfrm>
            <a:prstGeom prst="roundRect">
              <a:avLst>
                <a:gd name="adj" fmla="val 2119"/>
              </a:avLst>
            </a:prstGeom>
            <a:noFill/>
            <a:ln w="14288">
              <a:solidFill>
                <a:schemeClr val="accent6"/>
              </a:solidFill>
            </a:ln>
          </p:spPr>
        </p:sp>
        <p:sp>
          <p:nvSpPr>
            <p:cNvPr id="13" name="Ellipse 13"/>
            <p:cNvSpPr/>
            <p:nvPr/>
          </p:nvSpPr>
          <p:spPr>
            <a:xfrm>
              <a:off x="3152775" y="1866900"/>
              <a:ext cx="285750" cy="285750"/>
            </a:xfrm>
            <a:prstGeom prst="ellipse">
              <a:avLst/>
            </a:prstGeom>
            <a:solidFill>
              <a:schemeClr val="accent2"/>
            </a:solidFill>
            <a:ln>
              <a:noFill/>
            </a:ln>
          </p:spPr>
        </p:sp>
        <p:sp>
          <p:nvSpPr>
            <p:cNvPr id="14" name="TextBox 14"/>
            <p:cNvSpPr txBox="1"/>
            <p:nvPr/>
          </p:nvSpPr>
          <p:spPr>
            <a:xfrm>
              <a:off x="3242908" y="193738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15" name="Ellipse 15"/>
            <p:cNvSpPr/>
            <p:nvPr/>
          </p:nvSpPr>
          <p:spPr>
            <a:xfrm>
              <a:off x="4619625" y="2066925"/>
              <a:ext cx="285750" cy="285750"/>
            </a:xfrm>
            <a:prstGeom prst="ellipse">
              <a:avLst/>
            </a:prstGeom>
            <a:solidFill>
              <a:schemeClr val="accent2"/>
            </a:solidFill>
            <a:ln>
              <a:noFill/>
            </a:ln>
          </p:spPr>
        </p:sp>
        <p:sp>
          <p:nvSpPr>
            <p:cNvPr id="16" name="TextBox 16"/>
            <p:cNvSpPr txBox="1"/>
            <p:nvPr/>
          </p:nvSpPr>
          <p:spPr>
            <a:xfrm>
              <a:off x="4709758" y="21374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17" name="Ellipse 17"/>
            <p:cNvSpPr/>
            <p:nvPr/>
          </p:nvSpPr>
          <p:spPr>
            <a:xfrm>
              <a:off x="4467225" y="3762375"/>
              <a:ext cx="285750" cy="285750"/>
            </a:xfrm>
            <a:prstGeom prst="ellipse">
              <a:avLst/>
            </a:prstGeom>
            <a:solidFill>
              <a:schemeClr val="accent2"/>
            </a:solidFill>
            <a:ln>
              <a:noFill/>
            </a:ln>
          </p:spPr>
        </p:sp>
        <p:sp>
          <p:nvSpPr>
            <p:cNvPr id="18" name="TextBox 18"/>
            <p:cNvSpPr txBox="1"/>
            <p:nvPr/>
          </p:nvSpPr>
          <p:spPr>
            <a:xfrm>
              <a:off x="4557358" y="38328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3</a:t>
              </a:r>
            </a:p>
          </p:txBody>
        </p:sp>
        <p:sp>
          <p:nvSpPr>
            <p:cNvPr id="19" name="Ellipse 19"/>
            <p:cNvSpPr/>
            <p:nvPr/>
          </p:nvSpPr>
          <p:spPr>
            <a:xfrm>
              <a:off x="1247775" y="6000750"/>
              <a:ext cx="285750" cy="285750"/>
            </a:xfrm>
            <a:prstGeom prst="ellipse">
              <a:avLst/>
            </a:prstGeom>
            <a:solidFill>
              <a:schemeClr val="accent2"/>
            </a:solidFill>
            <a:ln>
              <a:noFill/>
            </a:ln>
          </p:spPr>
        </p:sp>
        <p:sp>
          <p:nvSpPr>
            <p:cNvPr id="20" name="TextBox 20"/>
            <p:cNvSpPr txBox="1"/>
            <p:nvPr/>
          </p:nvSpPr>
          <p:spPr>
            <a:xfrm>
              <a:off x="1337908" y="607123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4</a:t>
              </a:r>
            </a:p>
          </p:txBody>
        </p:sp>
        <p:sp>
          <p:nvSpPr>
            <p:cNvPr id="21" name="Ellipse 21"/>
            <p:cNvSpPr/>
            <p:nvPr/>
          </p:nvSpPr>
          <p:spPr>
            <a:xfrm>
              <a:off x="8067675" y="6000750"/>
              <a:ext cx="285750" cy="285750"/>
            </a:xfrm>
            <a:prstGeom prst="ellipse">
              <a:avLst/>
            </a:prstGeom>
            <a:solidFill>
              <a:schemeClr val="accent2"/>
            </a:solidFill>
            <a:ln>
              <a:noFill/>
            </a:ln>
          </p:spPr>
        </p:sp>
        <p:sp>
          <p:nvSpPr>
            <p:cNvPr id="22" name="TextBox 22"/>
            <p:cNvSpPr txBox="1"/>
            <p:nvPr/>
          </p:nvSpPr>
          <p:spPr>
            <a:xfrm>
              <a:off x="8157808" y="607123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5</a:t>
              </a:r>
            </a:p>
          </p:txBody>
        </p:sp>
      </p:grpSp>
      <p:grpSp>
        <p:nvGrpSpPr>
          <p:cNvPr id="39" name="Group 39"/>
          <p:cNvGrpSpPr/>
          <p:nvPr/>
        </p:nvGrpSpPr>
        <p:grpSpPr>
          <a:xfrm>
            <a:off x="9365742" y="1911668"/>
            <a:ext cx="1597165" cy="4238911"/>
            <a:chOff x="9365742" y="1911668"/>
            <a:chExt cx="1597165" cy="4238911"/>
          </a:xfrm>
        </p:grpSpPr>
        <p:sp>
          <p:nvSpPr>
            <p:cNvPr id="24" name="TextBox 24"/>
            <p:cNvSpPr txBox="1"/>
            <p:nvPr/>
          </p:nvSpPr>
          <p:spPr>
            <a:xfrm>
              <a:off x="9365742" y="191166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1</a:t>
              </a:r>
            </a:p>
          </p:txBody>
        </p:sp>
        <p:sp>
          <p:nvSpPr>
            <p:cNvPr id="25" name="TextBox 25"/>
            <p:cNvSpPr txBox="1"/>
            <p:nvPr/>
          </p:nvSpPr>
          <p:spPr>
            <a:xfrm>
              <a:off x="9594342" y="1911668"/>
              <a:ext cx="605270"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進捗バー</a:t>
              </a:r>
            </a:p>
          </p:txBody>
        </p:sp>
        <p:sp>
          <p:nvSpPr>
            <p:cNvPr id="26" name="TextBox 26"/>
            <p:cNvSpPr txBox="1"/>
            <p:nvPr/>
          </p:nvSpPr>
          <p:spPr>
            <a:xfrm>
              <a:off x="9594723" y="2167414"/>
              <a:ext cx="1061466" cy="477964"/>
            </a:xfrm>
            <a:prstGeom prst="rect">
              <a:avLst/>
            </a:prstGeom>
            <a:noFill/>
            <a:ln>
              <a:noFill/>
            </a:ln>
          </p:spPr>
          <p:txBody>
            <a:bodyPr wrap="square" lIns="0" tIns="0" rIns="0" bIns="0" anchor="t" anchorCtr="0"/>
            <a:lstStyle/>
            <a:p>
              <a:pPr algn="l">
                <a:lnSpc>
                  <a:spcPts val="1800"/>
                </a:lnSpc>
              </a:pPr>
              <a:r>
                <a:rPr lang="zh-CN" sz="1280" dirty="0">
                  <a:solidFill>
                    <a:srgbClr val="5D6B7A"/>
                  </a:solidFill>
                  <a:latin typeface="+mn-lt"/>
                  <a:ea typeface="+mn-ea"/>
                  <a:cs typeface="+mn-cs"/>
                </a:rPr>
                <a:t>いま 4 手順のどこに</a:t>
              </a:r>
              <a:r>
                <a:rPr lang="en-US" sz="1280" dirty="0">
                  <a:solidFill>
                    <a:srgbClr val="5D6B7A"/>
                  </a:solidFill>
                  <a:latin typeface="+mn-lt"/>
                  <a:ea typeface="+mn-ea"/>
                  <a:cs typeface="+mn-cs"/>
                </a:rPr>
                <a:t xml:space="preserve"> </a:t>
              </a:r>
              <a:r>
                <a:rPr lang="zh-CN" sz="1280" dirty="0">
                  <a:solidFill>
                    <a:srgbClr val="5D6B7A"/>
                  </a:solidFill>
                  <a:latin typeface="+mn-lt"/>
                  <a:ea typeface="+mn-ea"/>
                  <a:cs typeface="+mn-cs"/>
                </a:rPr>
                <a:t>いるか。</a:t>
              </a:r>
            </a:p>
          </p:txBody>
        </p:sp>
        <p:sp>
          <p:nvSpPr>
            <p:cNvPr id="27" name="TextBox 27"/>
            <p:cNvSpPr txBox="1"/>
            <p:nvPr/>
          </p:nvSpPr>
          <p:spPr>
            <a:xfrm>
              <a:off x="9365742" y="271176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2</a:t>
              </a:r>
            </a:p>
          </p:txBody>
        </p:sp>
        <p:sp>
          <p:nvSpPr>
            <p:cNvPr id="28" name="TextBox 28"/>
            <p:cNvSpPr txBox="1"/>
            <p:nvPr/>
          </p:nvSpPr>
          <p:spPr>
            <a:xfrm>
              <a:off x="9594342" y="2711768"/>
              <a:ext cx="986918"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画面の見出し</a:t>
              </a:r>
            </a:p>
          </p:txBody>
        </p:sp>
        <p:sp>
          <p:nvSpPr>
            <p:cNvPr id="29" name="TextBox 29"/>
            <p:cNvSpPr txBox="1"/>
            <p:nvPr/>
          </p:nvSpPr>
          <p:spPr>
            <a:xfrm>
              <a:off x="9594723" y="2967514"/>
              <a:ext cx="1193302"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この画面ですること。</a:t>
              </a:r>
            </a:p>
          </p:txBody>
        </p:sp>
        <p:sp>
          <p:nvSpPr>
            <p:cNvPr id="30" name="TextBox 30"/>
            <p:cNvSpPr txBox="1"/>
            <p:nvPr/>
          </p:nvSpPr>
          <p:spPr>
            <a:xfrm>
              <a:off x="9365742" y="343566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3</a:t>
              </a:r>
            </a:p>
          </p:txBody>
        </p:sp>
        <p:sp>
          <p:nvSpPr>
            <p:cNvPr id="31" name="TextBox 31"/>
            <p:cNvSpPr txBox="1"/>
            <p:nvPr/>
          </p:nvSpPr>
          <p:spPr>
            <a:xfrm>
              <a:off x="9594342" y="3435668"/>
              <a:ext cx="77701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作業領域</a:t>
              </a:r>
            </a:p>
          </p:txBody>
        </p:sp>
        <p:sp>
          <p:nvSpPr>
            <p:cNvPr id="32" name="TextBox 32"/>
            <p:cNvSpPr txBox="1"/>
            <p:nvPr/>
          </p:nvSpPr>
          <p:spPr>
            <a:xfrm>
              <a:off x="9594723" y="3691414"/>
              <a:ext cx="874522" cy="477964"/>
            </a:xfrm>
            <a:prstGeom prst="rect">
              <a:avLst/>
            </a:prstGeom>
            <a:noFill/>
            <a:ln>
              <a:noFill/>
            </a:ln>
          </p:spPr>
          <p:txBody>
            <a:bodyPr wrap="square" lIns="0" tIns="0" rIns="0" bIns="0" anchor="t" anchorCtr="0"/>
            <a:lstStyle/>
            <a:p>
              <a:pPr algn="l">
                <a:lnSpc>
                  <a:spcPts val="1800"/>
                </a:lnSpc>
              </a:pPr>
              <a:r>
                <a:rPr lang="zh-CN" sz="1280" dirty="0">
                  <a:solidFill>
                    <a:srgbClr val="5D6B7A"/>
                  </a:solidFill>
                  <a:latin typeface="+mn-lt"/>
                  <a:ea typeface="+mn-ea"/>
                  <a:cs typeface="+mn-cs"/>
                </a:rPr>
                <a:t>選ぶ・入れるのは</a:t>
              </a:r>
              <a:r>
                <a:rPr lang="en-US" sz="1280" dirty="0">
                  <a:solidFill>
                    <a:srgbClr val="5D6B7A"/>
                  </a:solidFill>
                  <a:latin typeface="+mn-lt"/>
                  <a:ea typeface="+mn-ea"/>
                  <a:cs typeface="+mn-cs"/>
                </a:rPr>
                <a:t xml:space="preserve"> </a:t>
              </a:r>
              <a:r>
                <a:rPr lang="zh-CN" sz="1280" dirty="0">
                  <a:solidFill>
                    <a:srgbClr val="5D6B7A"/>
                  </a:solidFill>
                  <a:latin typeface="+mn-lt"/>
                  <a:ea typeface="+mn-ea"/>
                  <a:cs typeface="+mn-cs"/>
                </a:rPr>
                <a:t>ここだけ。</a:t>
              </a:r>
            </a:p>
          </p:txBody>
        </p:sp>
        <p:sp>
          <p:nvSpPr>
            <p:cNvPr id="33" name="TextBox 33"/>
            <p:cNvSpPr txBox="1"/>
            <p:nvPr/>
          </p:nvSpPr>
          <p:spPr>
            <a:xfrm>
              <a:off x="9365742" y="423576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4</a:t>
              </a:r>
            </a:p>
          </p:txBody>
        </p:sp>
        <p:sp>
          <p:nvSpPr>
            <p:cNvPr id="34" name="TextBox 34"/>
            <p:cNvSpPr txBox="1"/>
            <p:nvPr/>
          </p:nvSpPr>
          <p:spPr>
            <a:xfrm>
              <a:off x="9594342" y="4235768"/>
              <a:ext cx="729305"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次にすること</a:t>
              </a:r>
            </a:p>
          </p:txBody>
        </p:sp>
        <p:sp>
          <p:nvSpPr>
            <p:cNvPr id="35" name="TextBox 35"/>
            <p:cNvSpPr txBox="1"/>
            <p:nvPr/>
          </p:nvSpPr>
          <p:spPr>
            <a:xfrm>
              <a:off x="9594723" y="4491514"/>
              <a:ext cx="1193302"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迷ったらここを読む。</a:t>
              </a:r>
            </a:p>
          </p:txBody>
        </p:sp>
        <p:sp>
          <p:nvSpPr>
            <p:cNvPr id="36" name="TextBox 36"/>
            <p:cNvSpPr txBox="1"/>
            <p:nvPr/>
          </p:nvSpPr>
          <p:spPr>
            <a:xfrm>
              <a:off x="9365742" y="495966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5</a:t>
              </a:r>
            </a:p>
          </p:txBody>
        </p:sp>
        <p:sp>
          <p:nvSpPr>
            <p:cNvPr id="37" name="TextBox 37"/>
            <p:cNvSpPr txBox="1"/>
            <p:nvPr/>
          </p:nvSpPr>
          <p:spPr>
            <a:xfrm>
              <a:off x="9594342" y="4959668"/>
              <a:ext cx="1368565"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［戻る］［次へ］</a:t>
              </a:r>
            </a:p>
          </p:txBody>
        </p:sp>
        <p:sp>
          <p:nvSpPr>
            <p:cNvPr id="38" name="TextBox 38"/>
            <p:cNvSpPr txBox="1"/>
            <p:nvPr/>
          </p:nvSpPr>
          <p:spPr>
            <a:xfrm>
              <a:off x="9594723" y="5215414"/>
              <a:ext cx="1037082" cy="935165"/>
            </a:xfrm>
            <a:prstGeom prst="rect">
              <a:avLst/>
            </a:prstGeom>
            <a:noFill/>
            <a:ln>
              <a:noFill/>
            </a:ln>
          </p:spPr>
          <p:txBody>
            <a:bodyPr wrap="square" lIns="0" tIns="0" rIns="0" bIns="0" anchor="t" anchorCtr="0"/>
            <a:lstStyle/>
            <a:p>
              <a:pPr algn="l">
                <a:lnSpc>
                  <a:spcPts val="1800"/>
                </a:lnSpc>
              </a:pPr>
              <a:r>
                <a:rPr lang="zh-CN" sz="1280" dirty="0">
                  <a:solidFill>
                    <a:srgbClr val="5D6B7A"/>
                  </a:solidFill>
                  <a:latin typeface="+mn-lt"/>
                  <a:ea typeface="+mn-ea"/>
                  <a:cs typeface="+mn-cs"/>
                </a:rPr>
                <a:t>進む道はこの 2 つ</a:t>
              </a:r>
              <a:r>
                <a:rPr lang="en-US" sz="1280" dirty="0">
                  <a:solidFill>
                    <a:srgbClr val="5D6B7A"/>
                  </a:solidFill>
                  <a:latin typeface="+mn-lt"/>
                  <a:ea typeface="+mn-ea"/>
                  <a:cs typeface="+mn-cs"/>
                </a:rPr>
                <a:t xml:space="preserve"> </a:t>
              </a:r>
              <a:r>
                <a:rPr lang="zh-CN" sz="1280" dirty="0">
                  <a:solidFill>
                    <a:srgbClr val="5D6B7A"/>
                  </a:solidFill>
                  <a:latin typeface="+mn-lt"/>
                  <a:ea typeface="+mn-ea"/>
                  <a:cs typeface="+mn-cs"/>
                </a:rPr>
                <a:t>だけ。必要なものが揃うと［次へ］が青くなります。</a:t>
              </a:r>
            </a:p>
          </p:txBody>
        </p:sp>
      </p:grpSp>
      <p:grpSp>
        <p:nvGrpSpPr>
          <p:cNvPr id="41" name="Group 41"/>
          <p:cNvGrpSpPr/>
          <p:nvPr/>
        </p:nvGrpSpPr>
        <p:grpSpPr>
          <a:xfrm>
            <a:off x="9366885" y="6165056"/>
            <a:ext cx="1746758" cy="429578"/>
            <a:chOff x="9366885" y="6165056"/>
            <a:chExt cx="1746758" cy="429578"/>
          </a:xfrm>
        </p:grpSpPr>
        <p:sp>
          <p:nvSpPr>
            <p:cNvPr id="40" name="TextBox 40"/>
            <p:cNvSpPr txBox="1"/>
            <p:nvPr/>
          </p:nvSpPr>
          <p:spPr>
            <a:xfrm>
              <a:off x="9366885" y="6165056"/>
              <a:ext cx="1746758" cy="429578"/>
            </a:xfrm>
            <a:prstGeom prst="rect">
              <a:avLst/>
            </a:prstGeom>
            <a:noFill/>
            <a:ln>
              <a:noFill/>
            </a:ln>
          </p:spPr>
          <p:txBody>
            <a:bodyPr wrap="square" lIns="0" tIns="0" rIns="0" bIns="0" anchor="t" anchorCtr="0"/>
            <a:lstStyle/>
            <a:p>
              <a:pPr algn="l">
                <a:lnSpc>
                  <a:spcPts val="1650"/>
                </a:lnSpc>
              </a:pPr>
              <a:r>
                <a:rPr lang="zh-CN" sz="1120" dirty="0">
                  <a:solidFill>
                    <a:srgbClr val="5D6B7A"/>
                  </a:solidFill>
                  <a:latin typeface="+mn-lt"/>
                  <a:ea typeface="+mn-ea"/>
                  <a:cs typeface="+mn-cs"/>
                </a:rPr>
                <a:t>右上の月・太陽で明暗を切替。［最初から］で最初に戻れます。</a:t>
              </a:r>
            </a:p>
          </p:txBody>
        </p:sp>
      </p:grpSp>
      <p:sp>
        <p:nvSpPr>
          <p:cNvPr id="42" name="TextBox 42"/>
          <p:cNvSpPr txBox="1"/>
          <p:nvPr/>
        </p:nvSpPr>
        <p:spPr>
          <a:xfrm>
            <a:off x="451866" y="6477952"/>
            <a:ext cx="1155611"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a:t>
            </a:r>
          </a:p>
        </p:txBody>
      </p:sp>
      <p:sp>
        <p:nvSpPr>
          <p:cNvPr id="43" name="TextBox 43"/>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09</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1</a:t>
              </a:r>
            </a:p>
          </p:txBody>
        </p:sp>
        <p:sp>
          <p:nvSpPr>
            <p:cNvPr id="6" name="TextBox 6"/>
            <p:cNvSpPr txBox="1"/>
            <p:nvPr/>
          </p:nvSpPr>
          <p:spPr>
            <a:xfrm>
              <a:off x="441960" y="685800"/>
              <a:ext cx="2935243"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作業を選んでください</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6858000" cy="4277106"/>
            <a:chOff x="457200" y="1428750"/>
            <a:chExt cx="6858000" cy="4277106"/>
          </a:xfrm>
        </p:grpSpPr>
        <p:sp>
          <p:nvSpPr>
            <p:cNvPr id="9" name="Rectangle 9"/>
            <p:cNvSpPr/>
            <p:nvPr/>
          </p:nvSpPr>
          <p:spPr>
            <a:xfrm>
              <a:off x="457200" y="1428750"/>
              <a:ext cx="6858000" cy="3924300"/>
            </a:xfrm>
            <a:prstGeom prst="roundRect">
              <a:avLst>
                <a:gd name="adj" fmla="val 3398"/>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6705600" cy="3771900"/>
            </a:xfrm>
            <a:prstGeom prst="roundRect">
              <a:avLst>
                <a:gd name="adj" fmla="val 2525"/>
              </a:avLst>
            </a:prstGeom>
          </p:spPr>
        </p:pic>
        <p:sp>
          <p:nvSpPr>
            <p:cNvPr id="11" name="Rectangle 11"/>
            <p:cNvSpPr/>
            <p:nvPr/>
          </p:nvSpPr>
          <p:spPr>
            <a:xfrm>
              <a:off x="533400" y="1504950"/>
              <a:ext cx="6705600" cy="3771900"/>
            </a:xfrm>
            <a:prstGeom prst="roundRect">
              <a:avLst>
                <a:gd name="adj" fmla="val 2525"/>
              </a:avLst>
            </a:prstGeom>
            <a:noFill/>
            <a:ln w="14288">
              <a:solidFill>
                <a:schemeClr val="accent6"/>
              </a:solidFill>
            </a:ln>
          </p:spPr>
        </p:sp>
        <p:sp>
          <p:nvSpPr>
            <p:cNvPr id="12" name="TextBox 12"/>
            <p:cNvSpPr txBox="1"/>
            <p:nvPr/>
          </p:nvSpPr>
          <p:spPr>
            <a:xfrm>
              <a:off x="527304" y="5471160"/>
              <a:ext cx="5312054"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「AIで改修する」を選んだ状態。カードにチェックが付き、右下の［次へ］が青くなります。</a:t>
              </a:r>
            </a:p>
          </p:txBody>
        </p:sp>
      </p:grpSp>
      <p:grpSp>
        <p:nvGrpSpPr>
          <p:cNvPr id="18" name="Group 18"/>
          <p:cNvGrpSpPr/>
          <p:nvPr/>
        </p:nvGrpSpPr>
        <p:grpSpPr>
          <a:xfrm>
            <a:off x="7639050" y="1647825"/>
            <a:ext cx="3064292" cy="979170"/>
            <a:chOff x="7639050" y="1647825"/>
            <a:chExt cx="3064292" cy="979170"/>
          </a:xfrm>
        </p:grpSpPr>
        <p:sp>
          <p:nvSpPr>
            <p:cNvPr id="14" name="Ellipse 14"/>
            <p:cNvSpPr/>
            <p:nvPr/>
          </p:nvSpPr>
          <p:spPr>
            <a:xfrm>
              <a:off x="7639050" y="1647825"/>
              <a:ext cx="285750" cy="285750"/>
            </a:xfrm>
            <a:prstGeom prst="ellipse">
              <a:avLst/>
            </a:prstGeom>
            <a:solidFill>
              <a:schemeClr val="accent1"/>
            </a:solidFill>
            <a:ln>
              <a:noFill/>
            </a:ln>
          </p:spPr>
        </p:sp>
        <p:sp>
          <p:nvSpPr>
            <p:cNvPr id="15" name="TextBox 15"/>
            <p:cNvSpPr txBox="1"/>
            <p:nvPr/>
          </p:nvSpPr>
          <p:spPr>
            <a:xfrm>
              <a:off x="7729183" y="1718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16" name="TextBox 16"/>
            <p:cNvSpPr txBox="1"/>
            <p:nvPr/>
          </p:nvSpPr>
          <p:spPr>
            <a:xfrm>
              <a:off x="8049768" y="1688782"/>
              <a:ext cx="2653574"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［AIで改修する］を押します。</a:t>
              </a:r>
            </a:p>
          </p:txBody>
        </p:sp>
        <p:sp>
          <p:nvSpPr>
            <p:cNvPr id="17" name="TextBox 17"/>
            <p:cNvSpPr txBox="1"/>
            <p:nvPr/>
          </p:nvSpPr>
          <p:spPr>
            <a:xfrm>
              <a:off x="8050530" y="2028825"/>
              <a:ext cx="2034540" cy="598170"/>
            </a:xfrm>
            <a:prstGeom prst="rect">
              <a:avLst/>
            </a:prstGeom>
            <a:noFill/>
            <a:ln>
              <a:noFill/>
            </a:ln>
          </p:spPr>
          <p:txBody>
            <a:bodyPr wrap="square" lIns="0" tIns="0" rIns="0" bIns="0" anchor="t" anchorCtr="0"/>
            <a:lstStyle/>
            <a:p>
              <a:pPr algn="l">
                <a:lnSpc>
                  <a:spcPts val="2400"/>
                </a:lnSpc>
              </a:pPr>
              <a:r>
                <a:rPr lang="zh-CN" sz="1500" dirty="0">
                  <a:solidFill>
                    <a:schemeClr val="dk1"/>
                  </a:solidFill>
                  <a:latin typeface="+mn-lt"/>
                  <a:ea typeface="+mn-ea"/>
                  <a:cs typeface="+mn-cs"/>
                </a:rPr>
                <a:t>カードにチェックが付きます。押しただけでは、まだ進みません。</a:t>
              </a:r>
            </a:p>
          </p:txBody>
        </p:sp>
      </p:grpSp>
      <p:grpSp>
        <p:nvGrpSpPr>
          <p:cNvPr id="22" name="Group 22"/>
          <p:cNvGrpSpPr/>
          <p:nvPr/>
        </p:nvGrpSpPr>
        <p:grpSpPr>
          <a:xfrm>
            <a:off x="7639050" y="2886075"/>
            <a:ext cx="2829742" cy="363664"/>
            <a:chOff x="7639050" y="2886075"/>
            <a:chExt cx="2829742" cy="363664"/>
          </a:xfrm>
        </p:grpSpPr>
        <p:sp>
          <p:nvSpPr>
            <p:cNvPr id="19" name="Ellipse 19"/>
            <p:cNvSpPr/>
            <p:nvPr/>
          </p:nvSpPr>
          <p:spPr>
            <a:xfrm>
              <a:off x="7639050" y="2886075"/>
              <a:ext cx="285750" cy="285750"/>
            </a:xfrm>
            <a:prstGeom prst="ellipse">
              <a:avLst/>
            </a:prstGeom>
            <a:solidFill>
              <a:schemeClr val="accent1"/>
            </a:solidFill>
            <a:ln>
              <a:noFill/>
            </a:ln>
          </p:spPr>
        </p:sp>
        <p:sp>
          <p:nvSpPr>
            <p:cNvPr id="20" name="TextBox 20"/>
            <p:cNvSpPr txBox="1"/>
            <p:nvPr/>
          </p:nvSpPr>
          <p:spPr>
            <a:xfrm>
              <a:off x="7729183" y="29565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1" name="TextBox 21"/>
            <p:cNvSpPr txBox="1"/>
            <p:nvPr/>
          </p:nvSpPr>
          <p:spPr>
            <a:xfrm>
              <a:off x="8049768" y="2927032"/>
              <a:ext cx="2419024"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右下の［次へ］を押します。</a:t>
              </a:r>
            </a:p>
          </p:txBody>
        </p:sp>
      </p:grpSp>
      <p:grpSp>
        <p:nvGrpSpPr>
          <p:cNvPr id="26" name="Group 26"/>
          <p:cNvGrpSpPr/>
          <p:nvPr/>
        </p:nvGrpSpPr>
        <p:grpSpPr>
          <a:xfrm>
            <a:off x="7620000" y="3810000"/>
            <a:ext cx="4114800" cy="1905000"/>
            <a:chOff x="7620000" y="3810000"/>
            <a:chExt cx="4114800" cy="1905000"/>
          </a:xfrm>
        </p:grpSpPr>
        <p:sp>
          <p:nvSpPr>
            <p:cNvPr id="23" name="Rectangle 23"/>
            <p:cNvSpPr/>
            <p:nvPr/>
          </p:nvSpPr>
          <p:spPr>
            <a:xfrm>
              <a:off x="7620000" y="3810000"/>
              <a:ext cx="4114800" cy="1905000"/>
            </a:xfrm>
            <a:prstGeom prst="roundRect">
              <a:avLst>
                <a:gd name="adj" fmla="val 8000"/>
              </a:avLst>
            </a:prstGeom>
            <a:solidFill>
              <a:schemeClr val="accent5"/>
            </a:solidFill>
            <a:ln w="9525">
              <a:solidFill>
                <a:schemeClr val="accent6"/>
              </a:solidFill>
            </a:ln>
          </p:spPr>
        </p:sp>
        <p:sp>
          <p:nvSpPr>
            <p:cNvPr id="24" name="TextBox 24"/>
            <p:cNvSpPr txBox="1"/>
            <p:nvPr/>
          </p:nvSpPr>
          <p:spPr>
            <a:xfrm>
              <a:off x="7841742" y="4007168"/>
              <a:ext cx="395364"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補足</a:t>
              </a:r>
            </a:p>
          </p:txBody>
        </p:sp>
        <p:sp>
          <p:nvSpPr>
            <p:cNvPr id="25" name="TextBox 25"/>
            <p:cNvSpPr txBox="1"/>
            <p:nvPr/>
          </p:nvSpPr>
          <p:spPr>
            <a:xfrm>
              <a:off x="7841742" y="4331018"/>
              <a:ext cx="2791206" cy="1140333"/>
            </a:xfrm>
            <a:prstGeom prst="rect">
              <a:avLst/>
            </a:prstGeom>
            <a:noFill/>
            <a:ln>
              <a:noFill/>
            </a:ln>
          </p:spPr>
          <p:txBody>
            <a:bodyPr wrap="square" lIns="0" tIns="0" rIns="0" bIns="0" anchor="t" anchorCtr="0"/>
            <a:lstStyle/>
            <a:p>
              <a:pPr algn="l">
                <a:lnSpc>
                  <a:spcPts val="2100"/>
                </a:lnSpc>
              </a:pPr>
              <a:r>
                <a:rPr lang="zh-CN" sz="1350" dirty="0">
                  <a:solidFill>
                    <a:srgbClr val="5D6B7A"/>
                  </a:solidFill>
                  <a:latin typeface="+mn-lt"/>
                  <a:ea typeface="+mn-ea"/>
                  <a:cs typeface="+mn-cs"/>
                </a:rPr>
                <a:t>・聞きたいだけのときは　［AIで相談する］を選びます（→ P23）。</a:t>
              </a:r>
            </a:p>
            <a:p>
              <a:pPr algn="l">
                <a:lnSpc>
                  <a:spcPts val="2100"/>
                </a:lnSpc>
                <a:spcBef>
                  <a:spcPts val="600"/>
                </a:spcBef>
              </a:pPr>
              <a:r>
                <a:rPr lang="zh-CN" sz="1350" dirty="0">
                  <a:solidFill>
                    <a:srgbClr val="5D6B7A"/>
                  </a:solidFill>
                  <a:latin typeface="+mn-lt"/>
                  <a:ea typeface="+mn-ea"/>
                  <a:cs typeface="+mn-cs"/>
                </a:rPr>
                <a:t>・あとでブックを替えても、ここで　選んだ作業は残ります。</a:t>
              </a:r>
            </a:p>
          </p:txBody>
        </p:sp>
      </p:grpSp>
      <p:grpSp>
        <p:nvGrpSpPr>
          <p:cNvPr id="29" name="Group 29"/>
          <p:cNvGrpSpPr/>
          <p:nvPr/>
        </p:nvGrpSpPr>
        <p:grpSpPr>
          <a:xfrm>
            <a:off x="451866" y="6477952"/>
            <a:ext cx="11288268" cy="205359"/>
            <a:chOff x="451866" y="6477952"/>
            <a:chExt cx="11288268" cy="205359"/>
          </a:xfrm>
        </p:grpSpPr>
        <p:sp>
          <p:nvSpPr>
            <p:cNvPr id="27" name="TextBox 27"/>
            <p:cNvSpPr txBox="1"/>
            <p:nvPr/>
          </p:nvSpPr>
          <p:spPr>
            <a:xfrm>
              <a:off x="451866" y="6477952"/>
              <a:ext cx="3035579"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　｜　手順 1 ・ 作業とブックを選ぶ</a:t>
              </a:r>
            </a:p>
          </p:txBody>
        </p:sp>
        <p:sp>
          <p:nvSpPr>
            <p:cNvPr id="28" name="TextBox 28"/>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1</a:t>
              </a:r>
            </a:p>
          </p:txBody>
        </p:sp>
        <p:sp>
          <p:nvSpPr>
            <p:cNvPr id="6" name="TextBox 6"/>
            <p:cNvSpPr txBox="1"/>
            <p:nvPr/>
          </p:nvSpPr>
          <p:spPr>
            <a:xfrm>
              <a:off x="441960" y="685800"/>
              <a:ext cx="384727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Excelブックを読み込みます</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5486400" cy="3505581"/>
            <a:chOff x="457200" y="1428750"/>
            <a:chExt cx="5486400" cy="3505581"/>
          </a:xfrm>
        </p:grpSpPr>
        <p:sp>
          <p:nvSpPr>
            <p:cNvPr id="9" name="Rectangle 9"/>
            <p:cNvSpPr/>
            <p:nvPr/>
          </p:nvSpPr>
          <p:spPr>
            <a:xfrm>
              <a:off x="457200" y="1428750"/>
              <a:ext cx="5486400" cy="3152775"/>
            </a:xfrm>
            <a:prstGeom prst="roundRect">
              <a:avLst>
                <a:gd name="adj" fmla="val 4230"/>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11" name="Rectangle 11"/>
            <p:cNvSpPr/>
            <p:nvPr/>
          </p:nvSpPr>
          <p:spPr>
            <a:xfrm>
              <a:off x="533400" y="1504950"/>
              <a:ext cx="5334000" cy="3000375"/>
            </a:xfrm>
            <a:prstGeom prst="roundRect">
              <a:avLst>
                <a:gd name="adj" fmla="val 3175"/>
              </a:avLst>
            </a:prstGeom>
            <a:noFill/>
            <a:ln w="14288">
              <a:solidFill>
                <a:schemeClr val="accent6"/>
              </a:solidFill>
            </a:ln>
          </p:spPr>
        </p:sp>
        <p:sp>
          <p:nvSpPr>
            <p:cNvPr id="12" name="TextBox 12"/>
            <p:cNvSpPr txBox="1"/>
            <p:nvPr/>
          </p:nvSpPr>
          <p:spPr>
            <a:xfrm>
              <a:off x="527304" y="4699635"/>
              <a:ext cx="3404616"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読み込む前。点線の枠にドラッグするか、クリックして選びます。</a:t>
              </a:r>
            </a:p>
          </p:txBody>
        </p:sp>
      </p:grpSp>
      <p:grpSp>
        <p:nvGrpSpPr>
          <p:cNvPr id="18" name="Group 18"/>
          <p:cNvGrpSpPr/>
          <p:nvPr/>
        </p:nvGrpSpPr>
        <p:grpSpPr>
          <a:xfrm>
            <a:off x="6248400" y="1428750"/>
            <a:ext cx="5486400" cy="3505581"/>
            <a:chOff x="6248400" y="1428750"/>
            <a:chExt cx="5486400" cy="3505581"/>
          </a:xfrm>
        </p:grpSpPr>
        <p:sp>
          <p:nvSpPr>
            <p:cNvPr id="14" name="Rectangle 14"/>
            <p:cNvSpPr/>
            <p:nvPr/>
          </p:nvSpPr>
          <p:spPr>
            <a:xfrm>
              <a:off x="6248400" y="142875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6" name="Rectangle 16"/>
            <p:cNvSpPr/>
            <p:nvPr/>
          </p:nvSpPr>
          <p:spPr>
            <a:xfrm>
              <a:off x="6324600" y="1504950"/>
              <a:ext cx="5334000" cy="3000375"/>
            </a:xfrm>
            <a:prstGeom prst="roundRect">
              <a:avLst>
                <a:gd name="adj" fmla="val 3175"/>
              </a:avLst>
            </a:prstGeom>
            <a:noFill/>
            <a:ln w="14288">
              <a:solidFill>
                <a:schemeClr val="accent6"/>
              </a:solidFill>
            </a:ln>
          </p:spPr>
        </p:sp>
        <p:sp>
          <p:nvSpPr>
            <p:cNvPr id="17" name="TextBox 17"/>
            <p:cNvSpPr txBox="1"/>
            <p:nvPr/>
          </p:nvSpPr>
          <p:spPr>
            <a:xfrm>
              <a:off x="6318504" y="4699635"/>
              <a:ext cx="2653436"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読み込んだ後。ファイル名とパスのカードが出ます。</a:t>
              </a:r>
            </a:p>
          </p:txBody>
        </p:sp>
      </p:grpSp>
      <p:grpSp>
        <p:nvGrpSpPr>
          <p:cNvPr id="25" name="Group 25"/>
          <p:cNvGrpSpPr/>
          <p:nvPr/>
        </p:nvGrpSpPr>
        <p:grpSpPr>
          <a:xfrm>
            <a:off x="476250" y="5191125"/>
            <a:ext cx="7531268" cy="757143"/>
            <a:chOff x="476250" y="5191125"/>
            <a:chExt cx="7531268" cy="757143"/>
          </a:xfrm>
        </p:grpSpPr>
        <p:sp>
          <p:nvSpPr>
            <p:cNvPr id="19" name="Ellipse 19"/>
            <p:cNvSpPr/>
            <p:nvPr/>
          </p:nvSpPr>
          <p:spPr>
            <a:xfrm>
              <a:off x="476250" y="5191125"/>
              <a:ext cx="285750" cy="285750"/>
            </a:xfrm>
            <a:prstGeom prst="ellipse">
              <a:avLst/>
            </a:prstGeom>
            <a:solidFill>
              <a:schemeClr val="accent1"/>
            </a:solidFill>
            <a:ln>
              <a:noFill/>
            </a:ln>
          </p:spPr>
        </p:sp>
        <p:sp>
          <p:nvSpPr>
            <p:cNvPr id="20" name="TextBox 20"/>
            <p:cNvSpPr txBox="1"/>
            <p:nvPr/>
          </p:nvSpPr>
          <p:spPr>
            <a:xfrm>
              <a:off x="566383" y="52616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1" name="TextBox 21"/>
            <p:cNvSpPr txBox="1"/>
            <p:nvPr/>
          </p:nvSpPr>
          <p:spPr>
            <a:xfrm>
              <a:off x="887349" y="5240179"/>
              <a:ext cx="6141750" cy="308039"/>
            </a:xfrm>
            <a:prstGeom prst="rect">
              <a:avLst/>
            </a:prstGeom>
            <a:noFill/>
            <a:ln>
              <a:noFill/>
            </a:ln>
          </p:spPr>
          <p:txBody>
            <a:bodyPr wrap="none" lIns="0" tIns="0" rIns="0" bIns="0" anchor="t" anchorCtr="0">
              <a:spAutoFit/>
            </a:bodyPr>
            <a:lstStyle/>
            <a:p>
              <a:pPr algn="l"/>
              <a:r>
                <a:rPr lang="zh-CN" sz="1580" dirty="0">
                  <a:solidFill>
                    <a:schemeClr val="dk1"/>
                  </a:solidFill>
                  <a:latin typeface="+mn-lt"/>
                  <a:ea typeface="+mn-ea"/>
                  <a:cs typeface="+mn-cs"/>
                </a:rPr>
                <a:t>改修したいブックを、点線の枠へドラッグします。クリックしてファイルを選んでもかまいません。</a:t>
              </a:r>
            </a:p>
          </p:txBody>
        </p:sp>
        <p:sp>
          <p:nvSpPr>
            <p:cNvPr id="22" name="Ellipse 22"/>
            <p:cNvSpPr/>
            <p:nvPr/>
          </p:nvSpPr>
          <p:spPr>
            <a:xfrm>
              <a:off x="476250" y="5591175"/>
              <a:ext cx="285750" cy="285750"/>
            </a:xfrm>
            <a:prstGeom prst="ellipse">
              <a:avLst/>
            </a:prstGeom>
            <a:solidFill>
              <a:schemeClr val="accent1"/>
            </a:solidFill>
            <a:ln>
              <a:noFill/>
            </a:ln>
          </p:spPr>
        </p:sp>
        <p:sp>
          <p:nvSpPr>
            <p:cNvPr id="23" name="TextBox 23"/>
            <p:cNvSpPr txBox="1"/>
            <p:nvPr/>
          </p:nvSpPr>
          <p:spPr>
            <a:xfrm>
              <a:off x="566383" y="56616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4" name="TextBox 24"/>
            <p:cNvSpPr txBox="1"/>
            <p:nvPr/>
          </p:nvSpPr>
          <p:spPr>
            <a:xfrm>
              <a:off x="887349" y="5640229"/>
              <a:ext cx="7120169" cy="308039"/>
            </a:xfrm>
            <a:prstGeom prst="rect">
              <a:avLst/>
            </a:prstGeom>
            <a:noFill/>
            <a:ln>
              <a:noFill/>
            </a:ln>
          </p:spPr>
          <p:txBody>
            <a:bodyPr wrap="none" lIns="0" tIns="0" rIns="0" bIns="0" anchor="t" anchorCtr="0">
              <a:spAutoFit/>
            </a:bodyPr>
            <a:lstStyle/>
            <a:p>
              <a:pPr algn="l"/>
              <a:r>
                <a:rPr lang="zh-CN" sz="1580" dirty="0">
                  <a:solidFill>
                    <a:schemeClr val="dk1"/>
                  </a:solidFill>
                  <a:latin typeface="+mn-lt"/>
                  <a:ea typeface="+mn-ea"/>
                  <a:cs typeface="+mn-cs"/>
                </a:rPr>
                <a:t>ファイル名が出たら読み込み完了です。［選び直す］でいつでも替えられます。［次へ］で進みます。</a:t>
              </a:r>
            </a:p>
          </p:txBody>
        </p:sp>
      </p:grpSp>
      <p:grpSp>
        <p:nvGrpSpPr>
          <p:cNvPr id="30" name="Group 30"/>
          <p:cNvGrpSpPr/>
          <p:nvPr/>
        </p:nvGrpSpPr>
        <p:grpSpPr>
          <a:xfrm>
            <a:off x="492124" y="6056313"/>
            <a:ext cx="7924580" cy="265715"/>
            <a:chOff x="492124" y="6056313"/>
            <a:chExt cx="7924580" cy="265715"/>
          </a:xfrm>
        </p:grpSpPr>
        <p:grpSp>
          <p:nvGrpSpPr>
            <p:cNvPr id="28" name="Group 28"/>
            <p:cNvGrpSpPr/>
            <p:nvPr/>
          </p:nvGrpSpPr>
          <p:grpSpPr>
            <a:xfrm>
              <a:off x="492124" y="6056313"/>
              <a:ext cx="139702" cy="174626"/>
              <a:chOff x="492124" y="6056313"/>
              <a:chExt cx="139702" cy="174626"/>
            </a:xfrm>
          </p:grpSpPr>
          <p:sp>
            <p:nvSpPr>
              <p:cNvPr id="26" name="Freeform 26"/>
              <p:cNvSpPr/>
              <p:nvPr/>
            </p:nvSpPr>
            <p:spPr>
              <a:xfrm>
                <a:off x="492124" y="6056313"/>
                <a:ext cx="139702" cy="174626"/>
              </a:xfrm>
              <a:custGeom>
                <a:avLst/>
                <a:gdLst/>
                <a:ahLst/>
                <a:cxnLst/>
                <a:rect l="l" t="t" r="r" b="b"/>
                <a:pathLst>
                  <a:path w="139702" h="174626">
                    <a:moveTo>
                      <a:pt x="69851" y="0"/>
                    </a:moveTo>
                    <a:lnTo>
                      <a:pt x="70872" y="61"/>
                    </a:lnTo>
                    <a:cubicBezTo>
                      <a:pt x="74884" y="534"/>
                      <a:pt x="78048" y="3698"/>
                      <a:pt x="78521" y="7710"/>
                    </a:cubicBezTo>
                    <a:lnTo>
                      <a:pt x="78582" y="8731"/>
                    </a:lnTo>
                    <a:lnTo>
                      <a:pt x="78582" y="43656"/>
                    </a:lnTo>
                    <a:lnTo>
                      <a:pt x="78626" y="44966"/>
                    </a:lnTo>
                    <a:cubicBezTo>
                      <a:pt x="79271" y="53557"/>
                      <a:pt x="86085" y="60393"/>
                      <a:pt x="94674" y="61066"/>
                    </a:cubicBezTo>
                    <a:lnTo>
                      <a:pt x="96045" y="61119"/>
                    </a:lnTo>
                    <a:lnTo>
                      <a:pt x="130970" y="61119"/>
                    </a:lnTo>
                    <a:lnTo>
                      <a:pt x="131991" y="61180"/>
                    </a:lnTo>
                    <a:cubicBezTo>
                      <a:pt x="136003" y="61653"/>
                      <a:pt x="139167" y="64817"/>
                      <a:pt x="139640" y="68828"/>
                    </a:cubicBezTo>
                    <a:lnTo>
                      <a:pt x="139701" y="69850"/>
                    </a:lnTo>
                    <a:lnTo>
                      <a:pt x="139701" y="148431"/>
                    </a:lnTo>
                    <a:cubicBezTo>
                      <a:pt x="139702" y="162301"/>
                      <a:pt x="128890" y="173768"/>
                      <a:pt x="115044" y="174581"/>
                    </a:cubicBezTo>
                    <a:lnTo>
                      <a:pt x="113507" y="174625"/>
                    </a:lnTo>
                    <a:lnTo>
                      <a:pt x="26195" y="174625"/>
                    </a:lnTo>
                    <a:cubicBezTo>
                      <a:pt x="12324" y="174626"/>
                      <a:pt x="858" y="163814"/>
                      <a:pt x="44" y="149968"/>
                    </a:cubicBezTo>
                    <a:lnTo>
                      <a:pt x="1" y="148431"/>
                    </a:lnTo>
                    <a:lnTo>
                      <a:pt x="1" y="26194"/>
                    </a:lnTo>
                    <a:cubicBezTo>
                      <a:pt x="0" y="12324"/>
                      <a:pt x="10812" y="857"/>
                      <a:pt x="24658" y="44"/>
                    </a:cubicBezTo>
                    <a:lnTo>
                      <a:pt x="26195" y="0"/>
                    </a:lnTo>
                    <a:close/>
                    <a:moveTo>
                      <a:pt x="56291" y="96969"/>
                    </a:moveTo>
                    <a:cubicBezTo>
                      <a:pt x="51980" y="94816"/>
                      <a:pt x="46740" y="96563"/>
                      <a:pt x="44583" y="100872"/>
                    </a:cubicBezTo>
                    <a:lnTo>
                      <a:pt x="35851" y="118335"/>
                    </a:lnTo>
                    <a:cubicBezTo>
                      <a:pt x="34623" y="120792"/>
                      <a:pt x="34623" y="123683"/>
                      <a:pt x="35851" y="126140"/>
                    </a:cubicBezTo>
                    <a:lnTo>
                      <a:pt x="44583" y="143603"/>
                    </a:lnTo>
                    <a:cubicBezTo>
                      <a:pt x="46740" y="147912"/>
                      <a:pt x="51980" y="149659"/>
                      <a:pt x="56291" y="147506"/>
                    </a:cubicBezTo>
                    <a:lnTo>
                      <a:pt x="57182" y="146999"/>
                    </a:lnTo>
                    <a:cubicBezTo>
                      <a:pt x="60880" y="144568"/>
                      <a:pt x="62174" y="139755"/>
                      <a:pt x="60194" y="135797"/>
                    </a:cubicBezTo>
                    <a:lnTo>
                      <a:pt x="53419" y="122238"/>
                    </a:lnTo>
                    <a:lnTo>
                      <a:pt x="60194" y="108678"/>
                    </a:lnTo>
                    <a:cubicBezTo>
                      <a:pt x="62347" y="104367"/>
                      <a:pt x="60600" y="99126"/>
                      <a:pt x="56291" y="96969"/>
                    </a:cubicBezTo>
                    <a:moveTo>
                      <a:pt x="95119" y="100872"/>
                    </a:moveTo>
                    <a:cubicBezTo>
                      <a:pt x="92962" y="96563"/>
                      <a:pt x="87722" y="94816"/>
                      <a:pt x="83410" y="96969"/>
                    </a:cubicBezTo>
                    <a:lnTo>
                      <a:pt x="82520" y="97476"/>
                    </a:lnTo>
                    <a:cubicBezTo>
                      <a:pt x="78822" y="99907"/>
                      <a:pt x="77528" y="104720"/>
                      <a:pt x="79508" y="108678"/>
                    </a:cubicBezTo>
                    <a:lnTo>
                      <a:pt x="86266" y="122238"/>
                    </a:lnTo>
                    <a:lnTo>
                      <a:pt x="79499" y="135797"/>
                    </a:lnTo>
                    <a:cubicBezTo>
                      <a:pt x="77521" y="140079"/>
                      <a:pt x="79301" y="145159"/>
                      <a:pt x="83521" y="147268"/>
                    </a:cubicBezTo>
                    <a:cubicBezTo>
                      <a:pt x="87740" y="149378"/>
                      <a:pt x="92871" y="147755"/>
                      <a:pt x="95110" y="143603"/>
                    </a:cubicBezTo>
                    <a:lnTo>
                      <a:pt x="103842" y="126140"/>
                    </a:lnTo>
                    <a:cubicBezTo>
                      <a:pt x="105069" y="123683"/>
                      <a:pt x="105069" y="120792"/>
                      <a:pt x="103842" y="118335"/>
                    </a:cubicBezTo>
                    <a:close/>
                  </a:path>
                </a:pathLst>
              </a:custGeom>
              <a:solidFill>
                <a:srgbClr val="5D6B7A"/>
              </a:solidFill>
              <a:ln>
                <a:noFill/>
              </a:ln>
            </p:spPr>
          </p:sp>
          <p:sp>
            <p:nvSpPr>
              <p:cNvPr id="27" name="Freeform 27"/>
              <p:cNvSpPr/>
              <p:nvPr/>
            </p:nvSpPr>
            <p:spPr>
              <a:xfrm>
                <a:off x="588160" y="6065035"/>
                <a:ext cx="34934" cy="34934"/>
              </a:xfrm>
              <a:custGeom>
                <a:avLst/>
                <a:gdLst/>
                <a:ahLst/>
                <a:cxnLst/>
                <a:rect l="l" t="t" r="r" b="b"/>
                <a:pathLst>
                  <a:path w="34934" h="34934">
                    <a:moveTo>
                      <a:pt x="34934" y="34934"/>
                    </a:moveTo>
                    <a:lnTo>
                      <a:pt x="9" y="34934"/>
                    </a:lnTo>
                    <a:lnTo>
                      <a:pt x="0" y="0"/>
                    </a:lnTo>
                    <a:close/>
                  </a:path>
                </a:pathLst>
              </a:custGeom>
              <a:solidFill>
                <a:srgbClr val="5D6B7A"/>
              </a:solidFill>
              <a:ln>
                <a:noFill/>
              </a:ln>
            </p:spPr>
          </p:sp>
        </p:grpSp>
        <p:sp>
          <p:nvSpPr>
            <p:cNvPr id="29" name="TextBox 29"/>
            <p:cNvSpPr txBox="1"/>
            <p:nvPr/>
          </p:nvSpPr>
          <p:spPr>
            <a:xfrm>
              <a:off x="774573" y="6072664"/>
              <a:ext cx="7642131"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対応形式は .xlsm / .xlam / .xlsb / .xls。Excel で開いたままのブックも読み込めます（元のブックは変更されません）。</a:t>
              </a:r>
            </a:p>
          </p:txBody>
        </p:sp>
      </p:grpSp>
      <p:grpSp>
        <p:nvGrpSpPr>
          <p:cNvPr id="33" name="Group 33"/>
          <p:cNvGrpSpPr/>
          <p:nvPr/>
        </p:nvGrpSpPr>
        <p:grpSpPr>
          <a:xfrm>
            <a:off x="451866" y="6477952"/>
            <a:ext cx="11288268" cy="205359"/>
            <a:chOff x="451866" y="6477952"/>
            <a:chExt cx="11288268" cy="205359"/>
          </a:xfrm>
        </p:grpSpPr>
        <p:sp>
          <p:nvSpPr>
            <p:cNvPr id="31" name="TextBox 31"/>
            <p:cNvSpPr txBox="1"/>
            <p:nvPr/>
          </p:nvSpPr>
          <p:spPr>
            <a:xfrm>
              <a:off x="451866" y="6477952"/>
              <a:ext cx="3035579"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　｜　手順 1 ・ 作業とブックを選ぶ</a:t>
              </a:r>
            </a:p>
          </p:txBody>
        </p:sp>
        <p:sp>
          <p:nvSpPr>
            <p:cNvPr id="32" name="TextBox 32"/>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1</a:t>
              </a:r>
            </a:p>
          </p:txBody>
        </p:sp>
        <p:sp>
          <p:nvSpPr>
            <p:cNvPr id="6" name="TextBox 6"/>
            <p:cNvSpPr txBox="1"/>
            <p:nvPr/>
          </p:nvSpPr>
          <p:spPr>
            <a:xfrm>
              <a:off x="441960" y="685800"/>
              <a:ext cx="4058984"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読み込んだマクロを確認します</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5486400" cy="3505581"/>
            <a:chOff x="457200" y="1428750"/>
            <a:chExt cx="5486400" cy="3505581"/>
          </a:xfrm>
        </p:grpSpPr>
        <p:sp>
          <p:nvSpPr>
            <p:cNvPr id="9" name="Rectangle 9"/>
            <p:cNvSpPr/>
            <p:nvPr/>
          </p:nvSpPr>
          <p:spPr>
            <a:xfrm>
              <a:off x="457200" y="1428750"/>
              <a:ext cx="5486400" cy="3152775"/>
            </a:xfrm>
            <a:prstGeom prst="roundRect">
              <a:avLst>
                <a:gd name="adj" fmla="val 4230"/>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11" name="Rectangle 11"/>
            <p:cNvSpPr/>
            <p:nvPr/>
          </p:nvSpPr>
          <p:spPr>
            <a:xfrm>
              <a:off x="533400" y="1504950"/>
              <a:ext cx="5334000" cy="3000375"/>
            </a:xfrm>
            <a:prstGeom prst="roundRect">
              <a:avLst>
                <a:gd name="adj" fmla="val 3175"/>
              </a:avLst>
            </a:prstGeom>
            <a:noFill/>
            <a:ln w="14288">
              <a:solidFill>
                <a:schemeClr val="accent6"/>
              </a:solidFill>
            </a:ln>
          </p:spPr>
        </p:sp>
        <p:sp>
          <p:nvSpPr>
            <p:cNvPr id="12" name="TextBox 12"/>
            <p:cNvSpPr txBox="1"/>
            <p:nvPr/>
          </p:nvSpPr>
          <p:spPr>
            <a:xfrm>
              <a:off x="527304" y="4699635"/>
              <a:ext cx="3978097"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「8モジュール・484行を読み込みました」。件数を確かめて［次へ］。</a:t>
              </a:r>
            </a:p>
          </p:txBody>
        </p:sp>
      </p:grpSp>
      <p:grpSp>
        <p:nvGrpSpPr>
          <p:cNvPr id="18" name="Group 18"/>
          <p:cNvGrpSpPr/>
          <p:nvPr/>
        </p:nvGrpSpPr>
        <p:grpSpPr>
          <a:xfrm>
            <a:off x="6248400" y="1428750"/>
            <a:ext cx="5486400" cy="3505581"/>
            <a:chOff x="6248400" y="1428750"/>
            <a:chExt cx="5486400" cy="3505581"/>
          </a:xfrm>
        </p:grpSpPr>
        <p:sp>
          <p:nvSpPr>
            <p:cNvPr id="14" name="Rectangle 14"/>
            <p:cNvSpPr/>
            <p:nvPr/>
          </p:nvSpPr>
          <p:spPr>
            <a:xfrm>
              <a:off x="6248400" y="142875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6" name="Rectangle 16"/>
            <p:cNvSpPr/>
            <p:nvPr/>
          </p:nvSpPr>
          <p:spPr>
            <a:xfrm>
              <a:off x="6324600" y="1504950"/>
              <a:ext cx="5334000" cy="3000375"/>
            </a:xfrm>
            <a:prstGeom prst="roundRect">
              <a:avLst>
                <a:gd name="adj" fmla="val 3175"/>
              </a:avLst>
            </a:prstGeom>
            <a:noFill/>
            <a:ln w="14288">
              <a:solidFill>
                <a:schemeClr val="accent6"/>
              </a:solidFill>
            </a:ln>
          </p:spPr>
        </p:sp>
        <p:sp>
          <p:nvSpPr>
            <p:cNvPr id="17" name="TextBox 17"/>
            <p:cNvSpPr txBox="1"/>
            <p:nvPr/>
          </p:nvSpPr>
          <p:spPr>
            <a:xfrm>
              <a:off x="6318504" y="4699635"/>
              <a:ext cx="4139641"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「読み取った内容を見る」を開くと、モジュール名と行数を確かめられます。</a:t>
              </a:r>
            </a:p>
          </p:txBody>
        </p:sp>
      </p:grpSp>
      <p:grpSp>
        <p:nvGrpSpPr>
          <p:cNvPr id="22" name="Group 22"/>
          <p:cNvGrpSpPr/>
          <p:nvPr/>
        </p:nvGrpSpPr>
        <p:grpSpPr>
          <a:xfrm>
            <a:off x="457200" y="5162550"/>
            <a:ext cx="5524500" cy="1066800"/>
            <a:chOff x="457200" y="5162550"/>
            <a:chExt cx="5524500" cy="1066800"/>
          </a:xfrm>
        </p:grpSpPr>
        <p:sp>
          <p:nvSpPr>
            <p:cNvPr id="19" name="Rectangle 19"/>
            <p:cNvSpPr/>
            <p:nvPr/>
          </p:nvSpPr>
          <p:spPr>
            <a:xfrm>
              <a:off x="457200" y="5162550"/>
              <a:ext cx="5524500" cy="1066800"/>
            </a:xfrm>
            <a:prstGeom prst="roundRect">
              <a:avLst>
                <a:gd name="adj" fmla="val 12500"/>
              </a:avLst>
            </a:prstGeom>
            <a:solidFill>
              <a:schemeClr val="accent5"/>
            </a:solidFill>
            <a:ln w="9525">
              <a:solidFill>
                <a:schemeClr val="accent6"/>
              </a:solidFill>
            </a:ln>
          </p:spPr>
        </p:sp>
        <p:sp>
          <p:nvSpPr>
            <p:cNvPr id="20" name="TextBox 20"/>
            <p:cNvSpPr txBox="1"/>
            <p:nvPr/>
          </p:nvSpPr>
          <p:spPr>
            <a:xfrm>
              <a:off x="678942" y="5302568"/>
              <a:ext cx="3152768"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「マクロのコードは全モジュール読み取れています。」</a:t>
              </a:r>
            </a:p>
          </p:txBody>
        </p:sp>
        <p:sp>
          <p:nvSpPr>
            <p:cNvPr id="21" name="TextBox 21"/>
            <p:cNvSpPr txBox="1"/>
            <p:nvPr/>
          </p:nvSpPr>
          <p:spPr>
            <a:xfrm>
              <a:off x="679323" y="5596414"/>
              <a:ext cx="3101594" cy="497014"/>
            </a:xfrm>
            <a:prstGeom prst="rect">
              <a:avLst/>
            </a:prstGeom>
            <a:noFill/>
            <a:ln>
              <a:noFill/>
            </a:ln>
          </p:spPr>
          <p:txBody>
            <a:bodyPr wrap="square" lIns="0" tIns="0" rIns="0" bIns="0" anchor="t" anchorCtr="0"/>
            <a:lstStyle/>
            <a:p>
              <a:pPr algn="l">
                <a:lnSpc>
                  <a:spcPts val="1950"/>
                </a:lnSpc>
              </a:pPr>
              <a:r>
                <a:rPr lang="zh-CN" sz="1280" dirty="0">
                  <a:solidFill>
                    <a:srgbClr val="5D6B7A"/>
                  </a:solidFill>
                  <a:latin typeface="+mn-lt"/>
                  <a:ea typeface="+mn-ea"/>
                  <a:cs typeface="+mn-cs"/>
                </a:rPr>
                <a:t>＝ ブック内部の管理情報が標準と違っていただけです。コードは全部読めているので、何もしなくて大丈夫です。</a:t>
              </a:r>
            </a:p>
          </p:txBody>
        </p:sp>
      </p:grpSp>
      <p:grpSp>
        <p:nvGrpSpPr>
          <p:cNvPr id="26" name="Group 26"/>
          <p:cNvGrpSpPr/>
          <p:nvPr/>
        </p:nvGrpSpPr>
        <p:grpSpPr>
          <a:xfrm>
            <a:off x="6210300" y="5162550"/>
            <a:ext cx="5524500" cy="1066800"/>
            <a:chOff x="6210300" y="5162550"/>
            <a:chExt cx="5524500" cy="1066800"/>
          </a:xfrm>
        </p:grpSpPr>
        <p:sp>
          <p:nvSpPr>
            <p:cNvPr id="23" name="Rectangle 23"/>
            <p:cNvSpPr/>
            <p:nvPr/>
          </p:nvSpPr>
          <p:spPr>
            <a:xfrm>
              <a:off x="6210300" y="5162550"/>
              <a:ext cx="5524500" cy="1066800"/>
            </a:xfrm>
            <a:prstGeom prst="roundRect">
              <a:avLst>
                <a:gd name="adj" fmla="val 12500"/>
              </a:avLst>
            </a:prstGeom>
            <a:solidFill>
              <a:schemeClr val="lt1"/>
            </a:solidFill>
            <a:ln w="14288">
              <a:solidFill>
                <a:schemeClr val="accent2"/>
              </a:solidFill>
            </a:ln>
          </p:spPr>
        </p:sp>
        <p:sp>
          <p:nvSpPr>
            <p:cNvPr id="24" name="TextBox 24"/>
            <p:cNvSpPr txBox="1"/>
            <p:nvPr/>
          </p:nvSpPr>
          <p:spPr>
            <a:xfrm>
              <a:off x="6432042" y="5302568"/>
              <a:ext cx="3133686"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「一部をバイナリレベルで読み取れませんでした。」</a:t>
              </a:r>
            </a:p>
          </p:txBody>
        </p:sp>
        <p:sp>
          <p:nvSpPr>
            <p:cNvPr id="25" name="TextBox 25"/>
            <p:cNvSpPr txBox="1"/>
            <p:nvPr/>
          </p:nvSpPr>
          <p:spPr>
            <a:xfrm>
              <a:off x="6432423" y="5596414"/>
              <a:ext cx="3719322" cy="497014"/>
            </a:xfrm>
            <a:prstGeom prst="rect">
              <a:avLst/>
            </a:prstGeom>
            <a:noFill/>
            <a:ln>
              <a:noFill/>
            </a:ln>
          </p:spPr>
          <p:txBody>
            <a:bodyPr wrap="square" lIns="0" tIns="0" rIns="0" bIns="0" anchor="t" anchorCtr="0"/>
            <a:lstStyle/>
            <a:p>
              <a:pPr algn="l">
                <a:lnSpc>
                  <a:spcPts val="1950"/>
                </a:lnSpc>
              </a:pPr>
              <a:r>
                <a:rPr lang="zh-CN" sz="1280" dirty="0">
                  <a:solidFill>
                    <a:srgbClr val="5D6B7A"/>
                  </a:solidFill>
                  <a:latin typeface="+mn-lt"/>
                  <a:ea typeface="+mn-ea"/>
                  <a:cs typeface="+mn-cs"/>
                </a:rPr>
                <a:t>＝ 挙げられたモジュールのコードが途中までの可能性。改修前後のコードを見比べてください。読み込み自体は成功です。</a:t>
              </a:r>
            </a:p>
          </p:txBody>
        </p:sp>
      </p:grpSp>
      <p:grpSp>
        <p:nvGrpSpPr>
          <p:cNvPr id="28" name="Group 28"/>
          <p:cNvGrpSpPr/>
          <p:nvPr/>
        </p:nvGrpSpPr>
        <p:grpSpPr>
          <a:xfrm>
            <a:off x="450342" y="4912042"/>
            <a:ext cx="4520794" cy="264033"/>
            <a:chOff x="450342" y="4912042"/>
            <a:chExt cx="4520794" cy="264033"/>
          </a:xfrm>
        </p:grpSpPr>
        <p:sp>
          <p:nvSpPr>
            <p:cNvPr id="27" name="TextBox 27"/>
            <p:cNvSpPr txBox="1"/>
            <p:nvPr/>
          </p:nvSpPr>
          <p:spPr>
            <a:xfrm>
              <a:off x="450342" y="4912042"/>
              <a:ext cx="452079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案内が出ることがあります。意味は 2 通りだけで、どちらでも先へ進めます。</a:t>
              </a:r>
            </a:p>
          </p:txBody>
        </p:sp>
      </p:grpSp>
      <p:grpSp>
        <p:nvGrpSpPr>
          <p:cNvPr id="31" name="Group 31"/>
          <p:cNvGrpSpPr/>
          <p:nvPr/>
        </p:nvGrpSpPr>
        <p:grpSpPr>
          <a:xfrm>
            <a:off x="451866" y="6477952"/>
            <a:ext cx="11288268" cy="205359"/>
            <a:chOff x="451866" y="6477952"/>
            <a:chExt cx="11288268" cy="205359"/>
          </a:xfrm>
        </p:grpSpPr>
        <p:sp>
          <p:nvSpPr>
            <p:cNvPr id="29" name="TextBox 29"/>
            <p:cNvSpPr txBox="1"/>
            <p:nvPr/>
          </p:nvSpPr>
          <p:spPr>
            <a:xfrm>
              <a:off x="451866" y="6477952"/>
              <a:ext cx="3035579"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　｜　手順 1 ・ 作業とブックを選ぶ</a:t>
              </a:r>
            </a:p>
          </p:txBody>
        </p:sp>
        <p:sp>
          <p:nvSpPr>
            <p:cNvPr id="30" name="TextBox 30"/>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2</a:t>
              </a:r>
            </a:p>
          </p:txBody>
        </p:sp>
        <p:sp>
          <p:nvSpPr>
            <p:cNvPr id="6" name="TextBox 6"/>
            <p:cNvSpPr txBox="1"/>
            <p:nvPr/>
          </p:nvSpPr>
          <p:spPr>
            <a:xfrm>
              <a:off x="441960" y="685800"/>
              <a:ext cx="2935243"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目的を選んでください</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6858000" cy="4277106"/>
            <a:chOff x="457200" y="1428750"/>
            <a:chExt cx="6858000" cy="4277106"/>
          </a:xfrm>
        </p:grpSpPr>
        <p:sp>
          <p:nvSpPr>
            <p:cNvPr id="9" name="Rectangle 9"/>
            <p:cNvSpPr/>
            <p:nvPr/>
          </p:nvSpPr>
          <p:spPr>
            <a:xfrm>
              <a:off x="457200" y="1428750"/>
              <a:ext cx="6858000" cy="3924300"/>
            </a:xfrm>
            <a:prstGeom prst="roundRect">
              <a:avLst>
                <a:gd name="adj" fmla="val 3398"/>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6705600" cy="3771900"/>
            </a:xfrm>
            <a:prstGeom prst="roundRect">
              <a:avLst>
                <a:gd name="adj" fmla="val 2525"/>
              </a:avLst>
            </a:prstGeom>
          </p:spPr>
        </p:pic>
        <p:sp>
          <p:nvSpPr>
            <p:cNvPr id="11" name="Rectangle 11"/>
            <p:cNvSpPr/>
            <p:nvPr/>
          </p:nvSpPr>
          <p:spPr>
            <a:xfrm>
              <a:off x="533400" y="1504950"/>
              <a:ext cx="6705600" cy="3771900"/>
            </a:xfrm>
            <a:prstGeom prst="roundRect">
              <a:avLst>
                <a:gd name="adj" fmla="val 2525"/>
              </a:avLst>
            </a:prstGeom>
            <a:noFill/>
            <a:ln w="14288">
              <a:solidFill>
                <a:schemeClr val="accent6"/>
              </a:solidFill>
            </a:ln>
          </p:spPr>
        </p:sp>
        <p:sp>
          <p:nvSpPr>
            <p:cNvPr id="12" name="TextBox 12"/>
            <p:cNvSpPr txBox="1"/>
            <p:nvPr/>
          </p:nvSpPr>
          <p:spPr>
            <a:xfrm>
              <a:off x="527304" y="5471160"/>
              <a:ext cx="5644896"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今回は「Win32 API を使わない形へ直す」を選択。名前の下の一行が、それぞれの説明です。</a:t>
              </a:r>
            </a:p>
          </p:txBody>
        </p:sp>
      </p:grpSp>
      <p:grpSp>
        <p:nvGrpSpPr>
          <p:cNvPr id="24" name="Group 24"/>
          <p:cNvGrpSpPr/>
          <p:nvPr/>
        </p:nvGrpSpPr>
        <p:grpSpPr>
          <a:xfrm>
            <a:off x="7613142" y="1511618"/>
            <a:ext cx="4121658" cy="2717482"/>
            <a:chOff x="7613142" y="1511618"/>
            <a:chExt cx="4121658" cy="2717482"/>
          </a:xfrm>
        </p:grpSpPr>
        <p:sp>
          <p:nvSpPr>
            <p:cNvPr id="14" name="TextBox 14"/>
            <p:cNvSpPr txBox="1"/>
            <p:nvPr/>
          </p:nvSpPr>
          <p:spPr>
            <a:xfrm>
              <a:off x="7613142" y="1511618"/>
              <a:ext cx="221773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改修の目的は 3 つから選べます。</a:t>
              </a:r>
            </a:p>
          </p:txBody>
        </p:sp>
        <p:sp>
          <p:nvSpPr>
            <p:cNvPr id="15" name="Rectangle 15"/>
            <p:cNvSpPr/>
            <p:nvPr/>
          </p:nvSpPr>
          <p:spPr>
            <a:xfrm>
              <a:off x="7620000" y="1828800"/>
              <a:ext cx="4114800" cy="723900"/>
            </a:xfrm>
            <a:prstGeom prst="roundRect">
              <a:avLst>
                <a:gd name="adj" fmla="val 15789"/>
              </a:avLst>
            </a:prstGeom>
            <a:solidFill>
              <a:schemeClr val="accent5"/>
            </a:solidFill>
            <a:ln w="9525">
              <a:solidFill>
                <a:schemeClr val="accent6"/>
              </a:solidFill>
            </a:ln>
          </p:spPr>
        </p:sp>
        <p:sp>
          <p:nvSpPr>
            <p:cNvPr id="16" name="TextBox 16"/>
            <p:cNvSpPr txBox="1"/>
            <p:nvPr/>
          </p:nvSpPr>
          <p:spPr>
            <a:xfrm>
              <a:off x="7803642" y="1968818"/>
              <a:ext cx="101176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VBAリファクター</a:t>
              </a:r>
            </a:p>
          </p:txBody>
        </p:sp>
        <p:sp>
          <p:nvSpPr>
            <p:cNvPr id="17" name="TextBox 17"/>
            <p:cNvSpPr txBox="1"/>
            <p:nvPr/>
          </p:nvSpPr>
          <p:spPr>
            <a:xfrm>
              <a:off x="7804404" y="2251710"/>
              <a:ext cx="229804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今の動きを変えないまま、読みやすく直す。</a:t>
              </a:r>
            </a:p>
          </p:txBody>
        </p:sp>
        <p:sp>
          <p:nvSpPr>
            <p:cNvPr id="18" name="Rectangle 18"/>
            <p:cNvSpPr/>
            <p:nvPr/>
          </p:nvSpPr>
          <p:spPr>
            <a:xfrm>
              <a:off x="7620000" y="2667000"/>
              <a:ext cx="4114800" cy="723900"/>
            </a:xfrm>
            <a:prstGeom prst="roundRect">
              <a:avLst>
                <a:gd name="adj" fmla="val 15789"/>
              </a:avLst>
            </a:prstGeom>
            <a:solidFill>
              <a:schemeClr val="lt1"/>
            </a:solidFill>
            <a:ln w="19050">
              <a:solidFill>
                <a:schemeClr val="accent2"/>
              </a:solidFill>
            </a:ln>
          </p:spPr>
        </p:sp>
        <p:sp>
          <p:nvSpPr>
            <p:cNvPr id="19" name="TextBox 19"/>
            <p:cNvSpPr txBox="1"/>
            <p:nvPr/>
          </p:nvSpPr>
          <p:spPr>
            <a:xfrm>
              <a:off x="7803642" y="2807018"/>
              <a:ext cx="2954384"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Win32 API を使わない形へ直す　← 今回</a:t>
              </a:r>
            </a:p>
          </p:txBody>
        </p:sp>
        <p:sp>
          <p:nvSpPr>
            <p:cNvPr id="20" name="TextBox 20"/>
            <p:cNvSpPr txBox="1"/>
            <p:nvPr/>
          </p:nvSpPr>
          <p:spPr>
            <a:xfrm>
              <a:off x="7804404" y="3089910"/>
              <a:ext cx="235458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新しい端末でも動く書き方へ置き換える。</a:t>
              </a:r>
            </a:p>
          </p:txBody>
        </p:sp>
        <p:sp>
          <p:nvSpPr>
            <p:cNvPr id="21" name="Rectangle 21"/>
            <p:cNvSpPr/>
            <p:nvPr/>
          </p:nvSpPr>
          <p:spPr>
            <a:xfrm>
              <a:off x="7620000" y="3505200"/>
              <a:ext cx="4114800" cy="723900"/>
            </a:xfrm>
            <a:prstGeom prst="roundRect">
              <a:avLst>
                <a:gd name="adj" fmla="val 15789"/>
              </a:avLst>
            </a:prstGeom>
            <a:solidFill>
              <a:schemeClr val="accent5"/>
            </a:solidFill>
            <a:ln w="9525">
              <a:solidFill>
                <a:schemeClr val="accent6"/>
              </a:solidFill>
            </a:ln>
          </p:spPr>
        </p:sp>
        <p:sp>
          <p:nvSpPr>
            <p:cNvPr id="22" name="TextBox 22"/>
            <p:cNvSpPr txBox="1"/>
            <p:nvPr/>
          </p:nvSpPr>
          <p:spPr>
            <a:xfrm>
              <a:off x="7803642" y="3645218"/>
              <a:ext cx="1664342"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自分で改修内容を書く</a:t>
              </a:r>
            </a:p>
          </p:txBody>
        </p:sp>
        <p:sp>
          <p:nvSpPr>
            <p:cNvPr id="23" name="TextBox 23"/>
            <p:cNvSpPr txBox="1"/>
            <p:nvPr/>
          </p:nvSpPr>
          <p:spPr>
            <a:xfrm>
              <a:off x="7804404" y="3928110"/>
              <a:ext cx="2370734"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どう直してほしいかを、自分の言葉で書く。</a:t>
              </a:r>
            </a:p>
          </p:txBody>
        </p:sp>
      </p:grpSp>
      <p:grpSp>
        <p:nvGrpSpPr>
          <p:cNvPr id="31" name="Group 31"/>
          <p:cNvGrpSpPr/>
          <p:nvPr/>
        </p:nvGrpSpPr>
        <p:grpSpPr>
          <a:xfrm>
            <a:off x="7639050" y="4524375"/>
            <a:ext cx="2950845" cy="1029748"/>
            <a:chOff x="7639050" y="4524375"/>
            <a:chExt cx="2950845" cy="1029748"/>
          </a:xfrm>
        </p:grpSpPr>
        <p:sp>
          <p:nvSpPr>
            <p:cNvPr id="25" name="Ellipse 25"/>
            <p:cNvSpPr/>
            <p:nvPr/>
          </p:nvSpPr>
          <p:spPr>
            <a:xfrm>
              <a:off x="7639050" y="4524375"/>
              <a:ext cx="285750" cy="285750"/>
            </a:xfrm>
            <a:prstGeom prst="ellipse">
              <a:avLst/>
            </a:prstGeom>
            <a:solidFill>
              <a:schemeClr val="accent1"/>
            </a:solidFill>
            <a:ln>
              <a:noFill/>
            </a:ln>
          </p:spPr>
        </p:sp>
        <p:sp>
          <p:nvSpPr>
            <p:cNvPr id="26" name="TextBox 26"/>
            <p:cNvSpPr txBox="1"/>
            <p:nvPr/>
          </p:nvSpPr>
          <p:spPr>
            <a:xfrm>
              <a:off x="7729183" y="45948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7" name="TextBox 27"/>
            <p:cNvSpPr txBox="1"/>
            <p:nvPr/>
          </p:nvSpPr>
          <p:spPr>
            <a:xfrm>
              <a:off x="8050530" y="4581525"/>
              <a:ext cx="253936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近いものをひとつ押して、［次へ］。</a:t>
              </a:r>
            </a:p>
          </p:txBody>
        </p:sp>
        <p:sp>
          <p:nvSpPr>
            <p:cNvPr id="28" name="Ellipse 28"/>
            <p:cNvSpPr/>
            <p:nvPr/>
          </p:nvSpPr>
          <p:spPr>
            <a:xfrm>
              <a:off x="7639050" y="4943475"/>
              <a:ext cx="285750" cy="285750"/>
            </a:xfrm>
            <a:prstGeom prst="ellipse">
              <a:avLst/>
            </a:prstGeom>
            <a:solidFill>
              <a:schemeClr val="accent1"/>
            </a:solidFill>
            <a:ln>
              <a:noFill/>
            </a:ln>
          </p:spPr>
        </p:sp>
        <p:sp>
          <p:nvSpPr>
            <p:cNvPr id="29" name="TextBox 29"/>
            <p:cNvSpPr txBox="1"/>
            <p:nvPr/>
          </p:nvSpPr>
          <p:spPr>
            <a:xfrm>
              <a:off x="7729183" y="50139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30" name="TextBox 30"/>
            <p:cNvSpPr txBox="1"/>
            <p:nvPr/>
          </p:nvSpPr>
          <p:spPr>
            <a:xfrm>
              <a:off x="8050911" y="5008721"/>
              <a:ext cx="2512187" cy="545402"/>
            </a:xfrm>
            <a:prstGeom prst="rect">
              <a:avLst/>
            </a:prstGeom>
            <a:noFill/>
            <a:ln>
              <a:noFill/>
            </a:ln>
          </p:spPr>
          <p:txBody>
            <a:bodyPr wrap="square" lIns="0" tIns="0" rIns="0" bIns="0" anchor="t" anchorCtr="0"/>
            <a:lstStyle/>
            <a:p>
              <a:pPr algn="l">
                <a:lnSpc>
                  <a:spcPts val="2100"/>
                </a:lnSpc>
              </a:pPr>
              <a:r>
                <a:rPr lang="zh-CN" sz="1420" dirty="0">
                  <a:solidFill>
                    <a:schemeClr val="dk1"/>
                  </a:solidFill>
                  <a:latin typeface="+mn-lt"/>
                  <a:ea typeface="+mn-ea"/>
                  <a:cs typeface="+mn-cs"/>
                </a:rPr>
                <a:t>迷ったら「自分で改修内容を書く」を選び、次の画面で内容を書きます。</a:t>
              </a:r>
            </a:p>
          </p:txBody>
        </p:sp>
      </p:grpSp>
      <p:grpSp>
        <p:nvGrpSpPr>
          <p:cNvPr id="33" name="Group 33"/>
          <p:cNvGrpSpPr/>
          <p:nvPr/>
        </p:nvGrpSpPr>
        <p:grpSpPr>
          <a:xfrm>
            <a:off x="450723" y="5958364"/>
            <a:ext cx="6849577" cy="249364"/>
            <a:chOff x="450723" y="5958364"/>
            <a:chExt cx="6849577" cy="249364"/>
          </a:xfrm>
        </p:grpSpPr>
        <p:sp>
          <p:nvSpPr>
            <p:cNvPr id="32" name="TextBox 32"/>
            <p:cNvSpPr txBox="1"/>
            <p:nvPr/>
          </p:nvSpPr>
          <p:spPr>
            <a:xfrm>
              <a:off x="450723" y="5958364"/>
              <a:ext cx="6849577"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ひな形によっては、先にいくつか質問が出ます（相談の例 → P23）。答えた内容は依頼文に折り込まれます。</a:t>
              </a:r>
            </a:p>
          </p:txBody>
        </p:sp>
      </p:grpSp>
      <p:grpSp>
        <p:nvGrpSpPr>
          <p:cNvPr id="36" name="Group 36"/>
          <p:cNvGrpSpPr/>
          <p:nvPr/>
        </p:nvGrpSpPr>
        <p:grpSpPr>
          <a:xfrm>
            <a:off x="451866" y="6477952"/>
            <a:ext cx="11288268" cy="205359"/>
            <a:chOff x="451866" y="6477952"/>
            <a:chExt cx="11288268" cy="205359"/>
          </a:xfrm>
        </p:grpSpPr>
        <p:sp>
          <p:nvSpPr>
            <p:cNvPr id="34" name="TextBox 34"/>
            <p:cNvSpPr txBox="1"/>
            <p:nvPr/>
          </p:nvSpPr>
          <p:spPr>
            <a:xfrm>
              <a:off x="451866" y="6477952"/>
              <a:ext cx="2937967"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　｜　手順 2 ・ AIへ依頼する</a:t>
              </a:r>
            </a:p>
          </p:txBody>
        </p:sp>
        <p:sp>
          <p:nvSpPr>
            <p:cNvPr id="35" name="TextBox 35"/>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2</a:t>
              </a:r>
            </a:p>
          </p:txBody>
        </p:sp>
        <p:sp>
          <p:nvSpPr>
            <p:cNvPr id="6" name="TextBox 6"/>
            <p:cNvSpPr txBox="1"/>
            <p:nvPr/>
          </p:nvSpPr>
          <p:spPr>
            <a:xfrm>
              <a:off x="441960" y="685800"/>
              <a:ext cx="482467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AIへ送る依頼文を用意しました</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5486400" cy="3505581"/>
            <a:chOff x="457200" y="1428750"/>
            <a:chExt cx="5486400" cy="3505581"/>
          </a:xfrm>
        </p:grpSpPr>
        <p:sp>
          <p:nvSpPr>
            <p:cNvPr id="9" name="Rectangle 9"/>
            <p:cNvSpPr/>
            <p:nvPr/>
          </p:nvSpPr>
          <p:spPr>
            <a:xfrm>
              <a:off x="457200" y="1428750"/>
              <a:ext cx="5486400" cy="3152775"/>
            </a:xfrm>
            <a:prstGeom prst="roundRect">
              <a:avLst>
                <a:gd name="adj" fmla="val 4230"/>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11" name="Rectangle 11"/>
            <p:cNvSpPr/>
            <p:nvPr/>
          </p:nvSpPr>
          <p:spPr>
            <a:xfrm>
              <a:off x="533400" y="1504950"/>
              <a:ext cx="5334000" cy="3000375"/>
            </a:xfrm>
            <a:prstGeom prst="roundRect">
              <a:avLst>
                <a:gd name="adj" fmla="val 3175"/>
              </a:avLst>
            </a:prstGeom>
            <a:noFill/>
            <a:ln w="14288">
              <a:solidFill>
                <a:schemeClr val="accent6"/>
              </a:solidFill>
            </a:ln>
          </p:spPr>
        </p:sp>
        <p:sp>
          <p:nvSpPr>
            <p:cNvPr id="12" name="TextBox 12"/>
            <p:cNvSpPr txBox="1"/>
            <p:nvPr/>
          </p:nvSpPr>
          <p:spPr>
            <a:xfrm>
              <a:off x="527304" y="4699635"/>
              <a:ext cx="3065374"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依頼文はできあがっています。そのまま進めて大丈夫です。</a:t>
              </a:r>
            </a:p>
          </p:txBody>
        </p:sp>
      </p:grpSp>
      <p:grpSp>
        <p:nvGrpSpPr>
          <p:cNvPr id="18" name="Group 18"/>
          <p:cNvGrpSpPr/>
          <p:nvPr/>
        </p:nvGrpSpPr>
        <p:grpSpPr>
          <a:xfrm>
            <a:off x="6248400" y="1428750"/>
            <a:ext cx="5486400" cy="3505581"/>
            <a:chOff x="6248400" y="1428750"/>
            <a:chExt cx="5486400" cy="3505581"/>
          </a:xfrm>
        </p:grpSpPr>
        <p:sp>
          <p:nvSpPr>
            <p:cNvPr id="14" name="Rectangle 14"/>
            <p:cNvSpPr/>
            <p:nvPr/>
          </p:nvSpPr>
          <p:spPr>
            <a:xfrm>
              <a:off x="6248400" y="142875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6" name="Rectangle 16"/>
            <p:cNvSpPr/>
            <p:nvPr/>
          </p:nvSpPr>
          <p:spPr>
            <a:xfrm>
              <a:off x="6324600" y="1504950"/>
              <a:ext cx="5334000" cy="3000375"/>
            </a:xfrm>
            <a:prstGeom prst="roundRect">
              <a:avLst>
                <a:gd name="adj" fmla="val 3175"/>
              </a:avLst>
            </a:prstGeom>
            <a:noFill/>
            <a:ln w="14288">
              <a:solidFill>
                <a:schemeClr val="accent6"/>
              </a:solidFill>
            </a:ln>
          </p:spPr>
        </p:sp>
        <p:sp>
          <p:nvSpPr>
            <p:cNvPr id="17" name="TextBox 17"/>
            <p:cNvSpPr txBox="1"/>
            <p:nvPr/>
          </p:nvSpPr>
          <p:spPr>
            <a:xfrm>
              <a:off x="6318504" y="4699635"/>
              <a:ext cx="382463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「依頼文を確認・編集」を開くと、全文を読んで書き足せます。</a:t>
              </a:r>
            </a:p>
          </p:txBody>
        </p:sp>
      </p:grpSp>
      <p:grpSp>
        <p:nvGrpSpPr>
          <p:cNvPr id="25" name="Group 25"/>
          <p:cNvGrpSpPr/>
          <p:nvPr/>
        </p:nvGrpSpPr>
        <p:grpSpPr>
          <a:xfrm>
            <a:off x="476250" y="5191125"/>
            <a:ext cx="9956043" cy="757143"/>
            <a:chOff x="476250" y="5191125"/>
            <a:chExt cx="9956043" cy="757143"/>
          </a:xfrm>
        </p:grpSpPr>
        <p:sp>
          <p:nvSpPr>
            <p:cNvPr id="19" name="Ellipse 19"/>
            <p:cNvSpPr/>
            <p:nvPr/>
          </p:nvSpPr>
          <p:spPr>
            <a:xfrm>
              <a:off x="476250" y="5191125"/>
              <a:ext cx="285750" cy="285750"/>
            </a:xfrm>
            <a:prstGeom prst="ellipse">
              <a:avLst/>
            </a:prstGeom>
            <a:solidFill>
              <a:schemeClr val="accent1"/>
            </a:solidFill>
            <a:ln>
              <a:noFill/>
            </a:ln>
          </p:spPr>
        </p:sp>
        <p:sp>
          <p:nvSpPr>
            <p:cNvPr id="20" name="TextBox 20"/>
            <p:cNvSpPr txBox="1"/>
            <p:nvPr/>
          </p:nvSpPr>
          <p:spPr>
            <a:xfrm>
              <a:off x="566383" y="52616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1" name="TextBox 21"/>
            <p:cNvSpPr txBox="1"/>
            <p:nvPr/>
          </p:nvSpPr>
          <p:spPr>
            <a:xfrm>
              <a:off x="887349" y="5240179"/>
              <a:ext cx="3610625" cy="308039"/>
            </a:xfrm>
            <a:prstGeom prst="rect">
              <a:avLst/>
            </a:prstGeom>
            <a:noFill/>
            <a:ln>
              <a:noFill/>
            </a:ln>
          </p:spPr>
          <p:txBody>
            <a:bodyPr wrap="none" lIns="0" tIns="0" rIns="0" bIns="0" anchor="t" anchorCtr="0">
              <a:spAutoFit/>
            </a:bodyPr>
            <a:lstStyle/>
            <a:p>
              <a:pPr algn="l"/>
              <a:r>
                <a:rPr lang="zh-CN" sz="1580" dirty="0">
                  <a:solidFill>
                    <a:schemeClr val="dk1"/>
                  </a:solidFill>
                  <a:latin typeface="+mn-lt"/>
                  <a:ea typeface="+mn-ea"/>
                  <a:cs typeface="+mn-cs"/>
                </a:rPr>
                <a:t>直すところがなければ、そのまま［次へ］を押します。</a:t>
              </a:r>
            </a:p>
          </p:txBody>
        </p:sp>
        <p:sp>
          <p:nvSpPr>
            <p:cNvPr id="22" name="Ellipse 22"/>
            <p:cNvSpPr/>
            <p:nvPr/>
          </p:nvSpPr>
          <p:spPr>
            <a:xfrm>
              <a:off x="476250" y="5591175"/>
              <a:ext cx="285750" cy="285750"/>
            </a:xfrm>
            <a:prstGeom prst="ellipse">
              <a:avLst/>
            </a:prstGeom>
            <a:solidFill>
              <a:schemeClr val="accent1"/>
            </a:solidFill>
            <a:ln>
              <a:noFill/>
            </a:ln>
          </p:spPr>
        </p:sp>
        <p:sp>
          <p:nvSpPr>
            <p:cNvPr id="23" name="TextBox 23"/>
            <p:cNvSpPr txBox="1"/>
            <p:nvPr/>
          </p:nvSpPr>
          <p:spPr>
            <a:xfrm>
              <a:off x="566383" y="56616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4" name="TextBox 24"/>
            <p:cNvSpPr txBox="1"/>
            <p:nvPr/>
          </p:nvSpPr>
          <p:spPr>
            <a:xfrm>
              <a:off x="887349" y="5640229"/>
              <a:ext cx="9544944" cy="308039"/>
            </a:xfrm>
            <a:prstGeom prst="rect">
              <a:avLst/>
            </a:prstGeom>
            <a:noFill/>
            <a:ln>
              <a:noFill/>
            </a:ln>
          </p:spPr>
          <p:txBody>
            <a:bodyPr wrap="none" lIns="0" tIns="0" rIns="0" bIns="0" anchor="t" anchorCtr="0">
              <a:spAutoFit/>
            </a:bodyPr>
            <a:lstStyle/>
            <a:p>
              <a:pPr algn="l"/>
              <a:r>
                <a:rPr lang="zh-CN" sz="1580" dirty="0">
                  <a:solidFill>
                    <a:schemeClr val="dk1"/>
                  </a:solidFill>
                  <a:latin typeface="+mn-lt"/>
                  <a:ea typeface="+mn-ea"/>
                  <a:cs typeface="+mn-cs"/>
                </a:rPr>
                <a:t>書き足したいときは「依頼文を確認・編集」を開きます。この文章と、返答のしかたの指示、コード全文が AI へ渡ります。</a:t>
              </a:r>
            </a:p>
          </p:txBody>
        </p:sp>
      </p:grpSp>
      <p:grpSp>
        <p:nvGrpSpPr>
          <p:cNvPr id="30" name="Group 30"/>
          <p:cNvGrpSpPr/>
          <p:nvPr/>
        </p:nvGrpSpPr>
        <p:grpSpPr>
          <a:xfrm>
            <a:off x="492124" y="6056313"/>
            <a:ext cx="8406497" cy="265715"/>
            <a:chOff x="492124" y="6056313"/>
            <a:chExt cx="8406497" cy="265715"/>
          </a:xfrm>
        </p:grpSpPr>
        <p:grpSp>
          <p:nvGrpSpPr>
            <p:cNvPr id="28" name="Group 28"/>
            <p:cNvGrpSpPr/>
            <p:nvPr/>
          </p:nvGrpSpPr>
          <p:grpSpPr>
            <a:xfrm>
              <a:off x="492124" y="6056313"/>
              <a:ext cx="139702" cy="174626"/>
              <a:chOff x="492124" y="6056313"/>
              <a:chExt cx="139702" cy="174626"/>
            </a:xfrm>
          </p:grpSpPr>
          <p:sp>
            <p:nvSpPr>
              <p:cNvPr id="26" name="Freeform 26"/>
              <p:cNvSpPr/>
              <p:nvPr/>
            </p:nvSpPr>
            <p:spPr>
              <a:xfrm>
                <a:off x="492124" y="6056313"/>
                <a:ext cx="139702" cy="174626"/>
              </a:xfrm>
              <a:custGeom>
                <a:avLst/>
                <a:gdLst/>
                <a:ahLst/>
                <a:cxnLst/>
                <a:rect l="l" t="t" r="r" b="b"/>
                <a:pathLst>
                  <a:path w="139702" h="174626">
                    <a:moveTo>
                      <a:pt x="69851" y="0"/>
                    </a:moveTo>
                    <a:lnTo>
                      <a:pt x="70872" y="61"/>
                    </a:lnTo>
                    <a:cubicBezTo>
                      <a:pt x="74884" y="534"/>
                      <a:pt x="78048" y="3698"/>
                      <a:pt x="78521" y="7710"/>
                    </a:cubicBezTo>
                    <a:lnTo>
                      <a:pt x="78582" y="8731"/>
                    </a:lnTo>
                    <a:lnTo>
                      <a:pt x="78582" y="43656"/>
                    </a:lnTo>
                    <a:lnTo>
                      <a:pt x="78626" y="44966"/>
                    </a:lnTo>
                    <a:cubicBezTo>
                      <a:pt x="79271" y="53557"/>
                      <a:pt x="86085" y="60393"/>
                      <a:pt x="94674" y="61066"/>
                    </a:cubicBezTo>
                    <a:lnTo>
                      <a:pt x="96045" y="61119"/>
                    </a:lnTo>
                    <a:lnTo>
                      <a:pt x="130970" y="61119"/>
                    </a:lnTo>
                    <a:lnTo>
                      <a:pt x="131991" y="61180"/>
                    </a:lnTo>
                    <a:cubicBezTo>
                      <a:pt x="136003" y="61653"/>
                      <a:pt x="139167" y="64817"/>
                      <a:pt x="139640" y="68828"/>
                    </a:cubicBezTo>
                    <a:lnTo>
                      <a:pt x="139701" y="69850"/>
                    </a:lnTo>
                    <a:lnTo>
                      <a:pt x="139701" y="148431"/>
                    </a:lnTo>
                    <a:cubicBezTo>
                      <a:pt x="139702" y="162301"/>
                      <a:pt x="128890" y="173768"/>
                      <a:pt x="115044" y="174581"/>
                    </a:cubicBezTo>
                    <a:lnTo>
                      <a:pt x="113507" y="174625"/>
                    </a:lnTo>
                    <a:lnTo>
                      <a:pt x="26195" y="174625"/>
                    </a:lnTo>
                    <a:cubicBezTo>
                      <a:pt x="12324" y="174626"/>
                      <a:pt x="858" y="163814"/>
                      <a:pt x="44" y="149968"/>
                    </a:cubicBezTo>
                    <a:lnTo>
                      <a:pt x="1" y="148431"/>
                    </a:lnTo>
                    <a:lnTo>
                      <a:pt x="1" y="26194"/>
                    </a:lnTo>
                    <a:cubicBezTo>
                      <a:pt x="0" y="12324"/>
                      <a:pt x="10812" y="857"/>
                      <a:pt x="24658" y="44"/>
                    </a:cubicBezTo>
                    <a:lnTo>
                      <a:pt x="26195" y="0"/>
                    </a:lnTo>
                    <a:close/>
                    <a:moveTo>
                      <a:pt x="96045" y="122238"/>
                    </a:moveTo>
                    <a:lnTo>
                      <a:pt x="43657" y="122238"/>
                    </a:lnTo>
                    <a:cubicBezTo>
                      <a:pt x="38835" y="122238"/>
                      <a:pt x="34926" y="126147"/>
                      <a:pt x="34926" y="130969"/>
                    </a:cubicBezTo>
                    <a:cubicBezTo>
                      <a:pt x="34926" y="135791"/>
                      <a:pt x="38835" y="139700"/>
                      <a:pt x="43657" y="139700"/>
                    </a:cubicBezTo>
                    <a:lnTo>
                      <a:pt x="96045" y="139700"/>
                    </a:lnTo>
                    <a:cubicBezTo>
                      <a:pt x="100867" y="139700"/>
                      <a:pt x="104776" y="135791"/>
                      <a:pt x="104776" y="130969"/>
                    </a:cubicBezTo>
                    <a:cubicBezTo>
                      <a:pt x="104776" y="126147"/>
                      <a:pt x="100867" y="122238"/>
                      <a:pt x="96045" y="122238"/>
                    </a:cubicBezTo>
                    <a:moveTo>
                      <a:pt x="96045" y="87313"/>
                    </a:moveTo>
                    <a:lnTo>
                      <a:pt x="43657" y="87313"/>
                    </a:lnTo>
                    <a:cubicBezTo>
                      <a:pt x="38835" y="87313"/>
                      <a:pt x="34926" y="91222"/>
                      <a:pt x="34926" y="96044"/>
                    </a:cubicBezTo>
                    <a:cubicBezTo>
                      <a:pt x="34926" y="100866"/>
                      <a:pt x="38835" y="104775"/>
                      <a:pt x="43657" y="104775"/>
                    </a:cubicBezTo>
                    <a:lnTo>
                      <a:pt x="96045" y="104775"/>
                    </a:lnTo>
                    <a:cubicBezTo>
                      <a:pt x="100867" y="104775"/>
                      <a:pt x="104776" y="100866"/>
                      <a:pt x="104776" y="96044"/>
                    </a:cubicBezTo>
                    <a:cubicBezTo>
                      <a:pt x="104776" y="91222"/>
                      <a:pt x="100867" y="87313"/>
                      <a:pt x="96045" y="87313"/>
                    </a:cubicBezTo>
                    <a:moveTo>
                      <a:pt x="52388" y="52388"/>
                    </a:moveTo>
                    <a:lnTo>
                      <a:pt x="43657" y="52388"/>
                    </a:lnTo>
                    <a:cubicBezTo>
                      <a:pt x="38835" y="52388"/>
                      <a:pt x="34926" y="56297"/>
                      <a:pt x="34926" y="61119"/>
                    </a:cubicBezTo>
                    <a:cubicBezTo>
                      <a:pt x="34926" y="65941"/>
                      <a:pt x="38835" y="69850"/>
                      <a:pt x="43657" y="69850"/>
                    </a:cubicBezTo>
                    <a:lnTo>
                      <a:pt x="52388" y="69850"/>
                    </a:lnTo>
                    <a:cubicBezTo>
                      <a:pt x="57210" y="69850"/>
                      <a:pt x="61120" y="65941"/>
                      <a:pt x="61120" y="61119"/>
                    </a:cubicBezTo>
                    <a:cubicBezTo>
                      <a:pt x="61120" y="56297"/>
                      <a:pt x="57210" y="52388"/>
                      <a:pt x="52388" y="52388"/>
                    </a:cubicBezTo>
                  </a:path>
                </a:pathLst>
              </a:custGeom>
              <a:solidFill>
                <a:srgbClr val="5D6B7A"/>
              </a:solidFill>
              <a:ln>
                <a:noFill/>
              </a:ln>
            </p:spPr>
          </p:sp>
          <p:sp>
            <p:nvSpPr>
              <p:cNvPr id="27" name="Freeform 27"/>
              <p:cNvSpPr/>
              <p:nvPr/>
            </p:nvSpPr>
            <p:spPr>
              <a:xfrm>
                <a:off x="588160" y="6065035"/>
                <a:ext cx="34934" cy="34934"/>
              </a:xfrm>
              <a:custGeom>
                <a:avLst/>
                <a:gdLst/>
                <a:ahLst/>
                <a:cxnLst/>
                <a:rect l="l" t="t" r="r" b="b"/>
                <a:pathLst>
                  <a:path w="34934" h="34934">
                    <a:moveTo>
                      <a:pt x="34934" y="34934"/>
                    </a:moveTo>
                    <a:lnTo>
                      <a:pt x="9" y="34934"/>
                    </a:lnTo>
                    <a:lnTo>
                      <a:pt x="0" y="0"/>
                    </a:lnTo>
                    <a:close/>
                  </a:path>
                </a:pathLst>
              </a:custGeom>
              <a:solidFill>
                <a:srgbClr val="5D6B7A"/>
              </a:solidFill>
              <a:ln>
                <a:noFill/>
              </a:ln>
            </p:spPr>
          </p:sp>
        </p:grpSp>
        <p:sp>
          <p:nvSpPr>
            <p:cNvPr id="29" name="TextBox 29"/>
            <p:cNvSpPr txBox="1"/>
            <p:nvPr/>
          </p:nvSpPr>
          <p:spPr>
            <a:xfrm>
              <a:off x="774573" y="6072664"/>
              <a:ext cx="8124048"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コードがとても長く AI の返答が途中で切れるときだけ、［モジュール単位出力（コードが長い時用）］に印を付けます（→ P33）。</a:t>
              </a:r>
            </a:p>
          </p:txBody>
        </p:sp>
      </p:grpSp>
      <p:grpSp>
        <p:nvGrpSpPr>
          <p:cNvPr id="33" name="Group 33"/>
          <p:cNvGrpSpPr/>
          <p:nvPr/>
        </p:nvGrpSpPr>
        <p:grpSpPr>
          <a:xfrm>
            <a:off x="451866" y="6477952"/>
            <a:ext cx="11288268" cy="205359"/>
            <a:chOff x="451866" y="6477952"/>
            <a:chExt cx="11288268" cy="205359"/>
          </a:xfrm>
        </p:grpSpPr>
        <p:sp>
          <p:nvSpPr>
            <p:cNvPr id="31" name="TextBox 31"/>
            <p:cNvSpPr txBox="1"/>
            <p:nvPr/>
          </p:nvSpPr>
          <p:spPr>
            <a:xfrm>
              <a:off x="451866" y="6477952"/>
              <a:ext cx="2937967"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　｜　手順 2 ・ AIへ依頼する</a:t>
              </a:r>
            </a:p>
          </p:txBody>
        </p:sp>
        <p:sp>
          <p:nvSpPr>
            <p:cNvPr id="32" name="TextBox 32"/>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2</a:t>
              </a:r>
            </a:p>
          </p:txBody>
        </p:sp>
        <p:sp>
          <p:nvSpPr>
            <p:cNvPr id="6" name="TextBox 6"/>
            <p:cNvSpPr txBox="1"/>
            <p:nvPr/>
          </p:nvSpPr>
          <p:spPr>
            <a:xfrm>
              <a:off x="441960" y="685800"/>
              <a:ext cx="442142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AIチャットへ改修を依頼します</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5486400" cy="3505581"/>
            <a:chOff x="457200" y="1428750"/>
            <a:chExt cx="5486400" cy="3505581"/>
          </a:xfrm>
        </p:grpSpPr>
        <p:sp>
          <p:nvSpPr>
            <p:cNvPr id="9" name="Rectangle 9"/>
            <p:cNvSpPr/>
            <p:nvPr/>
          </p:nvSpPr>
          <p:spPr>
            <a:xfrm>
              <a:off x="457200" y="1428750"/>
              <a:ext cx="5486400" cy="3152775"/>
            </a:xfrm>
            <a:prstGeom prst="roundRect">
              <a:avLst>
                <a:gd name="adj" fmla="val 4230"/>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11" name="Rectangle 11"/>
            <p:cNvSpPr/>
            <p:nvPr/>
          </p:nvSpPr>
          <p:spPr>
            <a:xfrm>
              <a:off x="533400" y="1504950"/>
              <a:ext cx="5334000" cy="3000375"/>
            </a:xfrm>
            <a:prstGeom prst="roundRect">
              <a:avLst>
                <a:gd name="adj" fmla="val 3175"/>
              </a:avLst>
            </a:prstGeom>
            <a:noFill/>
            <a:ln w="14288">
              <a:solidFill>
                <a:schemeClr val="accent6"/>
              </a:solidFill>
            </a:ln>
          </p:spPr>
        </p:sp>
        <p:sp>
          <p:nvSpPr>
            <p:cNvPr id="12" name="TextBox 12"/>
            <p:cNvSpPr txBox="1"/>
            <p:nvPr/>
          </p:nvSpPr>
          <p:spPr>
            <a:xfrm>
              <a:off x="527304" y="4699635"/>
              <a:ext cx="4042715"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渡すものは 2 つ。依頼文（コピー）と、コード全文ファイル（添付）。</a:t>
              </a:r>
            </a:p>
          </p:txBody>
        </p:sp>
      </p:grpSp>
      <p:grpSp>
        <p:nvGrpSpPr>
          <p:cNvPr id="18" name="Group 18"/>
          <p:cNvGrpSpPr/>
          <p:nvPr/>
        </p:nvGrpSpPr>
        <p:grpSpPr>
          <a:xfrm>
            <a:off x="6248400" y="1428750"/>
            <a:ext cx="5486400" cy="3505581"/>
            <a:chOff x="6248400" y="1428750"/>
            <a:chExt cx="5486400" cy="3505581"/>
          </a:xfrm>
        </p:grpSpPr>
        <p:sp>
          <p:nvSpPr>
            <p:cNvPr id="14" name="Rectangle 14"/>
            <p:cNvSpPr/>
            <p:nvPr/>
          </p:nvSpPr>
          <p:spPr>
            <a:xfrm>
              <a:off x="6248400" y="142875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6" name="Rectangle 16"/>
            <p:cNvSpPr/>
            <p:nvPr/>
          </p:nvSpPr>
          <p:spPr>
            <a:xfrm>
              <a:off x="6324600" y="1504950"/>
              <a:ext cx="5334000" cy="3000375"/>
            </a:xfrm>
            <a:prstGeom prst="roundRect">
              <a:avLst>
                <a:gd name="adj" fmla="val 3175"/>
              </a:avLst>
            </a:prstGeom>
            <a:noFill/>
            <a:ln w="14288">
              <a:solidFill>
                <a:schemeClr val="accent6"/>
              </a:solidFill>
            </a:ln>
          </p:spPr>
        </p:sp>
        <p:sp>
          <p:nvSpPr>
            <p:cNvPr id="17" name="TextBox 17"/>
            <p:cNvSpPr txBox="1"/>
            <p:nvPr/>
          </p:nvSpPr>
          <p:spPr>
            <a:xfrm>
              <a:off x="6318504" y="4699635"/>
              <a:ext cx="4672736"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両方が済むと「コピーしました」「フォルダを開きました」になり、［次へ］が使えます。</a:t>
              </a:r>
            </a:p>
          </p:txBody>
        </p:sp>
      </p:grpSp>
      <p:grpSp>
        <p:nvGrpSpPr>
          <p:cNvPr id="28" name="Group 28"/>
          <p:cNvGrpSpPr/>
          <p:nvPr/>
        </p:nvGrpSpPr>
        <p:grpSpPr>
          <a:xfrm>
            <a:off x="476250" y="5076825"/>
            <a:ext cx="8350301" cy="1112520"/>
            <a:chOff x="476250" y="5076825"/>
            <a:chExt cx="8350301" cy="1112520"/>
          </a:xfrm>
        </p:grpSpPr>
        <p:sp>
          <p:nvSpPr>
            <p:cNvPr id="19" name="Ellipse 19"/>
            <p:cNvSpPr/>
            <p:nvPr/>
          </p:nvSpPr>
          <p:spPr>
            <a:xfrm>
              <a:off x="476250" y="5076825"/>
              <a:ext cx="285750" cy="285750"/>
            </a:xfrm>
            <a:prstGeom prst="ellipse">
              <a:avLst/>
            </a:prstGeom>
            <a:solidFill>
              <a:schemeClr val="accent1"/>
            </a:solidFill>
            <a:ln>
              <a:noFill/>
            </a:ln>
          </p:spPr>
        </p:sp>
        <p:sp>
          <p:nvSpPr>
            <p:cNvPr id="20" name="TextBox 20"/>
            <p:cNvSpPr txBox="1"/>
            <p:nvPr/>
          </p:nvSpPr>
          <p:spPr>
            <a:xfrm>
              <a:off x="566383" y="5147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1" name="TextBox 21"/>
            <p:cNvSpPr txBox="1"/>
            <p:nvPr/>
          </p:nvSpPr>
          <p:spPr>
            <a:xfrm>
              <a:off x="887730" y="5133975"/>
              <a:ext cx="555981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［依頼文をコピー］を押し、チャットの入力欄に貼り付けます（Ctrl+V）。</a:t>
              </a:r>
            </a:p>
          </p:txBody>
        </p:sp>
        <p:sp>
          <p:nvSpPr>
            <p:cNvPr id="22" name="Ellipse 22"/>
            <p:cNvSpPr/>
            <p:nvPr/>
          </p:nvSpPr>
          <p:spPr>
            <a:xfrm>
              <a:off x="476250" y="5457825"/>
              <a:ext cx="285750" cy="285750"/>
            </a:xfrm>
            <a:prstGeom prst="ellipse">
              <a:avLst/>
            </a:prstGeom>
            <a:solidFill>
              <a:schemeClr val="accent1"/>
            </a:solidFill>
            <a:ln>
              <a:noFill/>
            </a:ln>
          </p:spPr>
        </p:sp>
        <p:sp>
          <p:nvSpPr>
            <p:cNvPr id="23" name="TextBox 23"/>
            <p:cNvSpPr txBox="1"/>
            <p:nvPr/>
          </p:nvSpPr>
          <p:spPr>
            <a:xfrm>
              <a:off x="566383" y="5528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4" name="TextBox 24"/>
            <p:cNvSpPr txBox="1"/>
            <p:nvPr/>
          </p:nvSpPr>
          <p:spPr>
            <a:xfrm>
              <a:off x="887730" y="5514975"/>
              <a:ext cx="672941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［ファイルの場所を開く］を押し、開いたフォルダの </a:t>
              </a:r>
              <a:r>
                <a:rPr lang="en-US" sz="1500" dirty="0">
                  <a:solidFill>
                    <a:schemeClr val="dk1"/>
                  </a:solidFill>
                  <a:latin typeface="Consolas"/>
                  <a:ea typeface="Consolas"/>
                  <a:cs typeface="Consolas"/>
                </a:rPr>
                <a:t>source-code.md</a:t>
              </a:r>
              <a:r>
                <a:rPr lang="zh-CN" sz="1500" dirty="0">
                  <a:solidFill>
                    <a:schemeClr val="dk1"/>
                  </a:solidFill>
                  <a:latin typeface="+mn-lt"/>
                  <a:ea typeface="+mn-ea"/>
                  <a:cs typeface="+mn-cs"/>
                </a:rPr>
                <a:t xml:space="preserve"> をチャットに添付します。</a:t>
              </a:r>
            </a:p>
          </p:txBody>
        </p:sp>
        <p:sp>
          <p:nvSpPr>
            <p:cNvPr id="25" name="Ellipse 25"/>
            <p:cNvSpPr/>
            <p:nvPr/>
          </p:nvSpPr>
          <p:spPr>
            <a:xfrm>
              <a:off x="476250" y="5838825"/>
              <a:ext cx="285750" cy="285750"/>
            </a:xfrm>
            <a:prstGeom prst="ellipse">
              <a:avLst/>
            </a:prstGeom>
            <a:solidFill>
              <a:schemeClr val="accent1"/>
            </a:solidFill>
            <a:ln>
              <a:noFill/>
            </a:ln>
          </p:spPr>
        </p:sp>
        <p:sp>
          <p:nvSpPr>
            <p:cNvPr id="26" name="TextBox 26"/>
            <p:cNvSpPr txBox="1"/>
            <p:nvPr/>
          </p:nvSpPr>
          <p:spPr>
            <a:xfrm>
              <a:off x="566383" y="5909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3</a:t>
              </a:r>
            </a:p>
          </p:txBody>
        </p:sp>
        <p:sp>
          <p:nvSpPr>
            <p:cNvPr id="27" name="TextBox 27"/>
            <p:cNvSpPr txBox="1"/>
            <p:nvPr/>
          </p:nvSpPr>
          <p:spPr>
            <a:xfrm>
              <a:off x="887730" y="5895975"/>
              <a:ext cx="793882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送信して、返答を待ちます。マクロが読み書きする Excel シートやファイルも添付すると、より正確な回答になります。</a:t>
              </a:r>
            </a:p>
          </p:txBody>
        </p:sp>
      </p:grpSp>
      <p:grpSp>
        <p:nvGrpSpPr>
          <p:cNvPr id="31" name="Group 31"/>
          <p:cNvGrpSpPr/>
          <p:nvPr/>
        </p:nvGrpSpPr>
        <p:grpSpPr>
          <a:xfrm>
            <a:off x="451866" y="6477952"/>
            <a:ext cx="11288268" cy="205359"/>
            <a:chOff x="451866" y="6477952"/>
            <a:chExt cx="11288268" cy="205359"/>
          </a:xfrm>
        </p:grpSpPr>
        <p:sp>
          <p:nvSpPr>
            <p:cNvPr id="29" name="TextBox 29"/>
            <p:cNvSpPr txBox="1"/>
            <p:nvPr/>
          </p:nvSpPr>
          <p:spPr>
            <a:xfrm>
              <a:off x="451866" y="6477952"/>
              <a:ext cx="2937967"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　｜　手順 2 ・ AIへ依頼する</a:t>
              </a:r>
            </a:p>
          </p:txBody>
        </p:sp>
        <p:sp>
          <p:nvSpPr>
            <p:cNvPr id="30" name="TextBox 30"/>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3</a:t>
              </a:r>
            </a:p>
          </p:txBody>
        </p:sp>
        <p:sp>
          <p:nvSpPr>
            <p:cNvPr id="6" name="TextBox 6"/>
            <p:cNvSpPr txBox="1"/>
            <p:nvPr/>
          </p:nvSpPr>
          <p:spPr>
            <a:xfrm>
              <a:off x="441960" y="685800"/>
              <a:ext cx="46678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AIの返答をまとめて取り込みます</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5486400" cy="3505581"/>
            <a:chOff x="457200" y="1428750"/>
            <a:chExt cx="5486400" cy="3505581"/>
          </a:xfrm>
        </p:grpSpPr>
        <p:sp>
          <p:nvSpPr>
            <p:cNvPr id="9" name="Rectangle 9"/>
            <p:cNvSpPr/>
            <p:nvPr/>
          </p:nvSpPr>
          <p:spPr>
            <a:xfrm>
              <a:off x="457200" y="1428750"/>
              <a:ext cx="5486400" cy="3152775"/>
            </a:xfrm>
            <a:prstGeom prst="roundRect">
              <a:avLst>
                <a:gd name="adj" fmla="val 4230"/>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11" name="Rectangle 11"/>
            <p:cNvSpPr/>
            <p:nvPr/>
          </p:nvSpPr>
          <p:spPr>
            <a:xfrm>
              <a:off x="533400" y="1504950"/>
              <a:ext cx="5334000" cy="3000375"/>
            </a:xfrm>
            <a:prstGeom prst="roundRect">
              <a:avLst>
                <a:gd name="adj" fmla="val 3175"/>
              </a:avLst>
            </a:prstGeom>
            <a:noFill/>
            <a:ln w="14288">
              <a:solidFill>
                <a:schemeClr val="accent6"/>
              </a:solidFill>
            </a:ln>
          </p:spPr>
        </p:sp>
        <p:sp>
          <p:nvSpPr>
            <p:cNvPr id="12" name="TextBox 12"/>
            <p:cNvSpPr txBox="1"/>
            <p:nvPr/>
          </p:nvSpPr>
          <p:spPr>
            <a:xfrm>
              <a:off x="527304" y="4699635"/>
              <a:ext cx="3784244"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取り込む前。ボタンは 1 つだけです。モジュールを選ぶ操作はありません。</a:t>
              </a:r>
            </a:p>
          </p:txBody>
        </p:sp>
      </p:grpSp>
      <p:grpSp>
        <p:nvGrpSpPr>
          <p:cNvPr id="18" name="Group 18"/>
          <p:cNvGrpSpPr/>
          <p:nvPr/>
        </p:nvGrpSpPr>
        <p:grpSpPr>
          <a:xfrm>
            <a:off x="6248400" y="1428750"/>
            <a:ext cx="5486400" cy="3505581"/>
            <a:chOff x="6248400" y="1428750"/>
            <a:chExt cx="5486400" cy="3505581"/>
          </a:xfrm>
        </p:grpSpPr>
        <p:sp>
          <p:nvSpPr>
            <p:cNvPr id="14" name="Rectangle 14"/>
            <p:cNvSpPr/>
            <p:nvPr/>
          </p:nvSpPr>
          <p:spPr>
            <a:xfrm>
              <a:off x="6248400" y="142875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6" name="Rectangle 16"/>
            <p:cNvSpPr/>
            <p:nvPr/>
          </p:nvSpPr>
          <p:spPr>
            <a:xfrm>
              <a:off x="6324600" y="1504950"/>
              <a:ext cx="5334000" cy="3000375"/>
            </a:xfrm>
            <a:prstGeom prst="roundRect">
              <a:avLst>
                <a:gd name="adj" fmla="val 3175"/>
              </a:avLst>
            </a:prstGeom>
            <a:noFill/>
            <a:ln w="14288">
              <a:solidFill>
                <a:schemeClr val="accent6"/>
              </a:solidFill>
            </a:ln>
          </p:spPr>
        </p:sp>
        <p:sp>
          <p:nvSpPr>
            <p:cNvPr id="17" name="TextBox 17"/>
            <p:cNvSpPr txBox="1"/>
            <p:nvPr/>
          </p:nvSpPr>
          <p:spPr>
            <a:xfrm>
              <a:off x="6318504" y="4699635"/>
              <a:ext cx="431734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成功すると「5個のモジュールを取り込みました」。既存 4 個・新規 1 個。</a:t>
              </a:r>
            </a:p>
          </p:txBody>
        </p:sp>
      </p:grpSp>
      <p:grpSp>
        <p:nvGrpSpPr>
          <p:cNvPr id="28" name="Group 28"/>
          <p:cNvGrpSpPr/>
          <p:nvPr/>
        </p:nvGrpSpPr>
        <p:grpSpPr>
          <a:xfrm>
            <a:off x="476250" y="5076825"/>
            <a:ext cx="5888409" cy="1112520"/>
            <a:chOff x="476250" y="5076825"/>
            <a:chExt cx="5888409" cy="1112520"/>
          </a:xfrm>
        </p:grpSpPr>
        <p:sp>
          <p:nvSpPr>
            <p:cNvPr id="19" name="Ellipse 19"/>
            <p:cNvSpPr/>
            <p:nvPr/>
          </p:nvSpPr>
          <p:spPr>
            <a:xfrm>
              <a:off x="476250" y="5076825"/>
              <a:ext cx="285750" cy="285750"/>
            </a:xfrm>
            <a:prstGeom prst="ellipse">
              <a:avLst/>
            </a:prstGeom>
            <a:solidFill>
              <a:schemeClr val="accent1"/>
            </a:solidFill>
            <a:ln>
              <a:noFill/>
            </a:ln>
          </p:spPr>
        </p:sp>
        <p:sp>
          <p:nvSpPr>
            <p:cNvPr id="20" name="TextBox 20"/>
            <p:cNvSpPr txBox="1"/>
            <p:nvPr/>
          </p:nvSpPr>
          <p:spPr>
            <a:xfrm>
              <a:off x="566383" y="5147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1" name="TextBox 21"/>
            <p:cNvSpPr txBox="1"/>
            <p:nvPr/>
          </p:nvSpPr>
          <p:spPr>
            <a:xfrm>
              <a:off x="887730" y="5133975"/>
              <a:ext cx="497586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AI の返答にあるコードブロックを、先頭から末尾まで全文コピーします。</a:t>
              </a:r>
            </a:p>
          </p:txBody>
        </p:sp>
        <p:sp>
          <p:nvSpPr>
            <p:cNvPr id="22" name="Ellipse 22"/>
            <p:cNvSpPr/>
            <p:nvPr/>
          </p:nvSpPr>
          <p:spPr>
            <a:xfrm>
              <a:off x="476250" y="5457825"/>
              <a:ext cx="285750" cy="285750"/>
            </a:xfrm>
            <a:prstGeom prst="ellipse">
              <a:avLst/>
            </a:prstGeom>
            <a:solidFill>
              <a:schemeClr val="accent1"/>
            </a:solidFill>
            <a:ln>
              <a:noFill/>
            </a:ln>
          </p:spPr>
        </p:sp>
        <p:sp>
          <p:nvSpPr>
            <p:cNvPr id="23" name="TextBox 23"/>
            <p:cNvSpPr txBox="1"/>
            <p:nvPr/>
          </p:nvSpPr>
          <p:spPr>
            <a:xfrm>
              <a:off x="566383" y="5528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4" name="TextBox 24"/>
            <p:cNvSpPr txBox="1"/>
            <p:nvPr/>
          </p:nvSpPr>
          <p:spPr>
            <a:xfrm>
              <a:off x="887730" y="5514975"/>
              <a:ext cx="547692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［クリップボードからAIの返答を取り込む］を押します（Ctrl+V でも同じ）。</a:t>
              </a:r>
            </a:p>
          </p:txBody>
        </p:sp>
        <p:sp>
          <p:nvSpPr>
            <p:cNvPr id="25" name="Ellipse 25"/>
            <p:cNvSpPr/>
            <p:nvPr/>
          </p:nvSpPr>
          <p:spPr>
            <a:xfrm>
              <a:off x="476250" y="5838825"/>
              <a:ext cx="285750" cy="285750"/>
            </a:xfrm>
            <a:prstGeom prst="ellipse">
              <a:avLst/>
            </a:prstGeom>
            <a:solidFill>
              <a:schemeClr val="accent1"/>
            </a:solidFill>
            <a:ln>
              <a:noFill/>
            </a:ln>
          </p:spPr>
        </p:sp>
        <p:sp>
          <p:nvSpPr>
            <p:cNvPr id="26" name="TextBox 26"/>
            <p:cNvSpPr txBox="1"/>
            <p:nvPr/>
          </p:nvSpPr>
          <p:spPr>
            <a:xfrm>
              <a:off x="566383" y="5909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3</a:t>
              </a:r>
            </a:p>
          </p:txBody>
        </p:sp>
        <p:sp>
          <p:nvSpPr>
            <p:cNvPr id="27" name="TextBox 27"/>
            <p:cNvSpPr txBox="1"/>
            <p:nvPr/>
          </p:nvSpPr>
          <p:spPr>
            <a:xfrm>
              <a:off x="887730" y="5895975"/>
              <a:ext cx="386200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件数が出たら成功です。［次へ］で確認へ進みます。</a:t>
              </a:r>
            </a:p>
          </p:txBody>
        </p:sp>
      </p:grpSp>
      <p:grpSp>
        <p:nvGrpSpPr>
          <p:cNvPr id="34" name="Group 34"/>
          <p:cNvGrpSpPr/>
          <p:nvPr/>
        </p:nvGrpSpPr>
        <p:grpSpPr>
          <a:xfrm>
            <a:off x="7353300" y="5029200"/>
            <a:ext cx="4381500" cy="1066800"/>
            <a:chOff x="7353300" y="5029200"/>
            <a:chExt cx="4381500" cy="1066800"/>
          </a:xfrm>
        </p:grpSpPr>
        <p:sp>
          <p:nvSpPr>
            <p:cNvPr id="29" name="Rectangle 29"/>
            <p:cNvSpPr/>
            <p:nvPr/>
          </p:nvSpPr>
          <p:spPr>
            <a:xfrm>
              <a:off x="7353300" y="5029200"/>
              <a:ext cx="4381500" cy="1066800"/>
            </a:xfrm>
            <a:prstGeom prst="roundRect">
              <a:avLst>
                <a:gd name="adj" fmla="val 12500"/>
              </a:avLst>
            </a:prstGeom>
            <a:solidFill>
              <a:schemeClr val="lt1"/>
            </a:solidFill>
            <a:ln w="14288">
              <a:solidFill>
                <a:schemeClr val="accent2"/>
              </a:solidFill>
            </a:ln>
          </p:spPr>
        </p:sp>
        <p:sp>
          <p:nvSpPr>
            <p:cNvPr id="30" name="Freeform 30"/>
            <p:cNvSpPr/>
            <p:nvPr/>
          </p:nvSpPr>
          <p:spPr>
            <a:xfrm>
              <a:off x="7551975" y="5235607"/>
              <a:ext cx="212139" cy="184080"/>
            </a:xfrm>
            <a:custGeom>
              <a:avLst/>
              <a:gdLst/>
              <a:ahLst/>
              <a:cxnLst/>
              <a:rect l="l" t="t" r="r" b="b"/>
              <a:pathLst>
                <a:path w="212139" h="184080">
                  <a:moveTo>
                    <a:pt x="106125" y="0"/>
                  </a:moveTo>
                  <a:cubicBezTo>
                    <a:pt x="115221" y="0"/>
                    <a:pt x="123698" y="4448"/>
                    <a:pt x="128889" y="11878"/>
                  </a:cubicBezTo>
                  <a:lnTo>
                    <a:pt x="129890" y="13402"/>
                  </a:lnTo>
                  <a:lnTo>
                    <a:pt x="207175" y="142446"/>
                  </a:lnTo>
                  <a:cubicBezTo>
                    <a:pt x="211950" y="150715"/>
                    <a:pt x="212139" y="160858"/>
                    <a:pt x="207675" y="169299"/>
                  </a:cubicBezTo>
                  <a:cubicBezTo>
                    <a:pt x="203212" y="177740"/>
                    <a:pt x="194723" y="183294"/>
                    <a:pt x="185201" y="184004"/>
                  </a:cubicBezTo>
                  <a:lnTo>
                    <a:pt x="183344" y="184080"/>
                  </a:lnTo>
                  <a:lnTo>
                    <a:pt x="28801" y="184080"/>
                  </a:lnTo>
                  <a:cubicBezTo>
                    <a:pt x="19269" y="183973"/>
                    <a:pt x="10460" y="178982"/>
                    <a:pt x="5468" y="170862"/>
                  </a:cubicBezTo>
                  <a:cubicBezTo>
                    <a:pt x="476" y="162742"/>
                    <a:pt x="0" y="152628"/>
                    <a:pt x="4207" y="144075"/>
                  </a:cubicBezTo>
                  <a:lnTo>
                    <a:pt x="5150" y="142313"/>
                  </a:lnTo>
                  <a:lnTo>
                    <a:pt x="82398" y="13364"/>
                  </a:lnTo>
                  <a:cubicBezTo>
                    <a:pt x="87428" y="5069"/>
                    <a:pt x="96424" y="2"/>
                    <a:pt x="106125" y="0"/>
                  </a:cubicBezTo>
                  <a:close/>
                  <a:moveTo>
                    <a:pt x="106220" y="126968"/>
                  </a:moveTo>
                  <a:lnTo>
                    <a:pt x="105010" y="127035"/>
                  </a:lnTo>
                  <a:cubicBezTo>
                    <a:pt x="100219" y="127605"/>
                    <a:pt x="96610" y="131668"/>
                    <a:pt x="96610" y="136493"/>
                  </a:cubicBezTo>
                  <a:cubicBezTo>
                    <a:pt x="96610" y="141319"/>
                    <a:pt x="100219" y="145382"/>
                    <a:pt x="105010" y="145952"/>
                  </a:cubicBezTo>
                  <a:lnTo>
                    <a:pt x="106125" y="146018"/>
                  </a:lnTo>
                  <a:lnTo>
                    <a:pt x="107334" y="145952"/>
                  </a:lnTo>
                  <a:cubicBezTo>
                    <a:pt x="112126" y="145382"/>
                    <a:pt x="115734" y="141319"/>
                    <a:pt x="115734" y="136493"/>
                  </a:cubicBezTo>
                  <a:cubicBezTo>
                    <a:pt x="115734" y="131668"/>
                    <a:pt x="112126" y="127605"/>
                    <a:pt x="107334" y="127035"/>
                  </a:cubicBezTo>
                  <a:lnTo>
                    <a:pt x="106220" y="126968"/>
                  </a:lnTo>
                  <a:close/>
                  <a:moveTo>
                    <a:pt x="106125" y="60293"/>
                  </a:moveTo>
                  <a:cubicBezTo>
                    <a:pt x="101296" y="60294"/>
                    <a:pt x="97231" y="63908"/>
                    <a:pt x="96666" y="68704"/>
                  </a:cubicBezTo>
                  <a:lnTo>
                    <a:pt x="96600" y="69818"/>
                  </a:lnTo>
                  <a:lnTo>
                    <a:pt x="96600" y="107918"/>
                  </a:lnTo>
                  <a:lnTo>
                    <a:pt x="96666" y="109033"/>
                  </a:lnTo>
                  <a:cubicBezTo>
                    <a:pt x="97236" y="113824"/>
                    <a:pt x="101299" y="117433"/>
                    <a:pt x="106125" y="117433"/>
                  </a:cubicBezTo>
                  <a:cubicBezTo>
                    <a:pt x="110950" y="117433"/>
                    <a:pt x="115013" y="113824"/>
                    <a:pt x="115583" y="109033"/>
                  </a:cubicBezTo>
                  <a:lnTo>
                    <a:pt x="115650" y="107918"/>
                  </a:lnTo>
                  <a:lnTo>
                    <a:pt x="115650" y="69818"/>
                  </a:lnTo>
                  <a:lnTo>
                    <a:pt x="115583" y="68704"/>
                  </a:lnTo>
                  <a:cubicBezTo>
                    <a:pt x="115018" y="63908"/>
                    <a:pt x="110954" y="60294"/>
                    <a:pt x="106125" y="60293"/>
                  </a:cubicBezTo>
                  <a:close/>
                </a:path>
              </a:pathLst>
            </a:custGeom>
            <a:solidFill>
              <a:schemeClr val="accent2"/>
            </a:solidFill>
            <a:ln>
              <a:noFill/>
            </a:ln>
          </p:spPr>
        </p:sp>
        <p:sp>
          <p:nvSpPr>
            <p:cNvPr id="31" name="TextBox 31"/>
            <p:cNvSpPr txBox="1"/>
            <p:nvPr/>
          </p:nvSpPr>
          <p:spPr>
            <a:xfrm>
              <a:off x="7880223" y="5253514"/>
              <a:ext cx="2399497"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取り込めないときは、次にすることが 1 文で</a:t>
              </a:r>
            </a:p>
          </p:txBody>
        </p:sp>
        <p:sp>
          <p:nvSpPr>
            <p:cNvPr id="32" name="TextBox 32"/>
            <p:cNvSpPr txBox="1"/>
            <p:nvPr/>
          </p:nvSpPr>
          <p:spPr>
            <a:xfrm>
              <a:off x="7537323" y="5520214"/>
              <a:ext cx="2657968"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出ます。コードブロック全体をもう一度コピーして</a:t>
              </a:r>
            </a:p>
          </p:txBody>
        </p:sp>
        <p:sp>
          <p:nvSpPr>
            <p:cNvPr id="33" name="TextBox 33"/>
            <p:cNvSpPr txBox="1"/>
            <p:nvPr/>
          </p:nvSpPr>
          <p:spPr>
            <a:xfrm>
              <a:off x="7537323" y="5786914"/>
              <a:ext cx="2545964"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押し直してください。状態は壊れていません。</a:t>
              </a:r>
            </a:p>
          </p:txBody>
        </p:sp>
      </p:grpSp>
      <p:grpSp>
        <p:nvGrpSpPr>
          <p:cNvPr id="37" name="Group 37"/>
          <p:cNvGrpSpPr/>
          <p:nvPr/>
        </p:nvGrpSpPr>
        <p:grpSpPr>
          <a:xfrm>
            <a:off x="451866" y="6477952"/>
            <a:ext cx="11288268" cy="205359"/>
            <a:chOff x="451866" y="6477952"/>
            <a:chExt cx="11288268" cy="205359"/>
          </a:xfrm>
        </p:grpSpPr>
        <p:sp>
          <p:nvSpPr>
            <p:cNvPr id="35" name="TextBox 35"/>
            <p:cNvSpPr txBox="1"/>
            <p:nvPr/>
          </p:nvSpPr>
          <p:spPr>
            <a:xfrm>
              <a:off x="451866" y="6477952"/>
              <a:ext cx="2943701"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　｜　手順 3 ・ 返答を取り込む</a:t>
              </a:r>
            </a:p>
          </p:txBody>
        </p:sp>
        <p:sp>
          <p:nvSpPr>
            <p:cNvPr id="36" name="TextBox 36"/>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3</a:t>
              </a:r>
            </a:p>
          </p:txBody>
        </p:sp>
        <p:sp>
          <p:nvSpPr>
            <p:cNvPr id="6" name="TextBox 6"/>
            <p:cNvSpPr txBox="1"/>
            <p:nvPr/>
          </p:nvSpPr>
          <p:spPr>
            <a:xfrm>
              <a:off x="441960" y="685800"/>
              <a:ext cx="482467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AIの説明を読んでから、確認へ</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5486400" cy="3505581"/>
            <a:chOff x="457200" y="1428750"/>
            <a:chExt cx="5486400" cy="3505581"/>
          </a:xfrm>
        </p:grpSpPr>
        <p:sp>
          <p:nvSpPr>
            <p:cNvPr id="9" name="Rectangle 9"/>
            <p:cNvSpPr/>
            <p:nvPr/>
          </p:nvSpPr>
          <p:spPr>
            <a:xfrm>
              <a:off x="457200" y="1428750"/>
              <a:ext cx="5486400" cy="3152775"/>
            </a:xfrm>
            <a:prstGeom prst="roundRect">
              <a:avLst>
                <a:gd name="adj" fmla="val 4230"/>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11" name="Rectangle 11"/>
            <p:cNvSpPr/>
            <p:nvPr/>
          </p:nvSpPr>
          <p:spPr>
            <a:xfrm>
              <a:off x="533400" y="1504950"/>
              <a:ext cx="5334000" cy="3000375"/>
            </a:xfrm>
            <a:prstGeom prst="roundRect">
              <a:avLst>
                <a:gd name="adj" fmla="val 3175"/>
              </a:avLst>
            </a:prstGeom>
            <a:noFill/>
            <a:ln w="14288">
              <a:solidFill>
                <a:schemeClr val="accent6"/>
              </a:solidFill>
            </a:ln>
          </p:spPr>
        </p:sp>
        <p:sp>
          <p:nvSpPr>
            <p:cNvPr id="12" name="TextBox 12"/>
            <p:cNvSpPr txBox="1"/>
            <p:nvPr/>
          </p:nvSpPr>
          <p:spPr>
            <a:xfrm>
              <a:off x="527304" y="4699635"/>
              <a:ext cx="4561027"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「AIが書いた改修内容を見る」。何をどう直したかを、日本語で読めます。</a:t>
              </a:r>
            </a:p>
          </p:txBody>
        </p:sp>
      </p:grpSp>
      <p:grpSp>
        <p:nvGrpSpPr>
          <p:cNvPr id="18" name="Group 18"/>
          <p:cNvGrpSpPr/>
          <p:nvPr/>
        </p:nvGrpSpPr>
        <p:grpSpPr>
          <a:xfrm>
            <a:off x="6248400" y="1428750"/>
            <a:ext cx="5486400" cy="3505581"/>
            <a:chOff x="6248400" y="1428750"/>
            <a:chExt cx="5486400" cy="3505581"/>
          </a:xfrm>
        </p:grpSpPr>
        <p:sp>
          <p:nvSpPr>
            <p:cNvPr id="14" name="Rectangle 14"/>
            <p:cNvSpPr/>
            <p:nvPr/>
          </p:nvSpPr>
          <p:spPr>
            <a:xfrm>
              <a:off x="6248400" y="142875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6" name="Rectangle 16"/>
            <p:cNvSpPr/>
            <p:nvPr/>
          </p:nvSpPr>
          <p:spPr>
            <a:xfrm>
              <a:off x="6324600" y="1504950"/>
              <a:ext cx="5334000" cy="3000375"/>
            </a:xfrm>
            <a:prstGeom prst="roundRect">
              <a:avLst>
                <a:gd name="adj" fmla="val 3175"/>
              </a:avLst>
            </a:prstGeom>
            <a:noFill/>
            <a:ln w="14288">
              <a:solidFill>
                <a:schemeClr val="accent6"/>
              </a:solidFill>
            </a:ln>
          </p:spPr>
        </p:sp>
        <p:sp>
          <p:nvSpPr>
            <p:cNvPr id="17" name="TextBox 17"/>
            <p:cNvSpPr txBox="1"/>
            <p:nvPr/>
          </p:nvSpPr>
          <p:spPr>
            <a:xfrm>
              <a:off x="6318504" y="4699635"/>
              <a:ext cx="41073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［次へ］で確認画面へ。「5個のモジュールへ変更を取り込みました」。</a:t>
              </a:r>
            </a:p>
          </p:txBody>
        </p:sp>
      </p:grpSp>
      <p:grpSp>
        <p:nvGrpSpPr>
          <p:cNvPr id="26" name="Group 26"/>
          <p:cNvGrpSpPr/>
          <p:nvPr/>
        </p:nvGrpSpPr>
        <p:grpSpPr>
          <a:xfrm>
            <a:off x="476250" y="5191125"/>
            <a:ext cx="8253414" cy="1042893"/>
            <a:chOff x="476250" y="5191125"/>
            <a:chExt cx="8253414" cy="1042893"/>
          </a:xfrm>
        </p:grpSpPr>
        <p:sp>
          <p:nvSpPr>
            <p:cNvPr id="19" name="Ellipse 19"/>
            <p:cNvSpPr/>
            <p:nvPr/>
          </p:nvSpPr>
          <p:spPr>
            <a:xfrm>
              <a:off x="476250" y="5191125"/>
              <a:ext cx="285750" cy="285750"/>
            </a:xfrm>
            <a:prstGeom prst="ellipse">
              <a:avLst/>
            </a:prstGeom>
            <a:solidFill>
              <a:schemeClr val="accent1"/>
            </a:solidFill>
            <a:ln>
              <a:noFill/>
            </a:ln>
          </p:spPr>
        </p:sp>
        <p:sp>
          <p:nvSpPr>
            <p:cNvPr id="20" name="TextBox 20"/>
            <p:cNvSpPr txBox="1"/>
            <p:nvPr/>
          </p:nvSpPr>
          <p:spPr>
            <a:xfrm>
              <a:off x="566383" y="52616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1" name="TextBox 21"/>
            <p:cNvSpPr txBox="1"/>
            <p:nvPr/>
          </p:nvSpPr>
          <p:spPr>
            <a:xfrm>
              <a:off x="887349" y="5240179"/>
              <a:ext cx="7477343" cy="308039"/>
            </a:xfrm>
            <a:prstGeom prst="rect">
              <a:avLst/>
            </a:prstGeom>
            <a:noFill/>
            <a:ln>
              <a:noFill/>
            </a:ln>
          </p:spPr>
          <p:txBody>
            <a:bodyPr wrap="none" lIns="0" tIns="0" rIns="0" bIns="0" anchor="t" anchorCtr="0">
              <a:spAutoFit/>
            </a:bodyPr>
            <a:lstStyle/>
            <a:p>
              <a:pPr algn="l"/>
              <a:r>
                <a:rPr lang="zh-CN" sz="1580" dirty="0">
                  <a:solidFill>
                    <a:schemeClr val="dk1"/>
                  </a:solidFill>
                  <a:latin typeface="+mn-lt"/>
                  <a:ea typeface="+mn-ea"/>
                  <a:cs typeface="+mn-cs"/>
                </a:rPr>
                <a:t>まず「AIが書いた改修内容を見る」を開き、AI が「何をしたつもりか」を読みます。今回の例では</a:t>
              </a:r>
            </a:p>
          </p:txBody>
        </p:sp>
        <p:sp>
          <p:nvSpPr>
            <p:cNvPr id="22" name="TextBox 22"/>
            <p:cNvSpPr txBox="1"/>
            <p:nvPr/>
          </p:nvSpPr>
          <p:spPr>
            <a:xfrm>
              <a:off x="887349" y="5544979"/>
              <a:ext cx="7842315" cy="308039"/>
            </a:xfrm>
            <a:prstGeom prst="rect">
              <a:avLst/>
            </a:prstGeom>
            <a:noFill/>
            <a:ln>
              <a:noFill/>
            </a:ln>
          </p:spPr>
          <p:txBody>
            <a:bodyPr wrap="none" lIns="0" tIns="0" rIns="0" bIns="0" anchor="t" anchorCtr="0">
              <a:spAutoFit/>
            </a:bodyPr>
            <a:lstStyle/>
            <a:p>
              <a:pPr algn="l"/>
              <a:r>
                <a:rPr lang="zh-CN" sz="1580" dirty="0">
                  <a:solidFill>
                    <a:schemeClr val="dk1"/>
                  </a:solidFill>
                  <a:latin typeface="+mn-lt"/>
                  <a:ea typeface="+mn-ea"/>
                  <a:cs typeface="+mn-cs"/>
                </a:rPr>
                <a:t>「Sleep の呼び出し（計 19 箇所）を WaitMilliseconds へ置き換えました」などが書かれています。</a:t>
              </a:r>
            </a:p>
          </p:txBody>
        </p:sp>
        <p:sp>
          <p:nvSpPr>
            <p:cNvPr id="23" name="Ellipse 23"/>
            <p:cNvSpPr/>
            <p:nvPr/>
          </p:nvSpPr>
          <p:spPr>
            <a:xfrm>
              <a:off x="476250" y="5876925"/>
              <a:ext cx="285750" cy="285750"/>
            </a:xfrm>
            <a:prstGeom prst="ellipse">
              <a:avLst/>
            </a:prstGeom>
            <a:solidFill>
              <a:schemeClr val="accent1"/>
            </a:solidFill>
            <a:ln>
              <a:noFill/>
            </a:ln>
          </p:spPr>
        </p:sp>
        <p:sp>
          <p:nvSpPr>
            <p:cNvPr id="24" name="TextBox 24"/>
            <p:cNvSpPr txBox="1"/>
            <p:nvPr/>
          </p:nvSpPr>
          <p:spPr>
            <a:xfrm>
              <a:off x="566383" y="59474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5" name="TextBox 25"/>
            <p:cNvSpPr txBox="1"/>
            <p:nvPr/>
          </p:nvSpPr>
          <p:spPr>
            <a:xfrm>
              <a:off x="887349" y="5925979"/>
              <a:ext cx="6609690" cy="308039"/>
            </a:xfrm>
            <a:prstGeom prst="rect">
              <a:avLst/>
            </a:prstGeom>
            <a:noFill/>
            <a:ln>
              <a:noFill/>
            </a:ln>
          </p:spPr>
          <p:txBody>
            <a:bodyPr wrap="none" lIns="0" tIns="0" rIns="0" bIns="0" anchor="t" anchorCtr="0">
              <a:spAutoFit/>
            </a:bodyPr>
            <a:lstStyle/>
            <a:p>
              <a:pPr algn="l"/>
              <a:r>
                <a:rPr lang="zh-CN" sz="1580" dirty="0">
                  <a:solidFill>
                    <a:schemeClr val="dk1"/>
                  </a:solidFill>
                  <a:latin typeface="+mn-lt"/>
                  <a:ea typeface="+mn-ea"/>
                  <a:cs typeface="+mn-cs"/>
                </a:rPr>
                <a:t>［次へ］で確認画面へ。次のページで「実際に何が変わるか」を自分の目で確かめます。</a:t>
              </a:r>
            </a:p>
          </p:txBody>
        </p:sp>
      </p:grpSp>
      <p:grpSp>
        <p:nvGrpSpPr>
          <p:cNvPr id="29" name="Group 29"/>
          <p:cNvGrpSpPr/>
          <p:nvPr/>
        </p:nvGrpSpPr>
        <p:grpSpPr>
          <a:xfrm>
            <a:off x="451866" y="6477952"/>
            <a:ext cx="11288268" cy="205359"/>
            <a:chOff x="451866" y="6477952"/>
            <a:chExt cx="11288268" cy="205359"/>
          </a:xfrm>
        </p:grpSpPr>
        <p:sp>
          <p:nvSpPr>
            <p:cNvPr id="27" name="TextBox 27"/>
            <p:cNvSpPr txBox="1"/>
            <p:nvPr/>
          </p:nvSpPr>
          <p:spPr>
            <a:xfrm>
              <a:off x="451866" y="6477952"/>
              <a:ext cx="2943701"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　｜　手順 3 ・ 返答を取り込む</a:t>
              </a:r>
            </a:p>
          </p:txBody>
        </p:sp>
        <p:sp>
          <p:nvSpPr>
            <p:cNvPr id="28" name="TextBox 28"/>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3</a:t>
              </a:r>
            </a:p>
          </p:txBody>
        </p:sp>
        <p:sp>
          <p:nvSpPr>
            <p:cNvPr id="6" name="TextBox 6"/>
            <p:cNvSpPr txBox="1"/>
            <p:nvPr/>
          </p:nvSpPr>
          <p:spPr>
            <a:xfrm>
              <a:off x="441960" y="685800"/>
              <a:ext cx="420740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取り込んだ変更を確認します</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20" name="Group 20"/>
          <p:cNvGrpSpPr/>
          <p:nvPr/>
        </p:nvGrpSpPr>
        <p:grpSpPr>
          <a:xfrm>
            <a:off x="533400" y="1352550"/>
            <a:ext cx="8534400" cy="4867275"/>
            <a:chOff x="533400" y="1352550"/>
            <a:chExt cx="8534400" cy="4867275"/>
          </a:xfrm>
        </p:grpSpPr>
        <p:sp>
          <p:nvSpPr>
            <p:cNvPr id="9" name="Rectangle 9"/>
            <p:cNvSpPr/>
            <p:nvPr/>
          </p:nvSpPr>
          <p:spPr>
            <a:xfrm>
              <a:off x="533400" y="1352550"/>
              <a:ext cx="8534400" cy="4867275"/>
            </a:xfrm>
            <a:prstGeom prst="roundRect">
              <a:avLst>
                <a:gd name="adj" fmla="val 2740"/>
              </a:avLst>
            </a:prstGeom>
            <a:solidFill>
              <a:schemeClr val="lt2"/>
            </a:solidFill>
            <a:ln>
              <a:noFill/>
            </a:ln>
          </p:spPr>
        </p:sp>
        <p:pic>
          <p:nvPicPr>
            <p:cNvPr id="10" name="Image 10"/>
            <p:cNvPicPr>
              <a:picLocks noChangeAspect="1"/>
            </p:cNvPicPr>
            <p:nvPr/>
          </p:nvPicPr>
          <p:blipFill>
            <a:blip r:embed="rId2"/>
            <a:stretch>
              <a:fillRect/>
            </a:stretch>
          </p:blipFill>
          <p:spPr>
            <a:xfrm>
              <a:off x="609600" y="1428750"/>
              <a:ext cx="8382000" cy="4714875"/>
            </a:xfrm>
            <a:prstGeom prst="roundRect">
              <a:avLst>
                <a:gd name="adj" fmla="val 2020"/>
              </a:avLst>
            </a:prstGeom>
          </p:spPr>
        </p:pic>
        <p:sp>
          <p:nvSpPr>
            <p:cNvPr id="11" name="Rectangle 11"/>
            <p:cNvSpPr/>
            <p:nvPr/>
          </p:nvSpPr>
          <p:spPr>
            <a:xfrm>
              <a:off x="609600" y="1428750"/>
              <a:ext cx="8382000" cy="4714875"/>
            </a:xfrm>
            <a:prstGeom prst="roundRect">
              <a:avLst>
                <a:gd name="adj" fmla="val 2020"/>
              </a:avLst>
            </a:prstGeom>
            <a:noFill/>
            <a:ln w="14288">
              <a:solidFill>
                <a:schemeClr val="accent6"/>
              </a:solidFill>
            </a:ln>
          </p:spPr>
        </p:sp>
        <p:sp>
          <p:nvSpPr>
            <p:cNvPr id="12" name="Ellipse 12"/>
            <p:cNvSpPr/>
            <p:nvPr/>
          </p:nvSpPr>
          <p:spPr>
            <a:xfrm>
              <a:off x="1181100" y="3752850"/>
              <a:ext cx="304800" cy="304800"/>
            </a:xfrm>
            <a:prstGeom prst="ellipse">
              <a:avLst/>
            </a:prstGeom>
            <a:solidFill>
              <a:schemeClr val="accent2"/>
            </a:solidFill>
            <a:ln>
              <a:noFill/>
            </a:ln>
          </p:spPr>
        </p:sp>
        <p:sp>
          <p:nvSpPr>
            <p:cNvPr id="13" name="TextBox 13"/>
            <p:cNvSpPr txBox="1"/>
            <p:nvPr/>
          </p:nvSpPr>
          <p:spPr>
            <a:xfrm>
              <a:off x="1280758" y="38328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14" name="Ellipse 14"/>
            <p:cNvSpPr/>
            <p:nvPr/>
          </p:nvSpPr>
          <p:spPr>
            <a:xfrm>
              <a:off x="5981700" y="4210050"/>
              <a:ext cx="304800" cy="304800"/>
            </a:xfrm>
            <a:prstGeom prst="ellipse">
              <a:avLst/>
            </a:prstGeom>
            <a:solidFill>
              <a:schemeClr val="accent2"/>
            </a:solidFill>
            <a:ln>
              <a:noFill/>
            </a:ln>
          </p:spPr>
        </p:sp>
        <p:sp>
          <p:nvSpPr>
            <p:cNvPr id="15" name="TextBox 15"/>
            <p:cNvSpPr txBox="1"/>
            <p:nvPr/>
          </p:nvSpPr>
          <p:spPr>
            <a:xfrm>
              <a:off x="6081358" y="42900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16" name="Ellipse 16"/>
            <p:cNvSpPr/>
            <p:nvPr/>
          </p:nvSpPr>
          <p:spPr>
            <a:xfrm>
              <a:off x="6096000" y="5076825"/>
              <a:ext cx="304800" cy="304800"/>
            </a:xfrm>
            <a:prstGeom prst="ellipse">
              <a:avLst/>
            </a:prstGeom>
            <a:solidFill>
              <a:schemeClr val="accent2"/>
            </a:solidFill>
            <a:ln>
              <a:noFill/>
            </a:ln>
          </p:spPr>
        </p:sp>
        <p:sp>
          <p:nvSpPr>
            <p:cNvPr id="17" name="TextBox 17"/>
            <p:cNvSpPr txBox="1"/>
            <p:nvPr/>
          </p:nvSpPr>
          <p:spPr>
            <a:xfrm>
              <a:off x="6195658" y="5156835"/>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3</a:t>
              </a:r>
            </a:p>
          </p:txBody>
        </p:sp>
        <p:sp>
          <p:nvSpPr>
            <p:cNvPr id="18" name="Ellipse 18"/>
            <p:cNvSpPr/>
            <p:nvPr/>
          </p:nvSpPr>
          <p:spPr>
            <a:xfrm>
              <a:off x="6915150" y="3352800"/>
              <a:ext cx="304800" cy="304800"/>
            </a:xfrm>
            <a:prstGeom prst="ellipse">
              <a:avLst/>
            </a:prstGeom>
            <a:solidFill>
              <a:schemeClr val="accent2"/>
            </a:solidFill>
            <a:ln>
              <a:noFill/>
            </a:ln>
          </p:spPr>
        </p:sp>
        <p:sp>
          <p:nvSpPr>
            <p:cNvPr id="19" name="TextBox 19"/>
            <p:cNvSpPr txBox="1"/>
            <p:nvPr/>
          </p:nvSpPr>
          <p:spPr>
            <a:xfrm>
              <a:off x="7014808" y="34328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4</a:t>
              </a:r>
            </a:p>
          </p:txBody>
        </p:sp>
      </p:grpSp>
      <p:grpSp>
        <p:nvGrpSpPr>
          <p:cNvPr id="35" name="Group 35"/>
          <p:cNvGrpSpPr/>
          <p:nvPr/>
        </p:nvGrpSpPr>
        <p:grpSpPr>
          <a:xfrm>
            <a:off x="9365742" y="1492568"/>
            <a:ext cx="2017014" cy="3870388"/>
            <a:chOff x="9365742" y="1492568"/>
            <a:chExt cx="2017014" cy="3870388"/>
          </a:xfrm>
        </p:grpSpPr>
        <p:sp>
          <p:nvSpPr>
            <p:cNvPr id="21" name="TextBox 21"/>
            <p:cNvSpPr txBox="1"/>
            <p:nvPr/>
          </p:nvSpPr>
          <p:spPr>
            <a:xfrm>
              <a:off x="9365742" y="149256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1</a:t>
              </a:r>
            </a:p>
          </p:txBody>
        </p:sp>
        <p:sp>
          <p:nvSpPr>
            <p:cNvPr id="22" name="TextBox 22"/>
            <p:cNvSpPr txBox="1"/>
            <p:nvPr/>
          </p:nvSpPr>
          <p:spPr>
            <a:xfrm>
              <a:off x="9594342" y="1492568"/>
              <a:ext cx="1234989"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取り込んだモジュール</a:t>
              </a:r>
            </a:p>
          </p:txBody>
        </p:sp>
        <p:sp>
          <p:nvSpPr>
            <p:cNvPr id="23" name="TextBox 23"/>
            <p:cNvSpPr txBox="1"/>
            <p:nvPr/>
          </p:nvSpPr>
          <p:spPr>
            <a:xfrm>
              <a:off x="9595104" y="1756410"/>
              <a:ext cx="1345692" cy="463296"/>
            </a:xfrm>
            <a:prstGeom prst="rect">
              <a:avLst/>
            </a:prstGeom>
            <a:noFill/>
            <a:ln>
              <a:noFill/>
            </a:ln>
          </p:spPr>
          <p:txBody>
            <a:bodyPr wrap="square" lIns="0" tIns="0" rIns="0" bIns="0" anchor="t" anchorCtr="0"/>
            <a:lstStyle/>
            <a:p>
              <a:pPr algn="l">
                <a:lnSpc>
                  <a:spcPts val="1800"/>
                </a:lnSpc>
              </a:pPr>
              <a:r>
                <a:rPr lang="zh-CN" sz="1200" dirty="0">
                  <a:solidFill>
                    <a:srgbClr val="5D6B7A"/>
                  </a:solidFill>
                  <a:latin typeface="+mn-lt"/>
                  <a:ea typeface="+mn-ea"/>
                  <a:cs typeface="+mn-cs"/>
                </a:rPr>
                <a:t>増減の行数つき。選ぶと右の表示が切り替わる。</a:t>
              </a:r>
            </a:p>
          </p:txBody>
        </p:sp>
        <p:sp>
          <p:nvSpPr>
            <p:cNvPr id="24" name="TextBox 24"/>
            <p:cNvSpPr txBox="1"/>
            <p:nvPr/>
          </p:nvSpPr>
          <p:spPr>
            <a:xfrm>
              <a:off x="9365742" y="231171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2</a:t>
              </a:r>
            </a:p>
          </p:txBody>
        </p:sp>
        <p:sp>
          <p:nvSpPr>
            <p:cNvPr id="25" name="Rectangle 25"/>
            <p:cNvSpPr/>
            <p:nvPr/>
          </p:nvSpPr>
          <p:spPr>
            <a:xfrm>
              <a:off x="9601200" y="2305050"/>
              <a:ext cx="190500" cy="190500"/>
            </a:xfrm>
            <a:prstGeom prst="roundRect">
              <a:avLst>
                <a:gd name="adj" fmla="val 20000"/>
              </a:avLst>
            </a:prstGeom>
            <a:solidFill>
              <a:srgbClr val="C25560"/>
            </a:solidFill>
            <a:ln>
              <a:noFill/>
            </a:ln>
          </p:spPr>
        </p:sp>
        <p:sp>
          <p:nvSpPr>
            <p:cNvPr id="26" name="TextBox 26"/>
            <p:cNvSpPr txBox="1"/>
            <p:nvPr/>
          </p:nvSpPr>
          <p:spPr>
            <a:xfrm>
              <a:off x="9861042" y="2311718"/>
              <a:ext cx="1101412"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赤 ＝ 消える行</a:t>
              </a:r>
            </a:p>
          </p:txBody>
        </p:sp>
        <p:sp>
          <p:nvSpPr>
            <p:cNvPr id="27" name="TextBox 27"/>
            <p:cNvSpPr txBox="1"/>
            <p:nvPr/>
          </p:nvSpPr>
          <p:spPr>
            <a:xfrm>
              <a:off x="9595104" y="2613660"/>
              <a:ext cx="1345692" cy="463296"/>
            </a:xfrm>
            <a:prstGeom prst="rect">
              <a:avLst/>
            </a:prstGeom>
            <a:noFill/>
            <a:ln>
              <a:noFill/>
            </a:ln>
          </p:spPr>
          <p:txBody>
            <a:bodyPr wrap="square" lIns="0" tIns="0" rIns="0" bIns="0" anchor="t" anchorCtr="0"/>
            <a:lstStyle/>
            <a:p>
              <a:pPr algn="l">
                <a:lnSpc>
                  <a:spcPts val="1800"/>
                </a:lnSpc>
              </a:pPr>
              <a:r>
                <a:rPr lang="zh-CN" sz="1200" dirty="0">
                  <a:solidFill>
                    <a:srgbClr val="5D6B7A"/>
                  </a:solidFill>
                  <a:latin typeface="+mn-lt"/>
                  <a:ea typeface="+mn-ea"/>
                  <a:cs typeface="+mn-cs"/>
                </a:rPr>
                <a:t>今回は Sleep の宣言と呼び出し。</a:t>
              </a:r>
            </a:p>
          </p:txBody>
        </p:sp>
        <p:sp>
          <p:nvSpPr>
            <p:cNvPr id="28" name="TextBox 28"/>
            <p:cNvSpPr txBox="1"/>
            <p:nvPr/>
          </p:nvSpPr>
          <p:spPr>
            <a:xfrm>
              <a:off x="9365742" y="316896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3</a:t>
              </a:r>
            </a:p>
          </p:txBody>
        </p:sp>
        <p:sp>
          <p:nvSpPr>
            <p:cNvPr id="29" name="Rectangle 29"/>
            <p:cNvSpPr/>
            <p:nvPr/>
          </p:nvSpPr>
          <p:spPr>
            <a:xfrm>
              <a:off x="9601200" y="3162300"/>
              <a:ext cx="190500" cy="190500"/>
            </a:xfrm>
            <a:prstGeom prst="roundRect">
              <a:avLst>
                <a:gd name="adj" fmla="val 20000"/>
              </a:avLst>
            </a:prstGeom>
            <a:solidFill>
              <a:srgbClr val="4C9155"/>
            </a:solidFill>
            <a:ln>
              <a:noFill/>
            </a:ln>
          </p:spPr>
        </p:sp>
        <p:sp>
          <p:nvSpPr>
            <p:cNvPr id="30" name="TextBox 30"/>
            <p:cNvSpPr txBox="1"/>
            <p:nvPr/>
          </p:nvSpPr>
          <p:spPr>
            <a:xfrm>
              <a:off x="9861042" y="3168968"/>
              <a:ext cx="1101412"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緑 ＝ 増える行</a:t>
              </a:r>
            </a:p>
          </p:txBody>
        </p:sp>
        <p:sp>
          <p:nvSpPr>
            <p:cNvPr id="31" name="TextBox 31"/>
            <p:cNvSpPr txBox="1"/>
            <p:nvPr/>
          </p:nvSpPr>
          <p:spPr>
            <a:xfrm>
              <a:off x="9595104" y="3470910"/>
              <a:ext cx="1191463"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置き換え後のコード。</a:t>
              </a:r>
            </a:p>
          </p:txBody>
        </p:sp>
        <p:sp>
          <p:nvSpPr>
            <p:cNvPr id="32" name="TextBox 32"/>
            <p:cNvSpPr txBox="1"/>
            <p:nvPr/>
          </p:nvSpPr>
          <p:spPr>
            <a:xfrm>
              <a:off x="9365742" y="3950018"/>
              <a:ext cx="1186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4</a:t>
              </a:r>
            </a:p>
          </p:txBody>
        </p:sp>
        <p:sp>
          <p:nvSpPr>
            <p:cNvPr id="33" name="TextBox 33"/>
            <p:cNvSpPr txBox="1"/>
            <p:nvPr/>
          </p:nvSpPr>
          <p:spPr>
            <a:xfrm>
              <a:off x="9594342" y="3950018"/>
              <a:ext cx="53848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ツールバー</a:t>
              </a:r>
            </a:p>
          </p:txBody>
        </p:sp>
        <p:sp>
          <p:nvSpPr>
            <p:cNvPr id="34" name="TextBox 34"/>
            <p:cNvSpPr txBox="1"/>
            <p:nvPr/>
          </p:nvSpPr>
          <p:spPr>
            <a:xfrm>
              <a:off x="9595104" y="4213860"/>
              <a:ext cx="1787652" cy="1149096"/>
            </a:xfrm>
            <a:prstGeom prst="rect">
              <a:avLst/>
            </a:prstGeom>
            <a:noFill/>
            <a:ln>
              <a:noFill/>
            </a:ln>
          </p:spPr>
          <p:txBody>
            <a:bodyPr wrap="square" lIns="0" tIns="0" rIns="0" bIns="0" anchor="t" anchorCtr="0"/>
            <a:lstStyle/>
            <a:p>
              <a:pPr algn="l">
                <a:lnSpc>
                  <a:spcPts val="1800"/>
                </a:lnSpc>
              </a:pPr>
              <a:r>
                <a:rPr lang="zh-CN" sz="1200" dirty="0">
                  <a:solidFill>
                    <a:srgbClr val="5D6B7A"/>
                  </a:solidFill>
                  <a:latin typeface="+mn-lt"/>
                  <a:ea typeface="+mn-ea"/>
                  <a:cs typeface="+mn-cs"/>
                </a:rPr>
                <a:t>［変更箇所のみ］で変更部分だけに絞る。［↑前の変更］［↓次の変更］で順に見る。写し間違いは［手動修正］で</a:t>
              </a:r>
              <a:r>
                <a:rPr lang="en-US" sz="1200" dirty="0">
                  <a:solidFill>
                    <a:srgbClr val="5D6B7A"/>
                  </a:solidFill>
                  <a:latin typeface="+mn-lt"/>
                  <a:ea typeface="+mn-ea"/>
                  <a:cs typeface="+mn-cs"/>
                </a:rPr>
                <a:t xml:space="preserve"> </a:t>
              </a:r>
              <a:r>
                <a:rPr lang="zh-CN" sz="1200" dirty="0">
                  <a:solidFill>
                    <a:srgbClr val="5D6B7A"/>
                  </a:solidFill>
                  <a:latin typeface="+mn-lt"/>
                  <a:ea typeface="+mn-ea"/>
                  <a:cs typeface="+mn-cs"/>
                </a:rPr>
                <a:t>その場で直せる。</a:t>
              </a:r>
            </a:p>
          </p:txBody>
        </p:sp>
      </p:grpSp>
      <p:grpSp>
        <p:nvGrpSpPr>
          <p:cNvPr id="37" name="Group 37"/>
          <p:cNvGrpSpPr/>
          <p:nvPr/>
        </p:nvGrpSpPr>
        <p:grpSpPr>
          <a:xfrm>
            <a:off x="9366885" y="5955506"/>
            <a:ext cx="1415339" cy="429578"/>
            <a:chOff x="9366885" y="5955506"/>
            <a:chExt cx="1415339" cy="429578"/>
          </a:xfrm>
        </p:grpSpPr>
        <p:sp>
          <p:nvSpPr>
            <p:cNvPr id="36" name="TextBox 36"/>
            <p:cNvSpPr txBox="1"/>
            <p:nvPr/>
          </p:nvSpPr>
          <p:spPr>
            <a:xfrm>
              <a:off x="9366885" y="5955506"/>
              <a:ext cx="1415339" cy="429578"/>
            </a:xfrm>
            <a:prstGeom prst="rect">
              <a:avLst/>
            </a:prstGeom>
            <a:noFill/>
            <a:ln>
              <a:noFill/>
            </a:ln>
          </p:spPr>
          <p:txBody>
            <a:bodyPr wrap="square" lIns="0" tIns="0" rIns="0" bIns="0" anchor="t" anchorCtr="0"/>
            <a:lstStyle/>
            <a:p>
              <a:pPr algn="l">
                <a:lnSpc>
                  <a:spcPts val="1650"/>
                </a:lnSpc>
              </a:pPr>
              <a:r>
                <a:rPr lang="zh-CN" sz="1120" b="1" dirty="0">
                  <a:solidFill>
                    <a:srgbClr val="3A7A47"/>
                  </a:solidFill>
                  <a:latin typeface="+mn-lt"/>
                  <a:ea typeface="+mn-ea"/>
                  <a:cs typeface="+mn-cs"/>
                </a:rPr>
                <a:t>納得できなければ［戻る］で取り込み直せます。</a:t>
              </a:r>
            </a:p>
          </p:txBody>
        </p:sp>
      </p:grpSp>
      <p:grpSp>
        <p:nvGrpSpPr>
          <p:cNvPr id="40" name="Group 40"/>
          <p:cNvGrpSpPr/>
          <p:nvPr/>
        </p:nvGrpSpPr>
        <p:grpSpPr>
          <a:xfrm>
            <a:off x="451866" y="6477952"/>
            <a:ext cx="11288268" cy="205359"/>
            <a:chOff x="451866" y="6477952"/>
            <a:chExt cx="11288268" cy="205359"/>
          </a:xfrm>
        </p:grpSpPr>
        <p:sp>
          <p:nvSpPr>
            <p:cNvPr id="38" name="TextBox 38"/>
            <p:cNvSpPr txBox="1"/>
            <p:nvPr/>
          </p:nvSpPr>
          <p:spPr>
            <a:xfrm>
              <a:off x="451866" y="6477952"/>
              <a:ext cx="2943701"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　｜　手順 3 ・ 返答を取り込む</a:t>
              </a:r>
            </a:p>
          </p:txBody>
        </p:sp>
        <p:sp>
          <p:nvSpPr>
            <p:cNvPr id="39" name="TextBox 39"/>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4</a:t>
              </a:r>
            </a:p>
          </p:txBody>
        </p:sp>
        <p:sp>
          <p:nvSpPr>
            <p:cNvPr id="6" name="TextBox 6"/>
            <p:cNvSpPr txBox="1"/>
            <p:nvPr/>
          </p:nvSpPr>
          <p:spPr>
            <a:xfrm>
              <a:off x="441960" y="685800"/>
              <a:ext cx="533114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作成する改修済みブックを確認します</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5486400" cy="3505581"/>
            <a:chOff x="457200" y="1428750"/>
            <a:chExt cx="5486400" cy="3505581"/>
          </a:xfrm>
        </p:grpSpPr>
        <p:sp>
          <p:nvSpPr>
            <p:cNvPr id="9" name="Rectangle 9"/>
            <p:cNvSpPr/>
            <p:nvPr/>
          </p:nvSpPr>
          <p:spPr>
            <a:xfrm>
              <a:off x="457200" y="1428750"/>
              <a:ext cx="5486400" cy="3152775"/>
            </a:xfrm>
            <a:prstGeom prst="roundRect">
              <a:avLst>
                <a:gd name="adj" fmla="val 4230"/>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11" name="Rectangle 11"/>
            <p:cNvSpPr/>
            <p:nvPr/>
          </p:nvSpPr>
          <p:spPr>
            <a:xfrm>
              <a:off x="533400" y="1504950"/>
              <a:ext cx="5334000" cy="3000375"/>
            </a:xfrm>
            <a:prstGeom prst="roundRect">
              <a:avLst>
                <a:gd name="adj" fmla="val 3175"/>
              </a:avLst>
            </a:prstGeom>
            <a:noFill/>
            <a:ln w="14288">
              <a:solidFill>
                <a:schemeClr val="accent6"/>
              </a:solidFill>
            </a:ln>
          </p:spPr>
        </p:sp>
        <p:sp>
          <p:nvSpPr>
            <p:cNvPr id="12" name="TextBox 12"/>
            <p:cNvSpPr txBox="1"/>
            <p:nvPr/>
          </p:nvSpPr>
          <p:spPr>
            <a:xfrm>
              <a:off x="527304" y="4699635"/>
              <a:ext cx="460004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書き戻し 5（うち新規追加 1）・元ブックは保持。名前を確かめて［次へ］。</a:t>
              </a:r>
            </a:p>
          </p:txBody>
        </p:sp>
      </p:grpSp>
      <p:grpSp>
        <p:nvGrpSpPr>
          <p:cNvPr id="18" name="Group 18"/>
          <p:cNvGrpSpPr/>
          <p:nvPr/>
        </p:nvGrpSpPr>
        <p:grpSpPr>
          <a:xfrm>
            <a:off x="6248400" y="1428750"/>
            <a:ext cx="5486400" cy="3505581"/>
            <a:chOff x="6248400" y="1428750"/>
            <a:chExt cx="5486400" cy="3505581"/>
          </a:xfrm>
        </p:grpSpPr>
        <p:sp>
          <p:nvSpPr>
            <p:cNvPr id="14" name="Rectangle 14"/>
            <p:cNvSpPr/>
            <p:nvPr/>
          </p:nvSpPr>
          <p:spPr>
            <a:xfrm>
              <a:off x="6248400" y="1428750"/>
              <a:ext cx="5486400" cy="3152775"/>
            </a:xfrm>
            <a:prstGeom prst="roundRect">
              <a:avLst>
                <a:gd name="adj" fmla="val 4230"/>
              </a:avLst>
            </a:prstGeom>
            <a:solidFill>
              <a:schemeClr val="lt2"/>
            </a:solidFill>
            <a:ln>
              <a:noFill/>
            </a:ln>
          </p:spPr>
        </p:sp>
        <p:pic>
          <p:nvPicPr>
            <p:cNvPr id="15" name="Image 15"/>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6" name="Rectangle 16"/>
            <p:cNvSpPr/>
            <p:nvPr/>
          </p:nvSpPr>
          <p:spPr>
            <a:xfrm>
              <a:off x="6324600" y="1504950"/>
              <a:ext cx="5334000" cy="3000375"/>
            </a:xfrm>
            <a:prstGeom prst="roundRect">
              <a:avLst>
                <a:gd name="adj" fmla="val 3175"/>
              </a:avLst>
            </a:prstGeom>
            <a:noFill/>
            <a:ln w="14288">
              <a:solidFill>
                <a:schemeClr val="accent6"/>
              </a:solidFill>
            </a:ln>
          </p:spPr>
        </p:sp>
        <p:sp>
          <p:nvSpPr>
            <p:cNvPr id="17" name="TextBox 17"/>
            <p:cNvSpPr txBox="1"/>
            <p:nvPr/>
          </p:nvSpPr>
          <p:spPr>
            <a:xfrm>
              <a:off x="6318504" y="4699635"/>
              <a:ext cx="4083101"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ビルド中。書き戻したブックを読み直して検証するところまで自動で進みます。</a:t>
              </a:r>
            </a:p>
          </p:txBody>
        </p:sp>
      </p:grpSp>
      <p:grpSp>
        <p:nvGrpSpPr>
          <p:cNvPr id="26" name="Group 26"/>
          <p:cNvGrpSpPr/>
          <p:nvPr/>
        </p:nvGrpSpPr>
        <p:grpSpPr>
          <a:xfrm>
            <a:off x="476250" y="5076825"/>
            <a:ext cx="7869650" cy="1017270"/>
            <a:chOff x="476250" y="5076825"/>
            <a:chExt cx="7869650" cy="1017270"/>
          </a:xfrm>
        </p:grpSpPr>
        <p:sp>
          <p:nvSpPr>
            <p:cNvPr id="19" name="Ellipse 19"/>
            <p:cNvSpPr/>
            <p:nvPr/>
          </p:nvSpPr>
          <p:spPr>
            <a:xfrm>
              <a:off x="476250" y="5076825"/>
              <a:ext cx="285750" cy="285750"/>
            </a:xfrm>
            <a:prstGeom prst="ellipse">
              <a:avLst/>
            </a:prstGeom>
            <a:solidFill>
              <a:schemeClr val="accent1"/>
            </a:solidFill>
            <a:ln>
              <a:noFill/>
            </a:ln>
          </p:spPr>
        </p:sp>
        <p:sp>
          <p:nvSpPr>
            <p:cNvPr id="20" name="TextBox 20"/>
            <p:cNvSpPr txBox="1"/>
            <p:nvPr/>
          </p:nvSpPr>
          <p:spPr>
            <a:xfrm>
              <a:off x="566383" y="51473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1" name="TextBox 21"/>
            <p:cNvSpPr txBox="1"/>
            <p:nvPr/>
          </p:nvSpPr>
          <p:spPr>
            <a:xfrm>
              <a:off x="887730" y="5133975"/>
              <a:ext cx="699541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出力ファイル名を確かめます。最初から「</a:t>
              </a:r>
              <a:r>
                <a:rPr lang="zh-CN" sz="1350" dirty="0">
                  <a:solidFill>
                    <a:schemeClr val="dk1"/>
                  </a:solidFill>
                  <a:latin typeface="Consolas"/>
                  <a:ea typeface="Microsoft YaHei"/>
                  <a:cs typeface="Consolas"/>
                </a:rPr>
                <a:t>申請データ検証-Modified-20260730.xlsm</a:t>
              </a:r>
              <a:r>
                <a:rPr lang="zh-CN" sz="1500" dirty="0">
                  <a:solidFill>
                    <a:schemeClr val="dk1"/>
                  </a:solidFill>
                  <a:latin typeface="+mn-lt"/>
                  <a:ea typeface="+mn-ea"/>
                  <a:cs typeface="+mn-cs"/>
                </a:rPr>
                <a:t>」のように、</a:t>
              </a:r>
            </a:p>
          </p:txBody>
        </p:sp>
        <p:sp>
          <p:nvSpPr>
            <p:cNvPr id="22" name="TextBox 22"/>
            <p:cNvSpPr txBox="1"/>
            <p:nvPr/>
          </p:nvSpPr>
          <p:spPr>
            <a:xfrm>
              <a:off x="887730" y="5419725"/>
              <a:ext cx="745817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「元の名前-Modified-日付」が入っています。変えるときも、ファイル名だけ・拡張子はそのままにします。</a:t>
              </a:r>
            </a:p>
          </p:txBody>
        </p:sp>
        <p:sp>
          <p:nvSpPr>
            <p:cNvPr id="23" name="Ellipse 23"/>
            <p:cNvSpPr/>
            <p:nvPr/>
          </p:nvSpPr>
          <p:spPr>
            <a:xfrm>
              <a:off x="476250" y="5743575"/>
              <a:ext cx="285750" cy="285750"/>
            </a:xfrm>
            <a:prstGeom prst="ellipse">
              <a:avLst/>
            </a:prstGeom>
            <a:solidFill>
              <a:schemeClr val="accent1"/>
            </a:solidFill>
            <a:ln>
              <a:noFill/>
            </a:ln>
          </p:spPr>
        </p:sp>
        <p:sp>
          <p:nvSpPr>
            <p:cNvPr id="24" name="TextBox 24"/>
            <p:cNvSpPr txBox="1"/>
            <p:nvPr/>
          </p:nvSpPr>
          <p:spPr>
            <a:xfrm>
              <a:off x="566383" y="58140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5" name="TextBox 25"/>
            <p:cNvSpPr txBox="1"/>
            <p:nvPr/>
          </p:nvSpPr>
          <p:spPr>
            <a:xfrm>
              <a:off x="887730" y="5800725"/>
              <a:ext cx="709288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［次へ］でビルドが始まります（ふつうは数秒）。「時間がかかっています」と出ても処理は続いています。</a:t>
              </a:r>
            </a:p>
          </p:txBody>
        </p:sp>
      </p:grpSp>
      <p:grpSp>
        <p:nvGrpSpPr>
          <p:cNvPr id="29" name="Group 29"/>
          <p:cNvGrpSpPr/>
          <p:nvPr/>
        </p:nvGrpSpPr>
        <p:grpSpPr>
          <a:xfrm>
            <a:off x="451866" y="6477952"/>
            <a:ext cx="11288268" cy="205359"/>
            <a:chOff x="451866" y="6477952"/>
            <a:chExt cx="11288268" cy="205359"/>
          </a:xfrm>
        </p:grpSpPr>
        <p:sp>
          <p:nvSpPr>
            <p:cNvPr id="27" name="TextBox 27"/>
            <p:cNvSpPr txBox="1"/>
            <p:nvPr/>
          </p:nvSpPr>
          <p:spPr>
            <a:xfrm>
              <a:off x="451866" y="6477952"/>
              <a:ext cx="2675134"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　｜　手順 4 ・ ブックを作る</a:t>
              </a:r>
            </a:p>
          </p:txBody>
        </p:sp>
        <p:sp>
          <p:nvSpPr>
            <p:cNvPr id="28" name="TextBox 28"/>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4</a:t>
              </a:r>
            </a:p>
          </p:txBody>
        </p:sp>
        <p:sp>
          <p:nvSpPr>
            <p:cNvPr id="6" name="TextBox 6"/>
            <p:cNvSpPr txBox="1"/>
            <p:nvPr/>
          </p:nvSpPr>
          <p:spPr>
            <a:xfrm>
              <a:off x="441960" y="685800"/>
              <a:ext cx="424980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改修済みブックを作成しました</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3" name="Group 13"/>
          <p:cNvGrpSpPr/>
          <p:nvPr/>
        </p:nvGrpSpPr>
        <p:grpSpPr>
          <a:xfrm>
            <a:off x="457200" y="1428750"/>
            <a:ext cx="6858000" cy="4277106"/>
            <a:chOff x="457200" y="1428750"/>
            <a:chExt cx="6858000" cy="4277106"/>
          </a:xfrm>
        </p:grpSpPr>
        <p:sp>
          <p:nvSpPr>
            <p:cNvPr id="9" name="Rectangle 9"/>
            <p:cNvSpPr/>
            <p:nvPr/>
          </p:nvSpPr>
          <p:spPr>
            <a:xfrm>
              <a:off x="457200" y="1428750"/>
              <a:ext cx="6858000" cy="3924300"/>
            </a:xfrm>
            <a:prstGeom prst="roundRect">
              <a:avLst>
                <a:gd name="adj" fmla="val 3398"/>
              </a:avLst>
            </a:prstGeom>
            <a:solidFill>
              <a:schemeClr val="lt2"/>
            </a:solidFill>
            <a:ln>
              <a:noFill/>
            </a:ln>
          </p:spPr>
        </p:sp>
        <p:pic>
          <p:nvPicPr>
            <p:cNvPr id="10" name="Image 10"/>
            <p:cNvPicPr>
              <a:picLocks noChangeAspect="1"/>
            </p:cNvPicPr>
            <p:nvPr/>
          </p:nvPicPr>
          <p:blipFill>
            <a:blip r:embed="rId2"/>
            <a:stretch>
              <a:fillRect/>
            </a:stretch>
          </p:blipFill>
          <p:spPr>
            <a:xfrm>
              <a:off x="533400" y="1504950"/>
              <a:ext cx="6705600" cy="3771900"/>
            </a:xfrm>
            <a:prstGeom prst="roundRect">
              <a:avLst>
                <a:gd name="adj" fmla="val 2525"/>
              </a:avLst>
            </a:prstGeom>
          </p:spPr>
        </p:pic>
        <p:sp>
          <p:nvSpPr>
            <p:cNvPr id="11" name="Rectangle 11"/>
            <p:cNvSpPr/>
            <p:nvPr/>
          </p:nvSpPr>
          <p:spPr>
            <a:xfrm>
              <a:off x="533400" y="1504950"/>
              <a:ext cx="6705600" cy="3771900"/>
            </a:xfrm>
            <a:prstGeom prst="roundRect">
              <a:avLst>
                <a:gd name="adj" fmla="val 2525"/>
              </a:avLst>
            </a:prstGeom>
            <a:noFill/>
            <a:ln w="14288">
              <a:solidFill>
                <a:schemeClr val="accent6"/>
              </a:solidFill>
            </a:ln>
          </p:spPr>
        </p:sp>
        <p:sp>
          <p:nvSpPr>
            <p:cNvPr id="12" name="TextBox 12"/>
            <p:cNvSpPr txBox="1"/>
            <p:nvPr/>
          </p:nvSpPr>
          <p:spPr>
            <a:xfrm>
              <a:off x="527304" y="5471160"/>
              <a:ext cx="5213909"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［出力フォルダをエクスプローラーで開く］で場所を開き、［完了］で最初の画面に戻ります。</a:t>
              </a:r>
            </a:p>
          </p:txBody>
        </p:sp>
      </p:grpSp>
      <p:grpSp>
        <p:nvGrpSpPr>
          <p:cNvPr id="28" name="Group 28"/>
          <p:cNvGrpSpPr/>
          <p:nvPr/>
        </p:nvGrpSpPr>
        <p:grpSpPr>
          <a:xfrm>
            <a:off x="7620000" y="1428750"/>
            <a:ext cx="4114800" cy="3565684"/>
            <a:chOff x="7620000" y="1428750"/>
            <a:chExt cx="4114800" cy="3565684"/>
          </a:xfrm>
        </p:grpSpPr>
        <p:sp>
          <p:nvSpPr>
            <p:cNvPr id="14" name="Rectangle 14"/>
            <p:cNvSpPr/>
            <p:nvPr/>
          </p:nvSpPr>
          <p:spPr>
            <a:xfrm>
              <a:off x="7620000" y="1428750"/>
              <a:ext cx="4114800" cy="3505200"/>
            </a:xfrm>
            <a:prstGeom prst="roundRect">
              <a:avLst>
                <a:gd name="adj" fmla="val 4348"/>
              </a:avLst>
            </a:prstGeom>
            <a:solidFill>
              <a:schemeClr val="lt2"/>
            </a:solidFill>
            <a:ln>
              <a:noFill/>
            </a:ln>
          </p:spPr>
        </p:sp>
        <p:sp>
          <p:nvSpPr>
            <p:cNvPr id="15" name="Freeform 15"/>
            <p:cNvSpPr/>
            <p:nvPr/>
          </p:nvSpPr>
          <p:spPr>
            <a:xfrm>
              <a:off x="7869237" y="1669256"/>
              <a:ext cx="216899" cy="175418"/>
            </a:xfrm>
            <a:custGeom>
              <a:avLst/>
              <a:gdLst/>
              <a:ahLst/>
              <a:cxnLst/>
              <a:rect l="l" t="t" r="r" b="b"/>
              <a:pathLst>
                <a:path w="216899" h="175418">
                  <a:moveTo>
                    <a:pt x="0" y="30956"/>
                  </a:moveTo>
                  <a:cubicBezTo>
                    <a:pt x="0" y="22742"/>
                    <a:pt x="3261" y="14880"/>
                    <a:pt x="9070" y="9070"/>
                  </a:cubicBezTo>
                  <a:cubicBezTo>
                    <a:pt x="14880" y="3261"/>
                    <a:pt x="22742" y="0"/>
                    <a:pt x="30956" y="0"/>
                  </a:cubicBezTo>
                  <a:lnTo>
                    <a:pt x="72231" y="0"/>
                  </a:lnTo>
                  <a:lnTo>
                    <a:pt x="73253" y="52"/>
                  </a:lnTo>
                  <a:cubicBezTo>
                    <a:pt x="75616" y="289"/>
                    <a:pt x="77834" y="1331"/>
                    <a:pt x="79526" y="3023"/>
                  </a:cubicBezTo>
                  <a:lnTo>
                    <a:pt x="107459" y="30956"/>
                  </a:lnTo>
                  <a:lnTo>
                    <a:pt x="175418" y="30956"/>
                  </a:lnTo>
                  <a:cubicBezTo>
                    <a:pt x="183632" y="30956"/>
                    <a:pt x="191495" y="34217"/>
                    <a:pt x="197304" y="40026"/>
                  </a:cubicBezTo>
                  <a:cubicBezTo>
                    <a:pt x="200596" y="43318"/>
                    <a:pt x="203072" y="47280"/>
                    <a:pt x="204600" y="51594"/>
                  </a:cubicBezTo>
                  <a:lnTo>
                    <a:pt x="54741" y="51594"/>
                  </a:lnTo>
                  <a:cubicBezTo>
                    <a:pt x="50541" y="51594"/>
                    <a:pt x="46434" y="52883"/>
                    <a:pt x="42977" y="55267"/>
                  </a:cubicBezTo>
                  <a:cubicBezTo>
                    <a:pt x="39964" y="57362"/>
                    <a:pt x="37560" y="60220"/>
                    <a:pt x="36023" y="63532"/>
                  </a:cubicBezTo>
                  <a:lnTo>
                    <a:pt x="35424" y="64987"/>
                  </a:lnTo>
                  <a:lnTo>
                    <a:pt x="21195" y="102919"/>
                  </a:lnTo>
                  <a:cubicBezTo>
                    <a:pt x="19193" y="108254"/>
                    <a:pt x="21896" y="114197"/>
                    <a:pt x="27231" y="116199"/>
                  </a:cubicBezTo>
                  <a:cubicBezTo>
                    <a:pt x="32566" y="118201"/>
                    <a:pt x="38520" y="115497"/>
                    <a:pt x="40522" y="110163"/>
                  </a:cubicBezTo>
                  <a:lnTo>
                    <a:pt x="52223" y="78928"/>
                  </a:lnTo>
                  <a:cubicBezTo>
                    <a:pt x="53730" y="74904"/>
                    <a:pt x="57578" y="72231"/>
                    <a:pt x="61892" y="72231"/>
                  </a:cubicBezTo>
                  <a:lnTo>
                    <a:pt x="196056" y="72231"/>
                  </a:lnTo>
                  <a:lnTo>
                    <a:pt x="198295" y="72355"/>
                  </a:lnTo>
                  <a:cubicBezTo>
                    <a:pt x="200524" y="72603"/>
                    <a:pt x="202691" y="73201"/>
                    <a:pt x="204734" y="74140"/>
                  </a:cubicBezTo>
                  <a:cubicBezTo>
                    <a:pt x="205291" y="74398"/>
                    <a:pt x="205838" y="74687"/>
                    <a:pt x="206374" y="74996"/>
                  </a:cubicBezTo>
                  <a:cubicBezTo>
                    <a:pt x="208428" y="76183"/>
                    <a:pt x="210265" y="77710"/>
                    <a:pt x="211792" y="79526"/>
                  </a:cubicBezTo>
                  <a:cubicBezTo>
                    <a:pt x="213732" y="81817"/>
                    <a:pt x="215145" y="84500"/>
                    <a:pt x="215950" y="87389"/>
                  </a:cubicBezTo>
                  <a:cubicBezTo>
                    <a:pt x="216745" y="90278"/>
                    <a:pt x="216899" y="93302"/>
                    <a:pt x="216414" y="96253"/>
                  </a:cubicBezTo>
                  <a:cubicBezTo>
                    <a:pt x="216404" y="96336"/>
                    <a:pt x="216384" y="96418"/>
                    <a:pt x="216363" y="96501"/>
                  </a:cubicBezTo>
                  <a:lnTo>
                    <a:pt x="206096" y="150261"/>
                  </a:lnTo>
                  <a:cubicBezTo>
                    <a:pt x="204744" y="157340"/>
                    <a:pt x="200967" y="163717"/>
                    <a:pt x="195406" y="168309"/>
                  </a:cubicBezTo>
                  <a:cubicBezTo>
                    <a:pt x="190556" y="172323"/>
                    <a:pt x="184612" y="174747"/>
                    <a:pt x="178380" y="175294"/>
                  </a:cubicBezTo>
                  <a:lnTo>
                    <a:pt x="175686" y="175418"/>
                  </a:lnTo>
                  <a:lnTo>
                    <a:pt x="30956" y="175418"/>
                  </a:lnTo>
                  <a:cubicBezTo>
                    <a:pt x="22742" y="175418"/>
                    <a:pt x="14880" y="172157"/>
                    <a:pt x="9070" y="166348"/>
                  </a:cubicBezTo>
                  <a:cubicBezTo>
                    <a:pt x="3261" y="160539"/>
                    <a:pt x="0" y="152676"/>
                    <a:pt x="0" y="144462"/>
                  </a:cubicBezTo>
                  <a:lnTo>
                    <a:pt x="0" y="30956"/>
                  </a:lnTo>
                  <a:close/>
                </a:path>
              </a:pathLst>
            </a:custGeom>
            <a:solidFill>
              <a:schemeClr val="accent1"/>
            </a:solidFill>
            <a:ln>
              <a:noFill/>
            </a:ln>
          </p:spPr>
        </p:sp>
        <p:sp>
          <p:nvSpPr>
            <p:cNvPr id="16" name="TextBox 16"/>
            <p:cNvSpPr txBox="1"/>
            <p:nvPr/>
          </p:nvSpPr>
          <p:spPr>
            <a:xfrm>
              <a:off x="8203692" y="1683068"/>
              <a:ext cx="2529596"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元のブックのフォルダ\MacroStudio\</a:t>
              </a:r>
            </a:p>
          </p:txBody>
        </p:sp>
        <p:sp>
          <p:nvSpPr>
            <p:cNvPr id="17" name="TextBox 17"/>
            <p:cNvSpPr txBox="1"/>
            <p:nvPr/>
          </p:nvSpPr>
          <p:spPr>
            <a:xfrm>
              <a:off x="8203692" y="1930718"/>
              <a:ext cx="2170026"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申請データ検証_日付_時刻\</a:t>
              </a:r>
            </a:p>
          </p:txBody>
        </p:sp>
        <p:sp>
          <p:nvSpPr>
            <p:cNvPr id="18" name="TextBox 18"/>
            <p:cNvSpPr txBox="1"/>
            <p:nvPr/>
          </p:nvSpPr>
          <p:spPr>
            <a:xfrm>
              <a:off x="7956423" y="2319814"/>
              <a:ext cx="99514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Consolas"/>
                  <a:ea typeface="Consolas"/>
                  <a:cs typeface="Consolas"/>
                </a:rPr>
                <a:t>request.md</a:t>
              </a:r>
            </a:p>
          </p:txBody>
        </p:sp>
        <p:sp>
          <p:nvSpPr>
            <p:cNvPr id="19" name="TextBox 19"/>
            <p:cNvSpPr txBox="1"/>
            <p:nvPr/>
          </p:nvSpPr>
          <p:spPr>
            <a:xfrm>
              <a:off x="7957185" y="2564606"/>
              <a:ext cx="1046937"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AIへ渡した依頼文</a:t>
              </a:r>
            </a:p>
          </p:txBody>
        </p:sp>
        <p:sp>
          <p:nvSpPr>
            <p:cNvPr id="20" name="TextBox 20"/>
            <p:cNvSpPr txBox="1"/>
            <p:nvPr/>
          </p:nvSpPr>
          <p:spPr>
            <a:xfrm>
              <a:off x="7956423" y="2872264"/>
              <a:ext cx="137423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Consolas"/>
                  <a:ea typeface="Consolas"/>
                  <a:cs typeface="Consolas"/>
                </a:rPr>
                <a:t>source-code.md</a:t>
              </a:r>
            </a:p>
          </p:txBody>
        </p:sp>
        <p:sp>
          <p:nvSpPr>
            <p:cNvPr id="21" name="TextBox 21"/>
            <p:cNvSpPr txBox="1"/>
            <p:nvPr/>
          </p:nvSpPr>
          <p:spPr>
            <a:xfrm>
              <a:off x="7957185" y="3117056"/>
              <a:ext cx="1044235"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元マクロのコード全文</a:t>
              </a:r>
            </a:p>
          </p:txBody>
        </p:sp>
        <p:sp>
          <p:nvSpPr>
            <p:cNvPr id="22" name="TextBox 22"/>
            <p:cNvSpPr txBox="1"/>
            <p:nvPr/>
          </p:nvSpPr>
          <p:spPr>
            <a:xfrm>
              <a:off x="7956423" y="3424714"/>
              <a:ext cx="3275954" cy="249364"/>
            </a:xfrm>
            <a:prstGeom prst="rect">
              <a:avLst/>
            </a:prstGeom>
            <a:noFill/>
            <a:ln>
              <a:noFill/>
            </a:ln>
          </p:spPr>
          <p:txBody>
            <a:bodyPr wrap="none" lIns="0" tIns="0" rIns="0" bIns="0" anchor="t" anchorCtr="0">
              <a:spAutoFit/>
            </a:bodyPr>
            <a:lstStyle/>
            <a:p>
              <a:pPr algn="l"/>
              <a:r>
                <a:rPr lang="zh-CN" sz="1280" b="1" dirty="0">
                  <a:solidFill>
                    <a:schemeClr val="accent1"/>
                  </a:solidFill>
                  <a:latin typeface="Consolas"/>
                  <a:ea typeface="Microsoft YaHei"/>
                  <a:cs typeface="Consolas"/>
                </a:rPr>
                <a:t>申請データ検証-Modified-20260730.xlsm</a:t>
              </a:r>
            </a:p>
          </p:txBody>
        </p:sp>
        <p:sp>
          <p:nvSpPr>
            <p:cNvPr id="23" name="TextBox 23"/>
            <p:cNvSpPr txBox="1"/>
            <p:nvPr/>
          </p:nvSpPr>
          <p:spPr>
            <a:xfrm>
              <a:off x="7957185" y="3669506"/>
              <a:ext cx="2222409"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改修済みブック（これを Excel で確認）</a:t>
              </a:r>
            </a:p>
          </p:txBody>
        </p:sp>
        <p:sp>
          <p:nvSpPr>
            <p:cNvPr id="24" name="TextBox 24"/>
            <p:cNvSpPr txBox="1"/>
            <p:nvPr/>
          </p:nvSpPr>
          <p:spPr>
            <a:xfrm>
              <a:off x="7956423" y="3977164"/>
              <a:ext cx="3426296" cy="249364"/>
            </a:xfrm>
            <a:prstGeom prst="rect">
              <a:avLst/>
            </a:prstGeom>
            <a:noFill/>
            <a:ln>
              <a:noFill/>
            </a:ln>
          </p:spPr>
          <p:txBody>
            <a:bodyPr wrap="none" lIns="0" tIns="0" rIns="0" bIns="0" anchor="t" anchorCtr="0">
              <a:spAutoFit/>
            </a:bodyPr>
            <a:lstStyle/>
            <a:p>
              <a:pPr algn="l"/>
              <a:r>
                <a:rPr lang="zh-CN" sz="1280" dirty="0">
                  <a:solidFill>
                    <a:schemeClr val="dk1"/>
                  </a:solidFill>
                  <a:latin typeface="Consolas"/>
                  <a:ea typeface="Microsoft YaHei"/>
                  <a:cs typeface="Consolas"/>
                </a:rPr>
                <a:t>申請データ検証-Diff-Report-20260730.html</a:t>
              </a:r>
            </a:p>
          </p:txBody>
        </p:sp>
        <p:sp>
          <p:nvSpPr>
            <p:cNvPr id="25" name="TextBox 25"/>
            <p:cNvSpPr txBox="1"/>
            <p:nvPr/>
          </p:nvSpPr>
          <p:spPr>
            <a:xfrm>
              <a:off x="7957185" y="4221956"/>
              <a:ext cx="2122272"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変更内容の確認レポート（→ P22）</a:t>
              </a:r>
            </a:p>
          </p:txBody>
        </p:sp>
        <p:sp>
          <p:nvSpPr>
            <p:cNvPr id="26" name="TextBox 26"/>
            <p:cNvSpPr txBox="1"/>
            <p:nvPr/>
          </p:nvSpPr>
          <p:spPr>
            <a:xfrm>
              <a:off x="7956423" y="4529614"/>
              <a:ext cx="85729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Consolas"/>
                  <a:ea typeface="Consolas"/>
                  <a:cs typeface="Consolas"/>
                </a:rPr>
                <a:t>result.md</a:t>
              </a:r>
            </a:p>
          </p:txBody>
        </p:sp>
        <p:sp>
          <p:nvSpPr>
            <p:cNvPr id="27" name="TextBox 27"/>
            <p:cNvSpPr txBox="1"/>
            <p:nvPr/>
          </p:nvSpPr>
          <p:spPr>
            <a:xfrm>
              <a:off x="7957185" y="4774406"/>
              <a:ext cx="863305"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改修の概要メモ</a:t>
              </a:r>
            </a:p>
          </p:txBody>
        </p:sp>
      </p:grpSp>
      <p:grpSp>
        <p:nvGrpSpPr>
          <p:cNvPr id="32" name="Group 32"/>
          <p:cNvGrpSpPr/>
          <p:nvPr/>
        </p:nvGrpSpPr>
        <p:grpSpPr>
          <a:xfrm>
            <a:off x="7620000" y="5086350"/>
            <a:ext cx="4114800" cy="647700"/>
            <a:chOff x="7620000" y="5086350"/>
            <a:chExt cx="4114800" cy="647700"/>
          </a:xfrm>
        </p:grpSpPr>
        <p:sp>
          <p:nvSpPr>
            <p:cNvPr id="29" name="Rectangle 29"/>
            <p:cNvSpPr/>
            <p:nvPr/>
          </p:nvSpPr>
          <p:spPr>
            <a:xfrm>
              <a:off x="7620000" y="5086350"/>
              <a:ext cx="4114800" cy="647700"/>
            </a:xfrm>
            <a:prstGeom prst="roundRect">
              <a:avLst>
                <a:gd name="adj" fmla="val 20588"/>
              </a:avLst>
            </a:prstGeom>
            <a:solidFill>
              <a:schemeClr val="lt1"/>
            </a:solidFill>
            <a:ln w="14288">
              <a:solidFill>
                <a:srgbClr val="3A7A47"/>
              </a:solidFill>
            </a:ln>
          </p:spPr>
        </p:sp>
        <p:sp>
          <p:nvSpPr>
            <p:cNvPr id="30" name="Freeform 30"/>
            <p:cNvSpPr/>
            <p:nvPr/>
          </p:nvSpPr>
          <p:spPr>
            <a:xfrm>
              <a:off x="7826465" y="529748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46121" y="75254"/>
                  </a:moveTo>
                  <a:cubicBezTo>
                    <a:pt x="144186" y="73317"/>
                    <a:pt x="141559" y="72228"/>
                    <a:pt x="138821" y="72228"/>
                  </a:cubicBezTo>
                  <a:cubicBezTo>
                    <a:pt x="136082" y="72228"/>
                    <a:pt x="133456" y="73317"/>
                    <a:pt x="131520" y="75254"/>
                  </a:cubicBezTo>
                  <a:lnTo>
                    <a:pt x="97541" y="109224"/>
                  </a:lnTo>
                  <a:lnTo>
                    <a:pt x="84199" y="95892"/>
                  </a:lnTo>
                  <a:lnTo>
                    <a:pt x="83229" y="95035"/>
                  </a:lnTo>
                  <a:cubicBezTo>
                    <a:pt x="78924" y="91707"/>
                    <a:pt x="72776" y="92293"/>
                    <a:pt x="69177" y="96374"/>
                  </a:cubicBezTo>
                  <a:cubicBezTo>
                    <a:pt x="65579" y="100455"/>
                    <a:pt x="65767" y="106629"/>
                    <a:pt x="69608" y="110483"/>
                  </a:cubicBezTo>
                  <a:lnTo>
                    <a:pt x="90245" y="131120"/>
                  </a:lnTo>
                  <a:lnTo>
                    <a:pt x="91215" y="131976"/>
                  </a:lnTo>
                  <a:cubicBezTo>
                    <a:pt x="95323" y="135163"/>
                    <a:pt x="101160" y="134796"/>
                    <a:pt x="104836" y="131120"/>
                  </a:cubicBezTo>
                  <a:lnTo>
                    <a:pt x="146111" y="89845"/>
                  </a:lnTo>
                  <a:lnTo>
                    <a:pt x="146967" y="88875"/>
                  </a:lnTo>
                  <a:cubicBezTo>
                    <a:pt x="150154" y="84767"/>
                    <a:pt x="149787" y="78931"/>
                    <a:pt x="146111" y="75254"/>
                  </a:cubicBezTo>
                  <a:close/>
                </a:path>
              </a:pathLst>
            </a:custGeom>
            <a:solidFill>
              <a:srgbClr val="3A7A47"/>
            </a:solidFill>
            <a:ln>
              <a:noFill/>
            </a:ln>
          </p:spPr>
        </p:sp>
        <p:sp>
          <p:nvSpPr>
            <p:cNvPr id="31" name="TextBox 31"/>
            <p:cNvSpPr txBox="1"/>
            <p:nvPr/>
          </p:nvSpPr>
          <p:spPr>
            <a:xfrm>
              <a:off x="8165973" y="5234464"/>
              <a:ext cx="1451610" cy="497014"/>
            </a:xfrm>
            <a:prstGeom prst="rect">
              <a:avLst/>
            </a:prstGeom>
            <a:noFill/>
            <a:ln>
              <a:noFill/>
            </a:ln>
          </p:spPr>
          <p:txBody>
            <a:bodyPr wrap="square" lIns="0" tIns="0" rIns="0" bIns="0" anchor="t" anchorCtr="0"/>
            <a:lstStyle/>
            <a:p>
              <a:pPr algn="l">
                <a:lnSpc>
                  <a:spcPts val="1950"/>
                </a:lnSpc>
              </a:pPr>
              <a:r>
                <a:rPr lang="zh-CN" sz="1280" dirty="0">
                  <a:solidFill>
                    <a:schemeClr val="dk1"/>
                  </a:solidFill>
                  <a:latin typeface="+mn-lt"/>
                  <a:ea typeface="+mn-ea"/>
                  <a:cs typeface="+mn-cs"/>
                </a:rPr>
                <a:t>元のブックは、元の場所に</a:t>
              </a:r>
              <a:r>
                <a:rPr lang="en-US" sz="1280" dirty="0">
                  <a:solidFill>
                    <a:schemeClr val="dk1"/>
                  </a:solidFill>
                  <a:latin typeface="+mn-lt"/>
                  <a:ea typeface="+mn-ea"/>
                  <a:cs typeface="+mn-cs"/>
                </a:rPr>
                <a:t xml:space="preserve"> </a:t>
              </a:r>
              <a:r>
                <a:rPr lang="zh-CN" sz="1280" dirty="0">
                  <a:solidFill>
                    <a:schemeClr val="dk1"/>
                  </a:solidFill>
                  <a:latin typeface="+mn-lt"/>
                  <a:ea typeface="+mn-ea"/>
                  <a:cs typeface="+mn-cs"/>
                </a:rPr>
                <a:t>そのまま残っています。</a:t>
              </a:r>
            </a:p>
          </p:txBody>
        </p:sp>
      </p:grpSp>
      <p:grpSp>
        <p:nvGrpSpPr>
          <p:cNvPr id="35" name="Group 35"/>
          <p:cNvGrpSpPr/>
          <p:nvPr/>
        </p:nvGrpSpPr>
        <p:grpSpPr>
          <a:xfrm>
            <a:off x="451866" y="6477952"/>
            <a:ext cx="11288268" cy="205359"/>
            <a:chOff x="451866" y="6477952"/>
            <a:chExt cx="11288268" cy="205359"/>
          </a:xfrm>
        </p:grpSpPr>
        <p:sp>
          <p:nvSpPr>
            <p:cNvPr id="33" name="TextBox 33"/>
            <p:cNvSpPr txBox="1"/>
            <p:nvPr/>
          </p:nvSpPr>
          <p:spPr>
            <a:xfrm>
              <a:off x="451866" y="6477952"/>
              <a:ext cx="2675134"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　｜　手順 4 ・ ブックを作る</a:t>
              </a:r>
            </a:p>
          </p:txBody>
        </p:sp>
        <p:sp>
          <p:nvSpPr>
            <p:cNvPr id="34" name="TextBox 34"/>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Rectangle 4"/>
            <p:cNvSpPr/>
            <p:nvPr/>
          </p:nvSpPr>
          <p:spPr>
            <a:xfrm>
              <a:off x="1257300" y="419100"/>
              <a:ext cx="876300" cy="266700"/>
            </a:xfrm>
            <a:prstGeom prst="roundRect">
              <a:avLst>
                <a:gd name="adj" fmla="val 50000"/>
              </a:avLst>
            </a:prstGeom>
            <a:solidFill>
              <a:schemeClr val="lt1"/>
            </a:solidFill>
            <a:ln w="14288">
              <a:solidFill>
                <a:schemeClr val="accent1"/>
              </a:solidFill>
            </a:ln>
          </p:spPr>
        </p:sp>
        <p:sp>
          <p:nvSpPr>
            <p:cNvPr id="5" name="TextBox 5"/>
            <p:cNvSpPr txBox="1"/>
            <p:nvPr/>
          </p:nvSpPr>
          <p:spPr>
            <a:xfrm>
              <a:off x="1478620" y="486728"/>
              <a:ext cx="433661" cy="205359"/>
            </a:xfrm>
            <a:prstGeom prst="rect">
              <a:avLst/>
            </a:prstGeom>
            <a:noFill/>
            <a:ln>
              <a:noFill/>
            </a:ln>
          </p:spPr>
          <p:txBody>
            <a:bodyPr wrap="none" lIns="0" tIns="0" rIns="0" bIns="0" anchor="t" anchorCtr="0">
              <a:spAutoFit/>
            </a:bodyPr>
            <a:lstStyle/>
            <a:p>
              <a:pPr algn="ctr"/>
              <a:r>
                <a:rPr lang="zh-CN" sz="1050" b="1" dirty="0">
                  <a:solidFill>
                    <a:schemeClr val="accent1"/>
                  </a:solidFill>
                  <a:latin typeface="+mn-lt"/>
                  <a:ea typeface="+mn-ea"/>
                  <a:cs typeface="+mn-cs"/>
                </a:rPr>
                <a:t>手順 4</a:t>
              </a:r>
            </a:p>
          </p:txBody>
        </p:sp>
        <p:sp>
          <p:nvSpPr>
            <p:cNvPr id="6" name="TextBox 6"/>
            <p:cNvSpPr txBox="1"/>
            <p:nvPr/>
          </p:nvSpPr>
          <p:spPr>
            <a:xfrm>
              <a:off x="441960" y="685800"/>
              <a:ext cx="420740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最後の確認は、あなたの目で</a:t>
              </a:r>
            </a:p>
          </p:txBody>
        </p:sp>
        <p:sp>
          <p:nvSpPr>
            <p:cNvPr id="7" name="Line 7"/>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1" name="Group 11"/>
          <p:cNvGrpSpPr/>
          <p:nvPr/>
        </p:nvGrpSpPr>
        <p:grpSpPr>
          <a:xfrm>
            <a:off x="448056" y="1482090"/>
            <a:ext cx="7190842" cy="713994"/>
            <a:chOff x="448056" y="1482090"/>
            <a:chExt cx="7190842" cy="713994"/>
          </a:xfrm>
        </p:grpSpPr>
        <p:sp>
          <p:nvSpPr>
            <p:cNvPr id="9" name="TextBox 9"/>
            <p:cNvSpPr txBox="1"/>
            <p:nvPr/>
          </p:nvSpPr>
          <p:spPr>
            <a:xfrm>
              <a:off x="448056" y="1482090"/>
              <a:ext cx="719084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ビルドの検証で確かめたのは、取り込んだコードがそのまま入り、それ以外を変えていないこと。</a:t>
              </a:r>
            </a:p>
          </p:txBody>
        </p:sp>
        <p:sp>
          <p:nvSpPr>
            <p:cNvPr id="10" name="TextBox 10"/>
            <p:cNvSpPr txBox="1"/>
            <p:nvPr/>
          </p:nvSpPr>
          <p:spPr>
            <a:xfrm>
              <a:off x="448056" y="1844040"/>
              <a:ext cx="561578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マクロの中身が業務として正しいかは、ここから先の確認で分かります。</a:t>
              </a:r>
            </a:p>
          </p:txBody>
        </p:sp>
      </p:grpSp>
      <p:grpSp>
        <p:nvGrpSpPr>
          <p:cNvPr id="16" name="Group 16"/>
          <p:cNvGrpSpPr/>
          <p:nvPr/>
        </p:nvGrpSpPr>
        <p:grpSpPr>
          <a:xfrm>
            <a:off x="590550" y="2567940"/>
            <a:ext cx="4919302" cy="623983"/>
            <a:chOff x="590550" y="2567940"/>
            <a:chExt cx="4919302" cy="623983"/>
          </a:xfrm>
        </p:grpSpPr>
        <p:sp>
          <p:nvSpPr>
            <p:cNvPr id="12" name="Ellipse 12"/>
            <p:cNvSpPr/>
            <p:nvPr/>
          </p:nvSpPr>
          <p:spPr>
            <a:xfrm>
              <a:off x="590550" y="2628900"/>
              <a:ext cx="419100" cy="419100"/>
            </a:xfrm>
            <a:prstGeom prst="ellipse">
              <a:avLst/>
            </a:prstGeom>
            <a:solidFill>
              <a:schemeClr val="accent1"/>
            </a:solidFill>
            <a:ln>
              <a:noFill/>
            </a:ln>
          </p:spPr>
        </p:sp>
        <p:sp>
          <p:nvSpPr>
            <p:cNvPr id="13" name="TextBox 13"/>
            <p:cNvSpPr txBox="1"/>
            <p:nvPr/>
          </p:nvSpPr>
          <p:spPr>
            <a:xfrm>
              <a:off x="734173" y="27527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14" name="TextBox 14"/>
            <p:cNvSpPr txBox="1"/>
            <p:nvPr/>
          </p:nvSpPr>
          <p:spPr>
            <a:xfrm>
              <a:off x="1210056" y="2567940"/>
              <a:ext cx="2835856"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改修済みブックを Excel で開く</a:t>
              </a:r>
            </a:p>
          </p:txBody>
        </p:sp>
        <p:sp>
          <p:nvSpPr>
            <p:cNvPr id="15" name="TextBox 15"/>
            <p:cNvSpPr txBox="1"/>
            <p:nvPr/>
          </p:nvSpPr>
          <p:spPr>
            <a:xfrm>
              <a:off x="1211961" y="2913221"/>
              <a:ext cx="4297891" cy="278702"/>
            </a:xfrm>
            <a:prstGeom prst="rect">
              <a:avLst/>
            </a:prstGeom>
            <a:noFill/>
            <a:ln>
              <a:noFill/>
            </a:ln>
          </p:spPr>
          <p:txBody>
            <a:bodyPr wrap="none" lIns="0" tIns="0" rIns="0" bIns="0" anchor="t" anchorCtr="0">
              <a:spAutoFit/>
            </a:bodyPr>
            <a:lstStyle/>
            <a:p>
              <a:pPr algn="l"/>
              <a:r>
                <a:rPr lang="zh-CN" sz="1420" dirty="0">
                  <a:solidFill>
                    <a:srgbClr val="5D6B7A"/>
                  </a:solidFill>
                  <a:latin typeface="+mn-lt"/>
                  <a:ea typeface="+mn-ea"/>
                  <a:cs typeface="+mn-cs"/>
                </a:rPr>
                <a:t>開くのは -Modified- の付いた方です。元のブックではありません。</a:t>
              </a:r>
            </a:p>
          </p:txBody>
        </p:sp>
      </p:grpSp>
      <p:grpSp>
        <p:nvGrpSpPr>
          <p:cNvPr id="21" name="Group 21"/>
          <p:cNvGrpSpPr/>
          <p:nvPr/>
        </p:nvGrpSpPr>
        <p:grpSpPr>
          <a:xfrm>
            <a:off x="590550" y="3406140"/>
            <a:ext cx="4810476" cy="623983"/>
            <a:chOff x="590550" y="3406140"/>
            <a:chExt cx="4810476" cy="623983"/>
          </a:xfrm>
        </p:grpSpPr>
        <p:sp>
          <p:nvSpPr>
            <p:cNvPr id="17" name="Ellipse 17"/>
            <p:cNvSpPr/>
            <p:nvPr/>
          </p:nvSpPr>
          <p:spPr>
            <a:xfrm>
              <a:off x="590550" y="3467100"/>
              <a:ext cx="419100" cy="419100"/>
            </a:xfrm>
            <a:prstGeom prst="ellipse">
              <a:avLst/>
            </a:prstGeom>
            <a:solidFill>
              <a:schemeClr val="accent1"/>
            </a:solidFill>
            <a:ln>
              <a:noFill/>
            </a:ln>
          </p:spPr>
        </p:sp>
        <p:sp>
          <p:nvSpPr>
            <p:cNvPr id="18" name="TextBox 18"/>
            <p:cNvSpPr txBox="1"/>
            <p:nvPr/>
          </p:nvSpPr>
          <p:spPr>
            <a:xfrm>
              <a:off x="734173" y="35909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19" name="TextBox 19"/>
            <p:cNvSpPr txBox="1"/>
            <p:nvPr/>
          </p:nvSpPr>
          <p:spPr>
            <a:xfrm>
              <a:off x="1210056" y="3406140"/>
              <a:ext cx="419097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いつも使うマクロを、いつもの手順で 1 回実行する</a:t>
              </a:r>
            </a:p>
          </p:txBody>
        </p:sp>
        <p:sp>
          <p:nvSpPr>
            <p:cNvPr id="20" name="TextBox 20"/>
            <p:cNvSpPr txBox="1"/>
            <p:nvPr/>
          </p:nvSpPr>
          <p:spPr>
            <a:xfrm>
              <a:off x="1211961" y="3751421"/>
              <a:ext cx="3713432" cy="278702"/>
            </a:xfrm>
            <a:prstGeom prst="rect">
              <a:avLst/>
            </a:prstGeom>
            <a:noFill/>
            <a:ln>
              <a:noFill/>
            </a:ln>
          </p:spPr>
          <p:txBody>
            <a:bodyPr wrap="none" lIns="0" tIns="0" rIns="0" bIns="0" anchor="t" anchorCtr="0">
              <a:spAutoFit/>
            </a:bodyPr>
            <a:lstStyle/>
            <a:p>
              <a:pPr algn="l"/>
              <a:r>
                <a:rPr lang="zh-CN" sz="1420" dirty="0">
                  <a:solidFill>
                    <a:srgbClr val="5D6B7A"/>
                  </a:solidFill>
                  <a:latin typeface="+mn-lt"/>
                  <a:ea typeface="+mn-ea"/>
                  <a:cs typeface="+mn-cs"/>
                </a:rPr>
                <a:t>サンプルなら、申請一覧シートで検証マクロを実行します。</a:t>
              </a:r>
            </a:p>
          </p:txBody>
        </p:sp>
      </p:grpSp>
      <p:grpSp>
        <p:nvGrpSpPr>
          <p:cNvPr id="26" name="Group 26"/>
          <p:cNvGrpSpPr/>
          <p:nvPr/>
        </p:nvGrpSpPr>
        <p:grpSpPr>
          <a:xfrm>
            <a:off x="590550" y="4244340"/>
            <a:ext cx="4927440" cy="623983"/>
            <a:chOff x="590550" y="4244340"/>
            <a:chExt cx="4927440" cy="623983"/>
          </a:xfrm>
        </p:grpSpPr>
        <p:sp>
          <p:nvSpPr>
            <p:cNvPr id="22" name="Ellipse 22"/>
            <p:cNvSpPr/>
            <p:nvPr/>
          </p:nvSpPr>
          <p:spPr>
            <a:xfrm>
              <a:off x="590550" y="4305300"/>
              <a:ext cx="419100" cy="419100"/>
            </a:xfrm>
            <a:prstGeom prst="ellipse">
              <a:avLst/>
            </a:prstGeom>
            <a:solidFill>
              <a:schemeClr val="accent1"/>
            </a:solidFill>
            <a:ln>
              <a:noFill/>
            </a:ln>
          </p:spPr>
        </p:sp>
        <p:sp>
          <p:nvSpPr>
            <p:cNvPr id="23" name="TextBox 23"/>
            <p:cNvSpPr txBox="1"/>
            <p:nvPr/>
          </p:nvSpPr>
          <p:spPr>
            <a:xfrm>
              <a:off x="734173" y="44291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4" name="TextBox 24"/>
            <p:cNvSpPr txBox="1"/>
            <p:nvPr/>
          </p:nvSpPr>
          <p:spPr>
            <a:xfrm>
              <a:off x="1210056" y="4244340"/>
              <a:ext cx="246083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結果がいつもどおりかを確かめる</a:t>
              </a:r>
            </a:p>
          </p:txBody>
        </p:sp>
        <p:sp>
          <p:nvSpPr>
            <p:cNvPr id="25" name="TextBox 25"/>
            <p:cNvSpPr txBox="1"/>
            <p:nvPr/>
          </p:nvSpPr>
          <p:spPr>
            <a:xfrm>
              <a:off x="1211961" y="4589621"/>
              <a:ext cx="4306029" cy="278702"/>
            </a:xfrm>
            <a:prstGeom prst="rect">
              <a:avLst/>
            </a:prstGeom>
            <a:noFill/>
            <a:ln>
              <a:noFill/>
            </a:ln>
          </p:spPr>
          <p:txBody>
            <a:bodyPr wrap="none" lIns="0" tIns="0" rIns="0" bIns="0" anchor="t" anchorCtr="0">
              <a:spAutoFit/>
            </a:bodyPr>
            <a:lstStyle/>
            <a:p>
              <a:pPr algn="l"/>
              <a:r>
                <a:rPr lang="zh-CN" sz="1420" dirty="0">
                  <a:solidFill>
                    <a:srgbClr val="5D6B7A"/>
                  </a:solidFill>
                  <a:latin typeface="+mn-lt"/>
                  <a:ea typeface="+mn-ea"/>
                  <a:cs typeface="+mn-cs"/>
                </a:rPr>
                <a:t>出力・集計・保存されるもの。目で見て、いつもと同じであること。</a:t>
              </a:r>
            </a:p>
          </p:txBody>
        </p:sp>
      </p:grpSp>
      <p:grpSp>
        <p:nvGrpSpPr>
          <p:cNvPr id="31" name="Group 31"/>
          <p:cNvGrpSpPr/>
          <p:nvPr/>
        </p:nvGrpSpPr>
        <p:grpSpPr>
          <a:xfrm>
            <a:off x="590550" y="5082540"/>
            <a:ext cx="5473329" cy="623983"/>
            <a:chOff x="590550" y="5082540"/>
            <a:chExt cx="5473329" cy="623983"/>
          </a:xfrm>
        </p:grpSpPr>
        <p:sp>
          <p:nvSpPr>
            <p:cNvPr id="27" name="Ellipse 27"/>
            <p:cNvSpPr/>
            <p:nvPr/>
          </p:nvSpPr>
          <p:spPr>
            <a:xfrm>
              <a:off x="590550" y="5143500"/>
              <a:ext cx="419100" cy="419100"/>
            </a:xfrm>
            <a:prstGeom prst="ellipse">
              <a:avLst/>
            </a:prstGeom>
            <a:solidFill>
              <a:schemeClr val="accent1"/>
            </a:solidFill>
            <a:ln>
              <a:noFill/>
            </a:ln>
          </p:spPr>
        </p:sp>
        <p:sp>
          <p:nvSpPr>
            <p:cNvPr id="28" name="TextBox 28"/>
            <p:cNvSpPr txBox="1"/>
            <p:nvPr/>
          </p:nvSpPr>
          <p:spPr>
            <a:xfrm>
              <a:off x="734173" y="526732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4</a:t>
              </a:r>
            </a:p>
          </p:txBody>
        </p:sp>
        <p:sp>
          <p:nvSpPr>
            <p:cNvPr id="29" name="TextBox 29"/>
            <p:cNvSpPr txBox="1"/>
            <p:nvPr/>
          </p:nvSpPr>
          <p:spPr>
            <a:xfrm>
              <a:off x="1210056" y="5082540"/>
              <a:ext cx="2740708"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しばらくは、元のブックも残しておく</a:t>
              </a:r>
            </a:p>
          </p:txBody>
        </p:sp>
        <p:sp>
          <p:nvSpPr>
            <p:cNvPr id="30" name="TextBox 30"/>
            <p:cNvSpPr txBox="1"/>
            <p:nvPr/>
          </p:nvSpPr>
          <p:spPr>
            <a:xfrm>
              <a:off x="1211961" y="5427821"/>
              <a:ext cx="4851918" cy="278702"/>
            </a:xfrm>
            <a:prstGeom prst="rect">
              <a:avLst/>
            </a:prstGeom>
            <a:noFill/>
            <a:ln>
              <a:noFill/>
            </a:ln>
          </p:spPr>
          <p:txBody>
            <a:bodyPr wrap="none" lIns="0" tIns="0" rIns="0" bIns="0" anchor="t" anchorCtr="0">
              <a:spAutoFit/>
            </a:bodyPr>
            <a:lstStyle/>
            <a:p>
              <a:pPr algn="l"/>
              <a:r>
                <a:rPr lang="zh-CN" sz="1420" dirty="0">
                  <a:solidFill>
                    <a:srgbClr val="5D6B7A"/>
                  </a:solidFill>
                  <a:latin typeface="+mn-lt"/>
                  <a:ea typeface="+mn-ea"/>
                  <a:cs typeface="+mn-cs"/>
                </a:rPr>
                <a:t>問題があれば元のブックで業務を続け、P25 の戻り先からやり直せます。</a:t>
              </a:r>
            </a:p>
          </p:txBody>
        </p:sp>
      </p:grpSp>
      <p:grpSp>
        <p:nvGrpSpPr>
          <p:cNvPr id="34" name="Group 34"/>
          <p:cNvGrpSpPr/>
          <p:nvPr/>
        </p:nvGrpSpPr>
        <p:grpSpPr>
          <a:xfrm>
            <a:off x="451866" y="6477952"/>
            <a:ext cx="11288268" cy="205359"/>
            <a:chOff x="451866" y="6477952"/>
            <a:chExt cx="11288268" cy="205359"/>
          </a:xfrm>
        </p:grpSpPr>
        <p:sp>
          <p:nvSpPr>
            <p:cNvPr id="32" name="TextBox 32"/>
            <p:cNvSpPr txBox="1"/>
            <p:nvPr/>
          </p:nvSpPr>
          <p:spPr>
            <a:xfrm>
              <a:off x="451866" y="6477952"/>
              <a:ext cx="2675134"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　｜　手順 4 ・ ブックを作る</a:t>
              </a:r>
            </a:p>
          </p:txBody>
        </p:sp>
        <p:sp>
          <p:nvSpPr>
            <p:cNvPr id="33" name="TextBox 33"/>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第2部</a:t>
              </a:r>
            </a:p>
          </p:txBody>
        </p:sp>
        <p:sp>
          <p:nvSpPr>
            <p:cNvPr id="4" name="TextBox 4"/>
            <p:cNvSpPr txBox="1"/>
            <p:nvPr/>
          </p:nvSpPr>
          <p:spPr>
            <a:xfrm>
              <a:off x="441960" y="685800"/>
              <a:ext cx="46738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変更内容は、あとからでも読める</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1" name="Group 11"/>
          <p:cNvGrpSpPr/>
          <p:nvPr/>
        </p:nvGrpSpPr>
        <p:grpSpPr>
          <a:xfrm>
            <a:off x="457200" y="1428750"/>
            <a:ext cx="5486400" cy="3505581"/>
            <a:chOff x="457200" y="1428750"/>
            <a:chExt cx="5486400" cy="3505581"/>
          </a:xfrm>
        </p:grpSpPr>
        <p:sp>
          <p:nvSpPr>
            <p:cNvPr id="7" name="Rectangle 7"/>
            <p:cNvSpPr/>
            <p:nvPr/>
          </p:nvSpPr>
          <p:spPr>
            <a:xfrm>
              <a:off x="457200" y="1428750"/>
              <a:ext cx="5486400" cy="3152775"/>
            </a:xfrm>
            <a:prstGeom prst="roundRect">
              <a:avLst>
                <a:gd name="adj" fmla="val 4230"/>
              </a:avLst>
            </a:prstGeom>
            <a:solidFill>
              <a:schemeClr val="lt2"/>
            </a:solidFill>
            <a:ln>
              <a:noFill/>
            </a:ln>
          </p:spPr>
        </p:sp>
        <p:pic>
          <p:nvPicPr>
            <p:cNvPr id="8" name="Image 8"/>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9" name="Rectangle 9"/>
            <p:cNvSpPr/>
            <p:nvPr/>
          </p:nvSpPr>
          <p:spPr>
            <a:xfrm>
              <a:off x="533400" y="1504950"/>
              <a:ext cx="5334000" cy="3000375"/>
            </a:xfrm>
            <a:prstGeom prst="roundRect">
              <a:avLst>
                <a:gd name="adj" fmla="val 3175"/>
              </a:avLst>
            </a:prstGeom>
            <a:noFill/>
            <a:ln w="14288">
              <a:solidFill>
                <a:schemeClr val="accent6"/>
              </a:solidFill>
            </a:ln>
          </p:spPr>
        </p:sp>
        <p:sp>
          <p:nvSpPr>
            <p:cNvPr id="10" name="TextBox 10"/>
            <p:cNvSpPr txBox="1"/>
            <p:nvPr/>
          </p:nvSpPr>
          <p:spPr>
            <a:xfrm>
              <a:off x="527304" y="4699635"/>
              <a:ext cx="4260799"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確認レポートをブラウザで開いたところ。アプリの確認画面とほぼ同じ見た目です。</a:t>
              </a:r>
            </a:p>
          </p:txBody>
        </p:sp>
      </p:grpSp>
      <p:grpSp>
        <p:nvGrpSpPr>
          <p:cNvPr id="16" name="Group 16"/>
          <p:cNvGrpSpPr/>
          <p:nvPr/>
        </p:nvGrpSpPr>
        <p:grpSpPr>
          <a:xfrm>
            <a:off x="6248400" y="1428750"/>
            <a:ext cx="5486400" cy="3505581"/>
            <a:chOff x="6248400" y="1428750"/>
            <a:chExt cx="5486400" cy="3505581"/>
          </a:xfrm>
        </p:grpSpPr>
        <p:sp>
          <p:nvSpPr>
            <p:cNvPr id="12" name="Rectangle 12"/>
            <p:cNvSpPr/>
            <p:nvPr/>
          </p:nvSpPr>
          <p:spPr>
            <a:xfrm>
              <a:off x="6248400" y="1428750"/>
              <a:ext cx="5486400" cy="3152775"/>
            </a:xfrm>
            <a:prstGeom prst="roundRect">
              <a:avLst>
                <a:gd name="adj" fmla="val 4230"/>
              </a:avLst>
            </a:prstGeom>
            <a:solidFill>
              <a:schemeClr val="lt2"/>
            </a:solidFill>
            <a:ln>
              <a:noFill/>
            </a:ln>
          </p:spPr>
        </p:sp>
        <p:pic>
          <p:nvPicPr>
            <p:cNvPr id="13" name="Image 13"/>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4" name="Rectangle 14"/>
            <p:cNvSpPr/>
            <p:nvPr/>
          </p:nvSpPr>
          <p:spPr>
            <a:xfrm>
              <a:off x="6324600" y="1504950"/>
              <a:ext cx="5334000" cy="3000375"/>
            </a:xfrm>
            <a:prstGeom prst="roundRect">
              <a:avLst>
                <a:gd name="adj" fmla="val 3175"/>
              </a:avLst>
            </a:prstGeom>
            <a:noFill/>
            <a:ln w="14288">
              <a:solidFill>
                <a:schemeClr val="accent6"/>
              </a:solidFill>
            </a:ln>
          </p:spPr>
        </p:sp>
        <p:sp>
          <p:nvSpPr>
            <p:cNvPr id="15" name="TextBox 15"/>
            <p:cNvSpPr txBox="1"/>
            <p:nvPr/>
          </p:nvSpPr>
          <p:spPr>
            <a:xfrm>
              <a:off x="6318504" y="4699635"/>
              <a:ext cx="2443429"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右上の［ダークにする］で切り替えた状態。</a:t>
              </a:r>
            </a:p>
          </p:txBody>
        </p:sp>
      </p:grpSp>
      <p:grpSp>
        <p:nvGrpSpPr>
          <p:cNvPr id="26" name="Group 26"/>
          <p:cNvGrpSpPr/>
          <p:nvPr/>
        </p:nvGrpSpPr>
        <p:grpSpPr>
          <a:xfrm>
            <a:off x="476250" y="5114925"/>
            <a:ext cx="9281350" cy="1112520"/>
            <a:chOff x="476250" y="5114925"/>
            <a:chExt cx="9281350" cy="1112520"/>
          </a:xfrm>
        </p:grpSpPr>
        <p:sp>
          <p:nvSpPr>
            <p:cNvPr id="17" name="Ellipse 17"/>
            <p:cNvSpPr/>
            <p:nvPr/>
          </p:nvSpPr>
          <p:spPr>
            <a:xfrm>
              <a:off x="476250" y="5114925"/>
              <a:ext cx="285750" cy="285750"/>
            </a:xfrm>
            <a:prstGeom prst="ellipse">
              <a:avLst/>
            </a:prstGeom>
            <a:solidFill>
              <a:schemeClr val="accent1"/>
            </a:solidFill>
            <a:ln>
              <a:noFill/>
            </a:ln>
          </p:spPr>
        </p:sp>
        <p:sp>
          <p:nvSpPr>
            <p:cNvPr id="18" name="TextBox 18"/>
            <p:cNvSpPr txBox="1"/>
            <p:nvPr/>
          </p:nvSpPr>
          <p:spPr>
            <a:xfrm>
              <a:off x="566383" y="51854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19" name="TextBox 19"/>
            <p:cNvSpPr txBox="1"/>
            <p:nvPr/>
          </p:nvSpPr>
          <p:spPr>
            <a:xfrm>
              <a:off x="887730" y="5172075"/>
              <a:ext cx="744223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出力フォルダの </a:t>
              </a:r>
              <a:r>
                <a:rPr lang="zh-CN" sz="1350" dirty="0">
                  <a:solidFill>
                    <a:schemeClr val="dk1"/>
                  </a:solidFill>
                  <a:latin typeface="Consolas"/>
                  <a:ea typeface="Microsoft YaHei"/>
                  <a:cs typeface="Consolas"/>
                </a:rPr>
                <a:t>申請データ検証-Diff-Report-20260730.html</a:t>
              </a:r>
              <a:r>
                <a:rPr lang="zh-CN" sz="1500" dirty="0">
                  <a:solidFill>
                    <a:schemeClr val="dk1"/>
                  </a:solidFill>
                  <a:latin typeface="+mn-lt"/>
                  <a:ea typeface="+mn-ea"/>
                  <a:cs typeface="+mn-cs"/>
                </a:rPr>
                <a:t xml:space="preserve"> をダブルクリックすると、ブラウザで開きます。</a:t>
              </a:r>
            </a:p>
          </p:txBody>
        </p:sp>
        <p:sp>
          <p:nvSpPr>
            <p:cNvPr id="20" name="Ellipse 20"/>
            <p:cNvSpPr/>
            <p:nvPr/>
          </p:nvSpPr>
          <p:spPr>
            <a:xfrm>
              <a:off x="476250" y="5495925"/>
              <a:ext cx="285750" cy="285750"/>
            </a:xfrm>
            <a:prstGeom prst="ellipse">
              <a:avLst/>
            </a:prstGeom>
            <a:solidFill>
              <a:schemeClr val="accent1"/>
            </a:solidFill>
            <a:ln>
              <a:noFill/>
            </a:ln>
          </p:spPr>
        </p:sp>
        <p:sp>
          <p:nvSpPr>
            <p:cNvPr id="21" name="TextBox 21"/>
            <p:cNvSpPr txBox="1"/>
            <p:nvPr/>
          </p:nvSpPr>
          <p:spPr>
            <a:xfrm>
              <a:off x="566383" y="55664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2" name="TextBox 22"/>
            <p:cNvSpPr txBox="1"/>
            <p:nvPr/>
          </p:nvSpPr>
          <p:spPr>
            <a:xfrm>
              <a:off x="887730" y="5553075"/>
              <a:ext cx="886987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左の一覧には変更しなかったモジュールも並びます。［前の変更］［次の変更］［変更箇所のみ］［折り返し］が使えます。</a:t>
              </a:r>
            </a:p>
          </p:txBody>
        </p:sp>
        <p:sp>
          <p:nvSpPr>
            <p:cNvPr id="23" name="Ellipse 23"/>
            <p:cNvSpPr/>
            <p:nvPr/>
          </p:nvSpPr>
          <p:spPr>
            <a:xfrm>
              <a:off x="476250" y="5876925"/>
              <a:ext cx="285750" cy="285750"/>
            </a:xfrm>
            <a:prstGeom prst="ellipse">
              <a:avLst/>
            </a:prstGeom>
            <a:solidFill>
              <a:schemeClr val="accent1"/>
            </a:solidFill>
            <a:ln>
              <a:noFill/>
            </a:ln>
          </p:spPr>
        </p:sp>
        <p:sp>
          <p:nvSpPr>
            <p:cNvPr id="24" name="TextBox 24"/>
            <p:cNvSpPr txBox="1"/>
            <p:nvPr/>
          </p:nvSpPr>
          <p:spPr>
            <a:xfrm>
              <a:off x="566383" y="59474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3</a:t>
              </a:r>
            </a:p>
          </p:txBody>
        </p:sp>
        <p:sp>
          <p:nvSpPr>
            <p:cNvPr id="25" name="TextBox 25"/>
            <p:cNvSpPr txBox="1"/>
            <p:nvPr/>
          </p:nvSpPr>
          <p:spPr>
            <a:xfrm>
              <a:off x="887730" y="5934075"/>
              <a:ext cx="685057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この 1 ファイルで完結し、どこにも通信しません。詳しい人に確認を頼むときは、このファイルを渡します。</a:t>
              </a:r>
            </a:p>
          </p:txBody>
        </p:sp>
      </p:grpSp>
      <p:grpSp>
        <p:nvGrpSpPr>
          <p:cNvPr id="29" name="Group 29"/>
          <p:cNvGrpSpPr/>
          <p:nvPr/>
        </p:nvGrpSpPr>
        <p:grpSpPr>
          <a:xfrm>
            <a:off x="451866" y="6477952"/>
            <a:ext cx="11288268" cy="205359"/>
            <a:chOff x="451866" y="6477952"/>
            <a:chExt cx="11288268" cy="205359"/>
          </a:xfrm>
        </p:grpSpPr>
        <p:sp>
          <p:nvSpPr>
            <p:cNvPr id="27" name="TextBox 27"/>
            <p:cNvSpPr txBox="1"/>
            <p:nvPr/>
          </p:nvSpPr>
          <p:spPr>
            <a:xfrm>
              <a:off x="451866" y="6477952"/>
              <a:ext cx="1155611"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第2部　最初の一件</a:t>
              </a:r>
            </a:p>
          </p:txBody>
        </p:sp>
        <p:sp>
          <p:nvSpPr>
            <p:cNvPr id="28" name="TextBox 28"/>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3"/>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第3部</a:t>
              </a:r>
            </a:p>
          </p:txBody>
        </p:sp>
        <p:sp>
          <p:nvSpPr>
            <p:cNvPr id="4" name="TextBox 4"/>
            <p:cNvSpPr txBox="1"/>
            <p:nvPr/>
          </p:nvSpPr>
          <p:spPr>
            <a:xfrm>
              <a:off x="441960" y="685800"/>
              <a:ext cx="444383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聞くだけの道 — AIで相談する</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1" name="Group 11"/>
          <p:cNvGrpSpPr/>
          <p:nvPr/>
        </p:nvGrpSpPr>
        <p:grpSpPr>
          <a:xfrm>
            <a:off x="457200" y="1428750"/>
            <a:ext cx="5486400" cy="3505581"/>
            <a:chOff x="457200" y="1428750"/>
            <a:chExt cx="5486400" cy="3505581"/>
          </a:xfrm>
        </p:grpSpPr>
        <p:sp>
          <p:nvSpPr>
            <p:cNvPr id="7" name="Rectangle 7"/>
            <p:cNvSpPr/>
            <p:nvPr/>
          </p:nvSpPr>
          <p:spPr>
            <a:xfrm>
              <a:off x="457200" y="1428750"/>
              <a:ext cx="5486400" cy="3152775"/>
            </a:xfrm>
            <a:prstGeom prst="roundRect">
              <a:avLst>
                <a:gd name="adj" fmla="val 4230"/>
              </a:avLst>
            </a:prstGeom>
            <a:solidFill>
              <a:schemeClr val="lt2"/>
            </a:solidFill>
            <a:ln>
              <a:noFill/>
            </a:ln>
          </p:spPr>
        </p:sp>
        <p:pic>
          <p:nvPicPr>
            <p:cNvPr id="8" name="Image 8"/>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9" name="Rectangle 9"/>
            <p:cNvSpPr/>
            <p:nvPr/>
          </p:nvSpPr>
          <p:spPr>
            <a:xfrm>
              <a:off x="533400" y="1504950"/>
              <a:ext cx="5334000" cy="3000375"/>
            </a:xfrm>
            <a:prstGeom prst="roundRect">
              <a:avLst>
                <a:gd name="adj" fmla="val 3175"/>
              </a:avLst>
            </a:prstGeom>
            <a:noFill/>
            <a:ln w="14288">
              <a:solidFill>
                <a:schemeClr val="accent6"/>
              </a:solidFill>
            </a:ln>
          </p:spPr>
        </p:sp>
        <p:sp>
          <p:nvSpPr>
            <p:cNvPr id="10" name="TextBox 10"/>
            <p:cNvSpPr txBox="1"/>
            <p:nvPr/>
          </p:nvSpPr>
          <p:spPr>
            <a:xfrm>
              <a:off x="527304" y="4699635"/>
              <a:ext cx="3997757"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「AIに何を聞くか選びます」。相談側は 3 つのひな形から選べます。</a:t>
              </a:r>
            </a:p>
          </p:txBody>
        </p:sp>
      </p:grpSp>
      <p:grpSp>
        <p:nvGrpSpPr>
          <p:cNvPr id="16" name="Group 16"/>
          <p:cNvGrpSpPr/>
          <p:nvPr/>
        </p:nvGrpSpPr>
        <p:grpSpPr>
          <a:xfrm>
            <a:off x="6248400" y="1428750"/>
            <a:ext cx="5486400" cy="3505581"/>
            <a:chOff x="6248400" y="1428750"/>
            <a:chExt cx="5486400" cy="3505581"/>
          </a:xfrm>
        </p:grpSpPr>
        <p:sp>
          <p:nvSpPr>
            <p:cNvPr id="12" name="Rectangle 12"/>
            <p:cNvSpPr/>
            <p:nvPr/>
          </p:nvSpPr>
          <p:spPr>
            <a:xfrm>
              <a:off x="6248400" y="1428750"/>
              <a:ext cx="5486400" cy="3152775"/>
            </a:xfrm>
            <a:prstGeom prst="roundRect">
              <a:avLst>
                <a:gd name="adj" fmla="val 4230"/>
              </a:avLst>
            </a:prstGeom>
            <a:solidFill>
              <a:schemeClr val="lt2"/>
            </a:solidFill>
            <a:ln>
              <a:noFill/>
            </a:ln>
          </p:spPr>
        </p:sp>
        <p:pic>
          <p:nvPicPr>
            <p:cNvPr id="13" name="Image 13"/>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4" name="Rectangle 14"/>
            <p:cNvSpPr/>
            <p:nvPr/>
          </p:nvSpPr>
          <p:spPr>
            <a:xfrm>
              <a:off x="6324600" y="1504950"/>
              <a:ext cx="5334000" cy="3000375"/>
            </a:xfrm>
            <a:prstGeom prst="roundRect">
              <a:avLst>
                <a:gd name="adj" fmla="val 3175"/>
              </a:avLst>
            </a:prstGeom>
            <a:noFill/>
            <a:ln w="14288">
              <a:solidFill>
                <a:schemeClr val="accent6"/>
              </a:solidFill>
            </a:ln>
          </p:spPr>
        </p:sp>
        <p:sp>
          <p:nvSpPr>
            <p:cNvPr id="15" name="TextBox 15"/>
            <p:cNvSpPr txBox="1"/>
            <p:nvPr/>
          </p:nvSpPr>
          <p:spPr>
            <a:xfrm>
              <a:off x="6318504" y="4699635"/>
              <a:ext cx="3986174"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「いくつか教えてください」。1 問ずつ出ます。分かるところだけで進めます。</a:t>
              </a:r>
            </a:p>
          </p:txBody>
        </p:sp>
      </p:grpSp>
      <p:grpSp>
        <p:nvGrpSpPr>
          <p:cNvPr id="21" name="Group 21"/>
          <p:cNvGrpSpPr/>
          <p:nvPr/>
        </p:nvGrpSpPr>
        <p:grpSpPr>
          <a:xfrm>
            <a:off x="450342" y="5131118"/>
            <a:ext cx="7428586" cy="1083183"/>
            <a:chOff x="450342" y="5131118"/>
            <a:chExt cx="7428586" cy="1083183"/>
          </a:xfrm>
        </p:grpSpPr>
        <p:sp>
          <p:nvSpPr>
            <p:cNvPr id="17" name="TextBox 17"/>
            <p:cNvSpPr txBox="1"/>
            <p:nvPr/>
          </p:nvSpPr>
          <p:spPr>
            <a:xfrm>
              <a:off x="450342" y="5131118"/>
              <a:ext cx="3143227"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選べる相談（画面に出る名前と説明のまま）</a:t>
              </a:r>
            </a:p>
          </p:txBody>
        </p:sp>
        <p:sp>
          <p:nvSpPr>
            <p:cNvPr id="18" name="TextBox 18"/>
            <p:cNvSpPr txBox="1"/>
            <p:nvPr/>
          </p:nvSpPr>
          <p:spPr>
            <a:xfrm>
              <a:off x="450342" y="5416868"/>
              <a:ext cx="652898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・新しい端末で動くかを調べてもらう — コードは直さず、新しい端末で困りそうな箇所を洗い出してもらいます。</a:t>
              </a:r>
            </a:p>
          </p:txBody>
        </p:sp>
        <p:sp>
          <p:nvSpPr>
            <p:cNvPr id="19" name="TextBox 19"/>
            <p:cNvSpPr txBox="1"/>
            <p:nvPr/>
          </p:nvSpPr>
          <p:spPr>
            <a:xfrm>
              <a:off x="450342" y="5683568"/>
              <a:ext cx="74285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・相談用の依頼文を作る（進め方を決めたいとき）— いくつかの質問に答えると、進め方を相談する依頼文ができます。</a:t>
              </a:r>
            </a:p>
          </p:txBody>
        </p:sp>
        <p:sp>
          <p:nvSpPr>
            <p:cNvPr id="20" name="TextBox 20"/>
            <p:cNvSpPr txBox="1"/>
            <p:nvPr/>
          </p:nvSpPr>
          <p:spPr>
            <a:xfrm>
              <a:off x="450342" y="5950268"/>
              <a:ext cx="604738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・聞きたいことを自分で書く — マクロについて聞きたいことを、この後の画面で自分の言葉で書きます。</a:t>
              </a:r>
            </a:p>
          </p:txBody>
        </p:sp>
      </p:grpSp>
      <p:grpSp>
        <p:nvGrpSpPr>
          <p:cNvPr id="24" name="Group 24"/>
          <p:cNvGrpSpPr/>
          <p:nvPr/>
        </p:nvGrpSpPr>
        <p:grpSpPr>
          <a:xfrm>
            <a:off x="451866" y="6477952"/>
            <a:ext cx="11288268" cy="205359"/>
            <a:chOff x="451866" y="6477952"/>
            <a:chExt cx="11288268" cy="205359"/>
          </a:xfrm>
        </p:grpSpPr>
        <p:sp>
          <p:nvSpPr>
            <p:cNvPr id="22" name="TextBox 22"/>
            <p:cNvSpPr txBox="1"/>
            <p:nvPr/>
          </p:nvSpPr>
          <p:spPr>
            <a:xfrm>
              <a:off x="451866" y="6477952"/>
              <a:ext cx="1311097"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第3部　相談する使い方</a:t>
              </a:r>
            </a:p>
          </p:txBody>
        </p:sp>
        <p:sp>
          <p:nvSpPr>
            <p:cNvPr id="23" name="TextBox 23"/>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3"/>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第3部</a:t>
              </a:r>
            </a:p>
          </p:txBody>
        </p:sp>
        <p:sp>
          <p:nvSpPr>
            <p:cNvPr id="4" name="TextBox 4"/>
            <p:cNvSpPr txBox="1"/>
            <p:nvPr/>
          </p:nvSpPr>
          <p:spPr>
            <a:xfrm>
              <a:off x="441960" y="685800"/>
              <a:ext cx="363493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渡したら、続きはチャットで</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1" name="Group 11"/>
          <p:cNvGrpSpPr/>
          <p:nvPr/>
        </p:nvGrpSpPr>
        <p:grpSpPr>
          <a:xfrm>
            <a:off x="457200" y="1428750"/>
            <a:ext cx="5486400" cy="3505581"/>
            <a:chOff x="457200" y="1428750"/>
            <a:chExt cx="5486400" cy="3505581"/>
          </a:xfrm>
        </p:grpSpPr>
        <p:sp>
          <p:nvSpPr>
            <p:cNvPr id="7" name="Rectangle 7"/>
            <p:cNvSpPr/>
            <p:nvPr/>
          </p:nvSpPr>
          <p:spPr>
            <a:xfrm>
              <a:off x="457200" y="1428750"/>
              <a:ext cx="5486400" cy="3152775"/>
            </a:xfrm>
            <a:prstGeom prst="roundRect">
              <a:avLst>
                <a:gd name="adj" fmla="val 4230"/>
              </a:avLst>
            </a:prstGeom>
            <a:solidFill>
              <a:schemeClr val="lt2"/>
            </a:solidFill>
            <a:ln>
              <a:noFill/>
            </a:ln>
          </p:spPr>
        </p:sp>
        <p:pic>
          <p:nvPicPr>
            <p:cNvPr id="8" name="Image 8"/>
            <p:cNvPicPr>
              <a:picLocks noChangeAspect="1"/>
            </p:cNvPicPr>
            <p:nvPr/>
          </p:nvPicPr>
          <p:blipFill>
            <a:blip r:embed="rId2"/>
            <a:stretch>
              <a:fillRect/>
            </a:stretch>
          </p:blipFill>
          <p:spPr>
            <a:xfrm>
              <a:off x="533400" y="1504950"/>
              <a:ext cx="5334000" cy="3000375"/>
            </a:xfrm>
            <a:prstGeom prst="roundRect">
              <a:avLst>
                <a:gd name="adj" fmla="val 3174"/>
              </a:avLst>
            </a:prstGeom>
          </p:spPr>
        </p:pic>
        <p:sp>
          <p:nvSpPr>
            <p:cNvPr id="9" name="Rectangle 9"/>
            <p:cNvSpPr/>
            <p:nvPr/>
          </p:nvSpPr>
          <p:spPr>
            <a:xfrm>
              <a:off x="533400" y="1504950"/>
              <a:ext cx="5334000" cy="3000375"/>
            </a:xfrm>
            <a:prstGeom prst="roundRect">
              <a:avLst>
                <a:gd name="adj" fmla="val 3175"/>
              </a:avLst>
            </a:prstGeom>
            <a:noFill/>
            <a:ln w="14288">
              <a:solidFill>
                <a:schemeClr val="accent6"/>
              </a:solidFill>
            </a:ln>
          </p:spPr>
        </p:sp>
        <p:sp>
          <p:nvSpPr>
            <p:cNvPr id="10" name="TextBox 10"/>
            <p:cNvSpPr txBox="1"/>
            <p:nvPr/>
          </p:nvSpPr>
          <p:spPr>
            <a:xfrm>
              <a:off x="527304" y="4699635"/>
              <a:ext cx="410733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依頼文には、答えた内容が【質問への回答】として折り込まれています。</a:t>
              </a:r>
            </a:p>
          </p:txBody>
        </p:sp>
      </p:grpSp>
      <p:grpSp>
        <p:nvGrpSpPr>
          <p:cNvPr id="16" name="Group 16"/>
          <p:cNvGrpSpPr/>
          <p:nvPr/>
        </p:nvGrpSpPr>
        <p:grpSpPr>
          <a:xfrm>
            <a:off x="6248400" y="1428750"/>
            <a:ext cx="5486400" cy="3505581"/>
            <a:chOff x="6248400" y="1428750"/>
            <a:chExt cx="5486400" cy="3505581"/>
          </a:xfrm>
        </p:grpSpPr>
        <p:sp>
          <p:nvSpPr>
            <p:cNvPr id="12" name="Rectangle 12"/>
            <p:cNvSpPr/>
            <p:nvPr/>
          </p:nvSpPr>
          <p:spPr>
            <a:xfrm>
              <a:off x="6248400" y="1428750"/>
              <a:ext cx="5486400" cy="3152775"/>
            </a:xfrm>
            <a:prstGeom prst="roundRect">
              <a:avLst>
                <a:gd name="adj" fmla="val 4230"/>
              </a:avLst>
            </a:prstGeom>
            <a:solidFill>
              <a:schemeClr val="lt2"/>
            </a:solidFill>
            <a:ln>
              <a:noFill/>
            </a:ln>
          </p:spPr>
        </p:sp>
        <p:pic>
          <p:nvPicPr>
            <p:cNvPr id="13" name="Image 13"/>
            <p:cNvPicPr>
              <a:picLocks noChangeAspect="1"/>
            </p:cNvPicPr>
            <p:nvPr/>
          </p:nvPicPr>
          <p:blipFill>
            <a:blip r:embed="rId3"/>
            <a:stretch>
              <a:fillRect/>
            </a:stretch>
          </p:blipFill>
          <p:spPr>
            <a:xfrm>
              <a:off x="6324600" y="1504950"/>
              <a:ext cx="5334000" cy="3000375"/>
            </a:xfrm>
            <a:prstGeom prst="roundRect">
              <a:avLst>
                <a:gd name="adj" fmla="val 3174"/>
              </a:avLst>
            </a:prstGeom>
          </p:spPr>
        </p:pic>
        <p:sp>
          <p:nvSpPr>
            <p:cNvPr id="14" name="Rectangle 14"/>
            <p:cNvSpPr/>
            <p:nvPr/>
          </p:nvSpPr>
          <p:spPr>
            <a:xfrm>
              <a:off x="6324600" y="1504950"/>
              <a:ext cx="5334000" cy="3000375"/>
            </a:xfrm>
            <a:prstGeom prst="roundRect">
              <a:avLst>
                <a:gd name="adj" fmla="val 3175"/>
              </a:avLst>
            </a:prstGeom>
            <a:noFill/>
            <a:ln w="14288">
              <a:solidFill>
                <a:schemeClr val="accent6"/>
              </a:solidFill>
            </a:ln>
          </p:spPr>
        </p:sp>
        <p:sp>
          <p:nvSpPr>
            <p:cNvPr id="15" name="TextBox 15"/>
            <p:cNvSpPr txBox="1"/>
            <p:nvPr/>
          </p:nvSpPr>
          <p:spPr>
            <a:xfrm>
              <a:off x="6318504" y="4699635"/>
              <a:ext cx="4219651"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mn-lt"/>
                  <a:ea typeface="+mn-ea"/>
                  <a:cs typeface="+mn-cs"/>
                </a:rPr>
                <a:t>「AIチャットへ質問します」。両方済むと右下が［完了］になります。</a:t>
              </a:r>
            </a:p>
          </p:txBody>
        </p:sp>
      </p:grpSp>
      <p:grpSp>
        <p:nvGrpSpPr>
          <p:cNvPr id="23" name="Group 23"/>
          <p:cNvGrpSpPr/>
          <p:nvPr/>
        </p:nvGrpSpPr>
        <p:grpSpPr>
          <a:xfrm>
            <a:off x="476250" y="5114925"/>
            <a:ext cx="5343716" cy="1017270"/>
            <a:chOff x="476250" y="5114925"/>
            <a:chExt cx="5343716" cy="1017270"/>
          </a:xfrm>
        </p:grpSpPr>
        <p:sp>
          <p:nvSpPr>
            <p:cNvPr id="17" name="Ellipse 17"/>
            <p:cNvSpPr/>
            <p:nvPr/>
          </p:nvSpPr>
          <p:spPr>
            <a:xfrm>
              <a:off x="476250" y="5114925"/>
              <a:ext cx="285750" cy="285750"/>
            </a:xfrm>
            <a:prstGeom prst="ellipse">
              <a:avLst/>
            </a:prstGeom>
            <a:solidFill>
              <a:schemeClr val="accent1"/>
            </a:solidFill>
            <a:ln>
              <a:noFill/>
            </a:ln>
          </p:spPr>
        </p:sp>
        <p:sp>
          <p:nvSpPr>
            <p:cNvPr id="18" name="TextBox 18"/>
            <p:cNvSpPr txBox="1"/>
            <p:nvPr/>
          </p:nvSpPr>
          <p:spPr>
            <a:xfrm>
              <a:off x="566383" y="51854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19" name="TextBox 19"/>
            <p:cNvSpPr txBox="1"/>
            <p:nvPr/>
          </p:nvSpPr>
          <p:spPr>
            <a:xfrm>
              <a:off x="887730" y="5172075"/>
              <a:ext cx="3301365" cy="579120"/>
            </a:xfrm>
            <a:prstGeom prst="rect">
              <a:avLst/>
            </a:prstGeom>
            <a:noFill/>
            <a:ln>
              <a:noFill/>
            </a:ln>
          </p:spPr>
          <p:txBody>
            <a:bodyPr wrap="square" lIns="0" tIns="0" rIns="0" bIns="0" anchor="t" anchorCtr="0"/>
            <a:lstStyle/>
            <a:p>
              <a:pPr algn="l">
                <a:lnSpc>
                  <a:spcPts val="2250"/>
                </a:lnSpc>
              </a:pPr>
              <a:r>
                <a:rPr lang="zh-CN" sz="1500" dirty="0">
                  <a:solidFill>
                    <a:schemeClr val="dk1"/>
                  </a:solidFill>
                  <a:latin typeface="+mn-lt"/>
                  <a:ea typeface="+mn-ea"/>
                  <a:cs typeface="+mn-cs"/>
                </a:rPr>
                <a:t>改修のときと同じように、依頼文をコピーして貼り、</a:t>
              </a:r>
              <a:r>
                <a:rPr lang="en-US" sz="1500" dirty="0">
                  <a:solidFill>
                    <a:schemeClr val="dk1"/>
                  </a:solidFill>
                  <a:latin typeface="Consolas"/>
                  <a:ea typeface="Consolas"/>
                  <a:cs typeface="Consolas"/>
                </a:rPr>
                <a:t>source-code.md</a:t>
              </a:r>
              <a:r>
                <a:rPr lang="zh-CN" sz="1500" dirty="0">
                  <a:solidFill>
                    <a:schemeClr val="dk1"/>
                  </a:solidFill>
                  <a:latin typeface="+mn-lt"/>
                  <a:ea typeface="+mn-ea"/>
                  <a:cs typeface="+mn-cs"/>
                </a:rPr>
                <a:t xml:space="preserve"> を添付して送ります。</a:t>
              </a:r>
            </a:p>
          </p:txBody>
        </p:sp>
        <p:sp>
          <p:nvSpPr>
            <p:cNvPr id="20" name="Ellipse 20"/>
            <p:cNvSpPr/>
            <p:nvPr/>
          </p:nvSpPr>
          <p:spPr>
            <a:xfrm>
              <a:off x="476250" y="5781675"/>
              <a:ext cx="285750" cy="285750"/>
            </a:xfrm>
            <a:prstGeom prst="ellipse">
              <a:avLst/>
            </a:prstGeom>
            <a:solidFill>
              <a:schemeClr val="accent1"/>
            </a:solidFill>
            <a:ln>
              <a:noFill/>
            </a:ln>
          </p:spPr>
        </p:sp>
        <p:sp>
          <p:nvSpPr>
            <p:cNvPr id="21" name="TextBox 21"/>
            <p:cNvSpPr txBox="1"/>
            <p:nvPr/>
          </p:nvSpPr>
          <p:spPr>
            <a:xfrm>
              <a:off x="566383" y="58521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2" name="TextBox 22"/>
            <p:cNvSpPr txBox="1"/>
            <p:nvPr/>
          </p:nvSpPr>
          <p:spPr>
            <a:xfrm>
              <a:off x="887730" y="5838825"/>
              <a:ext cx="493223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［完了］を押すと最初の画面へ戻ります。返答はチャットで読みます。</a:t>
              </a:r>
            </a:p>
          </p:txBody>
        </p:sp>
      </p:grpSp>
      <p:grpSp>
        <p:nvGrpSpPr>
          <p:cNvPr id="30" name="Group 30"/>
          <p:cNvGrpSpPr/>
          <p:nvPr/>
        </p:nvGrpSpPr>
        <p:grpSpPr>
          <a:xfrm>
            <a:off x="7353300" y="5029200"/>
            <a:ext cx="4381500" cy="1216628"/>
            <a:chOff x="7353300" y="5029200"/>
            <a:chExt cx="4381500" cy="1216628"/>
          </a:xfrm>
        </p:grpSpPr>
        <p:sp>
          <p:nvSpPr>
            <p:cNvPr id="24" name="Rectangle 24"/>
            <p:cNvSpPr/>
            <p:nvPr/>
          </p:nvSpPr>
          <p:spPr>
            <a:xfrm>
              <a:off x="7353300" y="5029200"/>
              <a:ext cx="4381500" cy="1143000"/>
            </a:xfrm>
            <a:prstGeom prst="roundRect">
              <a:avLst>
                <a:gd name="adj" fmla="val 11667"/>
              </a:avLst>
            </a:prstGeom>
            <a:solidFill>
              <a:schemeClr val="lt2"/>
            </a:solidFill>
            <a:ln>
              <a:noFill/>
            </a:ln>
          </p:spPr>
        </p:sp>
        <p:sp>
          <p:nvSpPr>
            <p:cNvPr id="25" name="Freeform 25"/>
            <p:cNvSpPr/>
            <p:nvPr/>
          </p:nvSpPr>
          <p:spPr>
            <a:xfrm>
              <a:off x="7564437" y="5231606"/>
              <a:ext cx="206374" cy="196538"/>
            </a:xfrm>
            <a:custGeom>
              <a:avLst/>
              <a:gdLst/>
              <a:ahLst/>
              <a:cxnLst/>
              <a:rect l="l" t="t" r="r" b="b"/>
              <a:pathLst>
                <a:path w="206374" h="196538">
                  <a:moveTo>
                    <a:pt x="165099" y="0"/>
                  </a:moveTo>
                  <a:cubicBezTo>
                    <a:pt x="187895" y="0"/>
                    <a:pt x="206374" y="18479"/>
                    <a:pt x="206374" y="41275"/>
                  </a:cubicBezTo>
                  <a:lnTo>
                    <a:pt x="206374" y="123825"/>
                  </a:lnTo>
                  <a:cubicBezTo>
                    <a:pt x="206374" y="146620"/>
                    <a:pt x="187895" y="165099"/>
                    <a:pt x="165099" y="165099"/>
                  </a:cubicBezTo>
                  <a:lnTo>
                    <a:pt x="116354" y="165099"/>
                  </a:lnTo>
                  <a:lnTo>
                    <a:pt x="67216" y="194580"/>
                  </a:lnTo>
                  <a:cubicBezTo>
                    <a:pt x="64209" y="196385"/>
                    <a:pt x="60492" y="196538"/>
                    <a:pt x="57346" y="194988"/>
                  </a:cubicBezTo>
                  <a:cubicBezTo>
                    <a:pt x="54200" y="193439"/>
                    <a:pt x="52057" y="190397"/>
                    <a:pt x="51656" y="186913"/>
                  </a:cubicBezTo>
                  <a:lnTo>
                    <a:pt x="51594" y="185737"/>
                  </a:lnTo>
                  <a:lnTo>
                    <a:pt x="51594" y="165099"/>
                  </a:lnTo>
                  <a:lnTo>
                    <a:pt x="41275" y="165099"/>
                  </a:lnTo>
                  <a:cubicBezTo>
                    <a:pt x="19282" y="165100"/>
                    <a:pt x="1151" y="147854"/>
                    <a:pt x="52" y="125888"/>
                  </a:cubicBezTo>
                  <a:lnTo>
                    <a:pt x="0" y="123825"/>
                  </a:lnTo>
                  <a:lnTo>
                    <a:pt x="0" y="41275"/>
                  </a:lnTo>
                  <a:cubicBezTo>
                    <a:pt x="0" y="18479"/>
                    <a:pt x="18479" y="0"/>
                    <a:pt x="41275" y="0"/>
                  </a:cubicBezTo>
                  <a:close/>
                  <a:moveTo>
                    <a:pt x="136207" y="95820"/>
                  </a:moveTo>
                  <a:cubicBezTo>
                    <a:pt x="132138" y="91831"/>
                    <a:pt x="125606" y="91896"/>
                    <a:pt x="121616" y="95964"/>
                  </a:cubicBezTo>
                  <a:cubicBezTo>
                    <a:pt x="116764" y="100918"/>
                    <a:pt x="110122" y="103710"/>
                    <a:pt x="103187" y="103710"/>
                  </a:cubicBezTo>
                  <a:cubicBezTo>
                    <a:pt x="96253" y="103710"/>
                    <a:pt x="89610" y="100918"/>
                    <a:pt x="84758" y="95964"/>
                  </a:cubicBezTo>
                  <a:cubicBezTo>
                    <a:pt x="80751" y="91993"/>
                    <a:pt x="74298" y="91975"/>
                    <a:pt x="70270" y="95924"/>
                  </a:cubicBezTo>
                  <a:cubicBezTo>
                    <a:pt x="66241" y="99873"/>
                    <a:pt x="66131" y="106326"/>
                    <a:pt x="70023" y="110410"/>
                  </a:cubicBezTo>
                  <a:cubicBezTo>
                    <a:pt x="78756" y="119322"/>
                    <a:pt x="90709" y="124344"/>
                    <a:pt x="103187" y="124344"/>
                  </a:cubicBezTo>
                  <a:cubicBezTo>
                    <a:pt x="115665" y="124344"/>
                    <a:pt x="127618" y="119322"/>
                    <a:pt x="136352" y="110410"/>
                  </a:cubicBezTo>
                  <a:cubicBezTo>
                    <a:pt x="140340" y="106341"/>
                    <a:pt x="140275" y="99809"/>
                    <a:pt x="136207" y="95820"/>
                  </a:cubicBezTo>
                  <a:moveTo>
                    <a:pt x="77494" y="51594"/>
                  </a:moveTo>
                  <a:lnTo>
                    <a:pt x="77390" y="51594"/>
                  </a:lnTo>
                  <a:cubicBezTo>
                    <a:pt x="71692" y="51594"/>
                    <a:pt x="67072" y="56213"/>
                    <a:pt x="67072" y="61912"/>
                  </a:cubicBezTo>
                  <a:cubicBezTo>
                    <a:pt x="67072" y="67611"/>
                    <a:pt x="71692" y="72231"/>
                    <a:pt x="77390" y="72231"/>
                  </a:cubicBezTo>
                  <a:lnTo>
                    <a:pt x="77494" y="72231"/>
                  </a:lnTo>
                  <a:cubicBezTo>
                    <a:pt x="83192" y="72231"/>
                    <a:pt x="87812" y="67611"/>
                    <a:pt x="87812" y="61912"/>
                  </a:cubicBezTo>
                  <a:cubicBezTo>
                    <a:pt x="87812" y="56213"/>
                    <a:pt x="83192" y="51594"/>
                    <a:pt x="77494" y="51594"/>
                  </a:cubicBezTo>
                  <a:moveTo>
                    <a:pt x="129087" y="51594"/>
                  </a:moveTo>
                  <a:lnTo>
                    <a:pt x="128984" y="51594"/>
                  </a:lnTo>
                  <a:cubicBezTo>
                    <a:pt x="123285" y="51594"/>
                    <a:pt x="118665" y="56213"/>
                    <a:pt x="118665" y="61912"/>
                  </a:cubicBezTo>
                  <a:cubicBezTo>
                    <a:pt x="118665" y="67611"/>
                    <a:pt x="123285" y="72231"/>
                    <a:pt x="128984" y="72231"/>
                  </a:cubicBezTo>
                  <a:lnTo>
                    <a:pt x="129087" y="72231"/>
                  </a:lnTo>
                  <a:cubicBezTo>
                    <a:pt x="134786" y="72231"/>
                    <a:pt x="139406" y="67611"/>
                    <a:pt x="139406" y="61912"/>
                  </a:cubicBezTo>
                  <a:cubicBezTo>
                    <a:pt x="139406" y="56213"/>
                    <a:pt x="134786" y="51594"/>
                    <a:pt x="129087" y="51594"/>
                  </a:cubicBezTo>
                </a:path>
              </a:pathLst>
            </a:custGeom>
            <a:solidFill>
              <a:schemeClr val="accent3"/>
            </a:solidFill>
            <a:ln>
              <a:noFill/>
            </a:ln>
          </p:spPr>
        </p:sp>
        <p:sp>
          <p:nvSpPr>
            <p:cNvPr id="26" name="TextBox 26"/>
            <p:cNvSpPr txBox="1"/>
            <p:nvPr/>
          </p:nvSpPr>
          <p:spPr>
            <a:xfrm>
              <a:off x="7899273" y="5253514"/>
              <a:ext cx="3044373"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AI は質問しながら進め方を一緒に絞り、最後に</a:t>
              </a:r>
            </a:p>
          </p:txBody>
        </p:sp>
        <p:sp>
          <p:nvSpPr>
            <p:cNvPr id="27" name="TextBox 27"/>
            <p:cNvSpPr txBox="1"/>
            <p:nvPr/>
          </p:nvSpPr>
          <p:spPr>
            <a:xfrm>
              <a:off x="7537323" y="5501164"/>
              <a:ext cx="2528733"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改修方針をまとめてくれます。その方針は、</a:t>
              </a:r>
            </a:p>
          </p:txBody>
        </p:sp>
        <p:sp>
          <p:nvSpPr>
            <p:cNvPr id="28" name="TextBox 28"/>
            <p:cNvSpPr txBox="1"/>
            <p:nvPr/>
          </p:nvSpPr>
          <p:spPr>
            <a:xfrm>
              <a:off x="7537323" y="5748814"/>
              <a:ext cx="3335680"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「AIで改修する」の「自分で改修内容を書く」に</a:t>
              </a:r>
            </a:p>
          </p:txBody>
        </p:sp>
        <p:sp>
          <p:nvSpPr>
            <p:cNvPr id="29" name="TextBox 29"/>
            <p:cNvSpPr txBox="1"/>
            <p:nvPr/>
          </p:nvSpPr>
          <p:spPr>
            <a:xfrm>
              <a:off x="7537323" y="5996464"/>
              <a:ext cx="1020989"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そのまま使えます。</a:t>
              </a:r>
            </a:p>
          </p:txBody>
        </p:sp>
      </p:grpSp>
      <p:grpSp>
        <p:nvGrpSpPr>
          <p:cNvPr id="33" name="Group 33"/>
          <p:cNvGrpSpPr/>
          <p:nvPr/>
        </p:nvGrpSpPr>
        <p:grpSpPr>
          <a:xfrm>
            <a:off x="451866" y="6477952"/>
            <a:ext cx="11288268" cy="205359"/>
            <a:chOff x="451866" y="6477952"/>
            <a:chExt cx="11288268" cy="205359"/>
          </a:xfrm>
        </p:grpSpPr>
        <p:sp>
          <p:nvSpPr>
            <p:cNvPr id="31" name="TextBox 31"/>
            <p:cNvSpPr txBox="1"/>
            <p:nvPr/>
          </p:nvSpPr>
          <p:spPr>
            <a:xfrm>
              <a:off x="451866" y="6477952"/>
              <a:ext cx="1311097"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第3部　相談する使い方</a:t>
              </a:r>
            </a:p>
          </p:txBody>
        </p:sp>
        <p:sp>
          <p:nvSpPr>
            <p:cNvPr id="32" name="TextBox 32"/>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3"/>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第4部</a:t>
              </a:r>
            </a:p>
          </p:txBody>
        </p:sp>
        <p:sp>
          <p:nvSpPr>
            <p:cNvPr id="4" name="TextBox 4"/>
            <p:cNvSpPr txBox="1"/>
            <p:nvPr/>
          </p:nvSpPr>
          <p:spPr>
            <a:xfrm>
              <a:off x="441960" y="685800"/>
              <a:ext cx="321087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つまずいたら、ここへ戻る</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9" name="Group 9"/>
          <p:cNvGrpSpPr/>
          <p:nvPr/>
        </p:nvGrpSpPr>
        <p:grpSpPr>
          <a:xfrm>
            <a:off x="471937" y="1344454"/>
            <a:ext cx="7025035" cy="308039"/>
            <a:chOff x="471937" y="1344454"/>
            <a:chExt cx="7025035" cy="308039"/>
          </a:xfrm>
        </p:grpSpPr>
        <p:sp>
          <p:nvSpPr>
            <p:cNvPr id="7" name="Freeform 7"/>
            <p:cNvSpPr/>
            <p:nvPr/>
          </p:nvSpPr>
          <p:spPr>
            <a:xfrm>
              <a:off x="471937" y="1352550"/>
              <a:ext cx="199117" cy="190602"/>
            </a:xfrm>
            <a:custGeom>
              <a:avLst/>
              <a:gdLst/>
              <a:ahLst/>
              <a:cxnLst/>
              <a:rect l="l" t="t" r="r" b="b"/>
              <a:pathLst>
                <a:path w="199117" h="190602">
                  <a:moveTo>
                    <a:pt x="99544" y="0"/>
                  </a:moveTo>
                  <a:lnTo>
                    <a:pt x="100668" y="67"/>
                  </a:lnTo>
                  <a:lnTo>
                    <a:pt x="101230" y="143"/>
                  </a:lnTo>
                  <a:lnTo>
                    <a:pt x="101811" y="267"/>
                  </a:lnTo>
                  <a:lnTo>
                    <a:pt x="102868" y="591"/>
                  </a:lnTo>
                  <a:cubicBezTo>
                    <a:pt x="103598" y="860"/>
                    <a:pt x="104293" y="1218"/>
                    <a:pt x="104935" y="1657"/>
                  </a:cubicBezTo>
                  <a:lnTo>
                    <a:pt x="105926" y="2438"/>
                  </a:lnTo>
                  <a:lnTo>
                    <a:pt x="108354" y="4515"/>
                  </a:lnTo>
                  <a:cubicBezTo>
                    <a:pt x="127569" y="20475"/>
                    <a:pt x="151854" y="29045"/>
                    <a:pt x="176830" y="28680"/>
                  </a:cubicBezTo>
                  <a:lnTo>
                    <a:pt x="180087" y="28585"/>
                  </a:lnTo>
                  <a:cubicBezTo>
                    <a:pt x="184470" y="28385"/>
                    <a:pt x="188423" y="31204"/>
                    <a:pt x="189660" y="35414"/>
                  </a:cubicBezTo>
                  <a:cubicBezTo>
                    <a:pt x="199117" y="67583"/>
                    <a:pt x="195123" y="102211"/>
                    <a:pt x="178593" y="131383"/>
                  </a:cubicBezTo>
                  <a:cubicBezTo>
                    <a:pt x="162063" y="160555"/>
                    <a:pt x="134409" y="181776"/>
                    <a:pt x="101954" y="190195"/>
                  </a:cubicBezTo>
                  <a:cubicBezTo>
                    <a:pt x="100386" y="190602"/>
                    <a:pt x="98740" y="190602"/>
                    <a:pt x="97172" y="190195"/>
                  </a:cubicBezTo>
                  <a:cubicBezTo>
                    <a:pt x="64715" y="181778"/>
                    <a:pt x="37059" y="160558"/>
                    <a:pt x="20527" y="131386"/>
                  </a:cubicBezTo>
                  <a:cubicBezTo>
                    <a:pt x="3994" y="102213"/>
                    <a:pt x="0" y="67584"/>
                    <a:pt x="9456" y="35414"/>
                  </a:cubicBezTo>
                  <a:cubicBezTo>
                    <a:pt x="10693" y="31204"/>
                    <a:pt x="14646" y="28385"/>
                    <a:pt x="19029" y="28585"/>
                  </a:cubicBezTo>
                  <a:cubicBezTo>
                    <a:pt x="45103" y="29776"/>
                    <a:pt x="70684" y="21193"/>
                    <a:pt x="90762" y="4515"/>
                  </a:cubicBezTo>
                  <a:lnTo>
                    <a:pt x="93267" y="2372"/>
                  </a:lnTo>
                  <a:lnTo>
                    <a:pt x="94181" y="1657"/>
                  </a:lnTo>
                  <a:cubicBezTo>
                    <a:pt x="94824" y="1218"/>
                    <a:pt x="95518" y="860"/>
                    <a:pt x="96248" y="591"/>
                  </a:cubicBezTo>
                  <a:lnTo>
                    <a:pt x="97315" y="267"/>
                  </a:lnTo>
                  <a:cubicBezTo>
                    <a:pt x="97688" y="177"/>
                    <a:pt x="98067" y="110"/>
                    <a:pt x="98448" y="67"/>
                  </a:cubicBezTo>
                  <a:lnTo>
                    <a:pt x="99544" y="0"/>
                  </a:lnTo>
                  <a:close/>
                  <a:moveTo>
                    <a:pt x="134882" y="69466"/>
                  </a:moveTo>
                  <a:cubicBezTo>
                    <a:pt x="133095" y="67677"/>
                    <a:pt x="130671" y="66672"/>
                    <a:pt x="128143" y="66672"/>
                  </a:cubicBezTo>
                  <a:cubicBezTo>
                    <a:pt x="125615" y="66672"/>
                    <a:pt x="123190" y="67677"/>
                    <a:pt x="121404" y="69466"/>
                  </a:cubicBezTo>
                  <a:lnTo>
                    <a:pt x="90038" y="100822"/>
                  </a:lnTo>
                  <a:lnTo>
                    <a:pt x="77722" y="88516"/>
                  </a:lnTo>
                  <a:lnTo>
                    <a:pt x="76827" y="87725"/>
                  </a:lnTo>
                  <a:cubicBezTo>
                    <a:pt x="72854" y="84653"/>
                    <a:pt x="67178" y="85194"/>
                    <a:pt x="63856" y="88961"/>
                  </a:cubicBezTo>
                  <a:cubicBezTo>
                    <a:pt x="60534" y="92728"/>
                    <a:pt x="60708" y="98427"/>
                    <a:pt x="64254" y="101984"/>
                  </a:cubicBezTo>
                  <a:lnTo>
                    <a:pt x="83304" y="121034"/>
                  </a:lnTo>
                  <a:lnTo>
                    <a:pt x="84199" y="121825"/>
                  </a:lnTo>
                  <a:cubicBezTo>
                    <a:pt x="87991" y="124766"/>
                    <a:pt x="93379" y="124427"/>
                    <a:pt x="96772" y="121034"/>
                  </a:cubicBezTo>
                  <a:lnTo>
                    <a:pt x="134872" y="82934"/>
                  </a:lnTo>
                  <a:lnTo>
                    <a:pt x="135663" y="82039"/>
                  </a:lnTo>
                  <a:cubicBezTo>
                    <a:pt x="138604" y="78247"/>
                    <a:pt x="138265" y="72859"/>
                    <a:pt x="134872" y="69466"/>
                  </a:cubicBezTo>
                  <a:close/>
                </a:path>
              </a:pathLst>
            </a:custGeom>
            <a:solidFill>
              <a:srgbClr val="3A7A47"/>
            </a:solidFill>
            <a:ln>
              <a:noFill/>
            </a:ln>
          </p:spPr>
        </p:sp>
        <p:sp>
          <p:nvSpPr>
            <p:cNvPr id="8" name="TextBox 8"/>
            <p:cNvSpPr txBox="1"/>
            <p:nvPr/>
          </p:nvSpPr>
          <p:spPr>
            <a:xfrm>
              <a:off x="792099" y="1344454"/>
              <a:ext cx="6704873" cy="308039"/>
            </a:xfrm>
            <a:prstGeom prst="rect">
              <a:avLst/>
            </a:prstGeom>
            <a:noFill/>
            <a:ln>
              <a:noFill/>
            </a:ln>
          </p:spPr>
          <p:txBody>
            <a:bodyPr wrap="none" lIns="0" tIns="0" rIns="0" bIns="0" anchor="t" anchorCtr="0">
              <a:spAutoFit/>
            </a:bodyPr>
            <a:lstStyle/>
            <a:p>
              <a:pPr algn="l"/>
              <a:r>
                <a:rPr lang="zh-CN" sz="1580" b="1" dirty="0">
                  <a:solidFill>
                    <a:srgbClr val="3A7A47"/>
                  </a:solidFill>
                  <a:latin typeface="+mn-lt"/>
                  <a:ea typeface="+mn-ea"/>
                  <a:cs typeface="+mn-cs"/>
                </a:rPr>
                <a:t>どこで止まっても、元のブックは無事です。起きたことに合った場所へ戻れば、やり直せます。</a:t>
              </a:r>
            </a:p>
          </p:txBody>
        </p:sp>
      </p:grpSp>
      <p:grpSp>
        <p:nvGrpSpPr>
          <p:cNvPr id="36" name="Group 36"/>
          <p:cNvGrpSpPr/>
          <p:nvPr/>
        </p:nvGrpSpPr>
        <p:grpSpPr>
          <a:xfrm>
            <a:off x="457200" y="1752600"/>
            <a:ext cx="11277600" cy="4080701"/>
            <a:chOff x="457200" y="1752600"/>
            <a:chExt cx="11277600" cy="4080701"/>
          </a:xfrm>
        </p:grpSpPr>
        <p:sp>
          <p:nvSpPr>
            <p:cNvPr id="10" name="Rectangle 10"/>
            <p:cNvSpPr/>
            <p:nvPr/>
          </p:nvSpPr>
          <p:spPr>
            <a:xfrm>
              <a:off x="457200" y="1752600"/>
              <a:ext cx="11277600" cy="400050"/>
            </a:xfrm>
            <a:prstGeom prst="rect">
              <a:avLst/>
            </a:prstGeom>
            <a:solidFill>
              <a:schemeClr val="accent1"/>
            </a:solidFill>
            <a:ln>
              <a:noFill/>
            </a:ln>
          </p:spPr>
        </p:sp>
        <p:sp>
          <p:nvSpPr>
            <p:cNvPr id="11" name="TextBox 11"/>
            <p:cNvSpPr txBox="1"/>
            <p:nvPr/>
          </p:nvSpPr>
          <p:spPr>
            <a:xfrm>
              <a:off x="678942" y="1873568"/>
              <a:ext cx="62435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起きたこと</a:t>
              </a:r>
            </a:p>
          </p:txBody>
        </p:sp>
        <p:sp>
          <p:nvSpPr>
            <p:cNvPr id="12" name="TextBox 12"/>
            <p:cNvSpPr txBox="1"/>
            <p:nvPr/>
          </p:nvSpPr>
          <p:spPr>
            <a:xfrm>
              <a:off x="5289042" y="1873568"/>
              <a:ext cx="433528"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すること</a:t>
              </a:r>
            </a:p>
          </p:txBody>
        </p:sp>
        <p:sp>
          <p:nvSpPr>
            <p:cNvPr id="13" name="Rectangle 13"/>
            <p:cNvSpPr/>
            <p:nvPr/>
          </p:nvSpPr>
          <p:spPr>
            <a:xfrm>
              <a:off x="457200" y="2152650"/>
              <a:ext cx="11277600" cy="514350"/>
            </a:xfrm>
            <a:prstGeom prst="rect">
              <a:avLst/>
            </a:prstGeom>
            <a:solidFill>
              <a:schemeClr val="lt1"/>
            </a:solidFill>
            <a:ln>
              <a:noFill/>
            </a:ln>
          </p:spPr>
        </p:sp>
        <p:sp>
          <p:nvSpPr>
            <p:cNvPr id="14" name="TextBox 14"/>
            <p:cNvSpPr txBox="1"/>
            <p:nvPr/>
          </p:nvSpPr>
          <p:spPr>
            <a:xfrm>
              <a:off x="678942" y="2330768"/>
              <a:ext cx="124044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返答を取り込めない</a:t>
              </a:r>
            </a:p>
          </p:txBody>
        </p:sp>
        <p:sp>
          <p:nvSpPr>
            <p:cNvPr id="15" name="TextBox 15"/>
            <p:cNvSpPr txBox="1"/>
            <p:nvPr/>
          </p:nvSpPr>
          <p:spPr>
            <a:xfrm>
              <a:off x="5289042" y="2330768"/>
              <a:ext cx="431505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コードブロック全体をコピーし直して、もう一度取り込む（→ P16）</a:t>
              </a:r>
            </a:p>
          </p:txBody>
        </p:sp>
        <p:sp>
          <p:nvSpPr>
            <p:cNvPr id="16" name="Rectangle 16"/>
            <p:cNvSpPr/>
            <p:nvPr/>
          </p:nvSpPr>
          <p:spPr>
            <a:xfrm>
              <a:off x="457200" y="2667000"/>
              <a:ext cx="11277600" cy="514350"/>
            </a:xfrm>
            <a:prstGeom prst="rect">
              <a:avLst/>
            </a:prstGeom>
            <a:solidFill>
              <a:schemeClr val="accent5"/>
            </a:solidFill>
            <a:ln>
              <a:noFill/>
            </a:ln>
          </p:spPr>
        </p:sp>
        <p:sp>
          <p:nvSpPr>
            <p:cNvPr id="17" name="TextBox 17"/>
            <p:cNvSpPr txBox="1"/>
            <p:nvPr/>
          </p:nvSpPr>
          <p:spPr>
            <a:xfrm>
              <a:off x="678942" y="2845118"/>
              <a:ext cx="188560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取り込んだ内容が意図と違う</a:t>
              </a:r>
            </a:p>
          </p:txBody>
        </p:sp>
        <p:sp>
          <p:nvSpPr>
            <p:cNvPr id="18" name="TextBox 18"/>
            <p:cNvSpPr txBox="1"/>
            <p:nvPr/>
          </p:nvSpPr>
          <p:spPr>
            <a:xfrm>
              <a:off x="5289042" y="2749868"/>
              <a:ext cx="3665601" cy="4926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［戻る］で取り込みへ戻り、AI に言い直して取り込み直す。前の取り込みは全部置き換わる</a:t>
              </a:r>
            </a:p>
          </p:txBody>
        </p:sp>
        <p:sp>
          <p:nvSpPr>
            <p:cNvPr id="19" name="Rectangle 19"/>
            <p:cNvSpPr/>
            <p:nvPr/>
          </p:nvSpPr>
          <p:spPr>
            <a:xfrm>
              <a:off x="457200" y="3181350"/>
              <a:ext cx="11277600" cy="514350"/>
            </a:xfrm>
            <a:prstGeom prst="rect">
              <a:avLst/>
            </a:prstGeom>
            <a:solidFill>
              <a:schemeClr val="lt1"/>
            </a:solidFill>
            <a:ln>
              <a:noFill/>
            </a:ln>
          </p:spPr>
        </p:sp>
        <p:sp>
          <p:nvSpPr>
            <p:cNvPr id="20" name="TextBox 20"/>
            <p:cNvSpPr txBox="1"/>
            <p:nvPr/>
          </p:nvSpPr>
          <p:spPr>
            <a:xfrm>
              <a:off x="678942" y="3359468"/>
              <a:ext cx="224908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余計な記号など、軽い写し間違い</a:t>
              </a:r>
            </a:p>
          </p:txBody>
        </p:sp>
        <p:sp>
          <p:nvSpPr>
            <p:cNvPr id="21" name="TextBox 21"/>
            <p:cNvSpPr txBox="1"/>
            <p:nvPr/>
          </p:nvSpPr>
          <p:spPr>
            <a:xfrm>
              <a:off x="5289042" y="3359468"/>
              <a:ext cx="467029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確認画面の［手動修正］で直して［修正を反映］（→ P18）</a:t>
              </a:r>
            </a:p>
          </p:txBody>
        </p:sp>
        <p:sp>
          <p:nvSpPr>
            <p:cNvPr id="22" name="Rectangle 22"/>
            <p:cNvSpPr/>
            <p:nvPr/>
          </p:nvSpPr>
          <p:spPr>
            <a:xfrm>
              <a:off x="457200" y="3695700"/>
              <a:ext cx="11277600" cy="628650"/>
            </a:xfrm>
            <a:prstGeom prst="rect">
              <a:avLst/>
            </a:prstGeom>
            <a:solidFill>
              <a:schemeClr val="accent5"/>
            </a:solidFill>
            <a:ln>
              <a:noFill/>
            </a:ln>
          </p:spPr>
        </p:sp>
        <p:sp>
          <p:nvSpPr>
            <p:cNvPr id="23" name="TextBox 23"/>
            <p:cNvSpPr txBox="1"/>
            <p:nvPr/>
          </p:nvSpPr>
          <p:spPr>
            <a:xfrm>
              <a:off x="678942" y="3778568"/>
              <a:ext cx="2002536" cy="4926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「元のブックのマクロが、読み込んだ</a:t>
              </a:r>
              <a:r>
                <a:rPr lang="en-US" sz="1350" dirty="0">
                  <a:solidFill>
                    <a:schemeClr val="dk1"/>
                  </a:solidFill>
                  <a:latin typeface="+mn-lt"/>
                  <a:ea typeface="+mn-ea"/>
                  <a:cs typeface="+mn-cs"/>
                </a:rPr>
                <a:t xml:space="preserve"> </a:t>
              </a:r>
              <a:r>
                <a:rPr lang="zh-CN" sz="1350" dirty="0">
                  <a:solidFill>
                    <a:schemeClr val="dk1"/>
                  </a:solidFill>
                  <a:latin typeface="+mn-lt"/>
                  <a:ea typeface="+mn-ea"/>
                  <a:cs typeface="+mn-cs"/>
                </a:rPr>
                <a:t>ときから変わっています」</a:t>
              </a:r>
            </a:p>
          </p:txBody>
        </p:sp>
        <p:sp>
          <p:nvSpPr>
            <p:cNvPr id="24" name="TextBox 24"/>
            <p:cNvSpPr txBox="1"/>
            <p:nvPr/>
          </p:nvSpPr>
          <p:spPr>
            <a:xfrm>
              <a:off x="5289042" y="3778568"/>
              <a:ext cx="3562731" cy="4926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読み込んだ後に誰かがマクロを保存し直した合図。ブックを読み込み直し、依頼から作り直す（出力は作られていない）</a:t>
              </a:r>
            </a:p>
          </p:txBody>
        </p:sp>
        <p:sp>
          <p:nvSpPr>
            <p:cNvPr id="25" name="Rectangle 25"/>
            <p:cNvSpPr/>
            <p:nvPr/>
          </p:nvSpPr>
          <p:spPr>
            <a:xfrm>
              <a:off x="457200" y="4324350"/>
              <a:ext cx="11277600" cy="476250"/>
            </a:xfrm>
            <a:prstGeom prst="rect">
              <a:avLst/>
            </a:prstGeom>
            <a:solidFill>
              <a:schemeClr val="lt1"/>
            </a:solidFill>
            <a:ln>
              <a:noFill/>
            </a:ln>
          </p:spPr>
        </p:sp>
        <p:sp>
          <p:nvSpPr>
            <p:cNvPr id="26" name="TextBox 26"/>
            <p:cNvSpPr txBox="1"/>
            <p:nvPr/>
          </p:nvSpPr>
          <p:spPr>
            <a:xfrm>
              <a:off x="678942" y="4483418"/>
              <a:ext cx="147669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「ビルドできませんでした」</a:t>
              </a:r>
            </a:p>
          </p:txBody>
        </p:sp>
        <p:sp>
          <p:nvSpPr>
            <p:cNvPr id="27" name="TextBox 27"/>
            <p:cNvSpPr txBox="1"/>
            <p:nvPr/>
          </p:nvSpPr>
          <p:spPr>
            <a:xfrm>
              <a:off x="5289042" y="4483418"/>
              <a:ext cx="42572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［もう一度ビルドする］。再発するなら、ログを添えて配布元へ連絡</a:t>
              </a:r>
            </a:p>
          </p:txBody>
        </p:sp>
        <p:sp>
          <p:nvSpPr>
            <p:cNvPr id="28" name="Rectangle 28"/>
            <p:cNvSpPr/>
            <p:nvPr/>
          </p:nvSpPr>
          <p:spPr>
            <a:xfrm>
              <a:off x="457200" y="4800600"/>
              <a:ext cx="11277600" cy="438150"/>
            </a:xfrm>
            <a:prstGeom prst="rect">
              <a:avLst/>
            </a:prstGeom>
            <a:solidFill>
              <a:schemeClr val="accent5"/>
            </a:solidFill>
            <a:ln>
              <a:noFill/>
            </a:ln>
          </p:spPr>
        </p:sp>
        <p:sp>
          <p:nvSpPr>
            <p:cNvPr id="29" name="TextBox 29"/>
            <p:cNvSpPr txBox="1"/>
            <p:nvPr/>
          </p:nvSpPr>
          <p:spPr>
            <a:xfrm>
              <a:off x="678942" y="4940618"/>
              <a:ext cx="154030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「時間がかかっています」</a:t>
              </a:r>
            </a:p>
          </p:txBody>
        </p:sp>
        <p:sp>
          <p:nvSpPr>
            <p:cNvPr id="30" name="TextBox 30"/>
            <p:cNvSpPr txBox="1"/>
            <p:nvPr/>
          </p:nvSpPr>
          <p:spPr>
            <a:xfrm>
              <a:off x="5289042" y="4940618"/>
              <a:ext cx="21036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処理は続いている。終わるまで待つ</a:t>
              </a:r>
            </a:p>
          </p:txBody>
        </p:sp>
        <p:sp>
          <p:nvSpPr>
            <p:cNvPr id="31" name="Rectangle 31"/>
            <p:cNvSpPr/>
            <p:nvPr/>
          </p:nvSpPr>
          <p:spPr>
            <a:xfrm>
              <a:off x="457200" y="5238750"/>
              <a:ext cx="11277600" cy="514350"/>
            </a:xfrm>
            <a:prstGeom prst="rect">
              <a:avLst/>
            </a:prstGeom>
            <a:solidFill>
              <a:schemeClr val="lt1"/>
            </a:solidFill>
            <a:ln>
              <a:noFill/>
            </a:ln>
          </p:spPr>
        </p:sp>
        <p:sp>
          <p:nvSpPr>
            <p:cNvPr id="32" name="TextBox 32"/>
            <p:cNvSpPr txBox="1"/>
            <p:nvPr/>
          </p:nvSpPr>
          <p:spPr>
            <a:xfrm>
              <a:off x="678942" y="5416868"/>
              <a:ext cx="115865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依頼をやり直したい</a:t>
              </a:r>
            </a:p>
          </p:txBody>
        </p:sp>
        <p:sp>
          <p:nvSpPr>
            <p:cNvPr id="33" name="TextBox 33"/>
            <p:cNvSpPr txBox="1"/>
            <p:nvPr/>
          </p:nvSpPr>
          <p:spPr>
            <a:xfrm>
              <a:off x="5289042" y="5340668"/>
              <a:ext cx="3528441" cy="492633"/>
            </a:xfrm>
            <a:prstGeom prst="rect">
              <a:avLst/>
            </a:prstGeom>
            <a:noFill/>
            <a:ln>
              <a:noFill/>
            </a:ln>
          </p:spPr>
          <p:txBody>
            <a:bodyPr wrap="square" lIns="0" tIns="0" rIns="0" bIns="0" anchor="t" anchorCtr="0"/>
            <a:lstStyle/>
            <a:p>
              <a:pPr algn="l">
                <a:lnSpc>
                  <a:spcPts val="1800"/>
                </a:lnSpc>
              </a:pPr>
              <a:r>
                <a:rPr lang="zh-CN" sz="1350" dirty="0">
                  <a:solidFill>
                    <a:schemeClr val="dk1"/>
                  </a:solidFill>
                  <a:latin typeface="+mn-lt"/>
                  <a:ea typeface="+mn-ea"/>
                  <a:cs typeface="+mn-cs"/>
                </a:rPr>
                <a:t>目的を選び直すと依頼番号が新しくなる。依頼文を AI へ送り直してから、新しい返答を取り込む</a:t>
              </a:r>
            </a:p>
          </p:txBody>
        </p:sp>
        <p:sp>
          <p:nvSpPr>
            <p:cNvPr id="34" name="Rectangle 34"/>
            <p:cNvSpPr/>
            <p:nvPr/>
          </p:nvSpPr>
          <p:spPr>
            <a:xfrm>
              <a:off x="457200" y="1752600"/>
              <a:ext cx="11277600" cy="4000500"/>
            </a:xfrm>
            <a:prstGeom prst="roundRect">
              <a:avLst>
                <a:gd name="adj" fmla="val 1905"/>
              </a:avLst>
            </a:prstGeom>
            <a:noFill/>
            <a:ln w="14288">
              <a:solidFill>
                <a:schemeClr val="accent6"/>
              </a:solidFill>
            </a:ln>
          </p:spPr>
        </p:sp>
        <p:sp>
          <p:nvSpPr>
            <p:cNvPr id="35" name="Line 35"/>
            <p:cNvSpPr/>
            <p:nvPr/>
          </p:nvSpPr>
          <p:spPr>
            <a:xfrm>
              <a:off x="5143500" y="1752600"/>
              <a:ext cx="9525" cy="4000500"/>
            </a:xfrm>
            <a:custGeom>
              <a:avLst/>
              <a:gdLst/>
              <a:ahLst/>
              <a:cxnLst/>
              <a:rect l="l" t="t" r="r" b="b"/>
              <a:pathLst>
                <a:path w="9525" h="4000500">
                  <a:moveTo>
                    <a:pt x="0" y="0"/>
                  </a:moveTo>
                  <a:lnTo>
                    <a:pt x="0" y="4000500"/>
                  </a:lnTo>
                </a:path>
              </a:pathLst>
            </a:custGeom>
            <a:noFill/>
            <a:ln w="9525">
              <a:solidFill>
                <a:schemeClr val="accent6"/>
              </a:solidFill>
            </a:ln>
          </p:spPr>
        </p:sp>
      </p:grpSp>
      <p:grpSp>
        <p:nvGrpSpPr>
          <p:cNvPr id="39" name="Group 39"/>
          <p:cNvGrpSpPr/>
          <p:nvPr/>
        </p:nvGrpSpPr>
        <p:grpSpPr>
          <a:xfrm>
            <a:off x="474663" y="5942013"/>
            <a:ext cx="9837688" cy="265715"/>
            <a:chOff x="474663" y="5942013"/>
            <a:chExt cx="9837688" cy="265715"/>
          </a:xfrm>
        </p:grpSpPr>
        <p:sp>
          <p:nvSpPr>
            <p:cNvPr id="37" name="Freeform 37"/>
            <p:cNvSpPr/>
            <p:nvPr/>
          </p:nvSpPr>
          <p:spPr>
            <a:xfrm>
              <a:off x="474663" y="5942013"/>
              <a:ext cx="174663" cy="175455"/>
            </a:xfrm>
            <a:custGeom>
              <a:avLst/>
              <a:gdLst/>
              <a:ahLst/>
              <a:cxnLst/>
              <a:rect l="l" t="t" r="r" b="b"/>
              <a:pathLst>
                <a:path w="174663" h="175455">
                  <a:moveTo>
                    <a:pt x="87313" y="0"/>
                  </a:moveTo>
                  <a:cubicBezTo>
                    <a:pt x="135535" y="0"/>
                    <a:pt x="174625" y="39090"/>
                    <a:pt x="174625" y="87313"/>
                  </a:cubicBezTo>
                  <a:cubicBezTo>
                    <a:pt x="174663" y="135009"/>
                    <a:pt x="136418" y="173910"/>
                    <a:pt x="88727" y="174683"/>
                  </a:cubicBezTo>
                  <a:cubicBezTo>
                    <a:pt x="41037" y="175455"/>
                    <a:pt x="1551" y="137814"/>
                    <a:pt x="44" y="90141"/>
                  </a:cubicBezTo>
                  <a:lnTo>
                    <a:pt x="0" y="87313"/>
                  </a:lnTo>
                  <a:lnTo>
                    <a:pt x="35" y="84868"/>
                  </a:lnTo>
                  <a:cubicBezTo>
                    <a:pt x="1327" y="37780"/>
                    <a:pt x="39902" y="0"/>
                    <a:pt x="87313" y="0"/>
                  </a:cubicBezTo>
                  <a:close/>
                  <a:moveTo>
                    <a:pt x="87313" y="113506"/>
                  </a:moveTo>
                  <a:cubicBezTo>
                    <a:pt x="82886" y="113507"/>
                    <a:pt x="79160" y="116820"/>
                    <a:pt x="78642" y="121216"/>
                  </a:cubicBezTo>
                  <a:lnTo>
                    <a:pt x="78581" y="122238"/>
                  </a:lnTo>
                  <a:lnTo>
                    <a:pt x="78642" y="123346"/>
                  </a:lnTo>
                  <a:cubicBezTo>
                    <a:pt x="79165" y="127739"/>
                    <a:pt x="82889" y="131046"/>
                    <a:pt x="87313" y="131046"/>
                  </a:cubicBezTo>
                  <a:cubicBezTo>
                    <a:pt x="91736" y="131046"/>
                    <a:pt x="95460" y="127739"/>
                    <a:pt x="95983" y="123346"/>
                  </a:cubicBezTo>
                  <a:lnTo>
                    <a:pt x="96044" y="122325"/>
                  </a:lnTo>
                  <a:lnTo>
                    <a:pt x="95983" y="121216"/>
                  </a:lnTo>
                  <a:cubicBezTo>
                    <a:pt x="95465" y="116820"/>
                    <a:pt x="91739" y="113507"/>
                    <a:pt x="87313" y="113506"/>
                  </a:cubicBezTo>
                  <a:close/>
                  <a:moveTo>
                    <a:pt x="99257" y="55243"/>
                  </a:moveTo>
                  <a:cubicBezTo>
                    <a:pt x="88495" y="49741"/>
                    <a:pt x="75363" y="52374"/>
                    <a:pt x="67554" y="61599"/>
                  </a:cubicBezTo>
                  <a:cubicBezTo>
                    <a:pt x="64552" y="65115"/>
                    <a:pt x="64812" y="70363"/>
                    <a:pt x="68146" y="73565"/>
                  </a:cubicBezTo>
                  <a:cubicBezTo>
                    <a:pt x="71481" y="76768"/>
                    <a:pt x="76734" y="76816"/>
                    <a:pt x="80127" y="73674"/>
                  </a:cubicBezTo>
                  <a:lnTo>
                    <a:pt x="81620" y="72103"/>
                  </a:lnTo>
                  <a:cubicBezTo>
                    <a:pt x="84258" y="69681"/>
                    <a:pt x="88125" y="69158"/>
                    <a:pt x="91311" y="70793"/>
                  </a:cubicBezTo>
                  <a:cubicBezTo>
                    <a:pt x="94756" y="72536"/>
                    <a:pt x="96646" y="76334"/>
                    <a:pt x="95962" y="80132"/>
                  </a:cubicBezTo>
                  <a:cubicBezTo>
                    <a:pt x="95277" y="83931"/>
                    <a:pt x="92179" y="86830"/>
                    <a:pt x="88343" y="87260"/>
                  </a:cubicBezTo>
                  <a:lnTo>
                    <a:pt x="86317" y="87365"/>
                  </a:lnTo>
                  <a:cubicBezTo>
                    <a:pt x="81706" y="87872"/>
                    <a:pt x="78296" y="91897"/>
                    <a:pt x="78554" y="96529"/>
                  </a:cubicBezTo>
                  <a:cubicBezTo>
                    <a:pt x="78812" y="101161"/>
                    <a:pt x="82647" y="104783"/>
                    <a:pt x="87286" y="104775"/>
                  </a:cubicBezTo>
                  <a:cubicBezTo>
                    <a:pt x="99412" y="104811"/>
                    <a:pt x="109977" y="96521"/>
                    <a:pt x="112826" y="84735"/>
                  </a:cubicBezTo>
                  <a:cubicBezTo>
                    <a:pt x="115674" y="72948"/>
                    <a:pt x="110061" y="60748"/>
                    <a:pt x="99257" y="55243"/>
                  </a:cubicBezTo>
                  <a:close/>
                </a:path>
              </a:pathLst>
            </a:custGeom>
            <a:solidFill>
              <a:srgbClr val="5D6B7A"/>
            </a:solidFill>
            <a:ln>
              <a:noFill/>
            </a:ln>
          </p:spPr>
        </p:sp>
        <p:sp>
          <p:nvSpPr>
            <p:cNvPr id="38" name="TextBox 38"/>
            <p:cNvSpPr txBox="1"/>
            <p:nvPr/>
          </p:nvSpPr>
          <p:spPr>
            <a:xfrm>
              <a:off x="774573" y="5958364"/>
              <a:ext cx="9537778"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全部やり直すときは右上の［最初から］。動作の記録は %LOCALAPPDATA%\MacroStudio\logs に残ります（コードの中身は記録されません）。</a:t>
              </a:r>
            </a:p>
          </p:txBody>
        </p:sp>
      </p:grpSp>
      <p:grpSp>
        <p:nvGrpSpPr>
          <p:cNvPr id="42" name="Group 42"/>
          <p:cNvGrpSpPr/>
          <p:nvPr/>
        </p:nvGrpSpPr>
        <p:grpSpPr>
          <a:xfrm>
            <a:off x="451866" y="6477952"/>
            <a:ext cx="11288268" cy="205359"/>
            <a:chOff x="451866" y="6477952"/>
            <a:chExt cx="11288268" cy="205359"/>
          </a:xfrm>
        </p:grpSpPr>
        <p:sp>
          <p:nvSpPr>
            <p:cNvPr id="40" name="TextBox 40"/>
            <p:cNvSpPr txBox="1"/>
            <p:nvPr/>
          </p:nvSpPr>
          <p:spPr>
            <a:xfrm>
              <a:off x="451866" y="6477952"/>
              <a:ext cx="964787"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第4部　困ったとき</a:t>
              </a:r>
            </a:p>
          </p:txBody>
        </p:sp>
        <p:sp>
          <p:nvSpPr>
            <p:cNvPr id="41" name="TextBox 41"/>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25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第5部</a:t>
              </a:r>
            </a:p>
          </p:txBody>
        </p:sp>
        <p:sp>
          <p:nvSpPr>
            <p:cNvPr id="4" name="TextBox 4"/>
            <p:cNvSpPr txBox="1"/>
            <p:nvPr/>
          </p:nvSpPr>
          <p:spPr>
            <a:xfrm>
              <a:off x="441960" y="685800"/>
              <a:ext cx="4802276"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付録 — IT・管理担当の方へ</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7" name="Group 17"/>
          <p:cNvGrpSpPr/>
          <p:nvPr/>
        </p:nvGrpSpPr>
        <p:grpSpPr>
          <a:xfrm>
            <a:off x="457200" y="1428750"/>
            <a:ext cx="5334000" cy="3943350"/>
            <a:chOff x="457200" y="1428750"/>
            <a:chExt cx="5334000" cy="3943350"/>
          </a:xfrm>
        </p:grpSpPr>
        <p:sp>
          <p:nvSpPr>
            <p:cNvPr id="7" name="Rectangle 7"/>
            <p:cNvSpPr/>
            <p:nvPr/>
          </p:nvSpPr>
          <p:spPr>
            <a:xfrm>
              <a:off x="457200" y="1428750"/>
              <a:ext cx="5334000" cy="3943350"/>
            </a:xfrm>
            <a:prstGeom prst="roundRect">
              <a:avLst>
                <a:gd name="adj" fmla="val 3865"/>
              </a:avLst>
            </a:prstGeom>
            <a:solidFill>
              <a:schemeClr val="lt2"/>
            </a:solidFill>
            <a:ln>
              <a:noFill/>
            </a:ln>
          </p:spPr>
        </p:sp>
        <p:sp>
          <p:nvSpPr>
            <p:cNvPr id="8" name="TextBox 8"/>
            <p:cNvSpPr txBox="1"/>
            <p:nvPr/>
          </p:nvSpPr>
          <p:spPr>
            <a:xfrm>
              <a:off x="715518" y="1593532"/>
              <a:ext cx="1486108"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この付録で扱うこと</a:t>
              </a:r>
            </a:p>
          </p:txBody>
        </p:sp>
        <p:sp>
          <p:nvSpPr>
            <p:cNvPr id="9" name="TextBox 9"/>
            <p:cNvSpPr txBox="1"/>
            <p:nvPr/>
          </p:nvSpPr>
          <p:spPr>
            <a:xfrm>
              <a:off x="716661" y="2036921"/>
              <a:ext cx="2903044"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P27　Excelを開かずにVBAを読む仕組み</a:t>
              </a:r>
            </a:p>
          </p:txBody>
        </p:sp>
        <p:sp>
          <p:nvSpPr>
            <p:cNvPr id="10" name="TextBox 10"/>
            <p:cNvSpPr txBox="1"/>
            <p:nvPr/>
          </p:nvSpPr>
          <p:spPr>
            <a:xfrm>
              <a:off x="716661" y="2436971"/>
              <a:ext cx="3559241"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P28　受け渡しの照合 — 依頼番号と区切り行</a:t>
              </a:r>
            </a:p>
          </p:txBody>
        </p:sp>
        <p:sp>
          <p:nvSpPr>
            <p:cNvPr id="11" name="TextBox 11"/>
            <p:cNvSpPr txBox="1"/>
            <p:nvPr/>
          </p:nvSpPr>
          <p:spPr>
            <a:xfrm>
              <a:off x="716661" y="2837021"/>
              <a:ext cx="3163159"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P29　書き戻しと検証 — all-or-nothing</a:t>
              </a:r>
            </a:p>
          </p:txBody>
        </p:sp>
        <p:sp>
          <p:nvSpPr>
            <p:cNvPr id="12" name="TextBox 12"/>
            <p:cNvSpPr txBox="1"/>
            <p:nvPr/>
          </p:nvSpPr>
          <p:spPr>
            <a:xfrm>
              <a:off x="716661" y="3237071"/>
              <a:ext cx="2519040"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P30　閲覧ロック・暗号化・署名</a:t>
              </a:r>
            </a:p>
          </p:txBody>
        </p:sp>
        <p:sp>
          <p:nvSpPr>
            <p:cNvPr id="13" name="TextBox 13"/>
            <p:cNvSpPr txBox="1"/>
            <p:nvPr/>
          </p:nvSpPr>
          <p:spPr>
            <a:xfrm>
              <a:off x="716661" y="3637121"/>
              <a:ext cx="2276663"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P31　対応形式と検証状態</a:t>
              </a:r>
            </a:p>
          </p:txBody>
        </p:sp>
        <p:sp>
          <p:nvSpPr>
            <p:cNvPr id="14" name="TextBox 14"/>
            <p:cNvSpPr txBox="1"/>
            <p:nvPr/>
          </p:nvSpPr>
          <p:spPr>
            <a:xfrm>
              <a:off x="716661" y="4037171"/>
              <a:ext cx="2539238"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P32　EDR / DLP 環境での導入</a:t>
              </a:r>
            </a:p>
          </p:txBody>
        </p:sp>
        <p:sp>
          <p:nvSpPr>
            <p:cNvPr id="15" name="TextBox 15"/>
            <p:cNvSpPr txBox="1"/>
            <p:nvPr/>
          </p:nvSpPr>
          <p:spPr>
            <a:xfrm>
              <a:off x="716661" y="4437221"/>
              <a:ext cx="1398046" cy="278702"/>
            </a:xfrm>
            <a:prstGeom prst="rect">
              <a:avLst/>
            </a:prstGeom>
            <a:noFill/>
            <a:ln>
              <a:noFill/>
            </a:ln>
          </p:spPr>
          <p:txBody>
            <a:bodyPr wrap="none" lIns="0" tIns="0" rIns="0" bIns="0" anchor="t" anchorCtr="0">
              <a:spAutoFit/>
            </a:bodyPr>
            <a:lstStyle/>
            <a:p>
              <a:pPr algn="l"/>
              <a:r>
                <a:rPr lang="zh-CN" sz="1420" dirty="0">
                  <a:solidFill>
                    <a:schemeClr val="dk1"/>
                  </a:solidFill>
                  <a:latin typeface="+mn-lt"/>
                  <a:ea typeface="+mn-ea"/>
                  <a:cs typeface="+mn-cs"/>
                </a:rPr>
                <a:t>P33　運用のヒント</a:t>
              </a:r>
            </a:p>
          </p:txBody>
        </p:sp>
        <p:sp>
          <p:nvSpPr>
            <p:cNvPr id="16" name="TextBox 16"/>
            <p:cNvSpPr txBox="1"/>
            <p:nvPr/>
          </p:nvSpPr>
          <p:spPr>
            <a:xfrm>
              <a:off x="717423" y="4967764"/>
              <a:ext cx="4501723"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仕組み・保証範囲・未検証事項を、導入判断に使える形で示します。</a:t>
              </a:r>
            </a:p>
          </p:txBody>
        </p:sp>
      </p:grpSp>
      <p:grpSp>
        <p:nvGrpSpPr>
          <p:cNvPr id="27" name="Group 27"/>
          <p:cNvGrpSpPr/>
          <p:nvPr/>
        </p:nvGrpSpPr>
        <p:grpSpPr>
          <a:xfrm>
            <a:off x="6096000" y="1428750"/>
            <a:ext cx="5638800" cy="2743200"/>
            <a:chOff x="6096000" y="1428750"/>
            <a:chExt cx="5638800" cy="2743200"/>
          </a:xfrm>
        </p:grpSpPr>
        <p:sp>
          <p:nvSpPr>
            <p:cNvPr id="18" name="Rectangle 18"/>
            <p:cNvSpPr/>
            <p:nvPr/>
          </p:nvSpPr>
          <p:spPr>
            <a:xfrm>
              <a:off x="6096000" y="1428750"/>
              <a:ext cx="5638800" cy="2743200"/>
            </a:xfrm>
            <a:prstGeom prst="roundRect">
              <a:avLst>
                <a:gd name="adj" fmla="val 5556"/>
              </a:avLst>
            </a:prstGeom>
            <a:solidFill>
              <a:schemeClr val="accent5"/>
            </a:solidFill>
            <a:ln w="9525">
              <a:solidFill>
                <a:schemeClr val="accent6"/>
              </a:solidFill>
            </a:ln>
          </p:spPr>
        </p:sp>
        <p:sp>
          <p:nvSpPr>
            <p:cNvPr id="19" name="Freeform 19"/>
            <p:cNvSpPr/>
            <p:nvPr/>
          </p:nvSpPr>
          <p:spPr>
            <a:xfrm>
              <a:off x="6345237" y="1669256"/>
              <a:ext cx="206374" cy="185737"/>
            </a:xfrm>
            <a:custGeom>
              <a:avLst/>
              <a:gdLst/>
              <a:ahLst/>
              <a:cxnLst/>
              <a:rect l="l" t="t" r="r" b="b"/>
              <a:pathLst>
                <a:path w="206374" h="185737">
                  <a:moveTo>
                    <a:pt x="51594" y="185737"/>
                  </a:moveTo>
                  <a:cubicBezTo>
                    <a:pt x="45895" y="185737"/>
                    <a:pt x="41275" y="181117"/>
                    <a:pt x="41275" y="175418"/>
                  </a:cubicBezTo>
                  <a:cubicBezTo>
                    <a:pt x="41275" y="169719"/>
                    <a:pt x="45895" y="165099"/>
                    <a:pt x="51594" y="165099"/>
                  </a:cubicBezTo>
                  <a:lnTo>
                    <a:pt x="61912" y="165099"/>
                  </a:lnTo>
                  <a:lnTo>
                    <a:pt x="61912" y="144462"/>
                  </a:lnTo>
                  <a:lnTo>
                    <a:pt x="20637" y="144462"/>
                  </a:lnTo>
                  <a:cubicBezTo>
                    <a:pt x="9240" y="144462"/>
                    <a:pt x="0" y="135222"/>
                    <a:pt x="0" y="123825"/>
                  </a:cubicBezTo>
                  <a:lnTo>
                    <a:pt x="0" y="20637"/>
                  </a:lnTo>
                  <a:cubicBezTo>
                    <a:pt x="0" y="9240"/>
                    <a:pt x="9240" y="0"/>
                    <a:pt x="20637" y="0"/>
                  </a:cubicBezTo>
                  <a:lnTo>
                    <a:pt x="185737" y="0"/>
                  </a:lnTo>
                  <a:cubicBezTo>
                    <a:pt x="197135" y="0"/>
                    <a:pt x="206374" y="9240"/>
                    <a:pt x="206374" y="20637"/>
                  </a:cubicBezTo>
                  <a:lnTo>
                    <a:pt x="206374" y="123825"/>
                  </a:lnTo>
                  <a:cubicBezTo>
                    <a:pt x="206374" y="135222"/>
                    <a:pt x="197135" y="144462"/>
                    <a:pt x="185737" y="144462"/>
                  </a:cubicBezTo>
                  <a:lnTo>
                    <a:pt x="144462" y="144462"/>
                  </a:lnTo>
                  <a:lnTo>
                    <a:pt x="144462" y="165099"/>
                  </a:lnTo>
                  <a:lnTo>
                    <a:pt x="154781" y="165099"/>
                  </a:lnTo>
                  <a:cubicBezTo>
                    <a:pt x="160480" y="165099"/>
                    <a:pt x="165099" y="169719"/>
                    <a:pt x="165099" y="175418"/>
                  </a:cubicBezTo>
                  <a:cubicBezTo>
                    <a:pt x="165099" y="181117"/>
                    <a:pt x="160480" y="185737"/>
                    <a:pt x="154781" y="185737"/>
                  </a:cubicBezTo>
                  <a:close/>
                  <a:moveTo>
                    <a:pt x="123825" y="144462"/>
                  </a:moveTo>
                  <a:lnTo>
                    <a:pt x="82550" y="144462"/>
                  </a:lnTo>
                  <a:lnTo>
                    <a:pt x="82550" y="165099"/>
                  </a:lnTo>
                  <a:lnTo>
                    <a:pt x="123825" y="165099"/>
                  </a:lnTo>
                  <a:close/>
                </a:path>
              </a:pathLst>
            </a:custGeom>
            <a:solidFill>
              <a:schemeClr val="accent1"/>
            </a:solidFill>
            <a:ln>
              <a:noFill/>
            </a:ln>
          </p:spPr>
        </p:sp>
        <p:sp>
          <p:nvSpPr>
            <p:cNvPr id="20" name="TextBox 20"/>
            <p:cNvSpPr txBox="1"/>
            <p:nvPr/>
          </p:nvSpPr>
          <p:spPr>
            <a:xfrm>
              <a:off x="6678168" y="1650682"/>
              <a:ext cx="949681"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動作要件</a:t>
              </a:r>
            </a:p>
          </p:txBody>
        </p:sp>
        <p:sp>
          <p:nvSpPr>
            <p:cNvPr id="21" name="TextBox 21"/>
            <p:cNvSpPr txBox="1"/>
            <p:nvPr/>
          </p:nvSpPr>
          <p:spPr>
            <a:xfrm>
              <a:off x="6317742" y="2083118"/>
              <a:ext cx="151601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・Windows 10 / 11</a:t>
              </a:r>
            </a:p>
          </p:txBody>
        </p:sp>
        <p:sp>
          <p:nvSpPr>
            <p:cNvPr id="22" name="TextBox 22"/>
            <p:cNvSpPr txBox="1"/>
            <p:nvPr/>
          </p:nvSpPr>
          <p:spPr>
            <a:xfrm>
              <a:off x="6317742" y="2387918"/>
              <a:ext cx="325993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・Windows PowerShell 5.1（OS 標準）</a:t>
              </a:r>
            </a:p>
          </p:txBody>
        </p:sp>
        <p:sp>
          <p:nvSpPr>
            <p:cNvPr id="23" name="TextBox 23"/>
            <p:cNvSpPr txBox="1"/>
            <p:nvPr/>
          </p:nvSpPr>
          <p:spPr>
            <a:xfrm>
              <a:off x="6317742" y="2692718"/>
              <a:ext cx="376612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・WebView2 ランタイム（Windows 11 は標準搭載）</a:t>
              </a:r>
            </a:p>
          </p:txBody>
        </p:sp>
        <p:sp>
          <p:nvSpPr>
            <p:cNvPr id="24" name="TextBox 24"/>
            <p:cNvSpPr txBox="1"/>
            <p:nvPr/>
          </p:nvSpPr>
          <p:spPr>
            <a:xfrm>
              <a:off x="6317742" y="2997518"/>
              <a:ext cx="36156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・.NET Framework 4.7.2 以降（OS 標準）</a:t>
              </a:r>
            </a:p>
          </p:txBody>
        </p:sp>
        <p:sp>
          <p:nvSpPr>
            <p:cNvPr id="25" name="TextBox 25"/>
            <p:cNvSpPr txBox="1"/>
            <p:nvPr/>
          </p:nvSpPr>
          <p:spPr>
            <a:xfrm>
              <a:off x="6317742" y="3302318"/>
              <a:ext cx="372636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・Excel はツール自体には不要（最終確認時に使用）</a:t>
              </a:r>
            </a:p>
          </p:txBody>
        </p:sp>
        <p:sp>
          <p:nvSpPr>
            <p:cNvPr id="26" name="TextBox 26"/>
            <p:cNvSpPr txBox="1"/>
            <p:nvPr/>
          </p:nvSpPr>
          <p:spPr>
            <a:xfrm>
              <a:off x="6318123" y="3710464"/>
              <a:ext cx="3054289"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インストールは不要。フォルダをコピーするだけで動きます。</a:t>
              </a:r>
            </a:p>
          </p:txBody>
        </p:sp>
      </p:grpSp>
      <p:grpSp>
        <p:nvGrpSpPr>
          <p:cNvPr id="32" name="Group 32"/>
          <p:cNvGrpSpPr/>
          <p:nvPr/>
        </p:nvGrpSpPr>
        <p:grpSpPr>
          <a:xfrm>
            <a:off x="6096000" y="4400550"/>
            <a:ext cx="5638800" cy="1045178"/>
            <a:chOff x="6096000" y="4400550"/>
            <a:chExt cx="5638800" cy="1045178"/>
          </a:xfrm>
        </p:grpSpPr>
        <p:sp>
          <p:nvSpPr>
            <p:cNvPr id="28" name="Rectangle 28"/>
            <p:cNvSpPr/>
            <p:nvPr/>
          </p:nvSpPr>
          <p:spPr>
            <a:xfrm>
              <a:off x="6096000" y="4400550"/>
              <a:ext cx="5638800" cy="971550"/>
            </a:xfrm>
            <a:prstGeom prst="roundRect">
              <a:avLst>
                <a:gd name="adj" fmla="val 15686"/>
              </a:avLst>
            </a:prstGeom>
            <a:solidFill>
              <a:schemeClr val="accent5"/>
            </a:solidFill>
            <a:ln w="9525">
              <a:solidFill>
                <a:schemeClr val="accent6"/>
              </a:solidFill>
            </a:ln>
          </p:spPr>
        </p:sp>
        <p:sp>
          <p:nvSpPr>
            <p:cNvPr id="29" name="Freeform 29"/>
            <p:cNvSpPr/>
            <p:nvPr/>
          </p:nvSpPr>
          <p:spPr>
            <a:xfrm>
              <a:off x="6340565" y="4611687"/>
              <a:ext cx="215709" cy="206485"/>
            </a:xfrm>
            <a:custGeom>
              <a:avLst/>
              <a:gdLst/>
              <a:ahLst/>
              <a:cxnLst/>
              <a:rect l="l" t="t" r="r" b="b"/>
              <a:pathLst>
                <a:path w="215709" h="206485">
                  <a:moveTo>
                    <a:pt x="106662" y="72"/>
                  </a:moveTo>
                  <a:lnTo>
                    <a:pt x="107839" y="0"/>
                  </a:ln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close/>
                </a:path>
              </a:pathLst>
            </a:custGeom>
            <a:solidFill>
              <a:schemeClr val="accent1"/>
            </a:solidFill>
            <a:ln>
              <a:noFill/>
            </a:ln>
          </p:spPr>
        </p:sp>
        <p:sp>
          <p:nvSpPr>
            <p:cNvPr id="30" name="TextBox 30"/>
            <p:cNvSpPr txBox="1"/>
            <p:nvPr/>
          </p:nvSpPr>
          <p:spPr>
            <a:xfrm>
              <a:off x="6678930" y="4619625"/>
              <a:ext cx="1329804"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完全ローカル動作</a:t>
              </a:r>
            </a:p>
          </p:txBody>
        </p:sp>
        <p:sp>
          <p:nvSpPr>
            <p:cNvPr id="31" name="TextBox 31"/>
            <p:cNvSpPr txBox="1"/>
            <p:nvPr/>
          </p:nvSpPr>
          <p:spPr>
            <a:xfrm>
              <a:off x="6318123" y="4967764"/>
              <a:ext cx="4402074" cy="477964"/>
            </a:xfrm>
            <a:prstGeom prst="rect">
              <a:avLst/>
            </a:prstGeom>
            <a:noFill/>
            <a:ln>
              <a:noFill/>
            </a:ln>
          </p:spPr>
          <p:txBody>
            <a:bodyPr wrap="square" lIns="0" tIns="0" rIns="0" bIns="0" anchor="t" anchorCtr="0"/>
            <a:lstStyle/>
            <a:p>
              <a:pPr algn="l">
                <a:lnSpc>
                  <a:spcPts val="1800"/>
                </a:lnSpc>
              </a:pPr>
              <a:r>
                <a:rPr lang="zh-CN" sz="1280" dirty="0">
                  <a:solidFill>
                    <a:schemeClr val="dk1"/>
                  </a:solidFill>
                  <a:latin typeface="+mn-lt"/>
                  <a:ea typeface="+mn-ea"/>
                  <a:cs typeface="+mn-cs"/>
                </a:rPr>
                <a:t>PowerShell + WebView2 のローカルアプリ。ツール自体は一切通信しません（AI との通信は、使用者が操作するチャット AI 側で行われます）。</a:t>
              </a:r>
            </a:p>
          </p:txBody>
        </p:sp>
      </p:grpSp>
      <p:grpSp>
        <p:nvGrpSpPr>
          <p:cNvPr id="35" name="Group 35"/>
          <p:cNvGrpSpPr/>
          <p:nvPr/>
        </p:nvGrpSpPr>
        <p:grpSpPr>
          <a:xfrm>
            <a:off x="451866" y="6477952"/>
            <a:ext cx="11288268" cy="205359"/>
            <a:chOff x="451866" y="6477952"/>
            <a:chExt cx="11288268" cy="205359"/>
          </a:xfrm>
        </p:grpSpPr>
        <p:sp>
          <p:nvSpPr>
            <p:cNvPr id="33" name="TextBox 33"/>
            <p:cNvSpPr txBox="1"/>
            <p:nvPr/>
          </p:nvSpPr>
          <p:spPr>
            <a:xfrm>
              <a:off x="451866" y="6477952"/>
              <a:ext cx="1438313"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第5部　技術・運用付録</a:t>
              </a:r>
            </a:p>
          </p:txBody>
        </p:sp>
        <p:sp>
          <p:nvSpPr>
            <p:cNvPr id="34" name="TextBox 34"/>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26</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第5部</a:t>
              </a:r>
            </a:p>
          </p:txBody>
        </p:sp>
        <p:sp>
          <p:nvSpPr>
            <p:cNvPr id="4" name="TextBox 4"/>
            <p:cNvSpPr txBox="1"/>
            <p:nvPr/>
          </p:nvSpPr>
          <p:spPr>
            <a:xfrm>
              <a:off x="441960" y="685800"/>
              <a:ext cx="5263134"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Excelを開かずにVBAを読む仕組み</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8" name="Group 8"/>
          <p:cNvGrpSpPr/>
          <p:nvPr/>
        </p:nvGrpSpPr>
        <p:grpSpPr>
          <a:xfrm>
            <a:off x="448818" y="1364932"/>
            <a:ext cx="9049226" cy="322707"/>
            <a:chOff x="448818" y="1364932"/>
            <a:chExt cx="9049226" cy="322707"/>
          </a:xfrm>
        </p:grpSpPr>
        <p:sp>
          <p:nvSpPr>
            <p:cNvPr id="7" name="TextBox 7"/>
            <p:cNvSpPr txBox="1"/>
            <p:nvPr/>
          </p:nvSpPr>
          <p:spPr>
            <a:xfrm>
              <a:off x="448818" y="1364932"/>
              <a:ext cx="904922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マクロは、ブックの中の 1 つのファイルに、公開された規格どおりに収まっています。MacroStudio はそれを直接読みます。</a:t>
              </a:r>
            </a:p>
          </p:txBody>
        </p:sp>
      </p:grpSp>
      <p:grpSp>
        <p:nvGrpSpPr>
          <p:cNvPr id="22" name="Group 22"/>
          <p:cNvGrpSpPr/>
          <p:nvPr/>
        </p:nvGrpSpPr>
        <p:grpSpPr>
          <a:xfrm>
            <a:off x="457200" y="1809750"/>
            <a:ext cx="7239000" cy="3619500"/>
            <a:chOff x="457200" y="1809750"/>
            <a:chExt cx="7239000" cy="3619500"/>
          </a:xfrm>
        </p:grpSpPr>
        <p:sp>
          <p:nvSpPr>
            <p:cNvPr id="9" name="Rectangle 9"/>
            <p:cNvSpPr/>
            <p:nvPr/>
          </p:nvSpPr>
          <p:spPr>
            <a:xfrm>
              <a:off x="457200" y="1809750"/>
              <a:ext cx="7239000" cy="3619500"/>
            </a:xfrm>
            <a:prstGeom prst="roundRect">
              <a:avLst>
                <a:gd name="adj" fmla="val 4211"/>
              </a:avLst>
            </a:prstGeom>
            <a:solidFill>
              <a:schemeClr val="lt2"/>
            </a:solidFill>
            <a:ln>
              <a:noFill/>
            </a:ln>
          </p:spPr>
        </p:sp>
        <p:sp>
          <p:nvSpPr>
            <p:cNvPr id="10" name="TextBox 10"/>
            <p:cNvSpPr txBox="1"/>
            <p:nvPr/>
          </p:nvSpPr>
          <p:spPr>
            <a:xfrm>
              <a:off x="717042" y="2006918"/>
              <a:ext cx="318145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 xml:space="preserve">申請データ検証.xlsm　</a:t>
              </a:r>
              <a:r>
                <a:rPr lang="zh-CN" sz="1200" dirty="0">
                  <a:solidFill>
                    <a:srgbClr val="5D6B7A"/>
                  </a:solidFill>
                  <a:latin typeface="+mn-lt"/>
                  <a:ea typeface="+mn-ea"/>
                  <a:cs typeface="+mn-cs"/>
                </a:rPr>
                <a:t>＝ ZIP 形式の入れ物</a:t>
              </a:r>
            </a:p>
          </p:txBody>
        </p:sp>
        <p:sp>
          <p:nvSpPr>
            <p:cNvPr id="11" name="Rectangle 11"/>
            <p:cNvSpPr/>
            <p:nvPr/>
          </p:nvSpPr>
          <p:spPr>
            <a:xfrm>
              <a:off x="723900" y="2305050"/>
              <a:ext cx="6705600" cy="2895600"/>
            </a:xfrm>
            <a:prstGeom prst="roundRect">
              <a:avLst>
                <a:gd name="adj" fmla="val 3947"/>
              </a:avLst>
            </a:prstGeom>
            <a:solidFill>
              <a:schemeClr val="lt1"/>
            </a:solidFill>
            <a:ln w="14288">
              <a:solidFill>
                <a:srgbClr val="CFD7DE"/>
              </a:solidFill>
            </a:ln>
          </p:spPr>
        </p:sp>
        <p:sp>
          <p:nvSpPr>
            <p:cNvPr id="12" name="TextBox 12"/>
            <p:cNvSpPr txBox="1"/>
            <p:nvPr/>
          </p:nvSpPr>
          <p:spPr>
            <a:xfrm>
              <a:off x="946023" y="2491264"/>
              <a:ext cx="2158258"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シートや書式のデータ …（触れません）</a:t>
              </a:r>
            </a:p>
          </p:txBody>
        </p:sp>
        <p:sp>
          <p:nvSpPr>
            <p:cNvPr id="13" name="TextBox 13"/>
            <p:cNvSpPr txBox="1"/>
            <p:nvPr/>
          </p:nvSpPr>
          <p:spPr>
            <a:xfrm>
              <a:off x="945642" y="2826068"/>
              <a:ext cx="353893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Consolas"/>
                  <a:ea typeface="Consolas"/>
                  <a:cs typeface="Consolas"/>
                </a:rPr>
                <a:t>xl/vbaProject.bin</a:t>
              </a:r>
              <a:r>
                <a:rPr lang="zh-CN" sz="1350" b="1" dirty="0">
                  <a:solidFill>
                    <a:schemeClr val="dk1"/>
                  </a:solidFill>
                  <a:latin typeface="+mn-lt"/>
                  <a:ea typeface="+mn-ea"/>
                  <a:cs typeface="+mn-cs"/>
                </a:rPr>
                <a:t xml:space="preserve">　</a:t>
              </a:r>
              <a:r>
                <a:rPr lang="zh-CN" sz="1200" dirty="0">
                  <a:solidFill>
                    <a:srgbClr val="5D6B7A"/>
                  </a:solidFill>
                  <a:latin typeface="+mn-lt"/>
                  <a:ea typeface="+mn-ea"/>
                  <a:cs typeface="+mn-cs"/>
                </a:rPr>
                <a:t>＝ マクロ全体が入る 1 ファイル</a:t>
              </a:r>
            </a:p>
          </p:txBody>
        </p:sp>
        <p:sp>
          <p:nvSpPr>
            <p:cNvPr id="14" name="Rectangle 14"/>
            <p:cNvSpPr/>
            <p:nvPr/>
          </p:nvSpPr>
          <p:spPr>
            <a:xfrm>
              <a:off x="952500" y="3105150"/>
              <a:ext cx="6248400" cy="1905000"/>
            </a:xfrm>
            <a:prstGeom prst="roundRect">
              <a:avLst>
                <a:gd name="adj" fmla="val 5000"/>
              </a:avLst>
            </a:prstGeom>
            <a:solidFill>
              <a:schemeClr val="lt2"/>
            </a:solidFill>
            <a:ln w="14288">
              <a:solidFill>
                <a:schemeClr val="accent3"/>
              </a:solidFill>
            </a:ln>
          </p:spPr>
        </p:sp>
        <p:sp>
          <p:nvSpPr>
            <p:cNvPr id="15" name="TextBox 15"/>
            <p:cNvSpPr txBox="1"/>
            <p:nvPr/>
          </p:nvSpPr>
          <p:spPr>
            <a:xfrm>
              <a:off x="1174623" y="3272314"/>
              <a:ext cx="4288802" cy="249364"/>
            </a:xfrm>
            <a:prstGeom prst="rect">
              <a:avLst/>
            </a:prstGeom>
            <a:noFill/>
            <a:ln>
              <a:noFill/>
            </a:ln>
          </p:spPr>
          <p:txBody>
            <a:bodyPr wrap="none" lIns="0" tIns="0" rIns="0" bIns="0" anchor="t" anchorCtr="0">
              <a:spAutoFit/>
            </a:bodyPr>
            <a:lstStyle/>
            <a:p>
              <a:pPr algn="l"/>
              <a:r>
                <a:rPr lang="zh-CN" sz="1280" b="1" dirty="0">
                  <a:solidFill>
                    <a:schemeClr val="dk1"/>
                  </a:solidFill>
                  <a:latin typeface="+mn-lt"/>
                  <a:ea typeface="+mn-ea"/>
                  <a:cs typeface="+mn-cs"/>
                </a:rPr>
                <a:t xml:space="preserve">OLE2（複合ドキュメント）　</a:t>
              </a:r>
              <a:r>
                <a:rPr lang="zh-CN" sz="1120" dirty="0">
                  <a:solidFill>
                    <a:srgbClr val="5D6B7A"/>
                  </a:solidFill>
                  <a:latin typeface="+mn-lt"/>
                  <a:ea typeface="+mn-ea"/>
                  <a:cs typeface="+mn-cs"/>
                </a:rPr>
                <a:t>＝ 区画に分かれた構造［MS-CFB］</a:t>
              </a:r>
            </a:p>
          </p:txBody>
        </p:sp>
        <p:sp>
          <p:nvSpPr>
            <p:cNvPr id="16" name="Rectangle 16"/>
            <p:cNvSpPr/>
            <p:nvPr/>
          </p:nvSpPr>
          <p:spPr>
            <a:xfrm>
              <a:off x="1181100" y="3543300"/>
              <a:ext cx="5791200" cy="609600"/>
            </a:xfrm>
            <a:prstGeom prst="roundRect">
              <a:avLst>
                <a:gd name="adj" fmla="val 12500"/>
              </a:avLst>
            </a:prstGeom>
            <a:solidFill>
              <a:schemeClr val="lt1"/>
            </a:solidFill>
            <a:ln w="9525">
              <a:solidFill>
                <a:srgbClr val="CFD7DE"/>
              </a:solidFill>
            </a:ln>
          </p:spPr>
        </p:sp>
        <p:sp>
          <p:nvSpPr>
            <p:cNvPr id="17" name="TextBox 17"/>
            <p:cNvSpPr txBox="1"/>
            <p:nvPr/>
          </p:nvSpPr>
          <p:spPr>
            <a:xfrm>
              <a:off x="1365504" y="3661410"/>
              <a:ext cx="3371655"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 xml:space="preserve">管理情報の区画　</a:t>
              </a:r>
              <a:r>
                <a:rPr lang="en-US" sz="1120" dirty="0">
                  <a:solidFill>
                    <a:schemeClr val="dk1"/>
                  </a:solidFill>
                  <a:latin typeface="Consolas"/>
                  <a:ea typeface="Consolas"/>
                  <a:cs typeface="Consolas"/>
                </a:rPr>
                <a:t>dir ・ PROJECT ・ PROJECTwm</a:t>
              </a:r>
            </a:p>
          </p:txBody>
        </p:sp>
        <p:sp>
          <p:nvSpPr>
            <p:cNvPr id="18" name="TextBox 18"/>
            <p:cNvSpPr txBox="1"/>
            <p:nvPr/>
          </p:nvSpPr>
          <p:spPr>
            <a:xfrm>
              <a:off x="1365885" y="3917156"/>
              <a:ext cx="2197659"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モジュールの一覧・種類・置き場所の台帳</a:t>
              </a:r>
            </a:p>
          </p:txBody>
        </p:sp>
        <p:sp>
          <p:nvSpPr>
            <p:cNvPr id="19" name="Rectangle 19"/>
            <p:cNvSpPr/>
            <p:nvPr/>
          </p:nvSpPr>
          <p:spPr>
            <a:xfrm>
              <a:off x="1181100" y="4248150"/>
              <a:ext cx="5791200" cy="609600"/>
            </a:xfrm>
            <a:prstGeom prst="roundRect">
              <a:avLst>
                <a:gd name="adj" fmla="val 12500"/>
              </a:avLst>
            </a:prstGeom>
            <a:solidFill>
              <a:schemeClr val="lt1"/>
            </a:solidFill>
            <a:ln w="9525">
              <a:solidFill>
                <a:srgbClr val="CFD7DE"/>
              </a:solidFill>
            </a:ln>
          </p:spPr>
        </p:sp>
        <p:sp>
          <p:nvSpPr>
            <p:cNvPr id="20" name="TextBox 20"/>
            <p:cNvSpPr txBox="1"/>
            <p:nvPr/>
          </p:nvSpPr>
          <p:spPr>
            <a:xfrm>
              <a:off x="1365504" y="4366260"/>
              <a:ext cx="3110655"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 xml:space="preserve">モジュールの区画　</a:t>
              </a:r>
              <a:r>
                <a:rPr lang="en-US" sz="1120" dirty="0">
                  <a:solidFill>
                    <a:schemeClr val="dk1"/>
                  </a:solidFill>
                  <a:latin typeface="Consolas"/>
                  <a:ea typeface="Consolas"/>
                  <a:cs typeface="Consolas"/>
                </a:rPr>
                <a:t>AppController ・ TimerUtils …</a:t>
              </a:r>
            </a:p>
          </p:txBody>
        </p:sp>
        <p:sp>
          <p:nvSpPr>
            <p:cNvPr id="21" name="TextBox 21"/>
            <p:cNvSpPr txBox="1"/>
            <p:nvPr/>
          </p:nvSpPr>
          <p:spPr>
            <a:xfrm>
              <a:off x="1365885" y="4622006"/>
              <a:ext cx="3699429" cy="220028"/>
            </a:xfrm>
            <a:prstGeom prst="rect">
              <a:avLst/>
            </a:prstGeom>
            <a:noFill/>
            <a:ln>
              <a:noFill/>
            </a:ln>
          </p:spPr>
          <p:txBody>
            <a:bodyPr wrap="none" lIns="0" tIns="0" rIns="0" bIns="0" anchor="t" anchorCtr="0">
              <a:spAutoFit/>
            </a:bodyPr>
            <a:lstStyle/>
            <a:p>
              <a:pPr algn="l"/>
              <a:r>
                <a:rPr lang="zh-CN" sz="1120" dirty="0">
                  <a:solidFill>
                    <a:srgbClr val="5D6B7A"/>
                  </a:solidFill>
                  <a:latin typeface="+mn-lt"/>
                  <a:ea typeface="+mn-ea"/>
                  <a:cs typeface="+mn-cs"/>
                </a:rPr>
                <a:t>コード本文（MS-OVBA 規格の圧縮）→ 展開すると VBA ソース</a:t>
              </a:r>
            </a:p>
          </p:txBody>
        </p:sp>
      </p:grpSp>
      <p:grpSp>
        <p:nvGrpSpPr>
          <p:cNvPr id="32" name="Group 32"/>
          <p:cNvGrpSpPr/>
          <p:nvPr/>
        </p:nvGrpSpPr>
        <p:grpSpPr>
          <a:xfrm>
            <a:off x="8020050" y="1876425"/>
            <a:ext cx="2886202" cy="3239548"/>
            <a:chOff x="8020050" y="1876425"/>
            <a:chExt cx="2886202" cy="3239548"/>
          </a:xfrm>
        </p:grpSpPr>
        <p:sp>
          <p:nvSpPr>
            <p:cNvPr id="23" name="Ellipse 23"/>
            <p:cNvSpPr/>
            <p:nvPr/>
          </p:nvSpPr>
          <p:spPr>
            <a:xfrm>
              <a:off x="8020050" y="1876425"/>
              <a:ext cx="285750" cy="285750"/>
            </a:xfrm>
            <a:prstGeom prst="ellipse">
              <a:avLst/>
            </a:prstGeom>
            <a:solidFill>
              <a:schemeClr val="accent1"/>
            </a:solidFill>
            <a:ln>
              <a:noFill/>
            </a:ln>
          </p:spPr>
        </p:sp>
        <p:sp>
          <p:nvSpPr>
            <p:cNvPr id="24" name="TextBox 24"/>
            <p:cNvSpPr txBox="1"/>
            <p:nvPr/>
          </p:nvSpPr>
          <p:spPr>
            <a:xfrm>
              <a:off x="8110183" y="19469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5" name="TextBox 25"/>
            <p:cNvSpPr txBox="1"/>
            <p:nvPr/>
          </p:nvSpPr>
          <p:spPr>
            <a:xfrm>
              <a:off x="8431911" y="1941671"/>
              <a:ext cx="2367915" cy="812102"/>
            </a:xfrm>
            <a:prstGeom prst="rect">
              <a:avLst/>
            </a:prstGeom>
            <a:noFill/>
            <a:ln>
              <a:noFill/>
            </a:ln>
          </p:spPr>
          <p:txBody>
            <a:bodyPr wrap="square" lIns="0" tIns="0" rIns="0" bIns="0" anchor="t" anchorCtr="0"/>
            <a:lstStyle/>
            <a:p>
              <a:pPr algn="l">
                <a:lnSpc>
                  <a:spcPts val="2100"/>
                </a:lnSpc>
              </a:pPr>
              <a:r>
                <a:rPr lang="zh-CN" sz="1420" dirty="0">
                  <a:solidFill>
                    <a:schemeClr val="dk1"/>
                  </a:solidFill>
                  <a:latin typeface="+mn-lt"/>
                  <a:ea typeface="+mn-ea"/>
                  <a:cs typeface="+mn-cs"/>
                </a:rPr>
                <a:t>MacroStudio はこの経路を自前の実装でたどり、Excel を起動せずに</a:t>
              </a:r>
              <a:r>
                <a:rPr lang="en-US" sz="1420" dirty="0">
                  <a:solidFill>
                    <a:schemeClr val="dk1"/>
                  </a:solidFill>
                  <a:latin typeface="+mn-lt"/>
                  <a:ea typeface="+mn-ea"/>
                  <a:cs typeface="+mn-cs"/>
                </a:rPr>
                <a:t xml:space="preserve"> </a:t>
              </a:r>
              <a:r>
                <a:rPr lang="zh-CN" sz="1420" dirty="0">
                  <a:solidFill>
                    <a:schemeClr val="dk1"/>
                  </a:solidFill>
                  <a:latin typeface="+mn-lt"/>
                  <a:ea typeface="+mn-ea"/>
                  <a:cs typeface="+mn-cs"/>
                </a:rPr>
                <a:t>コードを取り出します。</a:t>
              </a:r>
            </a:p>
          </p:txBody>
        </p:sp>
        <p:sp>
          <p:nvSpPr>
            <p:cNvPr id="26" name="Ellipse 26"/>
            <p:cNvSpPr/>
            <p:nvPr/>
          </p:nvSpPr>
          <p:spPr>
            <a:xfrm>
              <a:off x="8020050" y="2867025"/>
              <a:ext cx="285750" cy="285750"/>
            </a:xfrm>
            <a:prstGeom prst="ellipse">
              <a:avLst/>
            </a:prstGeom>
            <a:solidFill>
              <a:schemeClr val="accent1"/>
            </a:solidFill>
            <a:ln>
              <a:noFill/>
            </a:ln>
          </p:spPr>
        </p:sp>
        <p:sp>
          <p:nvSpPr>
            <p:cNvPr id="27" name="TextBox 27"/>
            <p:cNvSpPr txBox="1"/>
            <p:nvPr/>
          </p:nvSpPr>
          <p:spPr>
            <a:xfrm>
              <a:off x="8110183" y="29375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28" name="TextBox 28"/>
            <p:cNvSpPr txBox="1"/>
            <p:nvPr/>
          </p:nvSpPr>
          <p:spPr>
            <a:xfrm>
              <a:off x="8431911" y="2932271"/>
              <a:ext cx="2474341" cy="1078802"/>
            </a:xfrm>
            <a:prstGeom prst="rect">
              <a:avLst/>
            </a:prstGeom>
            <a:noFill/>
            <a:ln>
              <a:noFill/>
            </a:ln>
          </p:spPr>
          <p:txBody>
            <a:bodyPr wrap="square" lIns="0" tIns="0" rIns="0" bIns="0" anchor="t" anchorCtr="0"/>
            <a:lstStyle/>
            <a:p>
              <a:pPr algn="l">
                <a:lnSpc>
                  <a:spcPts val="2100"/>
                </a:lnSpc>
              </a:pPr>
              <a:r>
                <a:rPr lang="zh-CN" sz="1420" dirty="0">
                  <a:solidFill>
                    <a:schemeClr val="dk1"/>
                  </a:solidFill>
                  <a:latin typeface="+mn-lt"/>
                  <a:ea typeface="+mn-ea"/>
                  <a:cs typeface="+mn-cs"/>
                </a:rPr>
                <a:t>書き戻しも同じ経路の逆向きで、</a:t>
              </a:r>
              <a:r>
                <a:rPr lang="en-US" sz="1280" dirty="0">
                  <a:solidFill>
                    <a:schemeClr val="dk1"/>
                  </a:solidFill>
                  <a:latin typeface="Consolas"/>
                  <a:ea typeface="Consolas"/>
                  <a:cs typeface="Consolas"/>
                </a:rPr>
                <a:t>vbaProject.bin</a:t>
              </a:r>
              <a:r>
                <a:rPr lang="zh-CN" sz="1420" dirty="0">
                  <a:solidFill>
                    <a:schemeClr val="dk1"/>
                  </a:solidFill>
                  <a:latin typeface="+mn-lt"/>
                  <a:ea typeface="+mn-ea"/>
                  <a:cs typeface="+mn-cs"/>
                </a:rPr>
                <a:t xml:space="preserve"> だけを組み直します。シートの値・書式・数式には触れません。</a:t>
              </a:r>
            </a:p>
          </p:txBody>
        </p:sp>
        <p:sp>
          <p:nvSpPr>
            <p:cNvPr id="29" name="Ellipse 29"/>
            <p:cNvSpPr/>
            <p:nvPr/>
          </p:nvSpPr>
          <p:spPr>
            <a:xfrm>
              <a:off x="8020050" y="4238625"/>
              <a:ext cx="285750" cy="285750"/>
            </a:xfrm>
            <a:prstGeom prst="ellipse">
              <a:avLst/>
            </a:prstGeom>
            <a:solidFill>
              <a:schemeClr val="accent1"/>
            </a:solidFill>
            <a:ln>
              <a:noFill/>
            </a:ln>
          </p:spPr>
        </p:sp>
        <p:sp>
          <p:nvSpPr>
            <p:cNvPr id="30" name="TextBox 30"/>
            <p:cNvSpPr txBox="1"/>
            <p:nvPr/>
          </p:nvSpPr>
          <p:spPr>
            <a:xfrm>
              <a:off x="8110183" y="430911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3</a:t>
              </a:r>
            </a:p>
          </p:txBody>
        </p:sp>
        <p:sp>
          <p:nvSpPr>
            <p:cNvPr id="31" name="TextBox 31"/>
            <p:cNvSpPr txBox="1"/>
            <p:nvPr/>
          </p:nvSpPr>
          <p:spPr>
            <a:xfrm>
              <a:off x="8431911" y="4303871"/>
              <a:ext cx="2358898" cy="812102"/>
            </a:xfrm>
            <a:prstGeom prst="rect">
              <a:avLst/>
            </a:prstGeom>
            <a:noFill/>
            <a:ln>
              <a:noFill/>
            </a:ln>
          </p:spPr>
          <p:txBody>
            <a:bodyPr wrap="square" lIns="0" tIns="0" rIns="0" bIns="0" anchor="t" anchorCtr="0"/>
            <a:lstStyle/>
            <a:p>
              <a:pPr algn="l">
                <a:lnSpc>
                  <a:spcPts val="2100"/>
                </a:lnSpc>
              </a:pPr>
              <a:r>
                <a:rPr lang="zh-CN" sz="1420" dirty="0">
                  <a:solidFill>
                    <a:schemeClr val="dk1"/>
                  </a:solidFill>
                  <a:latin typeface="+mn-lt"/>
                  <a:ea typeface="+mn-ea"/>
                  <a:cs typeface="+mn-cs"/>
                </a:rPr>
                <a:t>壊れかけたブックも複数の経路で読み直し、読めたモジュールは必ず保持します（案内 → P12）。</a:t>
              </a:r>
            </a:p>
          </p:txBody>
        </p:sp>
      </p:grpSp>
      <p:grpSp>
        <p:nvGrpSpPr>
          <p:cNvPr id="34" name="Group 34"/>
          <p:cNvGrpSpPr/>
          <p:nvPr/>
        </p:nvGrpSpPr>
        <p:grpSpPr>
          <a:xfrm>
            <a:off x="450723" y="5767864"/>
            <a:ext cx="8965783" cy="249364"/>
            <a:chOff x="450723" y="5767864"/>
            <a:chExt cx="8965783" cy="249364"/>
          </a:xfrm>
        </p:grpSpPr>
        <p:sp>
          <p:nvSpPr>
            <p:cNvPr id="33" name="TextBox 33"/>
            <p:cNvSpPr txBox="1"/>
            <p:nvPr/>
          </p:nvSpPr>
          <p:spPr>
            <a:xfrm>
              <a:off x="450723" y="5767864"/>
              <a:ext cx="8965783"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実装は本体同梱（外部ライブラリへの実行時依存なし）。MS-CFB / MS-OVBA は Microsoft が公開している文書化された仕様です。</a:t>
              </a:r>
            </a:p>
          </p:txBody>
        </p:sp>
      </p:grpSp>
      <p:grpSp>
        <p:nvGrpSpPr>
          <p:cNvPr id="37" name="Group 37"/>
          <p:cNvGrpSpPr/>
          <p:nvPr/>
        </p:nvGrpSpPr>
        <p:grpSpPr>
          <a:xfrm>
            <a:off x="451866" y="6477952"/>
            <a:ext cx="11288268" cy="205359"/>
            <a:chOff x="451866" y="6477952"/>
            <a:chExt cx="11288268" cy="205359"/>
          </a:xfrm>
        </p:grpSpPr>
        <p:sp>
          <p:nvSpPr>
            <p:cNvPr id="35" name="TextBox 35"/>
            <p:cNvSpPr txBox="1"/>
            <p:nvPr/>
          </p:nvSpPr>
          <p:spPr>
            <a:xfrm>
              <a:off x="451866" y="6477952"/>
              <a:ext cx="1438313"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第5部　技術・運用付録</a:t>
              </a:r>
            </a:p>
          </p:txBody>
        </p:sp>
        <p:sp>
          <p:nvSpPr>
            <p:cNvPr id="36" name="TextBox 36"/>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27</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第5部</a:t>
              </a:r>
            </a:p>
          </p:txBody>
        </p:sp>
        <p:sp>
          <p:nvSpPr>
            <p:cNvPr id="4" name="TextBox 4"/>
            <p:cNvSpPr txBox="1"/>
            <p:nvPr/>
          </p:nvSpPr>
          <p:spPr>
            <a:xfrm>
              <a:off x="441960" y="685800"/>
              <a:ext cx="634887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受け渡しの照合 — 依頼番号と区切り行</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8" name="Group 8"/>
          <p:cNvGrpSpPr/>
          <p:nvPr/>
        </p:nvGrpSpPr>
        <p:grpSpPr>
          <a:xfrm>
            <a:off x="448818" y="1364932"/>
            <a:ext cx="10167366" cy="322707"/>
            <a:chOff x="448818" y="1364932"/>
            <a:chExt cx="10167366" cy="322707"/>
          </a:xfrm>
        </p:grpSpPr>
        <p:sp>
          <p:nvSpPr>
            <p:cNvPr id="7" name="TextBox 7"/>
            <p:cNvSpPr txBox="1"/>
            <p:nvPr/>
          </p:nvSpPr>
          <p:spPr>
            <a:xfrm>
              <a:off x="448818" y="1364932"/>
              <a:ext cx="10167366"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目的を選ぶたびに依頼番号（UUID）が発行され、依頼文の区切り行に埋め込まれます。返答はそれを書き写して戻ります。</a:t>
              </a:r>
            </a:p>
          </p:txBody>
        </p:sp>
      </p:grpSp>
      <p:grpSp>
        <p:nvGrpSpPr>
          <p:cNvPr id="19" name="Group 19"/>
          <p:cNvGrpSpPr/>
          <p:nvPr/>
        </p:nvGrpSpPr>
        <p:grpSpPr>
          <a:xfrm>
            <a:off x="457200" y="1809750"/>
            <a:ext cx="6096000" cy="2857500"/>
            <a:chOff x="457200" y="1809750"/>
            <a:chExt cx="6096000" cy="2857500"/>
          </a:xfrm>
        </p:grpSpPr>
        <p:sp>
          <p:nvSpPr>
            <p:cNvPr id="9" name="Rectangle 9"/>
            <p:cNvSpPr/>
            <p:nvPr/>
          </p:nvSpPr>
          <p:spPr>
            <a:xfrm>
              <a:off x="457200" y="1809750"/>
              <a:ext cx="6096000" cy="2857500"/>
            </a:xfrm>
            <a:prstGeom prst="roundRect">
              <a:avLst>
                <a:gd name="adj" fmla="val 5333"/>
              </a:avLst>
            </a:prstGeom>
            <a:solidFill>
              <a:schemeClr val="accent5"/>
            </a:solidFill>
            <a:ln w="14288">
              <a:solidFill>
                <a:schemeClr val="accent6"/>
              </a:solidFill>
            </a:ln>
          </p:spPr>
        </p:sp>
        <p:sp>
          <p:nvSpPr>
            <p:cNvPr id="10" name="TextBox 10"/>
            <p:cNvSpPr txBox="1"/>
            <p:nvPr/>
          </p:nvSpPr>
          <p:spPr>
            <a:xfrm>
              <a:off x="717042" y="1968818"/>
              <a:ext cx="2465802"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返答パッケージの形（実物の形式）</a:t>
              </a:r>
            </a:p>
          </p:txBody>
        </p:sp>
        <p:sp>
          <p:nvSpPr>
            <p:cNvPr id="11" name="TextBox 11"/>
            <p:cNvSpPr txBox="1"/>
            <p:nvPr/>
          </p:nvSpPr>
          <p:spPr>
            <a:xfrm>
              <a:off x="717804" y="2327910"/>
              <a:ext cx="3280867"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Consolas"/>
                  <a:ea typeface="Microsoft YaHei"/>
                  <a:cs typeface="Consolas"/>
                </a:rPr>
                <a:t>'@MACROSTUDIO 依頼番号 SUMMARY BEGIN</a:t>
              </a:r>
            </a:p>
          </p:txBody>
        </p:sp>
        <p:sp>
          <p:nvSpPr>
            <p:cNvPr id="12" name="TextBox 12"/>
            <p:cNvSpPr txBox="1"/>
            <p:nvPr/>
          </p:nvSpPr>
          <p:spPr>
            <a:xfrm>
              <a:off x="717804" y="2594610"/>
              <a:ext cx="1603400"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Consolas"/>
                  <a:ea typeface="Microsoft YaHei"/>
                  <a:cs typeface="Consolas"/>
                </a:rPr>
                <a:t>（何をどう直したかの要約）</a:t>
              </a:r>
            </a:p>
          </p:txBody>
        </p:sp>
        <p:sp>
          <p:nvSpPr>
            <p:cNvPr id="13" name="TextBox 13"/>
            <p:cNvSpPr txBox="1"/>
            <p:nvPr/>
          </p:nvSpPr>
          <p:spPr>
            <a:xfrm>
              <a:off x="717804" y="2861310"/>
              <a:ext cx="3135782"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Consolas"/>
                  <a:ea typeface="Microsoft YaHei"/>
                  <a:cs typeface="Consolas"/>
                </a:rPr>
                <a:t>'@MACROSTUDIO 依頼番号 SUMMARY END</a:t>
              </a:r>
            </a:p>
          </p:txBody>
        </p:sp>
        <p:sp>
          <p:nvSpPr>
            <p:cNvPr id="14" name="TextBox 14"/>
            <p:cNvSpPr txBox="1"/>
            <p:nvPr/>
          </p:nvSpPr>
          <p:spPr>
            <a:xfrm>
              <a:off x="717804" y="3128010"/>
              <a:ext cx="4008951"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Consolas"/>
                  <a:ea typeface="Microsoft YaHei"/>
                  <a:cs typeface="Consolas"/>
                </a:rPr>
                <a:t>'@MACROSTUDIO 依頼番号 BEGIN standard WaitUtils</a:t>
              </a:r>
            </a:p>
          </p:txBody>
        </p:sp>
        <p:sp>
          <p:nvSpPr>
            <p:cNvPr id="15" name="TextBox 15"/>
            <p:cNvSpPr txBox="1"/>
            <p:nvPr/>
          </p:nvSpPr>
          <p:spPr>
            <a:xfrm>
              <a:off x="717804" y="3394710"/>
              <a:ext cx="136916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Consolas"/>
                  <a:ea typeface="Microsoft YaHei"/>
                  <a:cs typeface="Consolas"/>
                </a:rPr>
                <a:t>（そのモジュールの全文）</a:t>
              </a:r>
            </a:p>
          </p:txBody>
        </p:sp>
        <p:sp>
          <p:nvSpPr>
            <p:cNvPr id="16" name="TextBox 16"/>
            <p:cNvSpPr txBox="1"/>
            <p:nvPr/>
          </p:nvSpPr>
          <p:spPr>
            <a:xfrm>
              <a:off x="717804" y="3661410"/>
              <a:ext cx="3861192"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Consolas"/>
                  <a:ea typeface="Microsoft YaHei"/>
                  <a:cs typeface="Consolas"/>
                </a:rPr>
                <a:t>'@MACROSTUDIO 依頼番号 END standard WaitUtils</a:t>
              </a:r>
            </a:p>
          </p:txBody>
        </p:sp>
        <p:sp>
          <p:nvSpPr>
            <p:cNvPr id="17" name="TextBox 17"/>
            <p:cNvSpPr txBox="1"/>
            <p:nvPr/>
          </p:nvSpPr>
          <p:spPr>
            <a:xfrm>
              <a:off x="717804" y="3928110"/>
              <a:ext cx="2233422" cy="234696"/>
            </a:xfrm>
            <a:prstGeom prst="rect">
              <a:avLst/>
            </a:prstGeom>
            <a:noFill/>
            <a:ln>
              <a:noFill/>
            </a:ln>
          </p:spPr>
          <p:txBody>
            <a:bodyPr wrap="none" lIns="0" tIns="0" rIns="0" bIns="0" anchor="t" anchorCtr="0">
              <a:spAutoFit/>
            </a:bodyPr>
            <a:lstStyle/>
            <a:p>
              <a:pPr algn="l"/>
              <a:r>
                <a:rPr lang="zh-CN" sz="1200" dirty="0">
                  <a:solidFill>
                    <a:srgbClr val="5D6B7A"/>
                  </a:solidFill>
                  <a:latin typeface="Consolas"/>
                  <a:ea typeface="Microsoft YaHei"/>
                  <a:cs typeface="Consolas"/>
                </a:rPr>
                <a:t>（… 変更したモジュールの数だけ続く …）</a:t>
              </a:r>
            </a:p>
          </p:txBody>
        </p:sp>
        <p:sp>
          <p:nvSpPr>
            <p:cNvPr id="18" name="TextBox 18"/>
            <p:cNvSpPr txBox="1"/>
            <p:nvPr/>
          </p:nvSpPr>
          <p:spPr>
            <a:xfrm>
              <a:off x="717804" y="4194810"/>
              <a:ext cx="3041904" cy="234696"/>
            </a:xfrm>
            <a:prstGeom prst="rect">
              <a:avLst/>
            </a:prstGeom>
            <a:noFill/>
            <a:ln>
              <a:noFill/>
            </a:ln>
          </p:spPr>
          <p:txBody>
            <a:bodyPr wrap="none" lIns="0" tIns="0" rIns="0" bIns="0" anchor="t" anchorCtr="0">
              <a:spAutoFit/>
            </a:bodyPr>
            <a:lstStyle/>
            <a:p>
              <a:pPr algn="l"/>
              <a:r>
                <a:rPr lang="zh-CN" sz="1200" dirty="0">
                  <a:solidFill>
                    <a:schemeClr val="accent1"/>
                  </a:solidFill>
                  <a:latin typeface="Consolas"/>
                  <a:ea typeface="Microsoft YaHei"/>
                  <a:cs typeface="Consolas"/>
                </a:rPr>
                <a:t>'@MACROSTUDIO 依頼番号 COMPLETE 5</a:t>
              </a:r>
            </a:p>
          </p:txBody>
        </p:sp>
      </p:grpSp>
      <p:grpSp>
        <p:nvGrpSpPr>
          <p:cNvPr id="21" name="Group 21"/>
          <p:cNvGrpSpPr/>
          <p:nvPr/>
        </p:nvGrpSpPr>
        <p:grpSpPr>
          <a:xfrm>
            <a:off x="450723" y="4910614"/>
            <a:ext cx="3833114" cy="744665"/>
            <a:chOff x="450723" y="4910614"/>
            <a:chExt cx="3833114" cy="744665"/>
          </a:xfrm>
        </p:grpSpPr>
        <p:sp>
          <p:nvSpPr>
            <p:cNvPr id="20" name="TextBox 20"/>
            <p:cNvSpPr txBox="1"/>
            <p:nvPr/>
          </p:nvSpPr>
          <p:spPr>
            <a:xfrm>
              <a:off x="450723" y="4910614"/>
              <a:ext cx="3833114" cy="744665"/>
            </a:xfrm>
            <a:prstGeom prst="rect">
              <a:avLst/>
            </a:prstGeom>
            <a:noFill/>
            <a:ln>
              <a:noFill/>
            </a:ln>
          </p:spPr>
          <p:txBody>
            <a:bodyPr wrap="square" lIns="0" tIns="0" rIns="0" bIns="0" anchor="t" anchorCtr="0"/>
            <a:lstStyle/>
            <a:p>
              <a:pPr algn="l">
                <a:lnSpc>
                  <a:spcPts val="1950"/>
                </a:lnSpc>
              </a:pPr>
              <a:r>
                <a:rPr lang="zh-CN" sz="1280" dirty="0">
                  <a:solidFill>
                    <a:srgbClr val="5D6B7A"/>
                  </a:solidFill>
                  <a:latin typeface="+mn-lt"/>
                  <a:ea typeface="+mn-ea"/>
                  <a:cs typeface="+mn-cs"/>
                </a:rPr>
                <a:t>区切り行は ' で始まる VBA のコメントなので、コードとしても無害です。新しく増やせるのは標準モジュールだけ。既存モジュールの種類は、返答の名乗りではなくブック側が正本です。</a:t>
              </a:r>
            </a:p>
          </p:txBody>
        </p:sp>
      </p:grpSp>
      <p:grpSp>
        <p:nvGrpSpPr>
          <p:cNvPr id="33" name="Group 33"/>
          <p:cNvGrpSpPr/>
          <p:nvPr/>
        </p:nvGrpSpPr>
        <p:grpSpPr>
          <a:xfrm>
            <a:off x="6858000" y="1809750"/>
            <a:ext cx="4876800" cy="3810000"/>
            <a:chOff x="6858000" y="1809750"/>
            <a:chExt cx="4876800" cy="3810000"/>
          </a:xfrm>
        </p:grpSpPr>
        <p:sp>
          <p:nvSpPr>
            <p:cNvPr id="22" name="Rectangle 22"/>
            <p:cNvSpPr/>
            <p:nvPr/>
          </p:nvSpPr>
          <p:spPr>
            <a:xfrm>
              <a:off x="6858000" y="1809750"/>
              <a:ext cx="4876800" cy="3810000"/>
            </a:xfrm>
            <a:prstGeom prst="roundRect">
              <a:avLst>
                <a:gd name="adj" fmla="val 4000"/>
              </a:avLst>
            </a:prstGeom>
            <a:solidFill>
              <a:schemeClr val="lt2"/>
            </a:solidFill>
            <a:ln>
              <a:noFill/>
            </a:ln>
          </p:spPr>
        </p:sp>
        <p:sp>
          <p:nvSpPr>
            <p:cNvPr id="23" name="TextBox 23"/>
            <p:cNvSpPr txBox="1"/>
            <p:nvPr/>
          </p:nvSpPr>
          <p:spPr>
            <a:xfrm>
              <a:off x="7117080" y="1990725"/>
              <a:ext cx="184926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取り込み前の機械検査</a:t>
              </a:r>
            </a:p>
          </p:txBody>
        </p:sp>
        <p:sp>
          <p:nvSpPr>
            <p:cNvPr id="24" name="TextBox 24"/>
            <p:cNvSpPr txBox="1"/>
            <p:nvPr/>
          </p:nvSpPr>
          <p:spPr>
            <a:xfrm>
              <a:off x="7117842" y="2368868"/>
              <a:ext cx="23490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・依頼番号が、今回の依頼のものか</a:t>
              </a:r>
            </a:p>
          </p:txBody>
        </p:sp>
        <p:sp>
          <p:nvSpPr>
            <p:cNvPr id="25" name="TextBox 25"/>
            <p:cNvSpPr txBox="1"/>
            <p:nvPr/>
          </p:nvSpPr>
          <p:spPr>
            <a:xfrm>
              <a:off x="7117842" y="2692718"/>
              <a:ext cx="256712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・区切りが対応し、終端まで揃っているか</a:t>
              </a:r>
            </a:p>
          </p:txBody>
        </p:sp>
        <p:sp>
          <p:nvSpPr>
            <p:cNvPr id="26" name="TextBox 26"/>
            <p:cNvSpPr txBox="1"/>
            <p:nvPr/>
          </p:nvSpPr>
          <p:spPr>
            <a:xfrm>
              <a:off x="7117842" y="3016568"/>
              <a:ext cx="321091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・件数が名乗り（COMPLETE）と一致するか</a:t>
              </a:r>
            </a:p>
          </p:txBody>
        </p:sp>
        <p:sp>
          <p:nvSpPr>
            <p:cNvPr id="27" name="TextBox 27"/>
            <p:cNvSpPr txBox="1"/>
            <p:nvPr/>
          </p:nvSpPr>
          <p:spPr>
            <a:xfrm>
              <a:off x="7117842" y="3340418"/>
              <a:ext cx="195830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・同じモジュールが重複していないか</a:t>
              </a:r>
            </a:p>
          </p:txBody>
        </p:sp>
        <p:sp>
          <p:nvSpPr>
            <p:cNvPr id="28" name="TextBox 28"/>
            <p:cNvSpPr txBox="1"/>
            <p:nvPr/>
          </p:nvSpPr>
          <p:spPr>
            <a:xfrm>
              <a:off x="7117842" y="3664268"/>
              <a:ext cx="184017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・種類とモジュール名が正しいか</a:t>
              </a:r>
            </a:p>
          </p:txBody>
        </p:sp>
        <p:sp>
          <p:nvSpPr>
            <p:cNvPr id="29" name="TextBox 29"/>
            <p:cNvSpPr txBox="1"/>
            <p:nvPr/>
          </p:nvSpPr>
          <p:spPr>
            <a:xfrm>
              <a:off x="7117842" y="3988118"/>
              <a:ext cx="175839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・中身が空のモジュールがないか</a:t>
              </a:r>
            </a:p>
          </p:txBody>
        </p:sp>
        <p:sp>
          <p:nvSpPr>
            <p:cNvPr id="30" name="Rectangle 30"/>
            <p:cNvSpPr/>
            <p:nvPr/>
          </p:nvSpPr>
          <p:spPr>
            <a:xfrm>
              <a:off x="7124700" y="4400550"/>
              <a:ext cx="4343400" cy="952500"/>
            </a:xfrm>
            <a:prstGeom prst="roundRect">
              <a:avLst>
                <a:gd name="adj" fmla="val 12000"/>
              </a:avLst>
            </a:prstGeom>
            <a:solidFill>
              <a:schemeClr val="lt1"/>
            </a:solidFill>
            <a:ln w="14288">
              <a:solidFill>
                <a:schemeClr val="accent1"/>
              </a:solidFill>
            </a:ln>
          </p:spPr>
        </p:sp>
        <p:sp>
          <p:nvSpPr>
            <p:cNvPr id="31" name="TextBox 31"/>
            <p:cNvSpPr txBox="1"/>
            <p:nvPr/>
          </p:nvSpPr>
          <p:spPr>
            <a:xfrm>
              <a:off x="7346442" y="4559618"/>
              <a:ext cx="279020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1 つでも通らなければ、何も取り込みません。</a:t>
              </a:r>
            </a:p>
          </p:txBody>
        </p:sp>
        <p:sp>
          <p:nvSpPr>
            <p:cNvPr id="32" name="TextBox 32"/>
            <p:cNvSpPr txBox="1"/>
            <p:nvPr/>
          </p:nvSpPr>
          <p:spPr>
            <a:xfrm>
              <a:off x="7347204" y="4861560"/>
              <a:ext cx="2846832" cy="463296"/>
            </a:xfrm>
            <a:prstGeom prst="rect">
              <a:avLst/>
            </a:prstGeom>
            <a:noFill/>
            <a:ln>
              <a:noFill/>
            </a:ln>
          </p:spPr>
          <p:txBody>
            <a:bodyPr wrap="square" lIns="0" tIns="0" rIns="0" bIns="0" anchor="t" anchorCtr="0"/>
            <a:lstStyle/>
            <a:p>
              <a:pPr algn="l">
                <a:lnSpc>
                  <a:spcPts val="1800"/>
                </a:lnSpc>
              </a:pPr>
              <a:r>
                <a:rPr lang="zh-CN" sz="1200" dirty="0">
                  <a:solidFill>
                    <a:srgbClr val="5D6B7A"/>
                  </a:solidFill>
                  <a:latin typeface="+mn-lt"/>
                  <a:ea typeface="+mn-ea"/>
                  <a:cs typeface="+mn-cs"/>
                </a:rPr>
                <a:t>部分的な取り込みは起きません。別の依頼への返答や途中で切れた返答が、静かに混ざることもありません。</a:t>
              </a:r>
            </a:p>
          </p:txBody>
        </p:sp>
      </p:grpSp>
      <p:grpSp>
        <p:nvGrpSpPr>
          <p:cNvPr id="35" name="Group 35"/>
          <p:cNvGrpSpPr/>
          <p:nvPr/>
        </p:nvGrpSpPr>
        <p:grpSpPr>
          <a:xfrm>
            <a:off x="450723" y="5882164"/>
            <a:ext cx="9395430" cy="249364"/>
            <a:chOff x="450723" y="5882164"/>
            <a:chExt cx="9395430" cy="249364"/>
          </a:xfrm>
        </p:grpSpPr>
        <p:sp>
          <p:nvSpPr>
            <p:cNvPr id="34" name="TextBox 34"/>
            <p:cNvSpPr txBox="1"/>
            <p:nvPr/>
          </p:nvSpPr>
          <p:spPr>
            <a:xfrm>
              <a:off x="450723" y="5882164"/>
              <a:ext cx="9395430"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依頼文（request.md）とコード資料（source-code.md）は分離されています。コード資料は全モジュール収録の固定形式で、散文を含みません。</a:t>
              </a:r>
            </a:p>
          </p:txBody>
        </p:sp>
      </p:grpSp>
      <p:grpSp>
        <p:nvGrpSpPr>
          <p:cNvPr id="38" name="Group 38"/>
          <p:cNvGrpSpPr/>
          <p:nvPr/>
        </p:nvGrpSpPr>
        <p:grpSpPr>
          <a:xfrm>
            <a:off x="451866" y="6477952"/>
            <a:ext cx="11288268" cy="205359"/>
            <a:chOff x="451866" y="6477952"/>
            <a:chExt cx="11288268" cy="205359"/>
          </a:xfrm>
        </p:grpSpPr>
        <p:sp>
          <p:nvSpPr>
            <p:cNvPr id="36" name="TextBox 36"/>
            <p:cNvSpPr txBox="1"/>
            <p:nvPr/>
          </p:nvSpPr>
          <p:spPr>
            <a:xfrm>
              <a:off x="451866" y="6477952"/>
              <a:ext cx="1438313"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第5部　技術・運用付録</a:t>
              </a:r>
            </a:p>
          </p:txBody>
        </p:sp>
        <p:sp>
          <p:nvSpPr>
            <p:cNvPr id="37" name="TextBox 37"/>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28</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第5部</a:t>
              </a:r>
            </a:p>
          </p:txBody>
        </p:sp>
        <p:sp>
          <p:nvSpPr>
            <p:cNvPr id="4" name="TextBox 4"/>
            <p:cNvSpPr txBox="1"/>
            <p:nvPr/>
          </p:nvSpPr>
          <p:spPr>
            <a:xfrm>
              <a:off x="441960" y="685800"/>
              <a:ext cx="5861209"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書き戻しと検証 — all-or-nothing</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26" name="Group 26"/>
          <p:cNvGrpSpPr/>
          <p:nvPr/>
        </p:nvGrpSpPr>
        <p:grpSpPr>
          <a:xfrm>
            <a:off x="457200" y="1619250"/>
            <a:ext cx="11277600" cy="1428750"/>
            <a:chOff x="457200" y="1619250"/>
            <a:chExt cx="11277600" cy="1428750"/>
          </a:xfrm>
        </p:grpSpPr>
        <p:sp>
          <p:nvSpPr>
            <p:cNvPr id="7" name="Rectangle 7"/>
            <p:cNvSpPr/>
            <p:nvPr/>
          </p:nvSpPr>
          <p:spPr>
            <a:xfrm>
              <a:off x="457200" y="1619250"/>
              <a:ext cx="1981200" cy="1428750"/>
            </a:xfrm>
            <a:prstGeom prst="roundRect">
              <a:avLst>
                <a:gd name="adj" fmla="val 9333"/>
              </a:avLst>
            </a:prstGeom>
            <a:solidFill>
              <a:schemeClr val="lt2"/>
            </a:solidFill>
            <a:ln>
              <a:noFill/>
            </a:ln>
          </p:spPr>
        </p:sp>
        <p:sp>
          <p:nvSpPr>
            <p:cNvPr id="8" name="TextBox 8"/>
            <p:cNvSpPr txBox="1"/>
            <p:nvPr/>
          </p:nvSpPr>
          <p:spPr>
            <a:xfrm>
              <a:off x="815994" y="1759268"/>
              <a:ext cx="1263612"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1　同一性確認</a:t>
              </a:r>
            </a:p>
          </p:txBody>
        </p:sp>
        <p:sp>
          <p:nvSpPr>
            <p:cNvPr id="9" name="TextBox 9"/>
            <p:cNvSpPr txBox="1"/>
            <p:nvPr/>
          </p:nvSpPr>
          <p:spPr>
            <a:xfrm>
              <a:off x="755777" y="2069306"/>
              <a:ext cx="1384046" cy="639128"/>
            </a:xfrm>
            <a:prstGeom prst="rect">
              <a:avLst/>
            </a:prstGeom>
            <a:noFill/>
            <a:ln>
              <a:noFill/>
            </a:ln>
          </p:spPr>
          <p:txBody>
            <a:bodyPr wrap="square" lIns="0" tIns="0" rIns="0" bIns="0" anchor="t" anchorCtr="0"/>
            <a:lstStyle/>
            <a:p>
              <a:pPr algn="ctr">
                <a:lnSpc>
                  <a:spcPts val="1650"/>
                </a:lnSpc>
              </a:pPr>
              <a:r>
                <a:rPr lang="zh-CN" sz="1120" dirty="0">
                  <a:solidFill>
                    <a:schemeClr val="dk1"/>
                  </a:solidFill>
                  <a:latin typeface="+mn-lt"/>
                  <a:ea typeface="+mn-ea"/>
                  <a:cs typeface="+mn-cs"/>
                </a:rPr>
                <a:t>読み込んだ時点の VBA と</a:t>
              </a:r>
              <a:r>
                <a:rPr lang="en-US" sz="1120" dirty="0">
                  <a:solidFill>
                    <a:schemeClr val="dk1"/>
                  </a:solidFill>
                  <a:latin typeface="+mn-lt"/>
                  <a:ea typeface="+mn-ea"/>
                  <a:cs typeface="+mn-cs"/>
                </a:rPr>
                <a:t xml:space="preserve"> </a:t>
              </a:r>
              <a:r>
                <a:rPr lang="zh-CN" sz="1120" dirty="0">
                  <a:solidFill>
                    <a:schemeClr val="dk1"/>
                  </a:solidFill>
                  <a:latin typeface="+mn-lt"/>
                  <a:ea typeface="+mn-ea"/>
                  <a:cs typeface="+mn-cs"/>
                </a:rPr>
                <a:t>ビルド直前の元ブックが完全一致か。違えば中止</a:t>
              </a:r>
            </a:p>
          </p:txBody>
        </p:sp>
        <p:sp>
          <p:nvSpPr>
            <p:cNvPr id="10" name="Line 10"/>
            <p:cNvSpPr/>
            <p:nvPr/>
          </p:nvSpPr>
          <p:spPr>
            <a:xfrm>
              <a:off x="2476500" y="2333625"/>
              <a:ext cx="266700" cy="1"/>
            </a:xfrm>
            <a:prstGeom prst="line">
              <a:avLst/>
            </a:prstGeom>
            <a:noFill/>
            <a:ln w="23812">
              <a:solidFill>
                <a:schemeClr val="accent3"/>
              </a:solidFill>
              <a:tailEnd type="triangle" w="lg" len="lg"/>
            </a:ln>
          </p:spPr>
        </p:sp>
        <p:sp>
          <p:nvSpPr>
            <p:cNvPr id="11" name="Rectangle 11"/>
            <p:cNvSpPr/>
            <p:nvPr/>
          </p:nvSpPr>
          <p:spPr>
            <a:xfrm>
              <a:off x="2781300" y="1619250"/>
              <a:ext cx="1981200" cy="1428750"/>
            </a:xfrm>
            <a:prstGeom prst="roundRect">
              <a:avLst>
                <a:gd name="adj" fmla="val 9333"/>
              </a:avLst>
            </a:prstGeom>
            <a:solidFill>
              <a:schemeClr val="lt2"/>
            </a:solidFill>
            <a:ln>
              <a:noFill/>
            </a:ln>
          </p:spPr>
        </p:sp>
        <p:sp>
          <p:nvSpPr>
            <p:cNvPr id="12" name="TextBox 12"/>
            <p:cNvSpPr txBox="1"/>
            <p:nvPr/>
          </p:nvSpPr>
          <p:spPr>
            <a:xfrm>
              <a:off x="3268900" y="1759268"/>
              <a:ext cx="1006000"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2　別名コピー</a:t>
              </a:r>
            </a:p>
          </p:txBody>
        </p:sp>
        <p:sp>
          <p:nvSpPr>
            <p:cNvPr id="13" name="TextBox 13"/>
            <p:cNvSpPr txBox="1"/>
            <p:nvPr/>
          </p:nvSpPr>
          <p:spPr>
            <a:xfrm>
              <a:off x="3271901" y="2069306"/>
              <a:ext cx="999998" cy="639128"/>
            </a:xfrm>
            <a:prstGeom prst="rect">
              <a:avLst/>
            </a:prstGeom>
            <a:noFill/>
            <a:ln>
              <a:noFill/>
            </a:ln>
          </p:spPr>
          <p:txBody>
            <a:bodyPr wrap="square" lIns="0" tIns="0" rIns="0" bIns="0" anchor="t" anchorCtr="0"/>
            <a:lstStyle/>
            <a:p>
              <a:pPr algn="ctr">
                <a:lnSpc>
                  <a:spcPts val="1650"/>
                </a:lnSpc>
              </a:pPr>
              <a:r>
                <a:rPr lang="zh-CN" sz="1120" dirty="0">
                  <a:solidFill>
                    <a:schemeClr val="dk1"/>
                  </a:solidFill>
                  <a:latin typeface="+mn-lt"/>
                  <a:ea typeface="+mn-ea"/>
                  <a:cs typeface="+mn-cs"/>
                </a:rPr>
                <a:t>元ブックを出力名で</a:t>
              </a:r>
              <a:r>
                <a:rPr lang="en-US" sz="1120" dirty="0">
                  <a:solidFill>
                    <a:schemeClr val="dk1"/>
                  </a:solidFill>
                  <a:latin typeface="+mn-lt"/>
                  <a:ea typeface="+mn-ea"/>
                  <a:cs typeface="+mn-cs"/>
                </a:rPr>
                <a:t xml:space="preserve"> </a:t>
              </a:r>
              <a:r>
                <a:rPr lang="zh-CN" sz="1120" dirty="0">
                  <a:solidFill>
                    <a:schemeClr val="dk1"/>
                  </a:solidFill>
                  <a:latin typeface="+mn-lt"/>
                  <a:ea typeface="+mn-ea"/>
                  <a:cs typeface="+mn-cs"/>
                </a:rPr>
                <a:t>コピー。元ファイルには一切書き込まない</a:t>
              </a:r>
            </a:p>
          </p:txBody>
        </p:sp>
        <p:sp>
          <p:nvSpPr>
            <p:cNvPr id="14" name="Line 14"/>
            <p:cNvSpPr/>
            <p:nvPr/>
          </p:nvSpPr>
          <p:spPr>
            <a:xfrm>
              <a:off x="4800600" y="2333625"/>
              <a:ext cx="266700" cy="1"/>
            </a:xfrm>
            <a:prstGeom prst="line">
              <a:avLst/>
            </a:prstGeom>
            <a:noFill/>
            <a:ln w="23812">
              <a:solidFill>
                <a:schemeClr val="accent3"/>
              </a:solidFill>
              <a:tailEnd type="triangle" w="lg" len="lg"/>
            </a:ln>
          </p:spPr>
        </p:sp>
        <p:sp>
          <p:nvSpPr>
            <p:cNvPr id="15" name="Rectangle 15"/>
            <p:cNvSpPr/>
            <p:nvPr/>
          </p:nvSpPr>
          <p:spPr>
            <a:xfrm>
              <a:off x="5105400" y="1619250"/>
              <a:ext cx="1981200" cy="1428750"/>
            </a:xfrm>
            <a:prstGeom prst="roundRect">
              <a:avLst>
                <a:gd name="adj" fmla="val 9333"/>
              </a:avLst>
            </a:prstGeom>
            <a:solidFill>
              <a:schemeClr val="lt2"/>
            </a:solidFill>
            <a:ln>
              <a:noFill/>
            </a:ln>
          </p:spPr>
        </p:sp>
        <p:sp>
          <p:nvSpPr>
            <p:cNvPr id="16" name="TextBox 16"/>
            <p:cNvSpPr txBox="1"/>
            <p:nvPr/>
          </p:nvSpPr>
          <p:spPr>
            <a:xfrm>
              <a:off x="5645477" y="1759268"/>
              <a:ext cx="901047"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3　差し替え</a:t>
              </a:r>
            </a:p>
          </p:txBody>
        </p:sp>
        <p:sp>
          <p:nvSpPr>
            <p:cNvPr id="17" name="TextBox 17"/>
            <p:cNvSpPr txBox="1"/>
            <p:nvPr/>
          </p:nvSpPr>
          <p:spPr>
            <a:xfrm>
              <a:off x="5514213" y="2069306"/>
              <a:ext cx="1163574" cy="639128"/>
            </a:xfrm>
            <a:prstGeom prst="rect">
              <a:avLst/>
            </a:prstGeom>
            <a:noFill/>
            <a:ln>
              <a:noFill/>
            </a:ln>
          </p:spPr>
          <p:txBody>
            <a:bodyPr wrap="square" lIns="0" tIns="0" rIns="0" bIns="0" anchor="t" anchorCtr="0"/>
            <a:lstStyle/>
            <a:p>
              <a:pPr algn="ctr">
                <a:lnSpc>
                  <a:spcPts val="1650"/>
                </a:lnSpc>
              </a:pPr>
              <a:r>
                <a:rPr lang="zh-CN" sz="1120" dirty="0">
                  <a:solidFill>
                    <a:schemeClr val="dk1"/>
                  </a:solidFill>
                  <a:latin typeface="+mn-lt"/>
                  <a:ea typeface="+mn-ea"/>
                  <a:cs typeface="+mn-cs"/>
                </a:rPr>
                <a:t>変更モジュールのソース部分と、新規の標準モジュールだけを更新</a:t>
              </a:r>
            </a:p>
          </p:txBody>
        </p:sp>
        <p:sp>
          <p:nvSpPr>
            <p:cNvPr id="18" name="Line 18"/>
            <p:cNvSpPr/>
            <p:nvPr/>
          </p:nvSpPr>
          <p:spPr>
            <a:xfrm>
              <a:off x="7124700" y="2333625"/>
              <a:ext cx="266700" cy="1"/>
            </a:xfrm>
            <a:prstGeom prst="line">
              <a:avLst/>
            </a:prstGeom>
            <a:noFill/>
            <a:ln w="23812">
              <a:solidFill>
                <a:schemeClr val="accent3"/>
              </a:solidFill>
              <a:tailEnd type="triangle" w="lg" len="lg"/>
            </a:ln>
          </p:spPr>
        </p:sp>
        <p:sp>
          <p:nvSpPr>
            <p:cNvPr id="19" name="Rectangle 19"/>
            <p:cNvSpPr/>
            <p:nvPr/>
          </p:nvSpPr>
          <p:spPr>
            <a:xfrm>
              <a:off x="7429500" y="1619250"/>
              <a:ext cx="1981200" cy="1428750"/>
            </a:xfrm>
            <a:prstGeom prst="roundRect">
              <a:avLst>
                <a:gd name="adj" fmla="val 9333"/>
              </a:avLst>
            </a:prstGeom>
            <a:solidFill>
              <a:schemeClr val="lt2"/>
            </a:solidFill>
            <a:ln>
              <a:noFill/>
            </a:ln>
          </p:spPr>
        </p:sp>
        <p:sp>
          <p:nvSpPr>
            <p:cNvPr id="20" name="TextBox 20"/>
            <p:cNvSpPr txBox="1"/>
            <p:nvPr/>
          </p:nvSpPr>
          <p:spPr>
            <a:xfrm>
              <a:off x="7788294" y="1759268"/>
              <a:ext cx="1263612"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4　全面再構築</a:t>
              </a:r>
            </a:p>
          </p:txBody>
        </p:sp>
        <p:sp>
          <p:nvSpPr>
            <p:cNvPr id="21" name="TextBox 21"/>
            <p:cNvSpPr txBox="1"/>
            <p:nvPr/>
          </p:nvSpPr>
          <p:spPr>
            <a:xfrm>
              <a:off x="7856093" y="2069306"/>
              <a:ext cx="1128014" cy="639128"/>
            </a:xfrm>
            <a:prstGeom prst="rect">
              <a:avLst/>
            </a:prstGeom>
            <a:noFill/>
            <a:ln>
              <a:noFill/>
            </a:ln>
          </p:spPr>
          <p:txBody>
            <a:bodyPr wrap="square" lIns="0" tIns="0" rIns="0" bIns="0" anchor="t" anchorCtr="0"/>
            <a:lstStyle/>
            <a:p>
              <a:pPr algn="ctr">
                <a:lnSpc>
                  <a:spcPts val="1650"/>
                </a:lnSpc>
              </a:pPr>
              <a:r>
                <a:rPr lang="zh-CN" sz="1120" dirty="0">
                  <a:solidFill>
                    <a:schemeClr val="dk1"/>
                  </a:solidFill>
                  <a:latin typeface="+mn-lt"/>
                  <a:ea typeface="+mn-ea"/>
                  <a:cs typeface="+mn-cs"/>
                </a:rPr>
                <a:t>コンテナ（OLE2）を毎回まるごと組み直して書き戻す</a:t>
              </a:r>
            </a:p>
          </p:txBody>
        </p:sp>
        <p:sp>
          <p:nvSpPr>
            <p:cNvPr id="22" name="Line 22"/>
            <p:cNvSpPr/>
            <p:nvPr/>
          </p:nvSpPr>
          <p:spPr>
            <a:xfrm>
              <a:off x="9448800" y="2333625"/>
              <a:ext cx="266700" cy="1"/>
            </a:xfrm>
            <a:prstGeom prst="line">
              <a:avLst/>
            </a:prstGeom>
            <a:noFill/>
            <a:ln w="23812">
              <a:solidFill>
                <a:schemeClr val="accent3"/>
              </a:solidFill>
              <a:tailEnd type="triangle" w="lg" len="lg"/>
            </a:ln>
          </p:spPr>
        </p:sp>
        <p:sp>
          <p:nvSpPr>
            <p:cNvPr id="23" name="Rectangle 23"/>
            <p:cNvSpPr/>
            <p:nvPr/>
          </p:nvSpPr>
          <p:spPr>
            <a:xfrm>
              <a:off x="9753600" y="1619250"/>
              <a:ext cx="1981200" cy="1428750"/>
            </a:xfrm>
            <a:prstGeom prst="roundRect">
              <a:avLst>
                <a:gd name="adj" fmla="val 9333"/>
              </a:avLst>
            </a:prstGeom>
            <a:solidFill>
              <a:schemeClr val="lt1"/>
            </a:solidFill>
            <a:ln w="19050">
              <a:solidFill>
                <a:schemeClr val="accent1"/>
              </a:solidFill>
            </a:ln>
          </p:spPr>
        </p:sp>
        <p:sp>
          <p:nvSpPr>
            <p:cNvPr id="24" name="TextBox 24"/>
            <p:cNvSpPr txBox="1"/>
            <p:nvPr/>
          </p:nvSpPr>
          <p:spPr>
            <a:xfrm>
              <a:off x="10207806" y="1759268"/>
              <a:ext cx="1072788"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5　再読検証</a:t>
              </a:r>
            </a:p>
          </p:txBody>
        </p:sp>
        <p:sp>
          <p:nvSpPr>
            <p:cNvPr id="25" name="TextBox 25"/>
            <p:cNvSpPr txBox="1"/>
            <p:nvPr/>
          </p:nvSpPr>
          <p:spPr>
            <a:xfrm>
              <a:off x="10180193" y="2069306"/>
              <a:ext cx="1128014" cy="639128"/>
            </a:xfrm>
            <a:prstGeom prst="rect">
              <a:avLst/>
            </a:prstGeom>
            <a:noFill/>
            <a:ln>
              <a:noFill/>
            </a:ln>
          </p:spPr>
          <p:txBody>
            <a:bodyPr wrap="square" lIns="0" tIns="0" rIns="0" bIns="0" anchor="t" anchorCtr="0"/>
            <a:lstStyle/>
            <a:p>
              <a:pPr algn="ctr">
                <a:lnSpc>
                  <a:spcPts val="1650"/>
                </a:lnSpc>
              </a:pPr>
              <a:r>
                <a:rPr lang="zh-CN" sz="1120" dirty="0">
                  <a:solidFill>
                    <a:schemeClr val="dk1"/>
                  </a:solidFill>
                  <a:latin typeface="+mn-lt"/>
                  <a:ea typeface="+mn-ea"/>
                  <a:cs typeface="+mn-cs"/>
                </a:rPr>
                <a:t>出力ブックを読み直して確認。通らなければ出力を削除</a:t>
              </a:r>
            </a:p>
          </p:txBody>
        </p:sp>
      </p:grpSp>
      <p:grpSp>
        <p:nvGrpSpPr>
          <p:cNvPr id="33" name="Group 33"/>
          <p:cNvGrpSpPr/>
          <p:nvPr/>
        </p:nvGrpSpPr>
        <p:grpSpPr>
          <a:xfrm>
            <a:off x="457200" y="3905250"/>
            <a:ext cx="6667500" cy="1432751"/>
            <a:chOff x="457200" y="3905250"/>
            <a:chExt cx="6667500" cy="1432751"/>
          </a:xfrm>
        </p:grpSpPr>
        <p:sp>
          <p:nvSpPr>
            <p:cNvPr id="27" name="Rectangle 27"/>
            <p:cNvSpPr/>
            <p:nvPr/>
          </p:nvSpPr>
          <p:spPr>
            <a:xfrm>
              <a:off x="457200" y="3905250"/>
              <a:ext cx="6667500" cy="1428750"/>
            </a:xfrm>
            <a:prstGeom prst="roundRect">
              <a:avLst>
                <a:gd name="adj" fmla="val 10667"/>
              </a:avLst>
            </a:prstGeom>
            <a:solidFill>
              <a:schemeClr val="accent5"/>
            </a:solidFill>
            <a:ln w="9525">
              <a:solidFill>
                <a:schemeClr val="accent6"/>
              </a:solidFill>
            </a:ln>
          </p:spPr>
        </p:sp>
        <p:sp>
          <p:nvSpPr>
            <p:cNvPr id="28" name="Freeform 28"/>
            <p:cNvSpPr/>
            <p:nvPr/>
          </p:nvSpPr>
          <p:spPr>
            <a:xfrm>
              <a:off x="701765" y="4135437"/>
              <a:ext cx="215709" cy="206485"/>
            </a:xfrm>
            <a:custGeom>
              <a:avLst/>
              <a:gdLst/>
              <a:ahLst/>
              <a:cxnLst/>
              <a:rect l="l" t="t" r="r" b="b"/>
              <a:pathLst>
                <a:path w="215709" h="206485">
                  <a:moveTo>
                    <a:pt x="106662" y="72"/>
                  </a:moveTo>
                  <a:lnTo>
                    <a:pt x="107839" y="0"/>
                  </a:ln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close/>
                </a:path>
              </a:pathLst>
            </a:custGeom>
            <a:solidFill>
              <a:schemeClr val="accent1"/>
            </a:solidFill>
            <a:ln>
              <a:noFill/>
            </a:ln>
          </p:spPr>
        </p:sp>
        <p:sp>
          <p:nvSpPr>
            <p:cNvPr id="29" name="TextBox 29"/>
            <p:cNvSpPr txBox="1"/>
            <p:nvPr/>
          </p:nvSpPr>
          <p:spPr>
            <a:xfrm>
              <a:off x="1040130" y="4143375"/>
              <a:ext cx="1997688"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再読検証で確かめる 3 点</a:t>
              </a:r>
            </a:p>
          </p:txBody>
        </p:sp>
        <p:sp>
          <p:nvSpPr>
            <p:cNvPr id="30" name="TextBox 30"/>
            <p:cNvSpPr txBox="1"/>
            <p:nvPr/>
          </p:nvSpPr>
          <p:spPr>
            <a:xfrm>
              <a:off x="678942" y="4502468"/>
              <a:ext cx="358484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・書き戻した全モジュールのコードが、渡したものと一致すること</a:t>
              </a:r>
            </a:p>
          </p:txBody>
        </p:sp>
        <p:sp>
          <p:nvSpPr>
            <p:cNvPr id="31" name="TextBox 31"/>
            <p:cNvSpPr txBox="1"/>
            <p:nvPr/>
          </p:nvSpPr>
          <p:spPr>
            <a:xfrm>
              <a:off x="678942" y="4788218"/>
              <a:ext cx="341219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・それ以外の全区画が、バイト単位で元と一致すること</a:t>
              </a:r>
            </a:p>
          </p:txBody>
        </p:sp>
        <p:sp>
          <p:nvSpPr>
            <p:cNvPr id="32" name="TextBox 32"/>
            <p:cNvSpPr txBox="1"/>
            <p:nvPr/>
          </p:nvSpPr>
          <p:spPr>
            <a:xfrm>
              <a:off x="678942" y="5073968"/>
              <a:ext cx="303055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・区画の構造・名前・種別が維持されていること</a:t>
              </a:r>
            </a:p>
          </p:txBody>
        </p:sp>
      </p:grpSp>
      <p:grpSp>
        <p:nvGrpSpPr>
          <p:cNvPr id="38" name="Group 38"/>
          <p:cNvGrpSpPr/>
          <p:nvPr/>
        </p:nvGrpSpPr>
        <p:grpSpPr>
          <a:xfrm>
            <a:off x="7429500" y="3905250"/>
            <a:ext cx="4305300" cy="1428750"/>
            <a:chOff x="7429500" y="3905250"/>
            <a:chExt cx="4305300" cy="1428750"/>
          </a:xfrm>
        </p:grpSpPr>
        <p:sp>
          <p:nvSpPr>
            <p:cNvPr id="34" name="Rectangle 34"/>
            <p:cNvSpPr/>
            <p:nvPr/>
          </p:nvSpPr>
          <p:spPr>
            <a:xfrm>
              <a:off x="7429500" y="3905250"/>
              <a:ext cx="4305300" cy="1428750"/>
            </a:xfrm>
            <a:prstGeom prst="roundRect">
              <a:avLst>
                <a:gd name="adj" fmla="val 10667"/>
              </a:avLst>
            </a:prstGeom>
            <a:solidFill>
              <a:schemeClr val="lt1"/>
            </a:solidFill>
            <a:ln w="19050">
              <a:solidFill>
                <a:srgbClr val="3A7A47"/>
              </a:solidFill>
            </a:ln>
          </p:spPr>
        </p:sp>
        <p:sp>
          <p:nvSpPr>
            <p:cNvPr id="35" name="Freeform 35"/>
            <p:cNvSpPr/>
            <p:nvPr/>
          </p:nvSpPr>
          <p:spPr>
            <a:xfrm>
              <a:off x="7678737" y="413081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rgbClr val="3A7A47"/>
            </a:solidFill>
            <a:ln>
              <a:noFill/>
            </a:ln>
          </p:spPr>
        </p:sp>
        <p:sp>
          <p:nvSpPr>
            <p:cNvPr id="36" name="TextBox 36"/>
            <p:cNvSpPr txBox="1"/>
            <p:nvPr/>
          </p:nvSpPr>
          <p:spPr>
            <a:xfrm>
              <a:off x="8012430" y="4143375"/>
              <a:ext cx="1488824"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all-or-nothing</a:t>
              </a:r>
            </a:p>
          </p:txBody>
        </p:sp>
        <p:sp>
          <p:nvSpPr>
            <p:cNvPr id="37" name="TextBox 37"/>
            <p:cNvSpPr txBox="1"/>
            <p:nvPr/>
          </p:nvSpPr>
          <p:spPr>
            <a:xfrm>
              <a:off x="7651623" y="4510564"/>
              <a:ext cx="2703322" cy="744665"/>
            </a:xfrm>
            <a:prstGeom prst="rect">
              <a:avLst/>
            </a:prstGeom>
            <a:noFill/>
            <a:ln>
              <a:noFill/>
            </a:ln>
          </p:spPr>
          <p:txBody>
            <a:bodyPr wrap="square" lIns="0" tIns="0" rIns="0" bIns="0" anchor="t" anchorCtr="0"/>
            <a:lstStyle/>
            <a:p>
              <a:pPr algn="l">
                <a:lnSpc>
                  <a:spcPts val="1950"/>
                </a:lnSpc>
              </a:pPr>
              <a:r>
                <a:rPr lang="zh-CN" sz="1280" dirty="0">
                  <a:solidFill>
                    <a:schemeClr val="dk1"/>
                  </a:solidFill>
                  <a:latin typeface="+mn-lt"/>
                  <a:ea typeface="+mn-ea"/>
                  <a:cs typeface="+mn-cs"/>
                </a:rPr>
                <a:t>1 つでも失敗したら、出力ファイルを削除します。中途半端に直ったブックは残しません。だから、出力が在ること自体が、検証合格の証です。</a:t>
              </a:r>
            </a:p>
          </p:txBody>
        </p:sp>
      </p:grpSp>
      <p:grpSp>
        <p:nvGrpSpPr>
          <p:cNvPr id="41" name="Group 41"/>
          <p:cNvGrpSpPr/>
          <p:nvPr/>
        </p:nvGrpSpPr>
        <p:grpSpPr>
          <a:xfrm>
            <a:off x="450723" y="5672614"/>
            <a:ext cx="7491364" cy="497014"/>
            <a:chOff x="450723" y="5672614"/>
            <a:chExt cx="7491364" cy="497014"/>
          </a:xfrm>
        </p:grpSpPr>
        <p:sp>
          <p:nvSpPr>
            <p:cNvPr id="39" name="TextBox 39"/>
            <p:cNvSpPr txBox="1"/>
            <p:nvPr/>
          </p:nvSpPr>
          <p:spPr>
            <a:xfrm>
              <a:off x="450723" y="5672614"/>
              <a:ext cx="7491364"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この検証が守るのは、受け渡しと構造の完全性です。改修後のマクロが業務上正しく動くこと（コードの中身の妥当性）は、</a:t>
              </a:r>
            </a:p>
          </p:txBody>
        </p:sp>
        <p:sp>
          <p:nvSpPr>
            <p:cNvPr id="40" name="TextBox 40"/>
            <p:cNvSpPr txBox="1"/>
            <p:nvPr/>
          </p:nvSpPr>
          <p:spPr>
            <a:xfrm>
              <a:off x="450723" y="5920264"/>
              <a:ext cx="4129949"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検証の対象外で、使用者が Excel で確認します（→ P21）。</a:t>
              </a:r>
            </a:p>
          </p:txBody>
        </p:sp>
      </p:grpSp>
      <p:grpSp>
        <p:nvGrpSpPr>
          <p:cNvPr id="44" name="Group 44"/>
          <p:cNvGrpSpPr/>
          <p:nvPr/>
        </p:nvGrpSpPr>
        <p:grpSpPr>
          <a:xfrm>
            <a:off x="451866" y="6477952"/>
            <a:ext cx="11288268" cy="205359"/>
            <a:chOff x="451866" y="6477952"/>
            <a:chExt cx="11288268" cy="205359"/>
          </a:xfrm>
        </p:grpSpPr>
        <p:sp>
          <p:nvSpPr>
            <p:cNvPr id="42" name="TextBox 42"/>
            <p:cNvSpPr txBox="1"/>
            <p:nvPr/>
          </p:nvSpPr>
          <p:spPr>
            <a:xfrm>
              <a:off x="451866" y="6477952"/>
              <a:ext cx="1438313"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第5部　技術・運用付録</a:t>
              </a:r>
            </a:p>
          </p:txBody>
        </p:sp>
        <p:sp>
          <p:nvSpPr>
            <p:cNvPr id="43" name="TextBox 43"/>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29</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第5部</a:t>
              </a:r>
            </a:p>
          </p:txBody>
        </p:sp>
        <p:sp>
          <p:nvSpPr>
            <p:cNvPr id="4" name="TextBox 4"/>
            <p:cNvSpPr txBox="1"/>
            <p:nvPr/>
          </p:nvSpPr>
          <p:spPr>
            <a:xfrm>
              <a:off x="441960" y="685800"/>
              <a:ext cx="416499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閲覧ロック・暗号化・署名</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8" name="Group 8"/>
          <p:cNvGrpSpPr/>
          <p:nvPr/>
        </p:nvGrpSpPr>
        <p:grpSpPr>
          <a:xfrm>
            <a:off x="448818" y="1364932"/>
            <a:ext cx="4370375" cy="322707"/>
            <a:chOff x="448818" y="1364932"/>
            <a:chExt cx="4370375" cy="322707"/>
          </a:xfrm>
        </p:grpSpPr>
        <p:sp>
          <p:nvSpPr>
            <p:cNvPr id="7" name="TextBox 7"/>
            <p:cNvSpPr txBox="1"/>
            <p:nvPr/>
          </p:nvSpPr>
          <p:spPr>
            <a:xfrm>
              <a:off x="448818" y="1364932"/>
              <a:ext cx="4370375"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似ていて紛らわしい 3 つの保護は、扱いがそれぞれ違います。</a:t>
              </a:r>
            </a:p>
          </p:txBody>
        </p:sp>
      </p:grpSp>
      <p:grpSp>
        <p:nvGrpSpPr>
          <p:cNvPr id="16" name="Group 16"/>
          <p:cNvGrpSpPr/>
          <p:nvPr/>
        </p:nvGrpSpPr>
        <p:grpSpPr>
          <a:xfrm>
            <a:off x="457200" y="1809750"/>
            <a:ext cx="3505200" cy="3810000"/>
            <a:chOff x="457200" y="1809750"/>
            <a:chExt cx="3505200" cy="3810000"/>
          </a:xfrm>
        </p:grpSpPr>
        <p:sp>
          <p:nvSpPr>
            <p:cNvPr id="9" name="Rectangle 9"/>
            <p:cNvSpPr/>
            <p:nvPr/>
          </p:nvSpPr>
          <p:spPr>
            <a:xfrm>
              <a:off x="457200" y="1809750"/>
              <a:ext cx="3505200" cy="3810000"/>
            </a:xfrm>
            <a:prstGeom prst="roundRect">
              <a:avLst>
                <a:gd name="adj" fmla="val 4348"/>
              </a:avLst>
            </a:prstGeom>
            <a:solidFill>
              <a:schemeClr val="lt2"/>
            </a:solidFill>
            <a:ln>
              <a:noFill/>
            </a:ln>
          </p:spPr>
        </p:sp>
        <p:sp>
          <p:nvSpPr>
            <p:cNvPr id="10" name="Freeform 10"/>
            <p:cNvSpPr/>
            <p:nvPr/>
          </p:nvSpPr>
          <p:spPr>
            <a:xfrm>
              <a:off x="771525" y="2081212"/>
              <a:ext cx="190500" cy="238125"/>
            </a:xfrm>
            <a:custGeom>
              <a:avLst/>
              <a:gdLst/>
              <a:ahLst/>
              <a:cxnLst/>
              <a:rect l="l" t="t" r="r" b="b"/>
              <a:pathLst>
                <a:path w="190500" h="238125">
                  <a:moveTo>
                    <a:pt x="95250" y="0"/>
                  </a:moveTo>
                  <a:cubicBezTo>
                    <a:pt x="128128" y="0"/>
                    <a:pt x="154781" y="26653"/>
                    <a:pt x="154781" y="59531"/>
                  </a:cubicBezTo>
                  <a:lnTo>
                    <a:pt x="154781" y="95250"/>
                  </a:lnTo>
                  <a:cubicBezTo>
                    <a:pt x="174508" y="95250"/>
                    <a:pt x="190500" y="111242"/>
                    <a:pt x="190500" y="130969"/>
                  </a:cubicBezTo>
                  <a:lnTo>
                    <a:pt x="190500" y="202406"/>
                  </a:lnTo>
                  <a:cubicBezTo>
                    <a:pt x="190500" y="222133"/>
                    <a:pt x="174508" y="238125"/>
                    <a:pt x="154781" y="238125"/>
                  </a:cubicBezTo>
                  <a:lnTo>
                    <a:pt x="35719" y="238125"/>
                  </a:lnTo>
                  <a:cubicBezTo>
                    <a:pt x="15992" y="238125"/>
                    <a:pt x="0" y="222133"/>
                    <a:pt x="0" y="202406"/>
                  </a:cubicBezTo>
                  <a:lnTo>
                    <a:pt x="0" y="130969"/>
                  </a:lnTo>
                  <a:cubicBezTo>
                    <a:pt x="0" y="111242"/>
                    <a:pt x="15992" y="95250"/>
                    <a:pt x="35719" y="95250"/>
                  </a:cubicBezTo>
                  <a:lnTo>
                    <a:pt x="35719" y="59531"/>
                  </a:lnTo>
                  <a:cubicBezTo>
                    <a:pt x="35719" y="26653"/>
                    <a:pt x="62372" y="0"/>
                    <a:pt x="95250" y="0"/>
                  </a:cubicBezTo>
                  <a:moveTo>
                    <a:pt x="95250" y="142875"/>
                  </a:moveTo>
                  <a:cubicBezTo>
                    <a:pt x="82789" y="142871"/>
                    <a:pt x="72432" y="152475"/>
                    <a:pt x="71497" y="164902"/>
                  </a:cubicBezTo>
                  <a:lnTo>
                    <a:pt x="71438" y="166688"/>
                  </a:lnTo>
                  <a:cubicBezTo>
                    <a:pt x="71438" y="179839"/>
                    <a:pt x="82099" y="190500"/>
                    <a:pt x="95250" y="190500"/>
                  </a:cubicBezTo>
                  <a:cubicBezTo>
                    <a:pt x="108401" y="190500"/>
                    <a:pt x="119062" y="179839"/>
                    <a:pt x="119062" y="166688"/>
                  </a:cubicBezTo>
                  <a:cubicBezTo>
                    <a:pt x="119062" y="153536"/>
                    <a:pt x="108401" y="142875"/>
                    <a:pt x="95250" y="142875"/>
                  </a:cubicBezTo>
                  <a:moveTo>
                    <a:pt x="95250" y="23812"/>
                  </a:moveTo>
                  <a:cubicBezTo>
                    <a:pt x="75523" y="23812"/>
                    <a:pt x="59531" y="39804"/>
                    <a:pt x="59531" y="59531"/>
                  </a:cubicBezTo>
                  <a:lnTo>
                    <a:pt x="59531" y="95250"/>
                  </a:lnTo>
                  <a:lnTo>
                    <a:pt x="130969" y="95250"/>
                  </a:lnTo>
                  <a:lnTo>
                    <a:pt x="130969" y="59531"/>
                  </a:lnTo>
                  <a:cubicBezTo>
                    <a:pt x="130969" y="39804"/>
                    <a:pt x="114977" y="23812"/>
                    <a:pt x="95250" y="23812"/>
                  </a:cubicBezTo>
                </a:path>
              </a:pathLst>
            </a:custGeom>
            <a:solidFill>
              <a:schemeClr val="accent1"/>
            </a:solidFill>
            <a:ln>
              <a:noFill/>
            </a:ln>
          </p:spPr>
        </p:sp>
        <p:sp>
          <p:nvSpPr>
            <p:cNvPr id="11" name="TextBox 11"/>
            <p:cNvSpPr txBox="1"/>
            <p:nvPr/>
          </p:nvSpPr>
          <p:spPr>
            <a:xfrm>
              <a:off x="1134999" y="2115979"/>
              <a:ext cx="1174814" cy="574738"/>
            </a:xfrm>
            <a:prstGeom prst="rect">
              <a:avLst/>
            </a:prstGeom>
            <a:noFill/>
            <a:ln>
              <a:noFill/>
            </a:ln>
          </p:spPr>
          <p:txBody>
            <a:bodyPr wrap="square" lIns="0" tIns="0" rIns="0" bIns="0" anchor="t" anchorCtr="0"/>
            <a:lstStyle/>
            <a:p>
              <a:pPr algn="l">
                <a:lnSpc>
                  <a:spcPts val="2100"/>
                </a:lnSpc>
              </a:pPr>
              <a:r>
                <a:rPr lang="en-US" sz="1580" b="1" dirty="0">
                  <a:solidFill>
                    <a:schemeClr val="dk1"/>
                  </a:solidFill>
                  <a:latin typeface="+mn-lt"/>
                  <a:ea typeface="+mn-ea"/>
                  <a:cs typeface="+mn-cs"/>
                </a:rPr>
                <a:t>VBAプロジェクトの</a:t>
              </a:r>
              <a:r>
                <a:rPr lang="zh-CN" sz="1580" b="1" dirty="0">
                  <a:solidFill>
                    <a:schemeClr val="dk1"/>
                  </a:solidFill>
                  <a:latin typeface="+mn-lt"/>
                  <a:ea typeface="+mn-ea"/>
                  <a:cs typeface="+mn-cs"/>
                </a:rPr>
                <a:t>閲覧ロック</a:t>
              </a:r>
            </a:p>
          </p:txBody>
        </p:sp>
        <p:sp>
          <p:nvSpPr>
            <p:cNvPr id="12" name="TextBox 12"/>
            <p:cNvSpPr txBox="1"/>
            <p:nvPr/>
          </p:nvSpPr>
          <p:spPr>
            <a:xfrm>
              <a:off x="717423" y="2834164"/>
              <a:ext cx="1833626" cy="992315"/>
            </a:xfrm>
            <a:prstGeom prst="rect">
              <a:avLst/>
            </a:prstGeom>
            <a:noFill/>
            <a:ln>
              <a:noFill/>
            </a:ln>
          </p:spPr>
          <p:txBody>
            <a:bodyPr wrap="square" lIns="0" tIns="0" rIns="0" bIns="0" anchor="t" anchorCtr="0"/>
            <a:lstStyle/>
            <a:p>
              <a:pPr algn="l">
                <a:lnSpc>
                  <a:spcPts val="1950"/>
                </a:lnSpc>
              </a:pPr>
              <a:r>
                <a:rPr lang="zh-CN" sz="1280" dirty="0">
                  <a:solidFill>
                    <a:schemeClr val="dk1"/>
                  </a:solidFill>
                  <a:latin typeface="+mn-lt"/>
                  <a:ea typeface="+mn-ea"/>
                  <a:cs typeface="+mn-cs"/>
                </a:rPr>
                <a:t>VBE でコードを見るときに</a:t>
              </a:r>
              <a:r>
                <a:rPr lang="en-US" sz="1280" dirty="0">
                  <a:solidFill>
                    <a:schemeClr val="dk1"/>
                  </a:solidFill>
                  <a:latin typeface="+mn-lt"/>
                  <a:ea typeface="+mn-ea"/>
                  <a:cs typeface="+mn-cs"/>
                </a:rPr>
                <a:t xml:space="preserve"> </a:t>
              </a:r>
              <a:r>
                <a:rPr lang="zh-CN" sz="1280" dirty="0">
                  <a:solidFill>
                    <a:schemeClr val="dk1"/>
                  </a:solidFill>
                  <a:latin typeface="+mn-lt"/>
                  <a:ea typeface="+mn-ea"/>
                  <a:cs typeface="+mn-cs"/>
                </a:rPr>
                <a:t>パスワードを求める保護。規格上、コード自体は暗号化されません。</a:t>
              </a:r>
            </a:p>
          </p:txBody>
        </p:sp>
        <p:sp>
          <p:nvSpPr>
            <p:cNvPr id="13" name="Rectangle 13"/>
            <p:cNvSpPr/>
            <p:nvPr/>
          </p:nvSpPr>
          <p:spPr>
            <a:xfrm>
              <a:off x="723900" y="4076700"/>
              <a:ext cx="2971800" cy="1333500"/>
            </a:xfrm>
            <a:prstGeom prst="roundRect">
              <a:avLst>
                <a:gd name="adj" fmla="val 8571"/>
              </a:avLst>
            </a:prstGeom>
            <a:solidFill>
              <a:schemeClr val="lt1"/>
            </a:solidFill>
            <a:ln>
              <a:noFill/>
            </a:ln>
          </p:spPr>
        </p:sp>
        <p:sp>
          <p:nvSpPr>
            <p:cNvPr id="14" name="TextBox 14"/>
            <p:cNvSpPr txBox="1"/>
            <p:nvPr/>
          </p:nvSpPr>
          <p:spPr>
            <a:xfrm>
              <a:off x="908304" y="4213860"/>
              <a:ext cx="275105"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扱い</a:t>
              </a:r>
            </a:p>
          </p:txBody>
        </p:sp>
        <p:sp>
          <p:nvSpPr>
            <p:cNvPr id="15" name="TextBox 15"/>
            <p:cNvSpPr txBox="1"/>
            <p:nvPr/>
          </p:nvSpPr>
          <p:spPr>
            <a:xfrm>
              <a:off x="908304" y="4480560"/>
              <a:ext cx="1749552" cy="920496"/>
            </a:xfrm>
            <a:prstGeom prst="rect">
              <a:avLst/>
            </a:prstGeom>
            <a:noFill/>
            <a:ln>
              <a:noFill/>
            </a:ln>
          </p:spPr>
          <p:txBody>
            <a:bodyPr wrap="square" lIns="0" tIns="0" rIns="0" bIns="0" anchor="t" anchorCtr="0"/>
            <a:lstStyle/>
            <a:p>
              <a:pPr algn="l">
                <a:lnSpc>
                  <a:spcPts val="1800"/>
                </a:lnSpc>
              </a:pPr>
              <a:r>
                <a:rPr lang="zh-CN" sz="1200" dirty="0">
                  <a:solidFill>
                    <a:schemeClr val="dk1"/>
                  </a:solidFill>
                  <a:latin typeface="+mn-lt"/>
                  <a:ea typeface="+mn-ea"/>
                  <a:cs typeface="+mn-cs"/>
                </a:rPr>
                <a:t>読み書きとも影響しない見込み。ロックの記録は温存され、従来の</a:t>
              </a:r>
              <a:r>
                <a:rPr lang="en-US" sz="1200" dirty="0">
                  <a:solidFill>
                    <a:schemeClr val="dk1"/>
                  </a:solidFill>
                  <a:latin typeface="+mn-lt"/>
                  <a:ea typeface="+mn-ea"/>
                  <a:cs typeface="+mn-cs"/>
                </a:rPr>
                <a:t xml:space="preserve"> </a:t>
              </a:r>
              <a:r>
                <a:rPr lang="zh-CN" sz="1200" dirty="0">
                  <a:solidFill>
                    <a:schemeClr val="dk1"/>
                  </a:solidFill>
                  <a:latin typeface="+mn-lt"/>
                  <a:ea typeface="+mn-ea"/>
                  <a:cs typeface="+mn-cs"/>
                </a:rPr>
                <a:t>パスワードで解除できる見込み。</a:t>
              </a:r>
              <a:r>
                <a:rPr lang="zh-CN" sz="1200" dirty="0">
                  <a:solidFill>
                    <a:schemeClr val="accent2"/>
                  </a:solidFill>
                  <a:latin typeface="+mn-lt"/>
                  <a:ea typeface="+mn-ea"/>
                  <a:cs typeface="+mn-cs"/>
                </a:rPr>
                <a:t>実ファイル未検証（ベータ）。</a:t>
              </a:r>
            </a:p>
          </p:txBody>
        </p:sp>
      </p:grpSp>
      <p:grpSp>
        <p:nvGrpSpPr>
          <p:cNvPr id="24" name="Group 24"/>
          <p:cNvGrpSpPr/>
          <p:nvPr/>
        </p:nvGrpSpPr>
        <p:grpSpPr>
          <a:xfrm>
            <a:off x="4343400" y="1809750"/>
            <a:ext cx="3505200" cy="3810000"/>
            <a:chOff x="4343400" y="1809750"/>
            <a:chExt cx="3505200" cy="3810000"/>
          </a:xfrm>
        </p:grpSpPr>
        <p:sp>
          <p:nvSpPr>
            <p:cNvPr id="17" name="Rectangle 17"/>
            <p:cNvSpPr/>
            <p:nvPr/>
          </p:nvSpPr>
          <p:spPr>
            <a:xfrm>
              <a:off x="4343400" y="1809750"/>
              <a:ext cx="3505200" cy="3810000"/>
            </a:xfrm>
            <a:prstGeom prst="roundRect">
              <a:avLst>
                <a:gd name="adj" fmla="val 4348"/>
              </a:avLst>
            </a:prstGeom>
            <a:solidFill>
              <a:schemeClr val="lt2"/>
            </a:solidFill>
            <a:ln>
              <a:noFill/>
            </a:ln>
          </p:spPr>
        </p:sp>
        <p:sp>
          <p:nvSpPr>
            <p:cNvPr id="18" name="Freeform 18"/>
            <p:cNvSpPr/>
            <p:nvPr/>
          </p:nvSpPr>
          <p:spPr>
            <a:xfrm>
              <a:off x="4628521" y="2081212"/>
              <a:ext cx="248896" cy="238252"/>
            </a:xfrm>
            <a:custGeom>
              <a:avLst/>
              <a:gdLst/>
              <a:ahLst/>
              <a:cxnLst/>
              <a:rect l="l" t="t" r="r" b="b"/>
              <a:pathLst>
                <a:path w="248896" h="238252">
                  <a:moveTo>
                    <a:pt x="124430" y="0"/>
                  </a:moveTo>
                  <a:lnTo>
                    <a:pt x="125835" y="83"/>
                  </a:lnTo>
                  <a:lnTo>
                    <a:pt x="126537" y="179"/>
                  </a:lnTo>
                  <a:lnTo>
                    <a:pt x="127263" y="333"/>
                  </a:lnTo>
                  <a:lnTo>
                    <a:pt x="128585" y="738"/>
                  </a:lnTo>
                  <a:cubicBezTo>
                    <a:pt x="129498" y="1075"/>
                    <a:pt x="130366" y="1523"/>
                    <a:pt x="131169" y="2072"/>
                  </a:cubicBezTo>
                  <a:lnTo>
                    <a:pt x="132407" y="3048"/>
                  </a:lnTo>
                  <a:lnTo>
                    <a:pt x="135443" y="5644"/>
                  </a:lnTo>
                  <a:cubicBezTo>
                    <a:pt x="159462" y="25593"/>
                    <a:pt x="189817" y="36306"/>
                    <a:pt x="221037" y="35850"/>
                  </a:cubicBezTo>
                  <a:lnTo>
                    <a:pt x="225109" y="35731"/>
                  </a:lnTo>
                  <a:cubicBezTo>
                    <a:pt x="230588" y="35481"/>
                    <a:pt x="235528" y="39006"/>
                    <a:pt x="237075" y="44267"/>
                  </a:cubicBezTo>
                  <a:cubicBezTo>
                    <a:pt x="248896" y="84478"/>
                    <a:pt x="243904" y="127764"/>
                    <a:pt x="223241" y="164229"/>
                  </a:cubicBezTo>
                  <a:cubicBezTo>
                    <a:pt x="202579" y="200693"/>
                    <a:pt x="168012" y="227220"/>
                    <a:pt x="127442" y="237744"/>
                  </a:cubicBezTo>
                  <a:cubicBezTo>
                    <a:pt x="125482" y="238252"/>
                    <a:pt x="123425" y="238252"/>
                    <a:pt x="121465" y="237744"/>
                  </a:cubicBezTo>
                  <a:cubicBezTo>
                    <a:pt x="80893" y="227223"/>
                    <a:pt x="46323" y="200697"/>
                    <a:pt x="25658" y="164232"/>
                  </a:cubicBezTo>
                  <a:cubicBezTo>
                    <a:pt x="4993" y="127767"/>
                    <a:pt x="0" y="84480"/>
                    <a:pt x="11820" y="44267"/>
                  </a:cubicBezTo>
                  <a:cubicBezTo>
                    <a:pt x="13367" y="39006"/>
                    <a:pt x="18308" y="35481"/>
                    <a:pt x="23786" y="35731"/>
                  </a:cubicBezTo>
                  <a:cubicBezTo>
                    <a:pt x="56379" y="37221"/>
                    <a:pt x="88355" y="26491"/>
                    <a:pt x="113452" y="5644"/>
                  </a:cubicBezTo>
                  <a:lnTo>
                    <a:pt x="116584" y="2965"/>
                  </a:lnTo>
                  <a:lnTo>
                    <a:pt x="117727" y="2072"/>
                  </a:lnTo>
                  <a:cubicBezTo>
                    <a:pt x="118530" y="1523"/>
                    <a:pt x="119397" y="1075"/>
                    <a:pt x="120310" y="738"/>
                  </a:cubicBezTo>
                  <a:lnTo>
                    <a:pt x="121644" y="333"/>
                  </a:lnTo>
                  <a:cubicBezTo>
                    <a:pt x="122110" y="221"/>
                    <a:pt x="122584" y="137"/>
                    <a:pt x="123061" y="83"/>
                  </a:cubicBezTo>
                  <a:lnTo>
                    <a:pt x="124430" y="0"/>
                  </a:lnTo>
                  <a:close/>
                  <a:moveTo>
                    <a:pt x="124454" y="83344"/>
                  </a:moveTo>
                  <a:cubicBezTo>
                    <a:pt x="111992" y="83340"/>
                    <a:pt x="101635" y="92944"/>
                    <a:pt x="100701" y="105370"/>
                  </a:cubicBezTo>
                  <a:lnTo>
                    <a:pt x="100641" y="107156"/>
                  </a:lnTo>
                  <a:lnTo>
                    <a:pt x="100701" y="108942"/>
                  </a:lnTo>
                  <a:cubicBezTo>
                    <a:pt x="101297" y="116789"/>
                    <a:pt x="105731" y="123834"/>
                    <a:pt x="112547" y="127766"/>
                  </a:cubicBezTo>
                  <a:lnTo>
                    <a:pt x="112547" y="148828"/>
                  </a:lnTo>
                  <a:lnTo>
                    <a:pt x="112631" y="150221"/>
                  </a:lnTo>
                  <a:cubicBezTo>
                    <a:pt x="113375" y="156477"/>
                    <a:pt x="118863" y="161070"/>
                    <a:pt x="125151" y="160701"/>
                  </a:cubicBezTo>
                  <a:cubicBezTo>
                    <a:pt x="131440" y="160332"/>
                    <a:pt x="136353" y="155128"/>
                    <a:pt x="136360" y="148828"/>
                  </a:cubicBezTo>
                  <a:lnTo>
                    <a:pt x="136372" y="127778"/>
                  </a:lnTo>
                  <a:cubicBezTo>
                    <a:pt x="145707" y="122388"/>
                    <a:pt x="150257" y="111399"/>
                    <a:pt x="147464" y="100987"/>
                  </a:cubicBezTo>
                  <a:cubicBezTo>
                    <a:pt x="144671" y="90576"/>
                    <a:pt x="135233" y="83339"/>
                    <a:pt x="124454" y="83344"/>
                  </a:cubicBezTo>
                  <a:close/>
                </a:path>
              </a:pathLst>
            </a:custGeom>
            <a:solidFill>
              <a:schemeClr val="accent1"/>
            </a:solidFill>
            <a:ln>
              <a:noFill/>
            </a:ln>
          </p:spPr>
        </p:sp>
        <p:sp>
          <p:nvSpPr>
            <p:cNvPr id="19" name="TextBox 19"/>
            <p:cNvSpPr txBox="1"/>
            <p:nvPr/>
          </p:nvSpPr>
          <p:spPr>
            <a:xfrm>
              <a:off x="5021199" y="2115979"/>
              <a:ext cx="1016794" cy="574738"/>
            </a:xfrm>
            <a:prstGeom prst="rect">
              <a:avLst/>
            </a:prstGeom>
            <a:noFill/>
            <a:ln>
              <a:noFill/>
            </a:ln>
          </p:spPr>
          <p:txBody>
            <a:bodyPr wrap="square" lIns="0" tIns="0" rIns="0" bIns="0" anchor="t" anchorCtr="0"/>
            <a:lstStyle/>
            <a:p>
              <a:pPr algn="l">
                <a:lnSpc>
                  <a:spcPts val="2100"/>
                </a:lnSpc>
              </a:pPr>
              <a:r>
                <a:rPr lang="zh-CN" sz="1580" b="1" dirty="0">
                  <a:solidFill>
                    <a:schemeClr val="dk1"/>
                  </a:solidFill>
                  <a:latin typeface="+mn-lt"/>
                  <a:ea typeface="+mn-ea"/>
                  <a:cs typeface="+mn-cs"/>
                </a:rPr>
                <a:t>ファイル全体の暗号化</a:t>
              </a:r>
            </a:p>
          </p:txBody>
        </p:sp>
        <p:sp>
          <p:nvSpPr>
            <p:cNvPr id="20" name="TextBox 20"/>
            <p:cNvSpPr txBox="1"/>
            <p:nvPr/>
          </p:nvSpPr>
          <p:spPr>
            <a:xfrm>
              <a:off x="4603623" y="2834164"/>
              <a:ext cx="2012442" cy="744665"/>
            </a:xfrm>
            <a:prstGeom prst="rect">
              <a:avLst/>
            </a:prstGeom>
            <a:noFill/>
            <a:ln>
              <a:noFill/>
            </a:ln>
          </p:spPr>
          <p:txBody>
            <a:bodyPr wrap="square" lIns="0" tIns="0" rIns="0" bIns="0" anchor="t" anchorCtr="0"/>
            <a:lstStyle/>
            <a:p>
              <a:pPr algn="l">
                <a:lnSpc>
                  <a:spcPts val="1950"/>
                </a:lnSpc>
              </a:pPr>
              <a:r>
                <a:rPr lang="zh-CN" sz="1280" dirty="0">
                  <a:solidFill>
                    <a:schemeClr val="dk1"/>
                  </a:solidFill>
                  <a:latin typeface="+mn-lt"/>
                  <a:ea typeface="+mn-ea"/>
                  <a:cs typeface="+mn-cs"/>
                </a:rPr>
                <a:t>開くときにパスワードを求める</a:t>
              </a:r>
              <a:r>
                <a:rPr lang="en-US" sz="1280" dirty="0">
                  <a:solidFill>
                    <a:schemeClr val="dk1"/>
                  </a:solidFill>
                  <a:latin typeface="+mn-lt"/>
                  <a:ea typeface="+mn-ea"/>
                  <a:cs typeface="+mn-cs"/>
                </a:rPr>
                <a:t xml:space="preserve"> </a:t>
              </a:r>
              <a:r>
                <a:rPr lang="zh-CN" sz="1280" dirty="0">
                  <a:solidFill>
                    <a:schemeClr val="dk1"/>
                  </a:solidFill>
                  <a:latin typeface="+mn-lt"/>
                  <a:ea typeface="+mn-ea"/>
                  <a:cs typeface="+mn-cs"/>
                </a:rPr>
                <a:t>ブック。中身全体が暗号化され、マクロの区画に到達できません。</a:t>
              </a:r>
            </a:p>
          </p:txBody>
        </p:sp>
        <p:sp>
          <p:nvSpPr>
            <p:cNvPr id="21" name="Rectangle 21"/>
            <p:cNvSpPr/>
            <p:nvPr/>
          </p:nvSpPr>
          <p:spPr>
            <a:xfrm>
              <a:off x="4610100" y="4076700"/>
              <a:ext cx="2971800" cy="1333500"/>
            </a:xfrm>
            <a:prstGeom prst="roundRect">
              <a:avLst>
                <a:gd name="adj" fmla="val 8571"/>
              </a:avLst>
            </a:prstGeom>
            <a:solidFill>
              <a:schemeClr val="lt1"/>
            </a:solidFill>
            <a:ln>
              <a:noFill/>
            </a:ln>
          </p:spPr>
        </p:sp>
        <p:sp>
          <p:nvSpPr>
            <p:cNvPr id="22" name="TextBox 22"/>
            <p:cNvSpPr txBox="1"/>
            <p:nvPr/>
          </p:nvSpPr>
          <p:spPr>
            <a:xfrm>
              <a:off x="4794504" y="4213860"/>
              <a:ext cx="275105"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扱い</a:t>
              </a:r>
            </a:p>
          </p:txBody>
        </p:sp>
        <p:sp>
          <p:nvSpPr>
            <p:cNvPr id="23" name="TextBox 23"/>
            <p:cNvSpPr txBox="1"/>
            <p:nvPr/>
          </p:nvSpPr>
          <p:spPr>
            <a:xfrm>
              <a:off x="4794504" y="4480560"/>
              <a:ext cx="1741932" cy="920496"/>
            </a:xfrm>
            <a:prstGeom prst="rect">
              <a:avLst/>
            </a:prstGeom>
            <a:noFill/>
            <a:ln>
              <a:noFill/>
            </a:ln>
          </p:spPr>
          <p:txBody>
            <a:bodyPr wrap="square" lIns="0" tIns="0" rIns="0" bIns="0" anchor="t" anchorCtr="0"/>
            <a:lstStyle/>
            <a:p>
              <a:pPr algn="l">
                <a:lnSpc>
                  <a:spcPts val="1800"/>
                </a:lnSpc>
              </a:pPr>
              <a:r>
                <a:rPr lang="zh-CN" sz="1200" dirty="0">
                  <a:solidFill>
                    <a:schemeClr val="dk1"/>
                  </a:solidFill>
                  <a:latin typeface="+mn-lt"/>
                  <a:ea typeface="+mn-ea"/>
                  <a:cs typeface="+mn-cs"/>
                </a:rPr>
                <a:t>読み取れません（実測: モジュール</a:t>
              </a:r>
              <a:r>
                <a:rPr lang="en-US" sz="1200" dirty="0">
                  <a:solidFill>
                    <a:schemeClr val="dk1"/>
                  </a:solidFill>
                  <a:latin typeface="+mn-lt"/>
                  <a:ea typeface="+mn-ea"/>
                  <a:cs typeface="+mn-cs"/>
                </a:rPr>
                <a:t xml:space="preserve"> </a:t>
              </a:r>
              <a:r>
                <a:rPr lang="zh-CN" sz="1200" dirty="0">
                  <a:solidFill>
                    <a:schemeClr val="dk1"/>
                  </a:solidFill>
                  <a:latin typeface="+mn-lt"/>
                  <a:ea typeface="+mn-ea"/>
                  <a:cs typeface="+mn-cs"/>
                </a:rPr>
                <a:t>0 件になり先へ進めません）。パスワードを外した複製を作って</a:t>
              </a:r>
              <a:r>
                <a:rPr lang="en-US" sz="1200" dirty="0">
                  <a:solidFill>
                    <a:schemeClr val="dk1"/>
                  </a:solidFill>
                  <a:latin typeface="+mn-lt"/>
                  <a:ea typeface="+mn-ea"/>
                  <a:cs typeface="+mn-cs"/>
                </a:rPr>
                <a:t xml:space="preserve"> </a:t>
              </a:r>
              <a:r>
                <a:rPr lang="zh-CN" sz="1200" dirty="0">
                  <a:solidFill>
                    <a:schemeClr val="dk1"/>
                  </a:solidFill>
                  <a:latin typeface="+mn-lt"/>
                  <a:ea typeface="+mn-ea"/>
                  <a:cs typeface="+mn-cs"/>
                </a:rPr>
                <a:t>から読み込んでください。</a:t>
              </a:r>
            </a:p>
          </p:txBody>
        </p:sp>
      </p:grpSp>
      <p:grpSp>
        <p:nvGrpSpPr>
          <p:cNvPr id="32" name="Group 32"/>
          <p:cNvGrpSpPr/>
          <p:nvPr/>
        </p:nvGrpSpPr>
        <p:grpSpPr>
          <a:xfrm>
            <a:off x="8229600" y="1809750"/>
            <a:ext cx="3505200" cy="3810000"/>
            <a:chOff x="8229600" y="1809750"/>
            <a:chExt cx="3505200" cy="3810000"/>
          </a:xfrm>
        </p:grpSpPr>
        <p:sp>
          <p:nvSpPr>
            <p:cNvPr id="25" name="Rectangle 25"/>
            <p:cNvSpPr/>
            <p:nvPr/>
          </p:nvSpPr>
          <p:spPr>
            <a:xfrm>
              <a:off x="8229600" y="1809750"/>
              <a:ext cx="3505200" cy="3810000"/>
            </a:xfrm>
            <a:prstGeom prst="roundRect">
              <a:avLst>
                <a:gd name="adj" fmla="val 4348"/>
              </a:avLst>
            </a:prstGeom>
            <a:solidFill>
              <a:schemeClr val="lt2"/>
            </a:solidFill>
            <a:ln>
              <a:noFill/>
            </a:ln>
          </p:spPr>
        </p:sp>
        <p:sp>
          <p:nvSpPr>
            <p:cNvPr id="26" name="Freeform 26"/>
            <p:cNvSpPr/>
            <p:nvPr/>
          </p:nvSpPr>
          <p:spPr>
            <a:xfrm>
              <a:off x="8520112" y="2081212"/>
              <a:ext cx="238120" cy="238125"/>
            </a:xfrm>
            <a:custGeom>
              <a:avLst/>
              <a:gdLst/>
              <a:ahLst/>
              <a:cxnLst/>
              <a:rect l="l" t="t" r="r" b="b"/>
              <a:pathLst>
                <a:path w="238120" h="238125">
                  <a:moveTo>
                    <a:pt x="149066" y="0"/>
                  </a:moveTo>
                  <a:cubicBezTo>
                    <a:pt x="161318" y="0"/>
                    <a:pt x="173057" y="4870"/>
                    <a:pt x="181713" y="13525"/>
                  </a:cubicBezTo>
                  <a:lnTo>
                    <a:pt x="224600" y="56412"/>
                  </a:lnTo>
                  <a:cubicBezTo>
                    <a:pt x="233257" y="65069"/>
                    <a:pt x="238120" y="76810"/>
                    <a:pt x="238120" y="89053"/>
                  </a:cubicBezTo>
                  <a:cubicBezTo>
                    <a:pt x="238120" y="101296"/>
                    <a:pt x="233257" y="113037"/>
                    <a:pt x="224600" y="121694"/>
                  </a:cubicBezTo>
                  <a:lnTo>
                    <a:pt x="193131" y="153162"/>
                  </a:lnTo>
                  <a:cubicBezTo>
                    <a:pt x="177381" y="168898"/>
                    <a:pt x="152647" y="171160"/>
                    <a:pt x="134303" y="158544"/>
                  </a:cubicBezTo>
                  <a:lnTo>
                    <a:pt x="133052" y="157615"/>
                  </a:lnTo>
                  <a:lnTo>
                    <a:pt x="63020" y="227659"/>
                  </a:lnTo>
                  <a:cubicBezTo>
                    <a:pt x="57600" y="233061"/>
                    <a:pt x="50588" y="236580"/>
                    <a:pt x="43017" y="237696"/>
                  </a:cubicBezTo>
                  <a:lnTo>
                    <a:pt x="40398" y="238018"/>
                  </a:lnTo>
                  <a:lnTo>
                    <a:pt x="37767" y="238125"/>
                  </a:lnTo>
                  <a:lnTo>
                    <a:pt x="23812" y="238125"/>
                  </a:lnTo>
                  <a:cubicBezTo>
                    <a:pt x="11740" y="238125"/>
                    <a:pt x="1584" y="229088"/>
                    <a:pt x="107" y="216420"/>
                  </a:cubicBezTo>
                  <a:lnTo>
                    <a:pt x="0" y="214312"/>
                  </a:lnTo>
                  <a:lnTo>
                    <a:pt x="0" y="200358"/>
                  </a:lnTo>
                  <a:cubicBezTo>
                    <a:pt x="0" y="191976"/>
                    <a:pt x="2953" y="183856"/>
                    <a:pt x="8692" y="177022"/>
                  </a:cubicBezTo>
                  <a:lnTo>
                    <a:pt x="10466" y="175105"/>
                  </a:lnTo>
                  <a:lnTo>
                    <a:pt x="15395" y="170176"/>
                  </a:lnTo>
                  <a:cubicBezTo>
                    <a:pt x="17627" y="167943"/>
                    <a:pt x="20655" y="166688"/>
                    <a:pt x="23812" y="166688"/>
                  </a:cubicBezTo>
                  <a:lnTo>
                    <a:pt x="35719" y="166688"/>
                  </a:lnTo>
                  <a:lnTo>
                    <a:pt x="35719" y="154781"/>
                  </a:lnTo>
                  <a:cubicBezTo>
                    <a:pt x="35720" y="148745"/>
                    <a:pt x="40237" y="143665"/>
                    <a:pt x="46232" y="142958"/>
                  </a:cubicBezTo>
                  <a:lnTo>
                    <a:pt x="47625" y="142875"/>
                  </a:lnTo>
                  <a:lnTo>
                    <a:pt x="59531" y="142875"/>
                  </a:lnTo>
                  <a:lnTo>
                    <a:pt x="59531" y="130969"/>
                  </a:lnTo>
                  <a:cubicBezTo>
                    <a:pt x="59531" y="128352"/>
                    <a:pt x="60393" y="125808"/>
                    <a:pt x="61984" y="123730"/>
                  </a:cubicBezTo>
                  <a:lnTo>
                    <a:pt x="63020" y="122539"/>
                  </a:lnTo>
                  <a:lnTo>
                    <a:pt x="80498" y="105049"/>
                  </a:lnTo>
                  <a:lnTo>
                    <a:pt x="79593" y="103823"/>
                  </a:lnTo>
                  <a:cubicBezTo>
                    <a:pt x="74839" y="96905"/>
                    <a:pt x="72050" y="88828"/>
                    <a:pt x="71521" y="80451"/>
                  </a:cubicBezTo>
                  <a:lnTo>
                    <a:pt x="71438" y="77641"/>
                  </a:lnTo>
                  <a:cubicBezTo>
                    <a:pt x="71438" y="65389"/>
                    <a:pt x="76307" y="53650"/>
                    <a:pt x="84963" y="44994"/>
                  </a:cubicBezTo>
                  <a:lnTo>
                    <a:pt x="116431" y="13525"/>
                  </a:lnTo>
                  <a:cubicBezTo>
                    <a:pt x="125088" y="4871"/>
                    <a:pt x="136826" y="7"/>
                    <a:pt x="149066" y="0"/>
                  </a:cubicBezTo>
                  <a:moveTo>
                    <a:pt x="154960" y="59531"/>
                  </a:moveTo>
                  <a:lnTo>
                    <a:pt x="154722" y="59531"/>
                  </a:lnTo>
                  <a:cubicBezTo>
                    <a:pt x="146214" y="59531"/>
                    <a:pt x="138353" y="64070"/>
                    <a:pt x="134099" y="71437"/>
                  </a:cubicBezTo>
                  <a:cubicBezTo>
                    <a:pt x="129846" y="78805"/>
                    <a:pt x="129846" y="87882"/>
                    <a:pt x="134099" y="95250"/>
                  </a:cubicBezTo>
                  <a:cubicBezTo>
                    <a:pt x="138353" y="102618"/>
                    <a:pt x="146214" y="107156"/>
                    <a:pt x="154722" y="107156"/>
                  </a:cubicBezTo>
                  <a:lnTo>
                    <a:pt x="154960" y="107156"/>
                  </a:lnTo>
                  <a:cubicBezTo>
                    <a:pt x="168111" y="107156"/>
                    <a:pt x="178772" y="96495"/>
                    <a:pt x="178772" y="83344"/>
                  </a:cubicBezTo>
                  <a:cubicBezTo>
                    <a:pt x="178772" y="70192"/>
                    <a:pt x="168111" y="59531"/>
                    <a:pt x="154960" y="59531"/>
                  </a:cubicBezTo>
                </a:path>
              </a:pathLst>
            </a:custGeom>
            <a:solidFill>
              <a:schemeClr val="accent1"/>
            </a:solidFill>
            <a:ln>
              <a:noFill/>
            </a:ln>
          </p:spPr>
        </p:sp>
        <p:sp>
          <p:nvSpPr>
            <p:cNvPr id="27" name="TextBox 27"/>
            <p:cNvSpPr txBox="1"/>
            <p:nvPr/>
          </p:nvSpPr>
          <p:spPr>
            <a:xfrm>
              <a:off x="8907399" y="2115979"/>
              <a:ext cx="948108" cy="308039"/>
            </a:xfrm>
            <a:prstGeom prst="rect">
              <a:avLst/>
            </a:prstGeom>
            <a:noFill/>
            <a:ln>
              <a:noFill/>
            </a:ln>
          </p:spPr>
          <p:txBody>
            <a:bodyPr wrap="none" lIns="0" tIns="0" rIns="0" bIns="0" anchor="t" anchorCtr="0">
              <a:spAutoFit/>
            </a:bodyPr>
            <a:lstStyle/>
            <a:p>
              <a:pPr algn="l"/>
              <a:r>
                <a:rPr lang="zh-CN" sz="1580" b="1" dirty="0">
                  <a:solidFill>
                    <a:schemeClr val="dk1"/>
                  </a:solidFill>
                  <a:latin typeface="+mn-lt"/>
                  <a:ea typeface="+mn-ea"/>
                  <a:cs typeface="+mn-cs"/>
                </a:rPr>
                <a:t>VBA 署名</a:t>
              </a:r>
            </a:p>
          </p:txBody>
        </p:sp>
        <p:sp>
          <p:nvSpPr>
            <p:cNvPr id="28" name="TextBox 28"/>
            <p:cNvSpPr txBox="1"/>
            <p:nvPr/>
          </p:nvSpPr>
          <p:spPr>
            <a:xfrm>
              <a:off x="8489823" y="2834164"/>
              <a:ext cx="2012442" cy="744665"/>
            </a:xfrm>
            <a:prstGeom prst="rect">
              <a:avLst/>
            </a:prstGeom>
            <a:noFill/>
            <a:ln>
              <a:noFill/>
            </a:ln>
          </p:spPr>
          <p:txBody>
            <a:bodyPr wrap="square" lIns="0" tIns="0" rIns="0" bIns="0" anchor="t" anchorCtr="0"/>
            <a:lstStyle/>
            <a:p>
              <a:pPr algn="l">
                <a:lnSpc>
                  <a:spcPts val="1950"/>
                </a:lnSpc>
              </a:pPr>
              <a:r>
                <a:rPr lang="zh-CN" sz="1280" dirty="0">
                  <a:solidFill>
                    <a:schemeClr val="dk1"/>
                  </a:solidFill>
                  <a:latin typeface="+mn-lt"/>
                  <a:ea typeface="+mn-ea"/>
                  <a:cs typeface="+mn-cs"/>
                </a:rPr>
                <a:t>マクロの発行元を示す電子署名。コードを書き換えると、どんな道具で直しても無効になります。</a:t>
              </a:r>
            </a:p>
          </p:txBody>
        </p:sp>
        <p:sp>
          <p:nvSpPr>
            <p:cNvPr id="29" name="Rectangle 29"/>
            <p:cNvSpPr/>
            <p:nvPr/>
          </p:nvSpPr>
          <p:spPr>
            <a:xfrm>
              <a:off x="8496300" y="4076700"/>
              <a:ext cx="2971800" cy="1333500"/>
            </a:xfrm>
            <a:prstGeom prst="roundRect">
              <a:avLst>
                <a:gd name="adj" fmla="val 8571"/>
              </a:avLst>
            </a:prstGeom>
            <a:solidFill>
              <a:schemeClr val="lt1"/>
            </a:solidFill>
            <a:ln>
              <a:noFill/>
            </a:ln>
          </p:spPr>
        </p:sp>
        <p:sp>
          <p:nvSpPr>
            <p:cNvPr id="30" name="TextBox 30"/>
            <p:cNvSpPr txBox="1"/>
            <p:nvPr/>
          </p:nvSpPr>
          <p:spPr>
            <a:xfrm>
              <a:off x="8680704" y="4213860"/>
              <a:ext cx="275105" cy="234696"/>
            </a:xfrm>
            <a:prstGeom prst="rect">
              <a:avLst/>
            </a:prstGeom>
            <a:noFill/>
            <a:ln>
              <a:noFill/>
            </a:ln>
          </p:spPr>
          <p:txBody>
            <a:bodyPr wrap="none" lIns="0" tIns="0" rIns="0" bIns="0" anchor="t" anchorCtr="0">
              <a:spAutoFit/>
            </a:bodyPr>
            <a:lstStyle/>
            <a:p>
              <a:pPr algn="l"/>
              <a:r>
                <a:rPr lang="zh-CN" sz="1200" b="1" dirty="0">
                  <a:solidFill>
                    <a:schemeClr val="accent1"/>
                  </a:solidFill>
                  <a:latin typeface="+mn-lt"/>
                  <a:ea typeface="+mn-ea"/>
                  <a:cs typeface="+mn-cs"/>
                </a:rPr>
                <a:t>扱い</a:t>
              </a:r>
            </a:p>
          </p:txBody>
        </p:sp>
        <p:sp>
          <p:nvSpPr>
            <p:cNvPr id="31" name="TextBox 31"/>
            <p:cNvSpPr txBox="1"/>
            <p:nvPr/>
          </p:nvSpPr>
          <p:spPr>
            <a:xfrm>
              <a:off x="8680704" y="4480560"/>
              <a:ext cx="2221992" cy="920496"/>
            </a:xfrm>
            <a:prstGeom prst="rect">
              <a:avLst/>
            </a:prstGeom>
            <a:noFill/>
            <a:ln>
              <a:noFill/>
            </a:ln>
          </p:spPr>
          <p:txBody>
            <a:bodyPr wrap="square" lIns="0" tIns="0" rIns="0" bIns="0" anchor="t" anchorCtr="0"/>
            <a:lstStyle/>
            <a:p>
              <a:pPr algn="l">
                <a:lnSpc>
                  <a:spcPts val="1800"/>
                </a:lnSpc>
              </a:pPr>
              <a:r>
                <a:rPr lang="zh-CN" sz="1200" dirty="0">
                  <a:solidFill>
                    <a:schemeClr val="dk1"/>
                  </a:solidFill>
                  <a:latin typeface="+mn-lt"/>
                  <a:ea typeface="+mn-ea"/>
                  <a:cs typeface="+mn-cs"/>
                </a:rPr>
                <a:t>署名の区画には触れません。改修後は署名が無効になるため、再署名は組織の手順で行って</a:t>
              </a:r>
              <a:r>
                <a:rPr lang="en-US" sz="1200" dirty="0">
                  <a:solidFill>
                    <a:schemeClr val="dk1"/>
                  </a:solidFill>
                  <a:latin typeface="+mn-lt"/>
                  <a:ea typeface="+mn-ea"/>
                  <a:cs typeface="+mn-cs"/>
                </a:rPr>
                <a:t xml:space="preserve"> </a:t>
              </a:r>
              <a:r>
                <a:rPr lang="zh-CN" sz="1200" dirty="0">
                  <a:solidFill>
                    <a:schemeClr val="dk1"/>
                  </a:solidFill>
                  <a:latin typeface="+mn-lt"/>
                  <a:ea typeface="+mn-ea"/>
                  <a:cs typeface="+mn-cs"/>
                </a:rPr>
                <a:t>ください。</a:t>
              </a:r>
              <a:r>
                <a:rPr lang="zh-CN" sz="1200" dirty="0">
                  <a:solidFill>
                    <a:schemeClr val="accent2"/>
                  </a:solidFill>
                  <a:latin typeface="+mn-lt"/>
                  <a:ea typeface="+mn-ea"/>
                  <a:cs typeface="+mn-cs"/>
                </a:rPr>
                <a:t>署名付き実ファイルは未検証。</a:t>
              </a:r>
            </a:p>
          </p:txBody>
        </p:sp>
      </p:grpSp>
      <p:grpSp>
        <p:nvGrpSpPr>
          <p:cNvPr id="35" name="Group 35"/>
          <p:cNvGrpSpPr/>
          <p:nvPr/>
        </p:nvGrpSpPr>
        <p:grpSpPr>
          <a:xfrm>
            <a:off x="464694" y="5862931"/>
            <a:ext cx="4727234" cy="268597"/>
            <a:chOff x="464694" y="5862931"/>
            <a:chExt cx="4727234" cy="268597"/>
          </a:xfrm>
        </p:grpSpPr>
        <p:sp>
          <p:nvSpPr>
            <p:cNvPr id="33" name="Freeform 33"/>
            <p:cNvSpPr/>
            <p:nvPr/>
          </p:nvSpPr>
          <p:spPr>
            <a:xfrm>
              <a:off x="464694" y="5862931"/>
              <a:ext cx="194460" cy="168740"/>
            </a:xfrm>
            <a:custGeom>
              <a:avLst/>
              <a:gdLst/>
              <a:ahLst/>
              <a:cxnLst/>
              <a:rect l="l" t="t" r="r" b="b"/>
              <a:pathLst>
                <a:path w="194460" h="168740">
                  <a:moveTo>
                    <a:pt x="97281" y="0"/>
                  </a:moveTo>
                  <a:cubicBezTo>
                    <a:pt x="105619" y="0"/>
                    <a:pt x="113390" y="4077"/>
                    <a:pt x="118149" y="10888"/>
                  </a:cubicBezTo>
                  <a:lnTo>
                    <a:pt x="119065" y="12285"/>
                  </a:lnTo>
                  <a:lnTo>
                    <a:pt x="189911" y="130576"/>
                  </a:lnTo>
                  <a:cubicBezTo>
                    <a:pt x="194287" y="138156"/>
                    <a:pt x="194460" y="147453"/>
                    <a:pt x="190369" y="155191"/>
                  </a:cubicBezTo>
                  <a:cubicBezTo>
                    <a:pt x="186278" y="162928"/>
                    <a:pt x="178496" y="168020"/>
                    <a:pt x="169768" y="168670"/>
                  </a:cubicBezTo>
                  <a:lnTo>
                    <a:pt x="168065" y="168740"/>
                  </a:lnTo>
                  <a:lnTo>
                    <a:pt x="26401" y="168740"/>
                  </a:lnTo>
                  <a:cubicBezTo>
                    <a:pt x="17664" y="168642"/>
                    <a:pt x="9588" y="164067"/>
                    <a:pt x="5012" y="156624"/>
                  </a:cubicBezTo>
                  <a:cubicBezTo>
                    <a:pt x="436" y="149180"/>
                    <a:pt x="0" y="139909"/>
                    <a:pt x="3857" y="132069"/>
                  </a:cubicBezTo>
                  <a:lnTo>
                    <a:pt x="4721" y="130454"/>
                  </a:lnTo>
                  <a:lnTo>
                    <a:pt x="75531" y="12250"/>
                  </a:lnTo>
                  <a:cubicBezTo>
                    <a:pt x="80142" y="4646"/>
                    <a:pt x="88389" y="2"/>
                    <a:pt x="97281" y="0"/>
                  </a:cubicBezTo>
                  <a:close/>
                  <a:moveTo>
                    <a:pt x="97368" y="116388"/>
                  </a:moveTo>
                  <a:lnTo>
                    <a:pt x="96259" y="116449"/>
                  </a:lnTo>
                  <a:cubicBezTo>
                    <a:pt x="91867" y="116971"/>
                    <a:pt x="88559" y="120696"/>
                    <a:pt x="88559" y="125119"/>
                  </a:cubicBezTo>
                  <a:cubicBezTo>
                    <a:pt x="88559" y="129542"/>
                    <a:pt x="91867" y="133267"/>
                    <a:pt x="96259" y="133789"/>
                  </a:cubicBezTo>
                  <a:lnTo>
                    <a:pt x="97281" y="133850"/>
                  </a:lnTo>
                  <a:lnTo>
                    <a:pt x="98390" y="133789"/>
                  </a:lnTo>
                  <a:cubicBezTo>
                    <a:pt x="102782" y="133267"/>
                    <a:pt x="106090" y="129542"/>
                    <a:pt x="106090" y="125119"/>
                  </a:cubicBezTo>
                  <a:cubicBezTo>
                    <a:pt x="106090" y="120696"/>
                    <a:pt x="102782" y="116971"/>
                    <a:pt x="98390" y="116449"/>
                  </a:cubicBezTo>
                  <a:lnTo>
                    <a:pt x="97368" y="116388"/>
                  </a:lnTo>
                  <a:close/>
                  <a:moveTo>
                    <a:pt x="97281" y="55269"/>
                  </a:moveTo>
                  <a:cubicBezTo>
                    <a:pt x="92854" y="55269"/>
                    <a:pt x="89129" y="58582"/>
                    <a:pt x="88611" y="62979"/>
                  </a:cubicBezTo>
                  <a:lnTo>
                    <a:pt x="88550" y="64000"/>
                  </a:lnTo>
                  <a:lnTo>
                    <a:pt x="88550" y="98925"/>
                  </a:lnTo>
                  <a:lnTo>
                    <a:pt x="88611" y="99947"/>
                  </a:lnTo>
                  <a:cubicBezTo>
                    <a:pt x="89133" y="104339"/>
                    <a:pt x="92858" y="107647"/>
                    <a:pt x="97281" y="107647"/>
                  </a:cubicBezTo>
                  <a:cubicBezTo>
                    <a:pt x="101704" y="107647"/>
                    <a:pt x="105429" y="104339"/>
                    <a:pt x="105951" y="99947"/>
                  </a:cubicBezTo>
                  <a:lnTo>
                    <a:pt x="106012" y="98925"/>
                  </a:lnTo>
                  <a:lnTo>
                    <a:pt x="106012" y="64000"/>
                  </a:lnTo>
                  <a:lnTo>
                    <a:pt x="105951" y="62979"/>
                  </a:lnTo>
                  <a:cubicBezTo>
                    <a:pt x="105433" y="58582"/>
                    <a:pt x="101708" y="55269"/>
                    <a:pt x="97281" y="55269"/>
                  </a:cubicBezTo>
                  <a:close/>
                </a:path>
              </a:pathLst>
            </a:custGeom>
            <a:solidFill>
              <a:schemeClr val="accent2"/>
            </a:solidFill>
            <a:ln>
              <a:noFill/>
            </a:ln>
          </p:spPr>
        </p:sp>
        <p:sp>
          <p:nvSpPr>
            <p:cNvPr id="34" name="TextBox 34"/>
            <p:cNvSpPr txBox="1"/>
            <p:nvPr/>
          </p:nvSpPr>
          <p:spPr>
            <a:xfrm>
              <a:off x="774573" y="5882164"/>
              <a:ext cx="4417355"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MacroStudio に、ロックやパスワードを解除・回避する機能はありません。</a:t>
              </a:r>
            </a:p>
          </p:txBody>
        </p:sp>
      </p:grpSp>
      <p:grpSp>
        <p:nvGrpSpPr>
          <p:cNvPr id="38" name="Group 38"/>
          <p:cNvGrpSpPr/>
          <p:nvPr/>
        </p:nvGrpSpPr>
        <p:grpSpPr>
          <a:xfrm>
            <a:off x="451866" y="6477952"/>
            <a:ext cx="11288268" cy="205359"/>
            <a:chOff x="451866" y="6477952"/>
            <a:chExt cx="11288268" cy="205359"/>
          </a:xfrm>
        </p:grpSpPr>
        <p:sp>
          <p:nvSpPr>
            <p:cNvPr id="36" name="TextBox 36"/>
            <p:cNvSpPr txBox="1"/>
            <p:nvPr/>
          </p:nvSpPr>
          <p:spPr>
            <a:xfrm>
              <a:off x="451866" y="6477952"/>
              <a:ext cx="1438313"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第5部　技術・運用付録</a:t>
              </a:r>
            </a:p>
          </p:txBody>
        </p:sp>
        <p:sp>
          <p:nvSpPr>
            <p:cNvPr id="37" name="TextBox 37"/>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30</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第5部</a:t>
              </a:r>
            </a:p>
          </p:txBody>
        </p:sp>
        <p:sp>
          <p:nvSpPr>
            <p:cNvPr id="4" name="TextBox 4"/>
            <p:cNvSpPr txBox="1"/>
            <p:nvPr/>
          </p:nvSpPr>
          <p:spPr>
            <a:xfrm>
              <a:off x="441960" y="685800"/>
              <a:ext cx="3656133"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対応形式と検証状態</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38" name="Group 38"/>
          <p:cNvGrpSpPr/>
          <p:nvPr/>
        </p:nvGrpSpPr>
        <p:grpSpPr>
          <a:xfrm>
            <a:off x="457200" y="1371600"/>
            <a:ext cx="11277600" cy="2781300"/>
            <a:chOff x="457200" y="1371600"/>
            <a:chExt cx="11277600" cy="2781300"/>
          </a:xfrm>
        </p:grpSpPr>
        <p:sp>
          <p:nvSpPr>
            <p:cNvPr id="7" name="Rectangle 7"/>
            <p:cNvSpPr/>
            <p:nvPr/>
          </p:nvSpPr>
          <p:spPr>
            <a:xfrm>
              <a:off x="457200" y="1371600"/>
              <a:ext cx="11277600" cy="400050"/>
            </a:xfrm>
            <a:prstGeom prst="rect">
              <a:avLst/>
            </a:prstGeom>
            <a:solidFill>
              <a:schemeClr val="accent1"/>
            </a:solidFill>
            <a:ln>
              <a:noFill/>
            </a:ln>
          </p:spPr>
        </p:sp>
        <p:sp>
          <p:nvSpPr>
            <p:cNvPr id="8" name="TextBox 8"/>
            <p:cNvSpPr txBox="1"/>
            <p:nvPr/>
          </p:nvSpPr>
          <p:spPr>
            <a:xfrm>
              <a:off x="678942" y="1492568"/>
              <a:ext cx="395364"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形式</a:t>
              </a:r>
            </a:p>
          </p:txBody>
        </p:sp>
        <p:sp>
          <p:nvSpPr>
            <p:cNvPr id="9" name="TextBox 9"/>
            <p:cNvSpPr txBox="1"/>
            <p:nvPr/>
          </p:nvSpPr>
          <p:spPr>
            <a:xfrm>
              <a:off x="2355342" y="1492568"/>
              <a:ext cx="60527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読み取り</a:t>
              </a:r>
            </a:p>
          </p:txBody>
        </p:sp>
        <p:sp>
          <p:nvSpPr>
            <p:cNvPr id="10" name="TextBox 10"/>
            <p:cNvSpPr txBox="1"/>
            <p:nvPr/>
          </p:nvSpPr>
          <p:spPr>
            <a:xfrm>
              <a:off x="3993642" y="1492568"/>
              <a:ext cx="60527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書き戻し</a:t>
              </a:r>
            </a:p>
          </p:txBody>
        </p:sp>
        <p:sp>
          <p:nvSpPr>
            <p:cNvPr id="11" name="TextBox 11"/>
            <p:cNvSpPr txBox="1"/>
            <p:nvPr/>
          </p:nvSpPr>
          <p:spPr>
            <a:xfrm>
              <a:off x="5898642" y="1492568"/>
              <a:ext cx="264708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検証状態（2026-07-30 時点）</a:t>
              </a:r>
            </a:p>
          </p:txBody>
        </p:sp>
        <p:sp>
          <p:nvSpPr>
            <p:cNvPr id="12" name="Rectangle 12"/>
            <p:cNvSpPr/>
            <p:nvPr/>
          </p:nvSpPr>
          <p:spPr>
            <a:xfrm>
              <a:off x="457200" y="1771650"/>
              <a:ext cx="11277600" cy="476250"/>
            </a:xfrm>
            <a:prstGeom prst="rect">
              <a:avLst/>
            </a:prstGeom>
            <a:solidFill>
              <a:schemeClr val="lt1"/>
            </a:solidFill>
            <a:ln>
              <a:noFill/>
            </a:ln>
          </p:spPr>
        </p:sp>
        <p:sp>
          <p:nvSpPr>
            <p:cNvPr id="13" name="TextBox 13"/>
            <p:cNvSpPr txBox="1"/>
            <p:nvPr/>
          </p:nvSpPr>
          <p:spPr>
            <a:xfrm>
              <a:off x="678942" y="1930718"/>
              <a:ext cx="50440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.xlsm</a:t>
              </a:r>
            </a:p>
          </p:txBody>
        </p:sp>
        <p:sp>
          <p:nvSpPr>
            <p:cNvPr id="14" name="TextBox 14"/>
            <p:cNvSpPr txBox="1"/>
            <p:nvPr/>
          </p:nvSpPr>
          <p:spPr>
            <a:xfrm>
              <a:off x="2355342" y="193071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対応</a:t>
              </a:r>
            </a:p>
          </p:txBody>
        </p:sp>
        <p:sp>
          <p:nvSpPr>
            <p:cNvPr id="15" name="TextBox 15"/>
            <p:cNvSpPr txBox="1"/>
            <p:nvPr/>
          </p:nvSpPr>
          <p:spPr>
            <a:xfrm>
              <a:off x="3993642" y="193071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対応</a:t>
              </a:r>
            </a:p>
          </p:txBody>
        </p:sp>
        <p:sp>
          <p:nvSpPr>
            <p:cNvPr id="16" name="TextBox 16"/>
            <p:cNvSpPr txBox="1"/>
            <p:nvPr/>
          </p:nvSpPr>
          <p:spPr>
            <a:xfrm>
              <a:off x="5898642" y="1930718"/>
              <a:ext cx="4617766" cy="264033"/>
            </a:xfrm>
            <a:prstGeom prst="rect">
              <a:avLst/>
            </a:prstGeom>
            <a:noFill/>
            <a:ln>
              <a:noFill/>
            </a:ln>
          </p:spPr>
          <p:txBody>
            <a:bodyPr wrap="none" lIns="0" tIns="0" rIns="0" bIns="0" anchor="t" anchorCtr="0">
              <a:spAutoFit/>
            </a:bodyPr>
            <a:lstStyle/>
            <a:p>
              <a:pPr algn="l"/>
              <a:r>
                <a:rPr lang="zh-CN" sz="1350" dirty="0">
                  <a:solidFill>
                    <a:srgbClr val="3A7A47"/>
                  </a:solidFill>
                  <a:latin typeface="+mn-lt"/>
                  <a:ea typeface="+mn-ea"/>
                  <a:cs typeface="+mn-cs"/>
                </a:rPr>
                <a:t>実機確認済み（抽出・書き戻し・Excel での再オープンとマクロ実行）</a:t>
              </a:r>
            </a:p>
          </p:txBody>
        </p:sp>
        <p:sp>
          <p:nvSpPr>
            <p:cNvPr id="17" name="Rectangle 17"/>
            <p:cNvSpPr/>
            <p:nvPr/>
          </p:nvSpPr>
          <p:spPr>
            <a:xfrm>
              <a:off x="457200" y="2247900"/>
              <a:ext cx="11277600" cy="476250"/>
            </a:xfrm>
            <a:prstGeom prst="rect">
              <a:avLst/>
            </a:prstGeom>
            <a:solidFill>
              <a:schemeClr val="accent5"/>
            </a:solidFill>
            <a:ln>
              <a:noFill/>
            </a:ln>
          </p:spPr>
        </p:sp>
        <p:sp>
          <p:nvSpPr>
            <p:cNvPr id="18" name="TextBox 18"/>
            <p:cNvSpPr txBox="1"/>
            <p:nvPr/>
          </p:nvSpPr>
          <p:spPr>
            <a:xfrm>
              <a:off x="678942" y="2406968"/>
              <a:ext cx="50440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.xlam</a:t>
              </a:r>
            </a:p>
          </p:txBody>
        </p:sp>
        <p:sp>
          <p:nvSpPr>
            <p:cNvPr id="19" name="TextBox 19"/>
            <p:cNvSpPr txBox="1"/>
            <p:nvPr/>
          </p:nvSpPr>
          <p:spPr>
            <a:xfrm>
              <a:off x="2355342" y="24069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対応</a:t>
              </a:r>
            </a:p>
          </p:txBody>
        </p:sp>
        <p:sp>
          <p:nvSpPr>
            <p:cNvPr id="20" name="TextBox 20"/>
            <p:cNvSpPr txBox="1"/>
            <p:nvPr/>
          </p:nvSpPr>
          <p:spPr>
            <a:xfrm>
              <a:off x="3993642" y="24069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対応</a:t>
              </a:r>
            </a:p>
          </p:txBody>
        </p:sp>
        <p:sp>
          <p:nvSpPr>
            <p:cNvPr id="21" name="TextBox 21"/>
            <p:cNvSpPr txBox="1"/>
            <p:nvPr/>
          </p:nvSpPr>
          <p:spPr>
            <a:xfrm>
              <a:off x="5898642" y="2406968"/>
              <a:ext cx="43512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合成データでの試験のみ（Excel が実生成したファイルでは未検証）</a:t>
              </a:r>
            </a:p>
          </p:txBody>
        </p:sp>
        <p:sp>
          <p:nvSpPr>
            <p:cNvPr id="22" name="Rectangle 22"/>
            <p:cNvSpPr/>
            <p:nvPr/>
          </p:nvSpPr>
          <p:spPr>
            <a:xfrm>
              <a:off x="457200" y="2724150"/>
              <a:ext cx="11277600" cy="476250"/>
            </a:xfrm>
            <a:prstGeom prst="rect">
              <a:avLst/>
            </a:prstGeom>
            <a:solidFill>
              <a:schemeClr val="lt1"/>
            </a:solidFill>
            <a:ln>
              <a:noFill/>
            </a:ln>
          </p:spPr>
        </p:sp>
        <p:sp>
          <p:nvSpPr>
            <p:cNvPr id="23" name="TextBox 23"/>
            <p:cNvSpPr txBox="1"/>
            <p:nvPr/>
          </p:nvSpPr>
          <p:spPr>
            <a:xfrm>
              <a:off x="678942" y="2883218"/>
              <a:ext cx="46805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.xlsb</a:t>
              </a:r>
            </a:p>
          </p:txBody>
        </p:sp>
        <p:sp>
          <p:nvSpPr>
            <p:cNvPr id="24" name="TextBox 24"/>
            <p:cNvSpPr txBox="1"/>
            <p:nvPr/>
          </p:nvSpPr>
          <p:spPr>
            <a:xfrm>
              <a:off x="2355342" y="288321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対応</a:t>
              </a:r>
            </a:p>
          </p:txBody>
        </p:sp>
        <p:sp>
          <p:nvSpPr>
            <p:cNvPr id="25" name="TextBox 25"/>
            <p:cNvSpPr txBox="1"/>
            <p:nvPr/>
          </p:nvSpPr>
          <p:spPr>
            <a:xfrm>
              <a:off x="3993642" y="288321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対応</a:t>
              </a:r>
            </a:p>
          </p:txBody>
        </p:sp>
        <p:sp>
          <p:nvSpPr>
            <p:cNvPr id="26" name="TextBox 26"/>
            <p:cNvSpPr txBox="1"/>
            <p:nvPr/>
          </p:nvSpPr>
          <p:spPr>
            <a:xfrm>
              <a:off x="5898642" y="2883218"/>
              <a:ext cx="385745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実ファイル未検証（解析できない場合は明示エラーで停止）</a:t>
              </a:r>
            </a:p>
          </p:txBody>
        </p:sp>
        <p:sp>
          <p:nvSpPr>
            <p:cNvPr id="27" name="Rectangle 27"/>
            <p:cNvSpPr/>
            <p:nvPr/>
          </p:nvSpPr>
          <p:spPr>
            <a:xfrm>
              <a:off x="457200" y="3200400"/>
              <a:ext cx="11277600" cy="476250"/>
            </a:xfrm>
            <a:prstGeom prst="rect">
              <a:avLst/>
            </a:prstGeom>
            <a:solidFill>
              <a:schemeClr val="accent5"/>
            </a:solidFill>
            <a:ln>
              <a:noFill/>
            </a:ln>
          </p:spPr>
        </p:sp>
        <p:sp>
          <p:nvSpPr>
            <p:cNvPr id="28" name="TextBox 28"/>
            <p:cNvSpPr txBox="1"/>
            <p:nvPr/>
          </p:nvSpPr>
          <p:spPr>
            <a:xfrm>
              <a:off x="678942" y="3359468"/>
              <a:ext cx="3681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Consolas"/>
                  <a:ea typeface="Consolas"/>
                  <a:cs typeface="Consolas"/>
                </a:rPr>
                <a:t>.xls</a:t>
              </a:r>
            </a:p>
          </p:txBody>
        </p:sp>
        <p:sp>
          <p:nvSpPr>
            <p:cNvPr id="29" name="TextBox 29"/>
            <p:cNvSpPr txBox="1"/>
            <p:nvPr/>
          </p:nvSpPr>
          <p:spPr>
            <a:xfrm>
              <a:off x="2355342" y="33594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対応</a:t>
              </a:r>
            </a:p>
          </p:txBody>
        </p:sp>
        <p:sp>
          <p:nvSpPr>
            <p:cNvPr id="30" name="TextBox 30"/>
            <p:cNvSpPr txBox="1"/>
            <p:nvPr/>
          </p:nvSpPr>
          <p:spPr>
            <a:xfrm>
              <a:off x="3993642" y="3359468"/>
              <a:ext cx="11223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検証合格時のみ</a:t>
              </a:r>
            </a:p>
          </p:txBody>
        </p:sp>
        <p:sp>
          <p:nvSpPr>
            <p:cNvPr id="31" name="TextBox 31"/>
            <p:cNvSpPr txBox="1"/>
            <p:nvPr/>
          </p:nvSpPr>
          <p:spPr>
            <a:xfrm>
              <a:off x="5898642" y="3359468"/>
              <a:ext cx="33357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限定対応（ファイル全体が OLE2 の旧形式）</a:t>
              </a:r>
            </a:p>
          </p:txBody>
        </p:sp>
        <p:sp>
          <p:nvSpPr>
            <p:cNvPr id="32" name="Rectangle 32"/>
            <p:cNvSpPr/>
            <p:nvPr/>
          </p:nvSpPr>
          <p:spPr>
            <a:xfrm>
              <a:off x="457200" y="3676650"/>
              <a:ext cx="11277600" cy="476250"/>
            </a:xfrm>
            <a:prstGeom prst="rect">
              <a:avLst/>
            </a:prstGeom>
            <a:solidFill>
              <a:schemeClr val="lt1"/>
            </a:solidFill>
            <a:ln>
              <a:noFill/>
            </a:ln>
          </p:spPr>
        </p:sp>
        <p:sp>
          <p:nvSpPr>
            <p:cNvPr id="33" name="TextBox 33"/>
            <p:cNvSpPr txBox="1"/>
            <p:nvPr/>
          </p:nvSpPr>
          <p:spPr>
            <a:xfrm>
              <a:off x="678942" y="3835718"/>
              <a:ext cx="9405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拡張子が違う</a:t>
              </a:r>
            </a:p>
          </p:txBody>
        </p:sp>
        <p:sp>
          <p:nvSpPr>
            <p:cNvPr id="34" name="TextBox 34"/>
            <p:cNvSpPr txBox="1"/>
            <p:nvPr/>
          </p:nvSpPr>
          <p:spPr>
            <a:xfrm>
              <a:off x="2355342" y="3835718"/>
              <a:ext cx="84061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中身で判定</a:t>
              </a:r>
            </a:p>
          </p:txBody>
        </p:sp>
        <p:sp>
          <p:nvSpPr>
            <p:cNvPr id="35" name="TextBox 35"/>
            <p:cNvSpPr txBox="1"/>
            <p:nvPr/>
          </p:nvSpPr>
          <p:spPr>
            <a:xfrm>
              <a:off x="3993642" y="3835718"/>
              <a:ext cx="11367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t>
              </a:r>
            </a:p>
          </p:txBody>
        </p:sp>
        <p:sp>
          <p:nvSpPr>
            <p:cNvPr id="36" name="TextBox 36"/>
            <p:cNvSpPr txBox="1"/>
            <p:nvPr/>
          </p:nvSpPr>
          <p:spPr>
            <a:xfrm>
              <a:off x="5898642" y="3835718"/>
              <a:ext cx="282686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ZIP か OLE2 として読める場合は読み込む</a:t>
              </a:r>
            </a:p>
          </p:txBody>
        </p:sp>
        <p:sp>
          <p:nvSpPr>
            <p:cNvPr id="37" name="Rectangle 37"/>
            <p:cNvSpPr/>
            <p:nvPr/>
          </p:nvSpPr>
          <p:spPr>
            <a:xfrm>
              <a:off x="457200" y="1371600"/>
              <a:ext cx="11277600" cy="2781300"/>
            </a:xfrm>
            <a:prstGeom prst="roundRect">
              <a:avLst>
                <a:gd name="adj" fmla="val 2740"/>
              </a:avLst>
            </a:prstGeom>
            <a:noFill/>
            <a:ln w="14288">
              <a:solidFill>
                <a:schemeClr val="accent6"/>
              </a:solidFill>
            </a:ln>
          </p:spPr>
        </p:sp>
      </p:grpSp>
      <p:grpSp>
        <p:nvGrpSpPr>
          <p:cNvPr id="45" name="Group 45"/>
          <p:cNvGrpSpPr/>
          <p:nvPr/>
        </p:nvGrpSpPr>
        <p:grpSpPr>
          <a:xfrm>
            <a:off x="457200" y="4381500"/>
            <a:ext cx="11277600" cy="1428750"/>
            <a:chOff x="457200" y="4381500"/>
            <a:chExt cx="11277600" cy="1428750"/>
          </a:xfrm>
        </p:grpSpPr>
        <p:sp>
          <p:nvSpPr>
            <p:cNvPr id="39" name="Rectangle 39"/>
            <p:cNvSpPr/>
            <p:nvPr/>
          </p:nvSpPr>
          <p:spPr>
            <a:xfrm>
              <a:off x="457200" y="4381500"/>
              <a:ext cx="11277600" cy="1428750"/>
            </a:xfrm>
            <a:prstGeom prst="roundRect">
              <a:avLst>
                <a:gd name="adj" fmla="val 10667"/>
              </a:avLst>
            </a:prstGeom>
            <a:solidFill>
              <a:schemeClr val="accent5"/>
            </a:solidFill>
            <a:ln w="9525">
              <a:solidFill>
                <a:schemeClr val="accent6"/>
              </a:solidFill>
            </a:ln>
          </p:spPr>
        </p:sp>
        <p:sp>
          <p:nvSpPr>
            <p:cNvPr id="40" name="Freeform 40"/>
            <p:cNvSpPr/>
            <p:nvPr/>
          </p:nvSpPr>
          <p:spPr>
            <a:xfrm>
              <a:off x="694657" y="4608282"/>
              <a:ext cx="229816" cy="199420"/>
            </a:xfrm>
            <a:custGeom>
              <a:avLst/>
              <a:gdLst/>
              <a:ahLst/>
              <a:cxnLst/>
              <a:rect l="l" t="t" r="r" b="b"/>
              <a:pathLst>
                <a:path w="229816" h="199420">
                  <a:moveTo>
                    <a:pt x="114968" y="0"/>
                  </a:moveTo>
                  <a:cubicBezTo>
                    <a:pt x="124822" y="0"/>
                    <a:pt x="134006" y="4819"/>
                    <a:pt x="139630" y="12867"/>
                  </a:cubicBezTo>
                  <a:lnTo>
                    <a:pt x="140713" y="14518"/>
                  </a:lnTo>
                  <a:lnTo>
                    <a:pt x="224439" y="154316"/>
                  </a:lnTo>
                  <a:cubicBezTo>
                    <a:pt x="229612" y="163275"/>
                    <a:pt x="229816" y="174262"/>
                    <a:pt x="224981" y="183407"/>
                  </a:cubicBezTo>
                  <a:cubicBezTo>
                    <a:pt x="220146" y="192551"/>
                    <a:pt x="210950" y="198568"/>
                    <a:pt x="200634" y="199337"/>
                  </a:cubicBezTo>
                  <a:lnTo>
                    <a:pt x="198622" y="199420"/>
                  </a:lnTo>
                  <a:lnTo>
                    <a:pt x="31201" y="199420"/>
                  </a:lnTo>
                  <a:cubicBezTo>
                    <a:pt x="20875" y="199303"/>
                    <a:pt x="11332" y="193897"/>
                    <a:pt x="5924" y="185100"/>
                  </a:cubicBezTo>
                  <a:cubicBezTo>
                    <a:pt x="516" y="176303"/>
                    <a:pt x="0" y="165347"/>
                    <a:pt x="4558" y="156081"/>
                  </a:cubicBezTo>
                  <a:lnTo>
                    <a:pt x="5579" y="154172"/>
                  </a:lnTo>
                  <a:lnTo>
                    <a:pt x="89264" y="14477"/>
                  </a:lnTo>
                  <a:cubicBezTo>
                    <a:pt x="94713" y="5491"/>
                    <a:pt x="104459" y="2"/>
                    <a:pt x="114968" y="0"/>
                  </a:cubicBezTo>
                  <a:close/>
                  <a:moveTo>
                    <a:pt x="115071" y="137549"/>
                  </a:moveTo>
                  <a:lnTo>
                    <a:pt x="113761" y="137621"/>
                  </a:lnTo>
                  <a:cubicBezTo>
                    <a:pt x="108570" y="138238"/>
                    <a:pt x="104661" y="142640"/>
                    <a:pt x="104661" y="147867"/>
                  </a:cubicBezTo>
                  <a:cubicBezTo>
                    <a:pt x="104661" y="153095"/>
                    <a:pt x="108570" y="157496"/>
                    <a:pt x="113761" y="158114"/>
                  </a:cubicBezTo>
                  <a:lnTo>
                    <a:pt x="114968" y="158186"/>
                  </a:lnTo>
                  <a:lnTo>
                    <a:pt x="116279" y="158114"/>
                  </a:lnTo>
                  <a:cubicBezTo>
                    <a:pt x="121469" y="157496"/>
                    <a:pt x="125378" y="153095"/>
                    <a:pt x="125378" y="147867"/>
                  </a:cubicBezTo>
                  <a:cubicBezTo>
                    <a:pt x="125378" y="142640"/>
                    <a:pt x="121469" y="138238"/>
                    <a:pt x="116279" y="137621"/>
                  </a:cubicBezTo>
                  <a:lnTo>
                    <a:pt x="115071" y="137549"/>
                  </a:lnTo>
                  <a:close/>
                  <a:moveTo>
                    <a:pt x="114968" y="65317"/>
                  </a:moveTo>
                  <a:cubicBezTo>
                    <a:pt x="109737" y="65318"/>
                    <a:pt x="105334" y="69234"/>
                    <a:pt x="104722" y="74429"/>
                  </a:cubicBezTo>
                  <a:lnTo>
                    <a:pt x="104649" y="75636"/>
                  </a:lnTo>
                  <a:lnTo>
                    <a:pt x="104649" y="116911"/>
                  </a:lnTo>
                  <a:lnTo>
                    <a:pt x="104722" y="118118"/>
                  </a:lnTo>
                  <a:cubicBezTo>
                    <a:pt x="105339" y="123309"/>
                    <a:pt x="109741" y="127218"/>
                    <a:pt x="114968" y="127218"/>
                  </a:cubicBezTo>
                  <a:cubicBezTo>
                    <a:pt x="120195" y="127218"/>
                    <a:pt x="124597" y="123309"/>
                    <a:pt x="125215" y="118118"/>
                  </a:cubicBezTo>
                  <a:lnTo>
                    <a:pt x="125287" y="116911"/>
                  </a:lnTo>
                  <a:lnTo>
                    <a:pt x="125287" y="75636"/>
                  </a:lnTo>
                  <a:lnTo>
                    <a:pt x="125215" y="74429"/>
                  </a:lnTo>
                  <a:cubicBezTo>
                    <a:pt x="124602" y="69234"/>
                    <a:pt x="120199" y="65318"/>
                    <a:pt x="114968" y="65317"/>
                  </a:cubicBezTo>
                  <a:close/>
                </a:path>
              </a:pathLst>
            </a:custGeom>
            <a:solidFill>
              <a:schemeClr val="accent2"/>
            </a:solidFill>
            <a:ln>
              <a:noFill/>
            </a:ln>
          </p:spPr>
        </p:sp>
        <p:sp>
          <p:nvSpPr>
            <p:cNvPr id="41" name="TextBox 41"/>
            <p:cNvSpPr txBox="1"/>
            <p:nvPr/>
          </p:nvSpPr>
          <p:spPr>
            <a:xfrm>
              <a:off x="1040130" y="4619625"/>
              <a:ext cx="2082498"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ベータ版の主な未確認事項</a:t>
              </a:r>
            </a:p>
          </p:txBody>
        </p:sp>
        <p:sp>
          <p:nvSpPr>
            <p:cNvPr id="42" name="TextBox 42"/>
            <p:cNvSpPr txBox="1"/>
            <p:nvPr/>
          </p:nvSpPr>
          <p:spPr>
            <a:xfrm>
              <a:off x="679323" y="4986814"/>
              <a:ext cx="5484073"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・閲覧ロック付き VBA プロジェクトの実ファイル　・120 秒を超える大型ブックのビルド実測</a:t>
              </a:r>
            </a:p>
          </p:txBody>
        </p:sp>
        <p:sp>
          <p:nvSpPr>
            <p:cNvPr id="43" name="TextBox 43"/>
            <p:cNvSpPr txBox="1"/>
            <p:nvPr/>
          </p:nvSpPr>
          <p:spPr>
            <a:xfrm>
              <a:off x="679323" y="5253514"/>
              <a:ext cx="6694820"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・モジュール単位出力を、実際のチャット AI がどこまで指示どおりに守るか　・確認レポートの他ブラウザでの表示</a:t>
              </a:r>
            </a:p>
          </p:txBody>
        </p:sp>
        <p:sp>
          <p:nvSpPr>
            <p:cNvPr id="44" name="TextBox 44"/>
            <p:cNvSpPr txBox="1"/>
            <p:nvPr/>
          </p:nvSpPr>
          <p:spPr>
            <a:xfrm>
              <a:off x="679323" y="5520214"/>
              <a:ext cx="4719391"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未検証のファイルが読めた場合も、P21 の最終確認は必ず行ってください。</a:t>
              </a:r>
            </a:p>
          </p:txBody>
        </p:sp>
      </p:grpSp>
      <p:grpSp>
        <p:nvGrpSpPr>
          <p:cNvPr id="47" name="Group 47"/>
          <p:cNvGrpSpPr/>
          <p:nvPr/>
        </p:nvGrpSpPr>
        <p:grpSpPr>
          <a:xfrm>
            <a:off x="450723" y="6034564"/>
            <a:ext cx="5785460" cy="249364"/>
            <a:chOff x="450723" y="6034564"/>
            <a:chExt cx="5785460" cy="249364"/>
          </a:xfrm>
        </p:grpSpPr>
        <p:sp>
          <p:nvSpPr>
            <p:cNvPr id="46" name="TextBox 46"/>
            <p:cNvSpPr txBox="1"/>
            <p:nvPr/>
          </p:nvSpPr>
          <p:spPr>
            <a:xfrm>
              <a:off x="450723" y="6034564"/>
              <a:ext cx="5785460" cy="249364"/>
            </a:xfrm>
            <a:prstGeom prst="rect">
              <a:avLst/>
            </a:prstGeom>
            <a:noFill/>
            <a:ln>
              <a:noFill/>
            </a:ln>
          </p:spPr>
          <p:txBody>
            <a:bodyPr wrap="none" lIns="0" tIns="0" rIns="0" bIns="0" anchor="t" anchorCtr="0">
              <a:spAutoFit/>
            </a:bodyPr>
            <a:lstStyle/>
            <a:p>
              <a:pPr algn="l"/>
              <a:r>
                <a:rPr lang="zh-CN" sz="1280" dirty="0">
                  <a:solidFill>
                    <a:srgbClr val="5D6B7A"/>
                  </a:solidFill>
                  <a:latin typeface="+mn-lt"/>
                  <a:ea typeface="+mn-ea"/>
                  <a:cs typeface="+mn-cs"/>
                </a:rPr>
                <a:t>形式の判定は拡張子ではなく中身で行います。マクロが無いブックは、その旨のカードが表示されます。</a:t>
              </a:r>
            </a:p>
          </p:txBody>
        </p:sp>
      </p:grpSp>
      <p:grpSp>
        <p:nvGrpSpPr>
          <p:cNvPr id="50" name="Group 50"/>
          <p:cNvGrpSpPr/>
          <p:nvPr/>
        </p:nvGrpSpPr>
        <p:grpSpPr>
          <a:xfrm>
            <a:off x="451866" y="6477952"/>
            <a:ext cx="11288268" cy="205359"/>
            <a:chOff x="451866" y="6477952"/>
            <a:chExt cx="11288268" cy="205359"/>
          </a:xfrm>
        </p:grpSpPr>
        <p:sp>
          <p:nvSpPr>
            <p:cNvPr id="48" name="TextBox 48"/>
            <p:cNvSpPr txBox="1"/>
            <p:nvPr/>
          </p:nvSpPr>
          <p:spPr>
            <a:xfrm>
              <a:off x="451866" y="6477952"/>
              <a:ext cx="1438313"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第5部　技術・運用付録</a:t>
              </a:r>
            </a:p>
          </p:txBody>
        </p:sp>
        <p:sp>
          <p:nvSpPr>
            <p:cNvPr id="49" name="TextBox 49"/>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31</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第5部</a:t>
              </a:r>
            </a:p>
          </p:txBody>
        </p:sp>
        <p:sp>
          <p:nvSpPr>
            <p:cNvPr id="4" name="TextBox 4"/>
            <p:cNvSpPr txBox="1"/>
            <p:nvPr/>
          </p:nvSpPr>
          <p:spPr>
            <a:xfrm>
              <a:off x="441960" y="685800"/>
              <a:ext cx="444383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EDR / DLP 環境での導入</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8" name="Group 8"/>
          <p:cNvGrpSpPr/>
          <p:nvPr/>
        </p:nvGrpSpPr>
        <p:grpSpPr>
          <a:xfrm>
            <a:off x="448818" y="1364932"/>
            <a:ext cx="10179101" cy="322707"/>
            <a:chOff x="448818" y="1364932"/>
            <a:chExt cx="10179101" cy="322707"/>
          </a:xfrm>
        </p:grpSpPr>
        <p:sp>
          <p:nvSpPr>
            <p:cNvPr id="7" name="TextBox 7"/>
            <p:cNvSpPr txBox="1"/>
            <p:nvPr/>
          </p:nvSpPr>
          <p:spPr>
            <a:xfrm>
              <a:off x="448818" y="1364932"/>
              <a:ext cx="1017910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検知製品（EDR / DLP）のある環境では、何が通り何が止まるかは環境ごとに違います。事前検証のうえ展開してください。</a:t>
              </a:r>
            </a:p>
          </p:txBody>
        </p:sp>
      </p:grpSp>
      <p:grpSp>
        <p:nvGrpSpPr>
          <p:cNvPr id="15" name="Group 15"/>
          <p:cNvGrpSpPr/>
          <p:nvPr/>
        </p:nvGrpSpPr>
        <p:grpSpPr>
          <a:xfrm>
            <a:off x="457200" y="1809750"/>
            <a:ext cx="5524500" cy="2873978"/>
            <a:chOff x="457200" y="1809750"/>
            <a:chExt cx="5524500" cy="2873978"/>
          </a:xfrm>
        </p:grpSpPr>
        <p:sp>
          <p:nvSpPr>
            <p:cNvPr id="9" name="Rectangle 9"/>
            <p:cNvSpPr/>
            <p:nvPr/>
          </p:nvSpPr>
          <p:spPr>
            <a:xfrm>
              <a:off x="457200" y="1809750"/>
              <a:ext cx="5524500" cy="2857500"/>
            </a:xfrm>
            <a:prstGeom prst="roundRect">
              <a:avLst>
                <a:gd name="adj" fmla="val 5333"/>
              </a:avLst>
            </a:prstGeom>
            <a:solidFill>
              <a:schemeClr val="lt2"/>
            </a:solidFill>
            <a:ln>
              <a:noFill/>
            </a:ln>
          </p:spPr>
        </p:sp>
        <p:sp>
          <p:nvSpPr>
            <p:cNvPr id="10" name="Freeform 10"/>
            <p:cNvSpPr/>
            <p:nvPr/>
          </p:nvSpPr>
          <p:spPr>
            <a:xfrm>
              <a:off x="741093" y="2060575"/>
              <a:ext cx="232303" cy="222369"/>
            </a:xfrm>
            <a:custGeom>
              <a:avLst/>
              <a:gdLst/>
              <a:ahLst/>
              <a:cxnLst/>
              <a:rect l="l" t="t" r="r" b="b"/>
              <a:pathLst>
                <a:path w="232303" h="222369">
                  <a:moveTo>
                    <a:pt x="114868" y="78"/>
                  </a:moveTo>
                  <a:lnTo>
                    <a:pt x="116135" y="0"/>
                  </a:ln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close/>
                </a:path>
              </a:pathLst>
            </a:custGeom>
            <a:solidFill>
              <a:schemeClr val="accent1"/>
            </a:solidFill>
            <a:ln>
              <a:noFill/>
            </a:ln>
          </p:spPr>
        </p:sp>
        <p:sp>
          <p:nvSpPr>
            <p:cNvPr id="11" name="TextBox 11"/>
            <p:cNvSpPr txBox="1"/>
            <p:nvPr/>
          </p:nvSpPr>
          <p:spPr>
            <a:xfrm>
              <a:off x="1096899" y="2077879"/>
              <a:ext cx="1322509" cy="308039"/>
            </a:xfrm>
            <a:prstGeom prst="rect">
              <a:avLst/>
            </a:prstGeom>
            <a:noFill/>
            <a:ln>
              <a:noFill/>
            </a:ln>
          </p:spPr>
          <p:txBody>
            <a:bodyPr wrap="none" lIns="0" tIns="0" rIns="0" bIns="0" anchor="t" anchorCtr="0">
              <a:spAutoFit/>
            </a:bodyPr>
            <a:lstStyle/>
            <a:p>
              <a:pPr algn="l"/>
              <a:r>
                <a:rPr lang="zh-CN" sz="1580" b="1" dirty="0">
                  <a:solidFill>
                    <a:schemeClr val="dk1"/>
                  </a:solidFill>
                  <a:latin typeface="+mn-lt"/>
                  <a:ea typeface="+mn-ea"/>
                  <a:cs typeface="+mn-cs"/>
                </a:rPr>
                <a:t>確認できていること</a:t>
              </a:r>
            </a:p>
          </p:txBody>
        </p:sp>
        <p:sp>
          <p:nvSpPr>
            <p:cNvPr id="12" name="TextBox 12"/>
            <p:cNvSpPr txBox="1"/>
            <p:nvPr/>
          </p:nvSpPr>
          <p:spPr>
            <a:xfrm>
              <a:off x="717423" y="2491264"/>
              <a:ext cx="3791458" cy="497014"/>
            </a:xfrm>
            <a:prstGeom prst="rect">
              <a:avLst/>
            </a:prstGeom>
            <a:noFill/>
            <a:ln>
              <a:noFill/>
            </a:ln>
          </p:spPr>
          <p:txBody>
            <a:bodyPr wrap="square" lIns="0" tIns="0" rIns="0" bIns="0" anchor="t" anchorCtr="0"/>
            <a:lstStyle/>
            <a:p>
              <a:pPr algn="l">
                <a:lnSpc>
                  <a:spcPts val="1950"/>
                </a:lnSpc>
              </a:pPr>
              <a:r>
                <a:rPr lang="zh-CN" sz="1280" dirty="0">
                  <a:solidFill>
                    <a:schemeClr val="dk1"/>
                  </a:solidFill>
                  <a:latin typeface="+mn-lt"/>
                  <a:ea typeface="+mn-ea"/>
                  <a:cs typeface="+mn-cs"/>
                </a:rPr>
                <a:t>・検証サンプル一式を同梱しています　（</a:t>
              </a:r>
              <a:r>
                <a:rPr lang="en-US" sz="1120" dirty="0">
                  <a:solidFill>
                    <a:schemeClr val="dk1"/>
                  </a:solidFill>
                  <a:latin typeface="Consolas"/>
                  <a:ea typeface="Consolas"/>
                  <a:cs typeface="Consolas"/>
                </a:rPr>
                <a:t>samples\edr-dlp-validation</a:t>
              </a:r>
              <a:r>
                <a:rPr lang="zh-CN" sz="1280" dirty="0">
                  <a:solidFill>
                    <a:schemeClr val="dk1"/>
                  </a:solidFill>
                  <a:latin typeface="+mn-lt"/>
                  <a:ea typeface="+mn-ea"/>
                  <a:cs typeface="+mn-cs"/>
                </a:rPr>
                <a:t>。手順書・記録つき）。</a:t>
              </a:r>
            </a:p>
          </p:txBody>
        </p:sp>
        <p:sp>
          <p:nvSpPr>
            <p:cNvPr id="13" name="TextBox 13"/>
            <p:cNvSpPr txBox="1"/>
            <p:nvPr/>
          </p:nvSpPr>
          <p:spPr>
            <a:xfrm>
              <a:off x="717423" y="3119914"/>
              <a:ext cx="3101594" cy="992315"/>
            </a:xfrm>
            <a:prstGeom prst="rect">
              <a:avLst/>
            </a:prstGeom>
            <a:noFill/>
            <a:ln>
              <a:noFill/>
            </a:ln>
          </p:spPr>
          <p:txBody>
            <a:bodyPr wrap="square" lIns="0" tIns="0" rIns="0" bIns="0" anchor="t" anchorCtr="0"/>
            <a:lstStyle/>
            <a:p>
              <a:pPr algn="l">
                <a:lnSpc>
                  <a:spcPts val="1950"/>
                </a:lnSpc>
              </a:pPr>
              <a:r>
                <a:rPr lang="zh-CN" sz="1280" dirty="0">
                  <a:solidFill>
                    <a:schemeClr val="dk1"/>
                  </a:solidFill>
                  <a:latin typeface="+mn-lt"/>
                  <a:ea typeface="+mn-ea"/>
                  <a:cs typeface="+mn-cs"/>
                </a:rPr>
                <a:t>・実在の 1 業務環境では、通常マクロの読み取りや　クリップボード操作は通りました。一方、Win32 API　宣言を含むファイルの読取・複製・書き込みと、　貼り付け内容の新規ブック保存は遮断されました。</a:t>
              </a:r>
            </a:p>
          </p:txBody>
        </p:sp>
        <p:sp>
          <p:nvSpPr>
            <p:cNvPr id="14" name="TextBox 14"/>
            <p:cNvSpPr txBox="1"/>
            <p:nvPr/>
          </p:nvSpPr>
          <p:spPr>
            <a:xfrm>
              <a:off x="717423" y="4186714"/>
              <a:ext cx="3280410" cy="497014"/>
            </a:xfrm>
            <a:prstGeom prst="rect">
              <a:avLst/>
            </a:prstGeom>
            <a:noFill/>
            <a:ln>
              <a:noFill/>
            </a:ln>
          </p:spPr>
          <p:txBody>
            <a:bodyPr wrap="square" lIns="0" tIns="0" rIns="0" bIns="0" anchor="t" anchorCtr="0"/>
            <a:lstStyle/>
            <a:p>
              <a:pPr algn="l">
                <a:lnSpc>
                  <a:spcPts val="1950"/>
                </a:lnSpc>
              </a:pPr>
              <a:r>
                <a:rPr lang="zh-CN" sz="1280" dirty="0">
                  <a:solidFill>
                    <a:schemeClr val="dk1"/>
                  </a:solidFill>
                  <a:latin typeface="+mn-lt"/>
                  <a:ea typeface="+mn-ea"/>
                  <a:cs typeface="+mn-cs"/>
                </a:rPr>
                <a:t>・検知製品の制約がない開発機では、全 35 の段階別　診断がすべて通過しています。</a:t>
              </a:r>
            </a:p>
          </p:txBody>
        </p:sp>
      </p:grpSp>
      <p:grpSp>
        <p:nvGrpSpPr>
          <p:cNvPr id="29" name="Group 29"/>
          <p:cNvGrpSpPr/>
          <p:nvPr/>
        </p:nvGrpSpPr>
        <p:grpSpPr>
          <a:xfrm>
            <a:off x="6286500" y="1809750"/>
            <a:ext cx="5448300" cy="2857500"/>
            <a:chOff x="6286500" y="1809750"/>
            <a:chExt cx="5448300" cy="2857500"/>
          </a:xfrm>
        </p:grpSpPr>
        <p:sp>
          <p:nvSpPr>
            <p:cNvPr id="16" name="Rectangle 16"/>
            <p:cNvSpPr/>
            <p:nvPr/>
          </p:nvSpPr>
          <p:spPr>
            <a:xfrm>
              <a:off x="6286500" y="1809750"/>
              <a:ext cx="5448300" cy="2857500"/>
            </a:xfrm>
            <a:prstGeom prst="roundRect">
              <a:avLst>
                <a:gd name="adj" fmla="val 5333"/>
              </a:avLst>
            </a:prstGeom>
            <a:solidFill>
              <a:schemeClr val="accent5"/>
            </a:solidFill>
            <a:ln w="9525">
              <a:solidFill>
                <a:schemeClr val="accent6"/>
              </a:solidFill>
            </a:ln>
          </p:spPr>
        </p:sp>
        <p:sp>
          <p:nvSpPr>
            <p:cNvPr id="17" name="Freeform 17"/>
            <p:cNvSpPr/>
            <p:nvPr/>
          </p:nvSpPr>
          <p:spPr>
            <a:xfrm>
              <a:off x="6567713" y="2052863"/>
              <a:ext cx="237675" cy="237675"/>
            </a:xfrm>
            <a:custGeom>
              <a:avLst/>
              <a:gdLst/>
              <a:ahLst/>
              <a:cxnLst/>
              <a:rect l="l" t="t" r="r" b="b"/>
              <a:pathLst>
                <a:path w="237675" h="237675">
                  <a:moveTo>
                    <a:pt x="148252" y="30837"/>
                  </a:moveTo>
                  <a:cubicBezTo>
                    <a:pt x="148857" y="33333"/>
                    <a:pt x="150617" y="35390"/>
                    <a:pt x="152989" y="36374"/>
                  </a:cubicBezTo>
                  <a:cubicBezTo>
                    <a:pt x="155361" y="37358"/>
                    <a:pt x="158060" y="37151"/>
                    <a:pt x="160254" y="35816"/>
                  </a:cubicBezTo>
                  <a:cubicBezTo>
                    <a:pt x="187357" y="19314"/>
                    <a:pt x="218372" y="50318"/>
                    <a:pt x="201870" y="77421"/>
                  </a:cubicBezTo>
                  <a:cubicBezTo>
                    <a:pt x="200535" y="79613"/>
                    <a:pt x="200326" y="82311"/>
                    <a:pt x="201308" y="84682"/>
                  </a:cubicBezTo>
                  <a:cubicBezTo>
                    <a:pt x="202289" y="87054"/>
                    <a:pt x="204344" y="88815"/>
                    <a:pt x="206838" y="89423"/>
                  </a:cubicBezTo>
                  <a:cubicBezTo>
                    <a:pt x="237675" y="96901"/>
                    <a:pt x="237675" y="140762"/>
                    <a:pt x="206838" y="148252"/>
                  </a:cubicBezTo>
                  <a:cubicBezTo>
                    <a:pt x="204342" y="148857"/>
                    <a:pt x="202285" y="150617"/>
                    <a:pt x="201301" y="152989"/>
                  </a:cubicBezTo>
                  <a:cubicBezTo>
                    <a:pt x="200317" y="155361"/>
                    <a:pt x="200524" y="158060"/>
                    <a:pt x="201859" y="160254"/>
                  </a:cubicBezTo>
                  <a:cubicBezTo>
                    <a:pt x="218361" y="187357"/>
                    <a:pt x="187357" y="218372"/>
                    <a:pt x="160254" y="201870"/>
                  </a:cubicBezTo>
                  <a:cubicBezTo>
                    <a:pt x="158062" y="200535"/>
                    <a:pt x="155364" y="200326"/>
                    <a:pt x="152992" y="201308"/>
                  </a:cubicBezTo>
                  <a:cubicBezTo>
                    <a:pt x="150621" y="202289"/>
                    <a:pt x="148860" y="204344"/>
                    <a:pt x="148252" y="206838"/>
                  </a:cubicBezTo>
                  <a:cubicBezTo>
                    <a:pt x="140774" y="237675"/>
                    <a:pt x="96912" y="237675"/>
                    <a:pt x="89423" y="206838"/>
                  </a:cubicBezTo>
                  <a:cubicBezTo>
                    <a:pt x="88818" y="204342"/>
                    <a:pt x="87058" y="202285"/>
                    <a:pt x="84686" y="201301"/>
                  </a:cubicBezTo>
                  <a:cubicBezTo>
                    <a:pt x="82314" y="200317"/>
                    <a:pt x="79615" y="200524"/>
                    <a:pt x="77421" y="201859"/>
                  </a:cubicBezTo>
                  <a:cubicBezTo>
                    <a:pt x="50318" y="218361"/>
                    <a:pt x="19302" y="187357"/>
                    <a:pt x="35805" y="160254"/>
                  </a:cubicBezTo>
                  <a:cubicBezTo>
                    <a:pt x="37140" y="158062"/>
                    <a:pt x="37349" y="155364"/>
                    <a:pt x="36367" y="152992"/>
                  </a:cubicBezTo>
                  <a:cubicBezTo>
                    <a:pt x="35385" y="150621"/>
                    <a:pt x="33331" y="148860"/>
                    <a:pt x="30837" y="148252"/>
                  </a:cubicBezTo>
                  <a:cubicBezTo>
                    <a:pt x="0" y="140774"/>
                    <a:pt x="0" y="96912"/>
                    <a:pt x="30837" y="89423"/>
                  </a:cubicBezTo>
                  <a:cubicBezTo>
                    <a:pt x="33333" y="88818"/>
                    <a:pt x="35390" y="87058"/>
                    <a:pt x="36374" y="84686"/>
                  </a:cubicBezTo>
                  <a:cubicBezTo>
                    <a:pt x="37358" y="82314"/>
                    <a:pt x="37151" y="79615"/>
                    <a:pt x="35816" y="77421"/>
                  </a:cubicBezTo>
                  <a:cubicBezTo>
                    <a:pt x="19314" y="50318"/>
                    <a:pt x="50318" y="19302"/>
                    <a:pt x="77421" y="35805"/>
                  </a:cubicBezTo>
                  <a:cubicBezTo>
                    <a:pt x="79611" y="37150"/>
                    <a:pt x="82313" y="37364"/>
                    <a:pt x="84688" y="36381"/>
                  </a:cubicBezTo>
                  <a:cubicBezTo>
                    <a:pt x="87063" y="35398"/>
                    <a:pt x="88824" y="33337"/>
                    <a:pt x="89423" y="30837"/>
                  </a:cubicBezTo>
                  <a:cubicBezTo>
                    <a:pt x="96901" y="0"/>
                    <a:pt x="140762" y="0"/>
                    <a:pt x="148252" y="30837"/>
                  </a:cubicBezTo>
                  <a:close/>
                  <a:moveTo>
                    <a:pt x="118837" y="85500"/>
                  </a:moveTo>
                  <a:cubicBezTo>
                    <a:pt x="100426" y="85500"/>
                    <a:pt x="85500" y="100426"/>
                    <a:pt x="85500" y="118837"/>
                  </a:cubicBezTo>
                  <a:cubicBezTo>
                    <a:pt x="85500" y="137249"/>
                    <a:pt x="100426" y="152175"/>
                    <a:pt x="118837" y="152175"/>
                  </a:cubicBezTo>
                  <a:cubicBezTo>
                    <a:pt x="137249" y="152175"/>
                    <a:pt x="152175" y="137249"/>
                    <a:pt x="152175" y="118837"/>
                  </a:cubicBezTo>
                  <a:cubicBezTo>
                    <a:pt x="152175" y="100426"/>
                    <a:pt x="137249" y="85500"/>
                    <a:pt x="118837" y="85500"/>
                  </a:cubicBezTo>
                </a:path>
              </a:pathLst>
            </a:custGeom>
            <a:solidFill>
              <a:schemeClr val="accent1"/>
            </a:solidFill>
            <a:ln>
              <a:noFill/>
            </a:ln>
          </p:spPr>
        </p:sp>
        <p:sp>
          <p:nvSpPr>
            <p:cNvPr id="18" name="TextBox 18"/>
            <p:cNvSpPr txBox="1"/>
            <p:nvPr/>
          </p:nvSpPr>
          <p:spPr>
            <a:xfrm>
              <a:off x="6926199" y="2077879"/>
              <a:ext cx="1423010" cy="308039"/>
            </a:xfrm>
            <a:prstGeom prst="rect">
              <a:avLst/>
            </a:prstGeom>
            <a:noFill/>
            <a:ln>
              <a:noFill/>
            </a:ln>
          </p:spPr>
          <p:txBody>
            <a:bodyPr wrap="none" lIns="0" tIns="0" rIns="0" bIns="0" anchor="t" anchorCtr="0">
              <a:spAutoFit/>
            </a:bodyPr>
            <a:lstStyle/>
            <a:p>
              <a:pPr algn="l"/>
              <a:r>
                <a:rPr lang="zh-CN" sz="1580" b="1" dirty="0">
                  <a:solidFill>
                    <a:schemeClr val="dk1"/>
                  </a:solidFill>
                  <a:latin typeface="+mn-lt"/>
                  <a:ea typeface="+mn-ea"/>
                  <a:cs typeface="+mn-cs"/>
                </a:rPr>
                <a:t>環境ごとに試すこと</a:t>
              </a:r>
            </a:p>
          </p:txBody>
        </p:sp>
        <p:sp>
          <p:nvSpPr>
            <p:cNvPr id="19" name="Ellipse 19"/>
            <p:cNvSpPr/>
            <p:nvPr/>
          </p:nvSpPr>
          <p:spPr>
            <a:xfrm>
              <a:off x="6581775" y="2552700"/>
              <a:ext cx="266700" cy="266700"/>
            </a:xfrm>
            <a:prstGeom prst="ellipse">
              <a:avLst/>
            </a:prstGeom>
            <a:solidFill>
              <a:schemeClr val="accent1"/>
            </a:solidFill>
            <a:ln>
              <a:noFill/>
            </a:ln>
          </p:spPr>
        </p:sp>
        <p:sp>
          <p:nvSpPr>
            <p:cNvPr id="20" name="TextBox 20"/>
            <p:cNvSpPr txBox="1"/>
            <p:nvPr/>
          </p:nvSpPr>
          <p:spPr>
            <a:xfrm>
              <a:off x="6665874" y="2621756"/>
              <a:ext cx="9850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1</a:t>
              </a:r>
            </a:p>
          </p:txBody>
        </p:sp>
        <p:sp>
          <p:nvSpPr>
            <p:cNvPr id="21" name="TextBox 21"/>
            <p:cNvSpPr txBox="1"/>
            <p:nvPr/>
          </p:nvSpPr>
          <p:spPr>
            <a:xfrm>
              <a:off x="6965823" y="2605564"/>
              <a:ext cx="3199130" cy="497014"/>
            </a:xfrm>
            <a:prstGeom prst="rect">
              <a:avLst/>
            </a:prstGeom>
            <a:noFill/>
            <a:ln>
              <a:noFill/>
            </a:ln>
          </p:spPr>
          <p:txBody>
            <a:bodyPr wrap="square" lIns="0" tIns="0" rIns="0" bIns="0" anchor="t" anchorCtr="0"/>
            <a:lstStyle/>
            <a:p>
              <a:pPr algn="l">
                <a:lnSpc>
                  <a:spcPts val="1950"/>
                </a:lnSpc>
              </a:pPr>
              <a:r>
                <a:rPr lang="zh-CN" sz="1280" dirty="0">
                  <a:solidFill>
                    <a:schemeClr val="dk1"/>
                  </a:solidFill>
                  <a:latin typeface="+mn-lt"/>
                  <a:ea typeface="+mn-ea"/>
                  <a:cs typeface="+mn-cs"/>
                </a:rPr>
                <a:t>対象環境で、最初に開く用のランナーだけを開き、診断を一件ずつ実行します（自動実行はありません）。</a:t>
              </a:r>
            </a:p>
          </p:txBody>
        </p:sp>
        <p:sp>
          <p:nvSpPr>
            <p:cNvPr id="22" name="Ellipse 22"/>
            <p:cNvSpPr/>
            <p:nvPr/>
          </p:nvSpPr>
          <p:spPr>
            <a:xfrm>
              <a:off x="6581775" y="3257550"/>
              <a:ext cx="266700" cy="266700"/>
            </a:xfrm>
            <a:prstGeom prst="ellipse">
              <a:avLst/>
            </a:prstGeom>
            <a:solidFill>
              <a:schemeClr val="accent1"/>
            </a:solidFill>
            <a:ln>
              <a:noFill/>
            </a:ln>
          </p:spPr>
        </p:sp>
        <p:sp>
          <p:nvSpPr>
            <p:cNvPr id="23" name="TextBox 23"/>
            <p:cNvSpPr txBox="1"/>
            <p:nvPr/>
          </p:nvSpPr>
          <p:spPr>
            <a:xfrm>
              <a:off x="6665874" y="3326606"/>
              <a:ext cx="9850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2</a:t>
              </a:r>
            </a:p>
          </p:txBody>
        </p:sp>
        <p:sp>
          <p:nvSpPr>
            <p:cNvPr id="24" name="TextBox 24"/>
            <p:cNvSpPr txBox="1"/>
            <p:nvPr/>
          </p:nvSpPr>
          <p:spPr>
            <a:xfrm>
              <a:off x="6965823" y="3310414"/>
              <a:ext cx="3774775"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外部ログ（</a:t>
              </a:r>
              <a:r>
                <a:rPr lang="en-US" sz="1120" dirty="0">
                  <a:solidFill>
                    <a:schemeClr val="dk1"/>
                  </a:solidFill>
                  <a:latin typeface="Consolas"/>
                  <a:ea typeface="Consolas"/>
                  <a:cs typeface="Consolas"/>
                </a:rPr>
                <a:t>diagnostic-progress.tsv</a:t>
              </a:r>
              <a:r>
                <a:rPr lang="zh-CN" sz="1280" dirty="0">
                  <a:solidFill>
                    <a:schemeClr val="dk1"/>
                  </a:solidFill>
                  <a:latin typeface="+mn-lt"/>
                  <a:ea typeface="+mn-ea"/>
                  <a:cs typeface="+mn-cs"/>
                </a:rPr>
                <a:t>）の停止地点と、</a:t>
              </a:r>
            </a:p>
          </p:txBody>
        </p:sp>
        <p:sp>
          <p:nvSpPr>
            <p:cNvPr id="25" name="TextBox 25"/>
            <p:cNvSpPr txBox="1"/>
            <p:nvPr/>
          </p:nvSpPr>
          <p:spPr>
            <a:xfrm>
              <a:off x="6965823" y="3558064"/>
              <a:ext cx="2735509"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管理コンソールの検知イベントを突き合わせます。</a:t>
              </a:r>
            </a:p>
          </p:txBody>
        </p:sp>
        <p:sp>
          <p:nvSpPr>
            <p:cNvPr id="26" name="Ellipse 26"/>
            <p:cNvSpPr/>
            <p:nvPr/>
          </p:nvSpPr>
          <p:spPr>
            <a:xfrm>
              <a:off x="6581775" y="3962400"/>
              <a:ext cx="266700" cy="266700"/>
            </a:xfrm>
            <a:prstGeom prst="ellipse">
              <a:avLst/>
            </a:prstGeom>
            <a:solidFill>
              <a:schemeClr val="accent1"/>
            </a:solidFill>
            <a:ln>
              <a:noFill/>
            </a:ln>
          </p:spPr>
        </p:sp>
        <p:sp>
          <p:nvSpPr>
            <p:cNvPr id="27" name="TextBox 27"/>
            <p:cNvSpPr txBox="1"/>
            <p:nvPr/>
          </p:nvSpPr>
          <p:spPr>
            <a:xfrm>
              <a:off x="6665874" y="4031456"/>
              <a:ext cx="9850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3</a:t>
              </a:r>
            </a:p>
          </p:txBody>
        </p:sp>
        <p:sp>
          <p:nvSpPr>
            <p:cNvPr id="28" name="TextBox 28"/>
            <p:cNvSpPr txBox="1"/>
            <p:nvPr/>
          </p:nvSpPr>
          <p:spPr>
            <a:xfrm>
              <a:off x="6965823" y="4015264"/>
              <a:ext cx="3182874" cy="497014"/>
            </a:xfrm>
            <a:prstGeom prst="rect">
              <a:avLst/>
            </a:prstGeom>
            <a:noFill/>
            <a:ln>
              <a:noFill/>
            </a:ln>
          </p:spPr>
          <p:txBody>
            <a:bodyPr wrap="square" lIns="0" tIns="0" rIns="0" bIns="0" anchor="t" anchorCtr="0"/>
            <a:lstStyle/>
            <a:p>
              <a:pPr algn="l">
                <a:lnSpc>
                  <a:spcPts val="1950"/>
                </a:lnSpc>
              </a:pPr>
              <a:r>
                <a:rPr lang="zh-CN" sz="1280" dirty="0">
                  <a:solidFill>
                    <a:schemeClr val="dk1"/>
                  </a:solidFill>
                  <a:latin typeface="+mn-lt"/>
                  <a:ea typeface="+mn-ea"/>
                  <a:cs typeface="+mn-cs"/>
                </a:rPr>
                <a:t>遮断される操作があれば、除外設定や運用の回避策を検討してから展開します。</a:t>
              </a:r>
            </a:p>
          </p:txBody>
        </p:sp>
      </p:grpSp>
      <p:grpSp>
        <p:nvGrpSpPr>
          <p:cNvPr id="35" name="Group 35"/>
          <p:cNvGrpSpPr/>
          <p:nvPr/>
        </p:nvGrpSpPr>
        <p:grpSpPr>
          <a:xfrm>
            <a:off x="457200" y="4895850"/>
            <a:ext cx="11277600" cy="1143000"/>
            <a:chOff x="457200" y="4895850"/>
            <a:chExt cx="11277600" cy="1143000"/>
          </a:xfrm>
        </p:grpSpPr>
        <p:sp>
          <p:nvSpPr>
            <p:cNvPr id="30" name="Rectangle 30"/>
            <p:cNvSpPr/>
            <p:nvPr/>
          </p:nvSpPr>
          <p:spPr>
            <a:xfrm>
              <a:off x="457200" y="4895850"/>
              <a:ext cx="11277600" cy="1143000"/>
            </a:xfrm>
            <a:prstGeom prst="roundRect">
              <a:avLst>
                <a:gd name="adj" fmla="val 13333"/>
              </a:avLst>
            </a:prstGeom>
            <a:solidFill>
              <a:schemeClr val="lt1"/>
            </a:solidFill>
            <a:ln w="14288">
              <a:solidFill>
                <a:schemeClr val="accent2"/>
              </a:solidFill>
            </a:ln>
          </p:spPr>
        </p:sp>
        <p:sp>
          <p:nvSpPr>
            <p:cNvPr id="31" name="Freeform 31"/>
            <p:cNvSpPr/>
            <p:nvPr/>
          </p:nvSpPr>
          <p:spPr>
            <a:xfrm>
              <a:off x="732757" y="5141682"/>
              <a:ext cx="229816" cy="199420"/>
            </a:xfrm>
            <a:custGeom>
              <a:avLst/>
              <a:gdLst/>
              <a:ahLst/>
              <a:cxnLst/>
              <a:rect l="l" t="t" r="r" b="b"/>
              <a:pathLst>
                <a:path w="229816" h="199420">
                  <a:moveTo>
                    <a:pt x="114968" y="0"/>
                  </a:moveTo>
                  <a:cubicBezTo>
                    <a:pt x="124822" y="0"/>
                    <a:pt x="134006" y="4819"/>
                    <a:pt x="139630" y="12867"/>
                  </a:cubicBezTo>
                  <a:lnTo>
                    <a:pt x="140713" y="14518"/>
                  </a:lnTo>
                  <a:lnTo>
                    <a:pt x="224439" y="154316"/>
                  </a:lnTo>
                  <a:cubicBezTo>
                    <a:pt x="229612" y="163275"/>
                    <a:pt x="229816" y="174262"/>
                    <a:pt x="224981" y="183407"/>
                  </a:cubicBezTo>
                  <a:cubicBezTo>
                    <a:pt x="220146" y="192551"/>
                    <a:pt x="210950" y="198568"/>
                    <a:pt x="200634" y="199337"/>
                  </a:cubicBezTo>
                  <a:lnTo>
                    <a:pt x="198622" y="199420"/>
                  </a:lnTo>
                  <a:lnTo>
                    <a:pt x="31201" y="199420"/>
                  </a:lnTo>
                  <a:cubicBezTo>
                    <a:pt x="20875" y="199303"/>
                    <a:pt x="11332" y="193897"/>
                    <a:pt x="5924" y="185100"/>
                  </a:cubicBezTo>
                  <a:cubicBezTo>
                    <a:pt x="516" y="176303"/>
                    <a:pt x="0" y="165347"/>
                    <a:pt x="4558" y="156081"/>
                  </a:cubicBezTo>
                  <a:lnTo>
                    <a:pt x="5579" y="154172"/>
                  </a:lnTo>
                  <a:lnTo>
                    <a:pt x="89264" y="14477"/>
                  </a:lnTo>
                  <a:cubicBezTo>
                    <a:pt x="94713" y="5491"/>
                    <a:pt x="104459" y="2"/>
                    <a:pt x="114968" y="0"/>
                  </a:cubicBezTo>
                  <a:close/>
                  <a:moveTo>
                    <a:pt x="115071" y="137549"/>
                  </a:moveTo>
                  <a:lnTo>
                    <a:pt x="113761" y="137621"/>
                  </a:lnTo>
                  <a:cubicBezTo>
                    <a:pt x="108570" y="138238"/>
                    <a:pt x="104661" y="142640"/>
                    <a:pt x="104661" y="147867"/>
                  </a:cubicBezTo>
                  <a:cubicBezTo>
                    <a:pt x="104661" y="153095"/>
                    <a:pt x="108570" y="157496"/>
                    <a:pt x="113761" y="158114"/>
                  </a:cubicBezTo>
                  <a:lnTo>
                    <a:pt x="114968" y="158186"/>
                  </a:lnTo>
                  <a:lnTo>
                    <a:pt x="116279" y="158114"/>
                  </a:lnTo>
                  <a:cubicBezTo>
                    <a:pt x="121469" y="157496"/>
                    <a:pt x="125378" y="153095"/>
                    <a:pt x="125378" y="147867"/>
                  </a:cubicBezTo>
                  <a:cubicBezTo>
                    <a:pt x="125378" y="142640"/>
                    <a:pt x="121469" y="138238"/>
                    <a:pt x="116279" y="137621"/>
                  </a:cubicBezTo>
                  <a:lnTo>
                    <a:pt x="115071" y="137549"/>
                  </a:lnTo>
                  <a:close/>
                  <a:moveTo>
                    <a:pt x="114968" y="65317"/>
                  </a:moveTo>
                  <a:cubicBezTo>
                    <a:pt x="109737" y="65318"/>
                    <a:pt x="105334" y="69234"/>
                    <a:pt x="104722" y="74429"/>
                  </a:cubicBezTo>
                  <a:lnTo>
                    <a:pt x="104649" y="75636"/>
                  </a:lnTo>
                  <a:lnTo>
                    <a:pt x="104649" y="116911"/>
                  </a:lnTo>
                  <a:lnTo>
                    <a:pt x="104722" y="118118"/>
                  </a:lnTo>
                  <a:cubicBezTo>
                    <a:pt x="105339" y="123309"/>
                    <a:pt x="109741" y="127218"/>
                    <a:pt x="114968" y="127218"/>
                  </a:cubicBezTo>
                  <a:cubicBezTo>
                    <a:pt x="120195" y="127218"/>
                    <a:pt x="124597" y="123309"/>
                    <a:pt x="125215" y="118118"/>
                  </a:cubicBezTo>
                  <a:lnTo>
                    <a:pt x="125287" y="116911"/>
                  </a:lnTo>
                  <a:lnTo>
                    <a:pt x="125287" y="75636"/>
                  </a:lnTo>
                  <a:lnTo>
                    <a:pt x="125215" y="74429"/>
                  </a:lnTo>
                  <a:cubicBezTo>
                    <a:pt x="124602" y="69234"/>
                    <a:pt x="120199" y="65318"/>
                    <a:pt x="114968" y="65317"/>
                  </a:cubicBezTo>
                  <a:close/>
                </a:path>
              </a:pathLst>
            </a:custGeom>
            <a:solidFill>
              <a:schemeClr val="accent2"/>
            </a:solidFill>
            <a:ln>
              <a:noFill/>
            </a:ln>
          </p:spPr>
        </p:sp>
        <p:sp>
          <p:nvSpPr>
            <p:cNvPr id="32" name="TextBox 32"/>
            <p:cNvSpPr txBox="1"/>
            <p:nvPr/>
          </p:nvSpPr>
          <p:spPr>
            <a:xfrm>
              <a:off x="1078611" y="5161121"/>
              <a:ext cx="415915" cy="278702"/>
            </a:xfrm>
            <a:prstGeom prst="rect">
              <a:avLst/>
            </a:prstGeom>
            <a:noFill/>
            <a:ln>
              <a:noFill/>
            </a:ln>
          </p:spPr>
          <p:txBody>
            <a:bodyPr wrap="none" lIns="0" tIns="0" rIns="0" bIns="0" anchor="t" anchorCtr="0">
              <a:spAutoFit/>
            </a:bodyPr>
            <a:lstStyle/>
            <a:p>
              <a:pPr algn="l"/>
              <a:r>
                <a:rPr lang="zh-CN" sz="1420" b="1" dirty="0">
                  <a:solidFill>
                    <a:schemeClr val="dk1"/>
                  </a:solidFill>
                  <a:latin typeface="+mn-lt"/>
                  <a:ea typeface="+mn-ea"/>
                  <a:cs typeface="+mn-cs"/>
                </a:rPr>
                <a:t>境界</a:t>
              </a:r>
            </a:p>
          </p:txBody>
        </p:sp>
        <p:sp>
          <p:nvSpPr>
            <p:cNvPr id="33" name="TextBox 33"/>
            <p:cNvSpPr txBox="1"/>
            <p:nvPr/>
          </p:nvSpPr>
          <p:spPr>
            <a:xfrm>
              <a:off x="717042" y="5474018"/>
              <a:ext cx="767547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制約のない環境で通ったことは、本番の EDR / DLP を通ることを意味しません。検証サンプルは検知・遮断の地点を</a:t>
              </a:r>
            </a:p>
          </p:txBody>
        </p:sp>
        <p:sp>
          <p:nvSpPr>
            <p:cNvPr id="34" name="TextBox 34"/>
            <p:cNvSpPr txBox="1"/>
            <p:nvPr/>
          </p:nvSpPr>
          <p:spPr>
            <a:xfrm>
              <a:off x="717042" y="5740718"/>
              <a:ext cx="43935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観測するための道具であり、検知の回避を目的としたものではありません。</a:t>
              </a:r>
            </a:p>
          </p:txBody>
        </p:sp>
      </p:grpSp>
      <p:grpSp>
        <p:nvGrpSpPr>
          <p:cNvPr id="38" name="Group 38"/>
          <p:cNvGrpSpPr/>
          <p:nvPr/>
        </p:nvGrpSpPr>
        <p:grpSpPr>
          <a:xfrm>
            <a:off x="451866" y="6477952"/>
            <a:ext cx="11288268" cy="205359"/>
            <a:chOff x="451866" y="6477952"/>
            <a:chExt cx="11288268" cy="205359"/>
          </a:xfrm>
        </p:grpSpPr>
        <p:sp>
          <p:nvSpPr>
            <p:cNvPr id="36" name="TextBox 36"/>
            <p:cNvSpPr txBox="1"/>
            <p:nvPr/>
          </p:nvSpPr>
          <p:spPr>
            <a:xfrm>
              <a:off x="451866" y="6477952"/>
              <a:ext cx="1438313"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第5部　技術・運用付録</a:t>
              </a:r>
            </a:p>
          </p:txBody>
        </p:sp>
        <p:sp>
          <p:nvSpPr>
            <p:cNvPr id="37" name="TextBox 37"/>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32</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441960" y="419100"/>
            <a:ext cx="11292840" cy="853440"/>
            <a:chOff x="441960" y="419100"/>
            <a:chExt cx="11292840" cy="853440"/>
          </a:xfrm>
        </p:grpSpPr>
        <p:sp>
          <p:nvSpPr>
            <p:cNvPr id="2" name="Rectangle 2"/>
            <p:cNvSpPr/>
            <p:nvPr/>
          </p:nvSpPr>
          <p:spPr>
            <a:xfrm>
              <a:off x="457200" y="419100"/>
              <a:ext cx="723900" cy="266700"/>
            </a:xfrm>
            <a:prstGeom prst="roundRect">
              <a:avLst>
                <a:gd name="adj" fmla="val 50000"/>
              </a:avLst>
            </a:prstGeom>
            <a:solidFill>
              <a:schemeClr val="accent1"/>
            </a:solidFill>
            <a:ln>
              <a:noFill/>
            </a:ln>
          </p:spPr>
        </p:sp>
        <p:sp>
          <p:nvSpPr>
            <p:cNvPr id="3" name="TextBox 3"/>
            <p:cNvSpPr txBox="1"/>
            <p:nvPr/>
          </p:nvSpPr>
          <p:spPr>
            <a:xfrm>
              <a:off x="624582" y="486728"/>
              <a:ext cx="389135"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第5部</a:t>
              </a:r>
            </a:p>
          </p:txBody>
        </p:sp>
        <p:sp>
          <p:nvSpPr>
            <p:cNvPr id="4" name="TextBox 4"/>
            <p:cNvSpPr txBox="1"/>
            <p:nvPr/>
          </p:nvSpPr>
          <p:spPr>
            <a:xfrm>
              <a:off x="441960" y="685800"/>
              <a:ext cx="1811503"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運用のヒント</a:t>
              </a:r>
            </a:p>
          </p:txBody>
        </p:sp>
        <p:sp>
          <p:nvSpPr>
            <p:cNvPr id="5" name="Line 5"/>
            <p:cNvSpPr/>
            <p:nvPr/>
          </p:nvSpPr>
          <p:spPr>
            <a:xfrm>
              <a:off x="457200" y="1143000"/>
              <a:ext cx="11277600" cy="9525"/>
            </a:xfrm>
            <a:custGeom>
              <a:avLst/>
              <a:gdLst/>
              <a:ahLst/>
              <a:cxnLst/>
              <a:rect l="l" t="t" r="r" b="b"/>
              <a:pathLst>
                <a:path w="11277600" h="9525">
                  <a:moveTo>
                    <a:pt x="0" y="0"/>
                  </a:moveTo>
                  <a:lnTo>
                    <a:pt x="11277600" y="0"/>
                  </a:lnTo>
                </a:path>
              </a:pathLst>
            </a:custGeom>
            <a:noFill/>
            <a:ln w="14288">
              <a:solidFill>
                <a:schemeClr val="accent6"/>
              </a:solidFill>
            </a:ln>
          </p:spPr>
        </p:sp>
      </p:grpSp>
      <p:grpSp>
        <p:nvGrpSpPr>
          <p:cNvPr id="12" name="Group 12"/>
          <p:cNvGrpSpPr/>
          <p:nvPr/>
        </p:nvGrpSpPr>
        <p:grpSpPr>
          <a:xfrm>
            <a:off x="457200" y="1371600"/>
            <a:ext cx="5524500" cy="2247900"/>
            <a:chOff x="457200" y="1371600"/>
            <a:chExt cx="5524500" cy="2247900"/>
          </a:xfrm>
        </p:grpSpPr>
        <p:sp>
          <p:nvSpPr>
            <p:cNvPr id="7" name="Rectangle 7"/>
            <p:cNvSpPr/>
            <p:nvPr/>
          </p:nvSpPr>
          <p:spPr>
            <a:xfrm>
              <a:off x="457200" y="1371600"/>
              <a:ext cx="5524500" cy="2247900"/>
            </a:xfrm>
            <a:prstGeom prst="roundRect">
              <a:avLst>
                <a:gd name="adj" fmla="val 6780"/>
              </a:avLst>
            </a:prstGeom>
            <a:solidFill>
              <a:schemeClr val="lt2"/>
            </a:solidFill>
            <a:ln>
              <a:noFill/>
            </a:ln>
          </p:spPr>
        </p:sp>
        <p:sp>
          <p:nvSpPr>
            <p:cNvPr id="8" name="Freeform 8"/>
            <p:cNvSpPr/>
            <p:nvPr/>
          </p:nvSpPr>
          <p:spPr>
            <a:xfrm>
              <a:off x="744537" y="1631156"/>
              <a:ext cx="216899" cy="175418"/>
            </a:xfrm>
            <a:custGeom>
              <a:avLst/>
              <a:gdLst/>
              <a:ahLst/>
              <a:cxnLst/>
              <a:rect l="l" t="t" r="r" b="b"/>
              <a:pathLst>
                <a:path w="216899" h="175418">
                  <a:moveTo>
                    <a:pt x="0" y="30956"/>
                  </a:moveTo>
                  <a:cubicBezTo>
                    <a:pt x="0" y="22742"/>
                    <a:pt x="3261" y="14880"/>
                    <a:pt x="9070" y="9070"/>
                  </a:cubicBezTo>
                  <a:cubicBezTo>
                    <a:pt x="14880" y="3261"/>
                    <a:pt x="22742" y="0"/>
                    <a:pt x="30956" y="0"/>
                  </a:cubicBezTo>
                  <a:lnTo>
                    <a:pt x="72231" y="0"/>
                  </a:lnTo>
                  <a:lnTo>
                    <a:pt x="73253" y="52"/>
                  </a:lnTo>
                  <a:cubicBezTo>
                    <a:pt x="75616" y="289"/>
                    <a:pt x="77834" y="1331"/>
                    <a:pt x="79526" y="3023"/>
                  </a:cubicBezTo>
                  <a:lnTo>
                    <a:pt x="107459" y="30956"/>
                  </a:lnTo>
                  <a:lnTo>
                    <a:pt x="175418" y="30956"/>
                  </a:lnTo>
                  <a:cubicBezTo>
                    <a:pt x="183632" y="30956"/>
                    <a:pt x="191495" y="34217"/>
                    <a:pt x="197304" y="40026"/>
                  </a:cubicBezTo>
                  <a:cubicBezTo>
                    <a:pt x="200596" y="43318"/>
                    <a:pt x="203072" y="47280"/>
                    <a:pt x="204600" y="51594"/>
                  </a:cubicBezTo>
                  <a:lnTo>
                    <a:pt x="54741" y="51594"/>
                  </a:lnTo>
                  <a:cubicBezTo>
                    <a:pt x="50541" y="51594"/>
                    <a:pt x="46434" y="52883"/>
                    <a:pt x="42977" y="55267"/>
                  </a:cubicBezTo>
                  <a:cubicBezTo>
                    <a:pt x="39964" y="57362"/>
                    <a:pt x="37560" y="60220"/>
                    <a:pt x="36023" y="63532"/>
                  </a:cubicBezTo>
                  <a:lnTo>
                    <a:pt x="35424" y="64987"/>
                  </a:lnTo>
                  <a:lnTo>
                    <a:pt x="21195" y="102919"/>
                  </a:lnTo>
                  <a:cubicBezTo>
                    <a:pt x="19193" y="108254"/>
                    <a:pt x="21896" y="114197"/>
                    <a:pt x="27231" y="116199"/>
                  </a:cubicBezTo>
                  <a:cubicBezTo>
                    <a:pt x="32566" y="118201"/>
                    <a:pt x="38520" y="115497"/>
                    <a:pt x="40522" y="110163"/>
                  </a:cubicBezTo>
                  <a:lnTo>
                    <a:pt x="52223" y="78928"/>
                  </a:lnTo>
                  <a:cubicBezTo>
                    <a:pt x="53730" y="74904"/>
                    <a:pt x="57578" y="72231"/>
                    <a:pt x="61892" y="72231"/>
                  </a:cubicBezTo>
                  <a:lnTo>
                    <a:pt x="196056" y="72231"/>
                  </a:lnTo>
                  <a:lnTo>
                    <a:pt x="198295" y="72355"/>
                  </a:lnTo>
                  <a:cubicBezTo>
                    <a:pt x="200524" y="72603"/>
                    <a:pt x="202691" y="73201"/>
                    <a:pt x="204734" y="74140"/>
                  </a:cubicBezTo>
                  <a:cubicBezTo>
                    <a:pt x="205291" y="74398"/>
                    <a:pt x="205838" y="74687"/>
                    <a:pt x="206374" y="74996"/>
                  </a:cubicBezTo>
                  <a:cubicBezTo>
                    <a:pt x="208428" y="76183"/>
                    <a:pt x="210265" y="77710"/>
                    <a:pt x="211792" y="79526"/>
                  </a:cubicBezTo>
                  <a:cubicBezTo>
                    <a:pt x="213732" y="81817"/>
                    <a:pt x="215145" y="84500"/>
                    <a:pt x="215950" y="87389"/>
                  </a:cubicBezTo>
                  <a:cubicBezTo>
                    <a:pt x="216745" y="90278"/>
                    <a:pt x="216899" y="93302"/>
                    <a:pt x="216414" y="96253"/>
                  </a:cubicBezTo>
                  <a:cubicBezTo>
                    <a:pt x="216404" y="96336"/>
                    <a:pt x="216384" y="96418"/>
                    <a:pt x="216363" y="96501"/>
                  </a:cubicBezTo>
                  <a:lnTo>
                    <a:pt x="206096" y="150261"/>
                  </a:lnTo>
                  <a:cubicBezTo>
                    <a:pt x="204744" y="157340"/>
                    <a:pt x="200967" y="163717"/>
                    <a:pt x="195406" y="168309"/>
                  </a:cubicBezTo>
                  <a:cubicBezTo>
                    <a:pt x="190556" y="172323"/>
                    <a:pt x="184612" y="174747"/>
                    <a:pt x="178380" y="175294"/>
                  </a:cubicBezTo>
                  <a:lnTo>
                    <a:pt x="175686" y="175418"/>
                  </a:lnTo>
                  <a:lnTo>
                    <a:pt x="30956" y="175418"/>
                  </a:lnTo>
                  <a:cubicBezTo>
                    <a:pt x="22742" y="175418"/>
                    <a:pt x="14880" y="172157"/>
                    <a:pt x="9070" y="166348"/>
                  </a:cubicBezTo>
                  <a:cubicBezTo>
                    <a:pt x="3261" y="160539"/>
                    <a:pt x="0" y="152676"/>
                    <a:pt x="0" y="144462"/>
                  </a:cubicBezTo>
                  <a:lnTo>
                    <a:pt x="0" y="30956"/>
                  </a:lnTo>
                  <a:close/>
                </a:path>
              </a:pathLst>
            </a:custGeom>
            <a:solidFill>
              <a:schemeClr val="accent1"/>
            </a:solidFill>
            <a:ln>
              <a:noFill/>
            </a:ln>
          </p:spPr>
        </p:sp>
        <p:sp>
          <p:nvSpPr>
            <p:cNvPr id="9" name="TextBox 9"/>
            <p:cNvSpPr txBox="1"/>
            <p:nvPr/>
          </p:nvSpPr>
          <p:spPr>
            <a:xfrm>
              <a:off x="1077849" y="1620679"/>
              <a:ext cx="462671" cy="308039"/>
            </a:xfrm>
            <a:prstGeom prst="rect">
              <a:avLst/>
            </a:prstGeom>
            <a:noFill/>
            <a:ln>
              <a:noFill/>
            </a:ln>
          </p:spPr>
          <p:txBody>
            <a:bodyPr wrap="none" lIns="0" tIns="0" rIns="0" bIns="0" anchor="t" anchorCtr="0">
              <a:spAutoFit/>
            </a:bodyPr>
            <a:lstStyle/>
            <a:p>
              <a:pPr algn="l"/>
              <a:r>
                <a:rPr lang="zh-CN" sz="1580" b="1" dirty="0">
                  <a:solidFill>
                    <a:schemeClr val="dk1"/>
                  </a:solidFill>
                  <a:latin typeface="+mn-lt"/>
                  <a:ea typeface="+mn-ea"/>
                  <a:cs typeface="+mn-cs"/>
                </a:rPr>
                <a:t>配布</a:t>
              </a:r>
            </a:p>
          </p:txBody>
        </p:sp>
        <p:sp>
          <p:nvSpPr>
            <p:cNvPr id="10" name="TextBox 10"/>
            <p:cNvSpPr txBox="1"/>
            <p:nvPr/>
          </p:nvSpPr>
          <p:spPr>
            <a:xfrm>
              <a:off x="717042" y="2025968"/>
              <a:ext cx="3042666" cy="530733"/>
            </a:xfrm>
            <a:prstGeom prst="rect">
              <a:avLst/>
            </a:prstGeom>
            <a:noFill/>
            <a:ln>
              <a:noFill/>
            </a:ln>
          </p:spPr>
          <p:txBody>
            <a:bodyPr wrap="square" lIns="0" tIns="0" rIns="0" bIns="0" anchor="t" anchorCtr="0"/>
            <a:lstStyle/>
            <a:p>
              <a:pPr algn="l">
                <a:lnSpc>
                  <a:spcPts val="2100"/>
                </a:lnSpc>
              </a:pPr>
              <a:r>
                <a:rPr lang="zh-CN" sz="1350" dirty="0">
                  <a:solidFill>
                    <a:schemeClr val="dk1"/>
                  </a:solidFill>
                  <a:latin typeface="+mn-lt"/>
                  <a:ea typeface="+mn-ea"/>
                  <a:cs typeface="+mn-cs"/>
                </a:rPr>
                <a:t>フォルダ一式をコピーし、使う人には「</a:t>
              </a:r>
              <a:r>
                <a:rPr lang="en-US" sz="1200" dirty="0">
                  <a:solidFill>
                    <a:schemeClr val="dk1"/>
                  </a:solidFill>
                  <a:latin typeface="Consolas"/>
                  <a:ea typeface="Consolas"/>
                  <a:cs typeface="Consolas"/>
                </a:rPr>
                <a:t>launch.vbs</a:t>
              </a:r>
              <a:r>
                <a:rPr lang="zh-CN" sz="1350" dirty="0">
                  <a:solidFill>
                    <a:schemeClr val="dk1"/>
                  </a:solidFill>
                  <a:latin typeface="+mn-lt"/>
                  <a:ea typeface="+mn-ea"/>
                  <a:cs typeface="+mn-cs"/>
                </a:rPr>
                <a:t xml:space="preserve"> をダブルクリック」とだけ案内します。</a:t>
              </a:r>
            </a:p>
          </p:txBody>
        </p:sp>
        <p:sp>
          <p:nvSpPr>
            <p:cNvPr id="11" name="TextBox 11"/>
            <p:cNvSpPr txBox="1"/>
            <p:nvPr/>
          </p:nvSpPr>
          <p:spPr>
            <a:xfrm>
              <a:off x="717423" y="2815114"/>
              <a:ext cx="2678938" cy="744665"/>
            </a:xfrm>
            <a:prstGeom prst="rect">
              <a:avLst/>
            </a:prstGeom>
            <a:noFill/>
            <a:ln>
              <a:noFill/>
            </a:ln>
          </p:spPr>
          <p:txBody>
            <a:bodyPr wrap="square" lIns="0" tIns="0" rIns="0" bIns="0" anchor="t" anchorCtr="0"/>
            <a:lstStyle/>
            <a:p>
              <a:pPr algn="l">
                <a:lnSpc>
                  <a:spcPts val="1950"/>
                </a:lnSpc>
              </a:pPr>
              <a:r>
                <a:rPr lang="zh-CN" sz="1280" dirty="0">
                  <a:solidFill>
                    <a:srgbClr val="5D6B7A"/>
                  </a:solidFill>
                  <a:latin typeface="+mn-lt"/>
                  <a:ea typeface="+mn-ea"/>
                  <a:cs typeface="+mn-cs"/>
                </a:rPr>
                <a:t>ZIP で渡す場合、展開前にファイルのプロパティで［許可する］が必要なことがあります（Mark of the Web の解除）。</a:t>
              </a:r>
            </a:p>
          </p:txBody>
        </p:sp>
      </p:grpSp>
      <p:grpSp>
        <p:nvGrpSpPr>
          <p:cNvPr id="25" name="Group 25"/>
          <p:cNvGrpSpPr/>
          <p:nvPr/>
        </p:nvGrpSpPr>
        <p:grpSpPr>
          <a:xfrm>
            <a:off x="6286500" y="1371600"/>
            <a:ext cx="5448300" cy="2247900"/>
            <a:chOff x="6286500" y="1371600"/>
            <a:chExt cx="5448300" cy="2247900"/>
          </a:xfrm>
        </p:grpSpPr>
        <p:sp>
          <p:nvSpPr>
            <p:cNvPr id="13" name="Rectangle 13"/>
            <p:cNvSpPr/>
            <p:nvPr/>
          </p:nvSpPr>
          <p:spPr>
            <a:xfrm>
              <a:off x="6286500" y="1371600"/>
              <a:ext cx="5448300" cy="2247900"/>
            </a:xfrm>
            <a:prstGeom prst="roundRect">
              <a:avLst>
                <a:gd name="adj" fmla="val 6780"/>
              </a:avLst>
            </a:prstGeom>
            <a:solidFill>
              <a:schemeClr val="lt2"/>
            </a:solidFill>
            <a:ln>
              <a:noFill/>
            </a:ln>
          </p:spPr>
        </p:sp>
        <p:grpSp>
          <p:nvGrpSpPr>
            <p:cNvPr id="20" name="Group 20"/>
            <p:cNvGrpSpPr/>
            <p:nvPr/>
          </p:nvGrpSpPr>
          <p:grpSpPr>
            <a:xfrm>
              <a:off x="6578110" y="1635311"/>
              <a:ext cx="191783" cy="172268"/>
              <a:chOff x="6578110" y="1635311"/>
              <a:chExt cx="191783" cy="172268"/>
            </a:xfrm>
          </p:grpSpPr>
          <p:sp>
            <p:nvSpPr>
              <p:cNvPr id="14" name="Freeform 14"/>
              <p:cNvSpPr/>
              <p:nvPr/>
            </p:nvSpPr>
            <p:spPr>
              <a:xfrm>
                <a:off x="6578110" y="1635311"/>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15" name="Freeform 15"/>
              <p:cNvSpPr/>
              <p:nvPr/>
            </p:nvSpPr>
            <p:spPr>
              <a:xfrm>
                <a:off x="6578110" y="1697223"/>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16" name="Freeform 16"/>
              <p:cNvSpPr/>
              <p:nvPr/>
            </p:nvSpPr>
            <p:spPr>
              <a:xfrm>
                <a:off x="6578110" y="1759135"/>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17" name="Freeform 17"/>
              <p:cNvSpPr/>
              <p:nvPr/>
            </p:nvSpPr>
            <p:spPr>
              <a:xfrm>
                <a:off x="6656387" y="1651794"/>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18" name="Freeform 18"/>
              <p:cNvSpPr/>
              <p:nvPr/>
            </p:nvSpPr>
            <p:spPr>
              <a:xfrm>
                <a:off x="6656387" y="1713706"/>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19" name="Freeform 19"/>
              <p:cNvSpPr/>
              <p:nvPr/>
            </p:nvSpPr>
            <p:spPr>
              <a:xfrm>
                <a:off x="6656387" y="1775618"/>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grpSp>
        <p:sp>
          <p:nvSpPr>
            <p:cNvPr id="21" name="TextBox 21"/>
            <p:cNvSpPr txBox="1"/>
            <p:nvPr/>
          </p:nvSpPr>
          <p:spPr>
            <a:xfrm>
              <a:off x="6907149" y="1620679"/>
              <a:ext cx="1869679" cy="308039"/>
            </a:xfrm>
            <a:prstGeom prst="rect">
              <a:avLst/>
            </a:prstGeom>
            <a:noFill/>
            <a:ln>
              <a:noFill/>
            </a:ln>
          </p:spPr>
          <p:txBody>
            <a:bodyPr wrap="none" lIns="0" tIns="0" rIns="0" bIns="0" anchor="t" anchorCtr="0">
              <a:spAutoFit/>
            </a:bodyPr>
            <a:lstStyle/>
            <a:p>
              <a:pPr algn="l"/>
              <a:r>
                <a:rPr lang="zh-CN" sz="1580" b="1" dirty="0">
                  <a:solidFill>
                    <a:schemeClr val="dk1"/>
                  </a:solidFill>
                  <a:latin typeface="+mn-lt"/>
                  <a:ea typeface="+mn-ea"/>
                  <a:cs typeface="+mn-cs"/>
                </a:rPr>
                <a:t>ひな形の追加・差し替え</a:t>
              </a:r>
            </a:p>
          </p:txBody>
        </p:sp>
        <p:sp>
          <p:nvSpPr>
            <p:cNvPr id="22" name="TextBox 22"/>
            <p:cNvSpPr txBox="1"/>
            <p:nvPr/>
          </p:nvSpPr>
          <p:spPr>
            <a:xfrm>
              <a:off x="6546342" y="2025968"/>
              <a:ext cx="3602378" cy="264033"/>
            </a:xfrm>
            <a:prstGeom prst="rect">
              <a:avLst/>
            </a:prstGeom>
            <a:noFill/>
            <a:ln>
              <a:noFill/>
            </a:ln>
          </p:spPr>
          <p:txBody>
            <a:bodyPr wrap="none" lIns="0" tIns="0" rIns="0" bIns="0" anchor="t" anchorCtr="0">
              <a:spAutoFit/>
            </a:bodyPr>
            <a:lstStyle/>
            <a:p>
              <a:pPr algn="l"/>
              <a:r>
                <a:rPr lang="en-US" sz="1200" dirty="0">
                  <a:solidFill>
                    <a:schemeClr val="dk1"/>
                  </a:solidFill>
                  <a:latin typeface="Consolas"/>
                  <a:ea typeface="Consolas"/>
                  <a:cs typeface="Consolas"/>
                </a:rPr>
                <a:t>presets</a:t>
              </a:r>
              <a:r>
                <a:rPr lang="zh-CN" sz="1350" dirty="0">
                  <a:solidFill>
                    <a:schemeClr val="dk1"/>
                  </a:solidFill>
                  <a:latin typeface="+mn-lt"/>
                  <a:ea typeface="+mn-ea"/>
                  <a:cs typeface="+mn-cs"/>
                </a:rPr>
                <a:t xml:space="preserve"> フォルダに Markdown を置くだけ。1 ファイルが</a:t>
              </a:r>
            </a:p>
          </p:txBody>
        </p:sp>
        <p:sp>
          <p:nvSpPr>
            <p:cNvPr id="23" name="TextBox 23"/>
            <p:cNvSpPr txBox="1"/>
            <p:nvPr/>
          </p:nvSpPr>
          <p:spPr>
            <a:xfrm>
              <a:off x="6546342" y="2292668"/>
              <a:ext cx="260346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1 つの目的になり、再起動は不要です。</a:t>
              </a:r>
            </a:p>
          </p:txBody>
        </p:sp>
        <p:sp>
          <p:nvSpPr>
            <p:cNvPr id="24" name="TextBox 24"/>
            <p:cNvSpPr txBox="1"/>
            <p:nvPr/>
          </p:nvSpPr>
          <p:spPr>
            <a:xfrm>
              <a:off x="6546723" y="2815114"/>
              <a:ext cx="3069082" cy="744665"/>
            </a:xfrm>
            <a:prstGeom prst="rect">
              <a:avLst/>
            </a:prstGeom>
            <a:noFill/>
            <a:ln>
              <a:noFill/>
            </a:ln>
          </p:spPr>
          <p:txBody>
            <a:bodyPr wrap="square" lIns="0" tIns="0" rIns="0" bIns="0" anchor="t" anchorCtr="0"/>
            <a:lstStyle/>
            <a:p>
              <a:pPr algn="l">
                <a:lnSpc>
                  <a:spcPts val="1950"/>
                </a:lnSpc>
              </a:pPr>
              <a:r>
                <a:rPr lang="zh-CN" sz="1280" dirty="0">
                  <a:solidFill>
                    <a:srgbClr val="5D6B7A"/>
                  </a:solidFill>
                  <a:latin typeface="+mn-lt"/>
                  <a:ea typeface="+mn-ea"/>
                  <a:cs typeface="+mn-cs"/>
                </a:rPr>
                <a:t>書式が足りないファイルは「読み込めないひな形」として理由つきで表示され、選べなくなります。依頼のひな形は道具ではなく文書なので、業務に合わせて育てられます。</a:t>
              </a:r>
            </a:p>
          </p:txBody>
        </p:sp>
      </p:grpSp>
      <p:grpSp>
        <p:nvGrpSpPr>
          <p:cNvPr id="33" name="Group 33"/>
          <p:cNvGrpSpPr/>
          <p:nvPr/>
        </p:nvGrpSpPr>
        <p:grpSpPr>
          <a:xfrm>
            <a:off x="457200" y="3848100"/>
            <a:ext cx="5524500" cy="2247900"/>
            <a:chOff x="457200" y="3848100"/>
            <a:chExt cx="5524500" cy="2247900"/>
          </a:xfrm>
        </p:grpSpPr>
        <p:sp>
          <p:nvSpPr>
            <p:cNvPr id="26" name="Rectangle 26"/>
            <p:cNvSpPr/>
            <p:nvPr/>
          </p:nvSpPr>
          <p:spPr>
            <a:xfrm>
              <a:off x="457200" y="3848100"/>
              <a:ext cx="5524500" cy="2247900"/>
            </a:xfrm>
            <a:prstGeom prst="roundRect">
              <a:avLst>
                <a:gd name="adj" fmla="val 6780"/>
              </a:avLst>
            </a:prstGeom>
            <a:solidFill>
              <a:schemeClr val="lt2"/>
            </a:solidFill>
            <a:ln>
              <a:noFill/>
            </a:ln>
          </p:spPr>
        </p:sp>
        <p:grpSp>
          <p:nvGrpSpPr>
            <p:cNvPr id="29" name="Group 29"/>
            <p:cNvGrpSpPr/>
            <p:nvPr/>
          </p:nvGrpSpPr>
          <p:grpSpPr>
            <a:xfrm>
              <a:off x="765174" y="4097337"/>
              <a:ext cx="165101" cy="206375"/>
              <a:chOff x="765174" y="4097337"/>
              <a:chExt cx="165101" cy="206375"/>
            </a:xfrm>
          </p:grpSpPr>
          <p:sp>
            <p:nvSpPr>
              <p:cNvPr id="27" name="Freeform 27"/>
              <p:cNvSpPr/>
              <p:nvPr/>
            </p:nvSpPr>
            <p:spPr>
              <a:xfrm>
                <a:off x="765174" y="409733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13507" y="144462"/>
                    </a:moveTo>
                    <a:lnTo>
                      <a:pt x="51595" y="144462"/>
                    </a:lnTo>
                    <a:cubicBezTo>
                      <a:pt x="45896" y="144462"/>
                      <a:pt x="41276" y="149082"/>
                      <a:pt x="41276" y="154781"/>
                    </a:cubicBezTo>
                    <a:cubicBezTo>
                      <a:pt x="41276" y="160480"/>
                      <a:pt x="45896" y="165099"/>
                      <a:pt x="51595" y="165099"/>
                    </a:cubicBezTo>
                    <a:lnTo>
                      <a:pt x="113507" y="165099"/>
                    </a:lnTo>
                    <a:cubicBezTo>
                      <a:pt x="119206" y="165099"/>
                      <a:pt x="123826" y="160480"/>
                      <a:pt x="123826" y="154781"/>
                    </a:cubicBezTo>
                    <a:cubicBezTo>
                      <a:pt x="123826" y="149082"/>
                      <a:pt x="119206" y="144462"/>
                      <a:pt x="113507" y="144462"/>
                    </a:cubicBezTo>
                    <a:moveTo>
                      <a:pt x="113507" y="103187"/>
                    </a:moveTo>
                    <a:lnTo>
                      <a:pt x="51595" y="103187"/>
                    </a:lnTo>
                    <a:cubicBezTo>
                      <a:pt x="45896" y="103187"/>
                      <a:pt x="41276" y="107807"/>
                      <a:pt x="41276" y="113506"/>
                    </a:cubicBezTo>
                    <a:cubicBezTo>
                      <a:pt x="41276" y="119205"/>
                      <a:pt x="45896" y="123825"/>
                      <a:pt x="51595" y="123825"/>
                    </a:cubicBezTo>
                    <a:lnTo>
                      <a:pt x="113507" y="123825"/>
                    </a:lnTo>
                    <a:cubicBezTo>
                      <a:pt x="119206" y="123825"/>
                      <a:pt x="123826" y="119205"/>
                      <a:pt x="123826" y="113506"/>
                    </a:cubicBezTo>
                    <a:cubicBezTo>
                      <a:pt x="123826" y="107807"/>
                      <a:pt x="119206" y="103187"/>
                      <a:pt x="113507" y="103187"/>
                    </a:cubicBezTo>
                    <a:moveTo>
                      <a:pt x="61913" y="61912"/>
                    </a:moveTo>
                    <a:lnTo>
                      <a:pt x="51595" y="61912"/>
                    </a:lnTo>
                    <a:cubicBezTo>
                      <a:pt x="45896" y="61912"/>
                      <a:pt x="41276" y="66532"/>
                      <a:pt x="41276" y="72231"/>
                    </a:cubicBezTo>
                    <a:cubicBezTo>
                      <a:pt x="41276" y="77930"/>
                      <a:pt x="45896" y="82550"/>
                      <a:pt x="51595" y="82550"/>
                    </a:cubicBezTo>
                    <a:lnTo>
                      <a:pt x="61913" y="82550"/>
                    </a:lnTo>
                    <a:cubicBezTo>
                      <a:pt x="67612" y="82550"/>
                      <a:pt x="72232" y="77930"/>
                      <a:pt x="72232" y="72231"/>
                    </a:cubicBezTo>
                    <a:cubicBezTo>
                      <a:pt x="72232" y="66532"/>
                      <a:pt x="67612" y="61912"/>
                      <a:pt x="61913" y="61912"/>
                    </a:cubicBezTo>
                  </a:path>
                </a:pathLst>
              </a:custGeom>
              <a:solidFill>
                <a:schemeClr val="accent1"/>
              </a:solidFill>
              <a:ln>
                <a:noFill/>
              </a:ln>
            </p:spPr>
          </p:sp>
          <p:sp>
            <p:nvSpPr>
              <p:cNvPr id="28" name="Freeform 28"/>
              <p:cNvSpPr/>
              <p:nvPr/>
            </p:nvSpPr>
            <p:spPr>
              <a:xfrm>
                <a:off x="878670" y="4107646"/>
                <a:ext cx="41285" cy="41285"/>
              </a:xfrm>
              <a:custGeom>
                <a:avLst/>
                <a:gdLst/>
                <a:ahLst/>
                <a:cxnLst/>
                <a:rect l="l" t="t" r="r" b="b"/>
                <a:pathLst>
                  <a:path w="41285" h="41285">
                    <a:moveTo>
                      <a:pt x="41285" y="41285"/>
                    </a:moveTo>
                    <a:lnTo>
                      <a:pt x="10" y="41285"/>
                    </a:lnTo>
                    <a:lnTo>
                      <a:pt x="0" y="0"/>
                    </a:lnTo>
                    <a:close/>
                  </a:path>
                </a:pathLst>
              </a:custGeom>
              <a:solidFill>
                <a:schemeClr val="accent1"/>
              </a:solidFill>
              <a:ln>
                <a:noFill/>
              </a:ln>
            </p:spPr>
          </p:sp>
        </p:grpSp>
        <p:sp>
          <p:nvSpPr>
            <p:cNvPr id="30" name="TextBox 30"/>
            <p:cNvSpPr txBox="1"/>
            <p:nvPr/>
          </p:nvSpPr>
          <p:spPr>
            <a:xfrm>
              <a:off x="1077849" y="4097179"/>
              <a:ext cx="2093014" cy="308039"/>
            </a:xfrm>
            <a:prstGeom prst="rect">
              <a:avLst/>
            </a:prstGeom>
            <a:noFill/>
            <a:ln>
              <a:noFill/>
            </a:ln>
          </p:spPr>
          <p:txBody>
            <a:bodyPr wrap="none" lIns="0" tIns="0" rIns="0" bIns="0" anchor="t" anchorCtr="0">
              <a:spAutoFit/>
            </a:bodyPr>
            <a:lstStyle/>
            <a:p>
              <a:pPr algn="l"/>
              <a:r>
                <a:rPr lang="zh-CN" sz="1580" b="1" dirty="0">
                  <a:solidFill>
                    <a:schemeClr val="dk1"/>
                  </a:solidFill>
                  <a:latin typeface="+mn-lt"/>
                  <a:ea typeface="+mn-ea"/>
                  <a:cs typeface="+mn-cs"/>
                </a:rPr>
                <a:t>依頼文の枠と、長いコード</a:t>
              </a:r>
            </a:p>
          </p:txBody>
        </p:sp>
        <p:sp>
          <p:nvSpPr>
            <p:cNvPr id="31" name="TextBox 31"/>
            <p:cNvSpPr txBox="1"/>
            <p:nvPr/>
          </p:nvSpPr>
          <p:spPr>
            <a:xfrm>
              <a:off x="717042" y="4502468"/>
              <a:ext cx="3970401" cy="530733"/>
            </a:xfrm>
            <a:prstGeom prst="rect">
              <a:avLst/>
            </a:prstGeom>
            <a:noFill/>
            <a:ln>
              <a:noFill/>
            </a:ln>
          </p:spPr>
          <p:txBody>
            <a:bodyPr wrap="square" lIns="0" tIns="0" rIns="0" bIns="0" anchor="t" anchorCtr="0"/>
            <a:lstStyle/>
            <a:p>
              <a:pPr algn="l">
                <a:lnSpc>
                  <a:spcPts val="2100"/>
                </a:lnSpc>
              </a:pPr>
              <a:r>
                <a:rPr lang="zh-CN" sz="1350" dirty="0">
                  <a:solidFill>
                    <a:schemeClr val="dk1"/>
                  </a:solidFill>
                  <a:latin typeface="+mn-lt"/>
                  <a:ea typeface="+mn-ea"/>
                  <a:cs typeface="+mn-cs"/>
                </a:rPr>
                <a:t xml:space="preserve">依頼文の組み立て枠は </a:t>
              </a:r>
              <a:r>
                <a:rPr lang="en-US" sz="1200" dirty="0">
                  <a:solidFill>
                    <a:schemeClr val="dk1"/>
                  </a:solidFill>
                  <a:latin typeface="Consolas"/>
                  <a:ea typeface="Consolas"/>
                  <a:cs typeface="Consolas"/>
                </a:rPr>
                <a:t>templates\request-template.txt</a:t>
              </a:r>
              <a:r>
                <a:rPr lang="zh-CN" sz="1350" dirty="0">
                  <a:solidFill>
                    <a:schemeClr val="dk1"/>
                  </a:solidFill>
                  <a:latin typeface="+mn-lt"/>
                  <a:ea typeface="+mn-ea"/>
                  <a:cs typeface="+mn-cs"/>
                </a:rPr>
                <a:t>（UTF-8）で変更できます。生成のたびに読み直されます。</a:t>
              </a:r>
            </a:p>
          </p:txBody>
        </p:sp>
        <p:sp>
          <p:nvSpPr>
            <p:cNvPr id="32" name="TextBox 32"/>
            <p:cNvSpPr txBox="1"/>
            <p:nvPr/>
          </p:nvSpPr>
          <p:spPr>
            <a:xfrm>
              <a:off x="717423" y="5291614"/>
              <a:ext cx="2995930" cy="744665"/>
            </a:xfrm>
            <a:prstGeom prst="rect">
              <a:avLst/>
            </a:prstGeom>
            <a:noFill/>
            <a:ln>
              <a:noFill/>
            </a:ln>
          </p:spPr>
          <p:txBody>
            <a:bodyPr wrap="square" lIns="0" tIns="0" rIns="0" bIns="0" anchor="t" anchorCtr="0"/>
            <a:lstStyle/>
            <a:p>
              <a:pPr algn="l">
                <a:lnSpc>
                  <a:spcPts val="1950"/>
                </a:lnSpc>
              </a:pPr>
              <a:r>
                <a:rPr lang="zh-CN" sz="1280" dirty="0">
                  <a:solidFill>
                    <a:srgbClr val="5D6B7A"/>
                  </a:solidFill>
                  <a:latin typeface="+mn-lt"/>
                  <a:ea typeface="+mn-ea"/>
                  <a:cs typeface="+mn-cs"/>
                </a:rPr>
                <a:t>コードが長く返答が途中で切れるときの［モジュール単位出力］は、ひな形が対応の節を持つときだけ現れます（同梱の改修用 3 つは対応済み）。</a:t>
              </a:r>
            </a:p>
          </p:txBody>
        </p:sp>
      </p:grpSp>
      <p:grpSp>
        <p:nvGrpSpPr>
          <p:cNvPr id="40" name="Group 40"/>
          <p:cNvGrpSpPr/>
          <p:nvPr/>
        </p:nvGrpSpPr>
        <p:grpSpPr>
          <a:xfrm>
            <a:off x="6286500" y="3848100"/>
            <a:ext cx="5448300" cy="2247900"/>
            <a:chOff x="6286500" y="3848100"/>
            <a:chExt cx="5448300" cy="2247900"/>
          </a:xfrm>
        </p:grpSpPr>
        <p:sp>
          <p:nvSpPr>
            <p:cNvPr id="34" name="Rectangle 34"/>
            <p:cNvSpPr/>
            <p:nvPr/>
          </p:nvSpPr>
          <p:spPr>
            <a:xfrm>
              <a:off x="6286500" y="3848100"/>
              <a:ext cx="5448300" cy="2247900"/>
            </a:xfrm>
            <a:prstGeom prst="roundRect">
              <a:avLst>
                <a:gd name="adj" fmla="val 6780"/>
              </a:avLst>
            </a:prstGeom>
            <a:solidFill>
              <a:schemeClr val="lt2"/>
            </a:solidFill>
            <a:ln>
              <a:noFill/>
            </a:ln>
          </p:spPr>
        </p:sp>
        <p:sp>
          <p:nvSpPr>
            <p:cNvPr id="35" name="Freeform 35"/>
            <p:cNvSpPr/>
            <p:nvPr/>
          </p:nvSpPr>
          <p:spPr>
            <a:xfrm>
              <a:off x="6566676" y="4090176"/>
              <a:ext cx="220697" cy="220697"/>
            </a:xfrm>
            <a:custGeom>
              <a:avLst/>
              <a:gdLst/>
              <a:ahLst/>
              <a:cxnLst/>
              <a:rect l="l" t="t" r="r" b="b"/>
              <a:pathLst>
                <a:path w="220697" h="220697">
                  <a:moveTo>
                    <a:pt x="137662" y="28634"/>
                  </a:moveTo>
                  <a:cubicBezTo>
                    <a:pt x="138224" y="30952"/>
                    <a:pt x="139858" y="32862"/>
                    <a:pt x="142060" y="33776"/>
                  </a:cubicBezTo>
                  <a:cubicBezTo>
                    <a:pt x="144263" y="34689"/>
                    <a:pt x="146769" y="34497"/>
                    <a:pt x="148806" y="33257"/>
                  </a:cubicBezTo>
                  <a:cubicBezTo>
                    <a:pt x="173974" y="17934"/>
                    <a:pt x="202773" y="46723"/>
                    <a:pt x="187450" y="71891"/>
                  </a:cubicBezTo>
                  <a:cubicBezTo>
                    <a:pt x="186210" y="73926"/>
                    <a:pt x="186016" y="76431"/>
                    <a:pt x="186928" y="78633"/>
                  </a:cubicBezTo>
                  <a:cubicBezTo>
                    <a:pt x="187839" y="80835"/>
                    <a:pt x="189747" y="82471"/>
                    <a:pt x="192062" y="83035"/>
                  </a:cubicBezTo>
                  <a:cubicBezTo>
                    <a:pt x="220697" y="89979"/>
                    <a:pt x="220697" y="130707"/>
                    <a:pt x="192062" y="137662"/>
                  </a:cubicBezTo>
                  <a:cubicBezTo>
                    <a:pt x="189745" y="138224"/>
                    <a:pt x="187835" y="139858"/>
                    <a:pt x="186921" y="142060"/>
                  </a:cubicBezTo>
                  <a:cubicBezTo>
                    <a:pt x="186007" y="144263"/>
                    <a:pt x="186200" y="146769"/>
                    <a:pt x="187440" y="148806"/>
                  </a:cubicBezTo>
                  <a:cubicBezTo>
                    <a:pt x="202763" y="173974"/>
                    <a:pt x="173974" y="202773"/>
                    <a:pt x="148806" y="187450"/>
                  </a:cubicBezTo>
                  <a:cubicBezTo>
                    <a:pt x="146771" y="186210"/>
                    <a:pt x="144266" y="186016"/>
                    <a:pt x="142063" y="186928"/>
                  </a:cubicBezTo>
                  <a:cubicBezTo>
                    <a:pt x="139861" y="187839"/>
                    <a:pt x="138226" y="189747"/>
                    <a:pt x="137662" y="192062"/>
                  </a:cubicBezTo>
                  <a:cubicBezTo>
                    <a:pt x="130718" y="220697"/>
                    <a:pt x="89990" y="220697"/>
                    <a:pt x="83035" y="192062"/>
                  </a:cubicBezTo>
                  <a:cubicBezTo>
                    <a:pt x="82473" y="189745"/>
                    <a:pt x="80839" y="187835"/>
                    <a:pt x="78637" y="186921"/>
                  </a:cubicBezTo>
                  <a:cubicBezTo>
                    <a:pt x="76434" y="186007"/>
                    <a:pt x="73928" y="186200"/>
                    <a:pt x="71891" y="187440"/>
                  </a:cubicBezTo>
                  <a:cubicBezTo>
                    <a:pt x="46723" y="202763"/>
                    <a:pt x="17924" y="173974"/>
                    <a:pt x="33247" y="148806"/>
                  </a:cubicBezTo>
                  <a:cubicBezTo>
                    <a:pt x="34487" y="146771"/>
                    <a:pt x="34681" y="144266"/>
                    <a:pt x="33769" y="142063"/>
                  </a:cubicBezTo>
                  <a:cubicBezTo>
                    <a:pt x="32858" y="139861"/>
                    <a:pt x="30950" y="138226"/>
                    <a:pt x="28634" y="137662"/>
                  </a:cubicBezTo>
                  <a:cubicBezTo>
                    <a:pt x="0" y="130718"/>
                    <a:pt x="0" y="89990"/>
                    <a:pt x="28634" y="83035"/>
                  </a:cubicBezTo>
                  <a:cubicBezTo>
                    <a:pt x="30952" y="82473"/>
                    <a:pt x="32862" y="80839"/>
                    <a:pt x="33776" y="78637"/>
                  </a:cubicBezTo>
                  <a:cubicBezTo>
                    <a:pt x="34689" y="76434"/>
                    <a:pt x="34497" y="73928"/>
                    <a:pt x="33257" y="71891"/>
                  </a:cubicBezTo>
                  <a:cubicBezTo>
                    <a:pt x="17934" y="46723"/>
                    <a:pt x="46723" y="17924"/>
                    <a:pt x="71891" y="33247"/>
                  </a:cubicBezTo>
                  <a:cubicBezTo>
                    <a:pt x="73924" y="34496"/>
                    <a:pt x="76433" y="34695"/>
                    <a:pt x="78639" y="33782"/>
                  </a:cubicBezTo>
                  <a:cubicBezTo>
                    <a:pt x="80844" y="32870"/>
                    <a:pt x="82479" y="30956"/>
                    <a:pt x="83035" y="28634"/>
                  </a:cubicBezTo>
                  <a:cubicBezTo>
                    <a:pt x="89979" y="0"/>
                    <a:pt x="130707" y="0"/>
                    <a:pt x="137662" y="28634"/>
                  </a:cubicBezTo>
                  <a:close/>
                  <a:moveTo>
                    <a:pt x="110348" y="79392"/>
                  </a:moveTo>
                  <a:cubicBezTo>
                    <a:pt x="93252" y="79392"/>
                    <a:pt x="79392" y="93252"/>
                    <a:pt x="79392" y="110348"/>
                  </a:cubicBezTo>
                  <a:cubicBezTo>
                    <a:pt x="79392" y="127445"/>
                    <a:pt x="93252" y="141305"/>
                    <a:pt x="110348" y="141305"/>
                  </a:cubicBezTo>
                  <a:cubicBezTo>
                    <a:pt x="127445" y="141305"/>
                    <a:pt x="141305" y="127445"/>
                    <a:pt x="141305" y="110348"/>
                  </a:cubicBezTo>
                  <a:cubicBezTo>
                    <a:pt x="141305" y="93252"/>
                    <a:pt x="127445" y="79392"/>
                    <a:pt x="110348" y="79392"/>
                  </a:cubicBezTo>
                </a:path>
              </a:pathLst>
            </a:custGeom>
            <a:solidFill>
              <a:schemeClr val="accent1"/>
            </a:solidFill>
            <a:ln>
              <a:noFill/>
            </a:ln>
          </p:spPr>
        </p:sp>
        <p:sp>
          <p:nvSpPr>
            <p:cNvPr id="36" name="TextBox 36"/>
            <p:cNvSpPr txBox="1"/>
            <p:nvPr/>
          </p:nvSpPr>
          <p:spPr>
            <a:xfrm>
              <a:off x="6907149" y="4097179"/>
              <a:ext cx="1199675" cy="308039"/>
            </a:xfrm>
            <a:prstGeom prst="rect">
              <a:avLst/>
            </a:prstGeom>
            <a:noFill/>
            <a:ln>
              <a:noFill/>
            </a:ln>
          </p:spPr>
          <p:txBody>
            <a:bodyPr wrap="none" lIns="0" tIns="0" rIns="0" bIns="0" anchor="t" anchorCtr="0">
              <a:spAutoFit/>
            </a:bodyPr>
            <a:lstStyle/>
            <a:p>
              <a:pPr algn="l"/>
              <a:r>
                <a:rPr lang="zh-CN" sz="1580" b="1" dirty="0">
                  <a:solidFill>
                    <a:schemeClr val="dk1"/>
                  </a:solidFill>
                  <a:latin typeface="+mn-lt"/>
                  <a:ea typeface="+mn-ea"/>
                  <a:cs typeface="+mn-cs"/>
                </a:rPr>
                <a:t>ログと問い合わせ</a:t>
              </a:r>
            </a:p>
          </p:txBody>
        </p:sp>
        <p:sp>
          <p:nvSpPr>
            <p:cNvPr id="37" name="TextBox 37"/>
            <p:cNvSpPr txBox="1"/>
            <p:nvPr/>
          </p:nvSpPr>
          <p:spPr>
            <a:xfrm>
              <a:off x="6546342" y="4502468"/>
              <a:ext cx="396507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 xml:space="preserve">動作記録は </a:t>
              </a:r>
              <a:r>
                <a:rPr lang="en-US" sz="1200" dirty="0">
                  <a:solidFill>
                    <a:schemeClr val="dk1"/>
                  </a:solidFill>
                  <a:latin typeface="Consolas"/>
                  <a:ea typeface="Consolas"/>
                  <a:cs typeface="Consolas"/>
                </a:rPr>
                <a:t>%LOCALAPPDATA%\MacroStudio\logs</a:t>
              </a:r>
              <a:r>
                <a:rPr lang="en-US" sz="1350" dirty="0">
                  <a:solidFill>
                    <a:schemeClr val="dk1"/>
                  </a:solidFill>
                  <a:latin typeface="+mn-lt"/>
                  <a:ea typeface="+mn-ea"/>
                  <a:cs typeface="+mn-cs"/>
                </a:rPr>
                <a:t xml:space="preserve"> に</a:t>
              </a:r>
            </a:p>
          </p:txBody>
        </p:sp>
        <p:sp>
          <p:nvSpPr>
            <p:cNvPr id="38" name="TextBox 38"/>
            <p:cNvSpPr txBox="1"/>
            <p:nvPr/>
          </p:nvSpPr>
          <p:spPr>
            <a:xfrm>
              <a:off x="6546342" y="4769168"/>
              <a:ext cx="357576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残ります。起動に失敗した場合も理由が記録されます。</a:t>
              </a:r>
            </a:p>
          </p:txBody>
        </p:sp>
        <p:sp>
          <p:nvSpPr>
            <p:cNvPr id="39" name="TextBox 39"/>
            <p:cNvSpPr txBox="1"/>
            <p:nvPr/>
          </p:nvSpPr>
          <p:spPr>
            <a:xfrm>
              <a:off x="6546723" y="5291614"/>
              <a:ext cx="2995930" cy="497014"/>
            </a:xfrm>
            <a:prstGeom prst="rect">
              <a:avLst/>
            </a:prstGeom>
            <a:noFill/>
            <a:ln>
              <a:noFill/>
            </a:ln>
          </p:spPr>
          <p:txBody>
            <a:bodyPr wrap="square" lIns="0" tIns="0" rIns="0" bIns="0" anchor="t" anchorCtr="0"/>
            <a:lstStyle/>
            <a:p>
              <a:pPr algn="l">
                <a:lnSpc>
                  <a:spcPts val="1950"/>
                </a:lnSpc>
              </a:pPr>
              <a:r>
                <a:rPr lang="zh-CN" sz="1280" dirty="0">
                  <a:solidFill>
                    <a:srgbClr val="5D6B7A"/>
                  </a:solidFill>
                  <a:latin typeface="+mn-lt"/>
                  <a:ea typeface="+mn-ea"/>
                  <a:cs typeface="+mn-cs"/>
                </a:rPr>
                <a:t>貼り付けたコードの本文は記録されません。問い合わせを受けるときは、このログの添付を依頼してください。</a:t>
              </a:r>
            </a:p>
          </p:txBody>
        </p:sp>
      </p:grpSp>
      <p:grpSp>
        <p:nvGrpSpPr>
          <p:cNvPr id="43" name="Group 43"/>
          <p:cNvGrpSpPr/>
          <p:nvPr/>
        </p:nvGrpSpPr>
        <p:grpSpPr>
          <a:xfrm>
            <a:off x="451866" y="6477952"/>
            <a:ext cx="11288268" cy="205359"/>
            <a:chOff x="451866" y="6477952"/>
            <a:chExt cx="11288268" cy="205359"/>
          </a:xfrm>
        </p:grpSpPr>
        <p:sp>
          <p:nvSpPr>
            <p:cNvPr id="41" name="TextBox 41"/>
            <p:cNvSpPr txBox="1"/>
            <p:nvPr/>
          </p:nvSpPr>
          <p:spPr>
            <a:xfrm>
              <a:off x="451866" y="6477952"/>
              <a:ext cx="1438313" cy="205359"/>
            </a:xfrm>
            <a:prstGeom prst="rect">
              <a:avLst/>
            </a:prstGeom>
            <a:noFill/>
            <a:ln>
              <a:noFill/>
            </a:ln>
          </p:spPr>
          <p:txBody>
            <a:bodyPr wrap="none" lIns="0" tIns="0" rIns="0" bIns="0" anchor="t" anchorCtr="0">
              <a:spAutoFit/>
            </a:bodyPr>
            <a:lstStyle/>
            <a:p>
              <a:pPr algn="l"/>
              <a:r>
                <a:rPr lang="zh-CN" sz="1050" dirty="0">
                  <a:solidFill>
                    <a:srgbClr val="5D6B7A"/>
                  </a:solidFill>
                  <a:latin typeface="+mn-lt"/>
                  <a:ea typeface="+mn-ea"/>
                  <a:cs typeface="+mn-cs"/>
                </a:rPr>
                <a:t>第5部　技術・運用付録</a:t>
              </a:r>
            </a:p>
          </p:txBody>
        </p:sp>
        <p:sp>
          <p:nvSpPr>
            <p:cNvPr id="42" name="TextBox 42"/>
            <p:cNvSpPr txBox="1"/>
            <p:nvPr/>
          </p:nvSpPr>
          <p:spPr>
            <a:xfrm>
              <a:off x="11573980" y="6477952"/>
              <a:ext cx="166154" cy="205359"/>
            </a:xfrm>
            <a:prstGeom prst="rect">
              <a:avLst/>
            </a:prstGeom>
            <a:noFill/>
            <a:ln>
              <a:noFill/>
            </a:ln>
          </p:spPr>
          <p:txBody>
            <a:bodyPr wrap="none" lIns="0" tIns="0" rIns="0" bIns="0" anchor="t" anchorCtr="0">
              <a:spAutoFit/>
            </a:bodyPr>
            <a:lstStyle/>
            <a:p>
              <a:pPr algn="r"/>
              <a:r>
                <a:rPr lang="en-US" sz="1050" dirty="0">
                  <a:solidFill>
                    <a:srgbClr val="5D6B7A"/>
                  </a:solidFill>
                  <a:latin typeface="+mn-lt"/>
                  <a:ea typeface="+mn-ea"/>
                  <a:cs typeface="+mn-cs"/>
                </a:rPr>
                <a:t>33</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8763000" y="-4000500"/>
            <a:ext cx="7239000" cy="7239000"/>
          </a:xfrm>
          <a:prstGeom prst="ellipse">
            <a:avLst/>
          </a:prstGeom>
          <a:solidFill>
            <a:schemeClr val="lt2"/>
          </a:solidFill>
          <a:ln>
            <a:noFill/>
          </a:ln>
        </p:spPr>
      </p:sp>
      <p:grpSp>
        <p:nvGrpSpPr>
          <p:cNvPr id="6" name="Group 6"/>
          <p:cNvGrpSpPr/>
          <p:nvPr/>
        </p:nvGrpSpPr>
        <p:grpSpPr>
          <a:xfrm>
            <a:off x="3548700" y="2139315"/>
            <a:ext cx="5094601" cy="2359914"/>
            <a:chOff x="3548700" y="2139315"/>
            <a:chExt cx="5094601" cy="2359914"/>
          </a:xfrm>
        </p:grpSpPr>
        <p:sp>
          <p:nvSpPr>
            <p:cNvPr id="3" name="TextBox 3"/>
            <p:cNvSpPr txBox="1"/>
            <p:nvPr/>
          </p:nvSpPr>
          <p:spPr>
            <a:xfrm>
              <a:off x="3991835" y="2139315"/>
              <a:ext cx="4208330" cy="645414"/>
            </a:xfrm>
            <a:prstGeom prst="rect">
              <a:avLst/>
            </a:prstGeom>
            <a:noFill/>
            <a:ln>
              <a:noFill/>
            </a:ln>
          </p:spPr>
          <p:txBody>
            <a:bodyPr wrap="none" lIns="0" tIns="0" rIns="0" bIns="0" anchor="t" anchorCtr="0">
              <a:spAutoFit/>
            </a:bodyPr>
            <a:lstStyle/>
            <a:p>
              <a:pPr algn="ctr"/>
              <a:r>
                <a:rPr lang="zh-CN" sz="3300" b="1" dirty="0">
                  <a:solidFill>
                    <a:schemeClr val="dk1"/>
                  </a:solidFill>
                  <a:latin typeface="+mn-lt"/>
                  <a:ea typeface="+mn-ea"/>
                  <a:cs typeface="+mn-cs"/>
                </a:rPr>
                <a:t>元のブックは、変わらない。</a:t>
              </a:r>
            </a:p>
          </p:txBody>
        </p:sp>
        <p:sp>
          <p:nvSpPr>
            <p:cNvPr id="4" name="TextBox 4"/>
            <p:cNvSpPr txBox="1"/>
            <p:nvPr/>
          </p:nvSpPr>
          <p:spPr>
            <a:xfrm>
              <a:off x="4143434" y="2996565"/>
              <a:ext cx="3905132" cy="645414"/>
            </a:xfrm>
            <a:prstGeom prst="rect">
              <a:avLst/>
            </a:prstGeom>
            <a:noFill/>
            <a:ln>
              <a:noFill/>
            </a:ln>
          </p:spPr>
          <p:txBody>
            <a:bodyPr wrap="none" lIns="0" tIns="0" rIns="0" bIns="0" anchor="t" anchorCtr="0">
              <a:spAutoFit/>
            </a:bodyPr>
            <a:lstStyle/>
            <a:p>
              <a:pPr algn="ctr"/>
              <a:r>
                <a:rPr lang="zh-CN" sz="3300" b="1" dirty="0">
                  <a:solidFill>
                    <a:schemeClr val="dk1"/>
                  </a:solidFill>
                  <a:latin typeface="+mn-lt"/>
                  <a:ea typeface="+mn-ea"/>
                  <a:cs typeface="+mn-cs"/>
                </a:rPr>
                <a:t>何度でも、やり直せる。</a:t>
              </a:r>
            </a:p>
          </p:txBody>
        </p:sp>
        <p:sp>
          <p:nvSpPr>
            <p:cNvPr id="5" name="TextBox 5"/>
            <p:cNvSpPr txBox="1"/>
            <p:nvPr/>
          </p:nvSpPr>
          <p:spPr>
            <a:xfrm>
              <a:off x="3548700" y="3853815"/>
              <a:ext cx="5094601" cy="645414"/>
            </a:xfrm>
            <a:prstGeom prst="rect">
              <a:avLst/>
            </a:prstGeom>
            <a:noFill/>
            <a:ln>
              <a:noFill/>
            </a:ln>
          </p:spPr>
          <p:txBody>
            <a:bodyPr wrap="none" lIns="0" tIns="0" rIns="0" bIns="0" anchor="t" anchorCtr="0">
              <a:spAutoFit/>
            </a:bodyPr>
            <a:lstStyle/>
            <a:p>
              <a:pPr algn="ctr"/>
              <a:r>
                <a:rPr lang="zh-CN" sz="3300" b="1" dirty="0">
                  <a:solidFill>
                    <a:schemeClr val="accent1"/>
                  </a:solidFill>
                  <a:latin typeface="+mn-lt"/>
                  <a:ea typeface="+mn-ea"/>
                  <a:cs typeface="+mn-cs"/>
                </a:rPr>
                <a:t>最後の確認は、あなたの目で。</a:t>
              </a:r>
            </a:p>
          </p:txBody>
        </p:sp>
      </p:grpSp>
      <p:grpSp>
        <p:nvGrpSpPr>
          <p:cNvPr id="10" name="Group 10"/>
          <p:cNvGrpSpPr/>
          <p:nvPr/>
        </p:nvGrpSpPr>
        <p:grpSpPr>
          <a:xfrm>
            <a:off x="4887859" y="5219700"/>
            <a:ext cx="2416282" cy="727234"/>
            <a:chOff x="4887859" y="5219700"/>
            <a:chExt cx="2416282" cy="727234"/>
          </a:xfrm>
        </p:grpSpPr>
        <p:sp>
          <p:nvSpPr>
            <p:cNvPr id="7" name="Line 7"/>
            <p:cNvSpPr/>
            <p:nvPr/>
          </p:nvSpPr>
          <p:spPr>
            <a:xfrm>
              <a:off x="5143500" y="5219700"/>
              <a:ext cx="1905000" cy="9525"/>
            </a:xfrm>
            <a:custGeom>
              <a:avLst/>
              <a:gdLst/>
              <a:ahLst/>
              <a:cxnLst/>
              <a:rect l="l" t="t" r="r" b="b"/>
              <a:pathLst>
                <a:path w="1905000" h="9525">
                  <a:moveTo>
                    <a:pt x="0" y="0"/>
                  </a:moveTo>
                  <a:lnTo>
                    <a:pt x="1905000" y="0"/>
                  </a:lnTo>
                </a:path>
              </a:pathLst>
            </a:custGeom>
            <a:noFill/>
            <a:ln w="14288">
              <a:solidFill>
                <a:srgbClr val="CFD7DE"/>
              </a:solidFill>
            </a:ln>
          </p:spPr>
        </p:sp>
        <p:sp>
          <p:nvSpPr>
            <p:cNvPr id="8" name="TextBox 8"/>
            <p:cNvSpPr txBox="1"/>
            <p:nvPr/>
          </p:nvSpPr>
          <p:spPr>
            <a:xfrm>
              <a:off x="5074711" y="5435918"/>
              <a:ext cx="2042577" cy="264033"/>
            </a:xfrm>
            <a:prstGeom prst="rect">
              <a:avLst/>
            </a:prstGeom>
            <a:noFill/>
            <a:ln>
              <a:noFill/>
            </a:ln>
          </p:spPr>
          <p:txBody>
            <a:bodyPr wrap="none" lIns="0" tIns="0" rIns="0" bIns="0" anchor="t" anchorCtr="0">
              <a:spAutoFit/>
            </a:bodyPr>
            <a:lstStyle/>
            <a:p>
              <a:pPr algn="ctr"/>
              <a:r>
                <a:rPr lang="zh-CN" sz="1350" dirty="0">
                  <a:solidFill>
                    <a:srgbClr val="5D6B7A"/>
                  </a:solidFill>
                  <a:latin typeface="+mn-lt"/>
                  <a:ea typeface="+mn-ea"/>
                  <a:cs typeface="+mn-cs"/>
                </a:rPr>
                <a:t>MacroStudio 操作マニュアル</a:t>
              </a:r>
            </a:p>
          </p:txBody>
        </p:sp>
        <p:sp>
          <p:nvSpPr>
            <p:cNvPr id="9" name="TextBox 9"/>
            <p:cNvSpPr txBox="1"/>
            <p:nvPr/>
          </p:nvSpPr>
          <p:spPr>
            <a:xfrm>
              <a:off x="4887859" y="5726906"/>
              <a:ext cx="2416282" cy="220028"/>
            </a:xfrm>
            <a:prstGeom prst="rect">
              <a:avLst/>
            </a:prstGeom>
            <a:noFill/>
            <a:ln>
              <a:noFill/>
            </a:ln>
          </p:spPr>
          <p:txBody>
            <a:bodyPr wrap="none" lIns="0" tIns="0" rIns="0" bIns="0" anchor="t" anchorCtr="0">
              <a:spAutoFit/>
            </a:bodyPr>
            <a:lstStyle/>
            <a:p>
              <a:pPr algn="ctr"/>
              <a:r>
                <a:rPr lang="zh-CN" sz="1120" dirty="0">
                  <a:solidFill>
                    <a:srgbClr val="5D6B7A"/>
                  </a:solidFill>
                  <a:latin typeface="+mn-lt"/>
                  <a:ea typeface="+mn-ea"/>
                  <a:cs typeface="+mn-cs"/>
                </a:rPr>
                <a:t>beta 1.0.0 対応 ／ 2026-07-30 版</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nual-macrostudio-beta1-production">
  <a:themeElements>
    <a:clrScheme name="manual-macrostudio-beta1-production">
      <a:dk1>
        <a:srgbClr val="1F2A37"/>
      </a:dk1>
      <a:lt1>
        <a:srgbClr val="FFFFFF"/>
      </a:lt1>
      <a:dk2>
        <a:srgbClr val="1F2A37"/>
      </a:dk2>
      <a:lt2>
        <a:srgbClr val="F2F6FB"/>
      </a:lt2>
      <a:accent1>
        <a:srgbClr val="24507F"/>
      </a:accent1>
      <a:accent2>
        <a:srgbClr val="C05B21"/>
      </a:accent2>
      <a:accent3>
        <a:srgbClr val="2B5C96"/>
      </a:accent3>
      <a:accent4>
        <a:srgbClr val="24507F"/>
      </a:accent4>
      <a:accent5>
        <a:srgbClr val="FAFBFC"/>
      </a:accent5>
      <a:accent6>
        <a:srgbClr val="E2E7EC"/>
      </a:accent6>
      <a:hlink>
        <a:srgbClr val="C05B21"/>
      </a:hlink>
      <a:folHlink>
        <a:srgbClr val="2B5C96"/>
      </a:folHlink>
    </a:clrScheme>
    <a:fontScheme name="manual-macrostudio-beta1-production">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produc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nual-macrostudio-beta1-production">
  <a:themeElements>
    <a:clrScheme name="manual-macrostudio-beta1-production">
      <a:dk1>
        <a:srgbClr val="1F2A37"/>
      </a:dk1>
      <a:lt1>
        <a:srgbClr val="FFFFFF"/>
      </a:lt1>
      <a:dk2>
        <a:srgbClr val="1F2A37"/>
      </a:dk2>
      <a:lt2>
        <a:srgbClr val="F2F6FB"/>
      </a:lt2>
      <a:accent1>
        <a:srgbClr val="24507F"/>
      </a:accent1>
      <a:accent2>
        <a:srgbClr val="C05B21"/>
      </a:accent2>
      <a:accent3>
        <a:srgbClr val="2B5C96"/>
      </a:accent3>
      <a:accent4>
        <a:srgbClr val="24507F"/>
      </a:accent4>
      <a:accent5>
        <a:srgbClr val="FAFBFC"/>
      </a:accent5>
      <a:accent6>
        <a:srgbClr val="E2E7EC"/>
      </a:accent6>
      <a:hlink>
        <a:srgbClr val="C05B21"/>
      </a:hlink>
      <a:folHlink>
        <a:srgbClr val="2B5C96"/>
      </a:folHlink>
    </a:clrScheme>
    <a:fontScheme name="manual-macrostudio-beta1-production">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produc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34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2026-07-30T13:53:18Z</dcterms:created>
  <dcterms:modified xsi:type="dcterms:W3CDTF">2026-07-30T13:53:18Z</dcterms:modified>
  <cp:category/>
  <cp:contentStatus/>
</cp:coreProperties>
</file>