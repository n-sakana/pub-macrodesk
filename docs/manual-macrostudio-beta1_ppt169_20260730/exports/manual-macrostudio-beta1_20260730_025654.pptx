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資料は二部構成です。前半で、これがどういう道具なのかを短く説明します。後半で、実際の画面に沿って操作を案内します。いちばんお伝えしたいのは、コードを読み書きできなくても、AIチャットが使えればマクロは直せる、ということです。開発画面を開く必要はありませんし、元のブックはそのまま残り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まず、なぜこの道具が必要になったのかからお話しします。業務のマクロは部門ごとに育っていて、作った人はもう居ないことが多い。直すには開発画面を開いてコードを読む必要があるので、担当している方には手が出ません。端末やファイルの置き場所が変わると急に動かなくなりますが、身近に直せる人がいない。詳しい方に頼めば順番待ちになって、その間、業務が止まってしまいます。直せないのは能力の問題ではなく、直すのに開発の知識が要るから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そこを埋めるのがこの道具です。直しかたを考えるのはAIで、こちらは画面に出てくることに答えるだけです。開発画面は一度も開きません。案内どおりに次へを押していけば終わります。直したものは別名の新しいブックとして作られるので、元のブックはそのまま残ります。返ってきた内容も鵜呑みにする必要はありません。どこが変わったのかを見てから、作るかどうかを決められます。そして、直さずに聞くだけで終わることもでき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導入を考えるときに浮かぶ心配を、左側に六つ並べました。何をどう頼めばいいか分からない、コピペを間違えそう、直った内容が正しいか分からない、元のブックを壊しそう、後で誰も説明できない、部門ごとにやり方が違う。右側が、この道具ではどうなるかです。手間も、事故も、あとの説明も、道具の側で受け持ちます。特に四つ目、元のファイルには触れないという点は、試すときの心理的なハードルをかなり下げてくれ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想定している使い方を五つ挙げました。端末の入れ替えに備えて、新しい環境で動かなくなる箇所を洗い出してもらう。動かなくなったマクロを、標準機能だけの形へ置き換える。担当者しか触れないマクロを、動きを変えずに読みやすく直す。どう直すか決めるために、質問に答えて相談の材料を作る。そして、このマクロが何をしているのかを聞く。直すときだけでなく、調べたい、決めたいというときにも使えます。右端に、改修なのか聞くだけなのかを示してあり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用意するものは四つだけです。ウィンドウズのパソコンとエクセル。社内で使えるAIチャット。直したいマクロ入りのブック。あとは、ランチ・ヴイビーエスをダブルクリックするだけです。特別な権限も、インストール作業も要りません。ここが軽いので、まず一つ試してみる、という進め方ができ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ることだけでなく、やらないことも先にお伝えします。どこをどう直すかを決めるのは、この道具ではなくAIです。元のブックは書き換えません。必ず別名で作ります。マクロを勝手に増やして構造を変えることもしません。増やせる範囲は決めてあります。そして、直ったマクロを実際に動かして確かめるところは人の仕事です。判断と最終確認を人とAIに残しているので、想定外の壊れ方をし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までが、どういう道具なのかというお話でした。ここからは第二部、実際に操作する人向けの案内に移ります。読み手の立場が変わります。アプリの画面の順番にそのまま沿って進みますので、手元で動かしながら見ていただくのがいちばん分かりやすいと思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んだマクロに対して、まずどちらかを選びます。マクロを改修するを選ぶと、AIの返答を取り込んで改修済みブックを作り、五つのファイルができます。マクロについてAIに聞くを選ぶと、依頼文とコード全文の二つのファイルだけができます。ブックを書き換えるのは改修するを選んだときだけです。下の流れが改修のときの四つの手順です。聞くだけの場合は、二つ目の手順で完了が出て、そこで終わ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起動はランチ・ヴイビーエスをダブルクリックするだけで、黒いコマンド画面は出ません。小さな読み込み画面のあと、本画面に切り替わります。画面を見るときのポイントを四つ挙げました。上部の帯が進捗です。最初はブックを読み込むだけが表示されていて、目的を選ぶとその先の手順が現れます。左下には、いま何をすればよいかが一行で出ます。右上でライトとダークを切り替えられます。対応形式も右上に出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は手順一つ目、ブックの読み込みです。画面の中央へエクセルのファイルをドラッグして落とすだけです。クリックして選ぶこともできます。読み込めるとファイル名とパスが表示されて、右下の次へが青くなります。選び直したいときは選び直すを押してください。ここでよくあるのが、マクロを含まないブックを選んでしまうことです。その場合はマクロが無いという内容のカードが出ますので、ファイルを間違えていないか確認してくださ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みが終わると、何をどれだけ読み取ったのかが出ます。モジュールの数と行数が表示されるので、思っていた規模と合っているかを確かめてください。中身まで見たいときは、読み取った内容を見るを開くと、モジュール名と行数の一覧が出ます。ここで大事なのは、この時点では元のブックに一切書き込んでいない、ということです。読み取っているだけなので、安心して先へ進んで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一つ目の最後です。二枚のカードから一つ選びます。マクロを改修するを選ぶと、AIの返答を取り込んで改修済みのブックをこのアプリで作ります。マクロについてAIに聞くを選ぶと、AIチャットへ渡す依頼文とコードを作るだけで、ブックは変更しません。ここで気をつけていただきたいのは、選んでも自動では進まないことです。必ず次へを押して確定してください。選ぶと、画面の上の進捗にその先の手順が現れ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二つ目に入ります。何を頼むのかを、ひな形から選びます。同梱しているのは六つです。上の三つが改修用、下の三つが聞くだけのときのものです。一覧に出ている名前はファイル名ではなく、ひな形の中に書かれた見出しです。AIに聞くを選んでいる場合は、この画面の見出しがAIに何を聞くか選びますに変わります。ひな形は自分たちで増やせますが、その話は後ろの覚えておくとよいことのページでまとめてお話しし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ひな形に質問が書かれている場合だけ、この画面が出ます。質問は一問ずつ出てきます。上の丸が進捗で、答えた問には色が付きます。移動は左右の矢印か、丸を直接クリックしてください。問数が多いときは、中間の丸が省略されます。選択式はボタンを一回押すだけ、自由記述は複数行で書けます。全部埋める必要はありません。分かるところだけで大丈夫で、一問以上答えれば次へが使えます。ここで答えた内容は、次の画面の依頼文に折り込まれ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もうできあがっています。基本はそのまま進んで構いません。直したいときだけ、依頼文を確認・編集を開いてください。全文が編集できます。一つだけ注意があります。依頼文には、この依頼だけの依頼番号が埋め込まれています。毎回変わる長い英数字です。これは返答を取り込むときの照合に使いますので、消さないようにしてくださ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でAIへ渡します。次へを押した時点で、この改修専用のフォルダが作られ、二つのファイルが書き出されます。まず依頼文をコピーを押してクリップボードに入れ、次にファイルの場所を開くを押してエクスプローラーを開きます。そしてAIチャットに依頼文を貼り付け、ソース・コード・エムディーを添付して送信します。両方のボタンを押すまで次へは使えません。右側にあるとおり、マクロが読み書きするエクセルのシートやファイルがあれば、それも一緒に添付すると、より正確な回答が得られます。聞くだけの場合は、ここで完了が出て終わりで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Iから返ってきたら、手順三つ目です。AIは、変更したモジュールと新しく作ったモジュールの全文を、一つのコードブロックにまとめて返します。そのコードブロックをコピーして、クリップボードからAIの返答を取り込むを一回押すだけです。コントロール・ヴイでも同じです。モジュールを選ぶ必要も、一つずつ貼る必要もありません。取り込めると件数と、既存と新規の内訳が出ます。AIが書いた改修内容の要約も一緒に取り込まれるので、日本語で読め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ないこともあります。よく出る五つを表にまとめました。大前提として、取り込めなかった場合は何も取り込まれません。中途半端な状態にはならないので、そのままやり直せます。依頼番号が違うと言われたら、依頼文をコピーし直して送り直してください。途中で切れている、あるいは区切り行が無いと言われた場合は、コードブロック全体をもう一度コピーし直すのがいちばん確実です。同じモジュールが二回入っていた場合は、AIにモジュールごとに一つだけ返すよう伝えてくださ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たら、内容を確認します。ここで一つ知っておいていただきたいのは、取り込めた内容がそのまま書き戻す対象になる、ということです。採用ボタンはありません。中身を見たいときは変更内容を見るを開いてください。左にモジュールの一覧が出て、標準、クラス、シートで区分され、増減した行数も出ます。右がインラインの差分で、削除された行が赤、追加された行が緑です。写し間違いのような軽微な修正は手動修正でその場で直せます。これは違うと思ったら、戻るで取り込みからやり直せます。元のブックは何も変わりません。</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の手順です。まず出力するファイル名を確認します。既定はブック名にアンダーバー・マクロスタジオが付いた名前です。名前はファイル名だけを入れてください。区切り文字や、元と違う拡張子は使えません。ビルドは自動で進みます。通常一秒から二秒です。書き戻したあとにブックを読み直して、意図どおり書き込まれたかを検証しています。できあがると右下が完了になり、押すと最初の画面へ戻って次のブックに移れます。最後に、必ずエクセルで開いてマクロの動作を確認してください。</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あがるものを整理しておきます。元のブックのフォルダの下に、マクロスタジオという専用のフォルダができて、その中に日付と時刻の付いたフォルダが作られます。中身は五つです。AIへ渡した依頼文、元のマクロのコード全文、改修済みのブック、変更内容の確認レポート、そして改修の概要メモです。確認レポートはブラウザで開ける自己完結のファイルで、変更しなかったモジュールも含めて全モジュールが入っています。改修後の記録としてそのまま保管でき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改修せずに、聞くだけで終わる流れも見ておきます。手順一つ目の最後でマクロについてAIに聞くを選ぶと、次の画面の見出しがAIに何を聞くか選びますに変わります。依頼文の作られ方は改修のときと同じで、質問のあるひな形なら先に一問ずつ答えます。AIチャットへ質問しますの画面で終わりで、右下が完了になります。できるのは依頼文とコード全文の二つのファイルだけで、ブックは変更されません。新しい端末で動くかを調べたいときや、進め方を相談したいときはこちらで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運用に入る前に、二つ覚えておいてください。一つは増やせる範囲です。既存のクラスモジュールやシートのモジュールを直すことはできますが、新しいクラスやユーザーフォームを含む返答は取り込みません。増やせるのは標準モジュールだけです。もう一つはひな形です。プリセッツというフォルダにマークダウンのファイルを置くと、ファイル一つにつき一件、目的の画面に自動で現れます。アプリの再起動も要りません。よく頼む内容は、自分たちのひな形として増やしていってください。下の表は、うまくいかないときの対処で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お伝えしたいのは一つだけです。うまくいかなくても、元のブックは無傷です。だから、まず一本通してみてください。気になっているマクロを一つ選んで、読み込むところから始めていただければと思います。なお、この資料の画面はベータ版一・〇・〇のもので、今後、文言や配置が変わることがあります。掲載しているスクリーンショットはサンプルのブックを読み込んだ実画面で、フォルダのパスや日時は説明用の例です。判断はAIが行いますので、最後にエクセルで開いて動作を確認するところは、人がやってください。</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5a9d0d7774c679.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a7978778abe5f9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4ebf74bab2feeb.jpg"/>
  <Relationship Id="rId3" Type="http://schemas.openxmlformats.org/officeDocument/2006/relationships/image" Target="../media/image_f3f6d72f6554500d.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ce8a8171e76a9e.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808ddcb8f66da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95d9fff9f38d4.jpg"/>
  <Relationship Id="rId3" Type="http://schemas.openxmlformats.org/officeDocument/2006/relationships/image" Target="../media/image_e4d805d2706f08d6.jpg"/>
  <Relationship Id="rId4" Type="http://schemas.openxmlformats.org/officeDocument/2006/relationships/image" Target="../media/image_48c9cb35c4480bea.jp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bd13650adf5440.jpg"/>
  <Relationship Id="rId3" Type="http://schemas.openxmlformats.org/officeDocument/2006/relationships/image" Target="../media/image_21a5b4ea2062d327.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47c2ec440d4809.jpg"/>
  <Relationship Id="rId3" Type="http://schemas.openxmlformats.org/officeDocument/2006/relationships/image" Target="../media/image_b26e742b5d8f3c13.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ef0efc00b27ffe.jpg"/>
  <Relationship Id="rId3" Type="http://schemas.openxmlformats.org/officeDocument/2006/relationships/image" Target="../media/image_1cad6151d3c3cc38.jpg"/>
  <Relationship Id="rId4" Type="http://schemas.openxmlformats.org/officeDocument/2006/relationships/image" Target="../media/image_c2d0d27f4c1220d1.jpg"/>
  <Relationship Id="rId5"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b1cfde831d15d00.jpg"/>
  <Relationship Id="rId3" Type="http://schemas.openxmlformats.org/officeDocument/2006/relationships/image" Target="../media/image_39490fd6ef9739d7.jp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147db36bcc96a4a.jpg"/>
  <Relationship Id="rId3" Type="http://schemas.openxmlformats.org/officeDocument/2006/relationships/image" Target="../media/image_798358e895600dc7.jpg"/>
  <Relationship Id="rId4" Type="http://schemas.openxmlformats.org/officeDocument/2006/relationships/image" Target="../media/image_1c5c752836fbbf45.jpg"/>
  <Relationship Id="rId5"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ef50f50cc7fc81e.jpg"/>
  <Relationship Id="rId3" Type="http://schemas.openxmlformats.org/officeDocument/2006/relationships/image" Target="../media/image_67e5759980f59f3b.jpg"/>
  <Relationship Id="rId4" Type="http://schemas.openxmlformats.org/officeDocument/2006/relationships/image" Target="../media/image_39b863f60d7c3985.jpg"/>
  <Relationship Id="rId5" Type="http://schemas.openxmlformats.org/officeDocument/2006/relationships/image" Target="../media/image_9df8895837d44eda.jpg"/>
  <Relationship Id="rId6"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8553450" y="-1943100"/>
            <a:ext cx="6019800" cy="6019800"/>
          </a:xfrm>
          <a:prstGeom prst="ellipse">
            <a:avLst/>
          </a:prstGeom>
          <a:solidFill>
            <a:schemeClr val="lt2"/>
          </a:solidFill>
          <a:ln>
            <a:noFill/>
          </a:ln>
        </p:spPr>
      </p:sp>
      <p:grpSp>
        <p:nvGrpSpPr>
          <p:cNvPr id="7" name="Group 7"/>
          <p:cNvGrpSpPr/>
          <p:nvPr/>
        </p:nvGrpSpPr>
        <p:grpSpPr>
          <a:xfrm>
            <a:off x="971550" y="2546985"/>
            <a:ext cx="6080855" cy="2273427"/>
            <a:chOff x="971550" y="2546985"/>
            <a:chExt cx="6080855" cy="2273427"/>
          </a:xfrm>
        </p:grpSpPr>
        <p:sp>
          <p:nvSpPr>
            <p:cNvPr id="3" name="TextBox 3"/>
            <p:cNvSpPr txBox="1"/>
            <p:nvPr/>
          </p:nvSpPr>
          <p:spPr>
            <a:xfrm>
              <a:off x="971550" y="2546985"/>
              <a:ext cx="6080855" cy="1104900"/>
            </a:xfrm>
            <a:prstGeom prst="rect">
              <a:avLst/>
            </a:prstGeom>
            <a:noFill/>
            <a:ln>
              <a:noFill/>
            </a:ln>
          </p:spPr>
          <p:txBody>
            <a:bodyPr wrap="none" lIns="0" tIns="0" rIns="0" bIns="0" anchor="t" anchorCtr="0">
              <a:spAutoFit/>
            </a:bodyPr>
            <a:lstStyle/>
            <a:p>
              <a:pPr algn="l"/>
              <a:r>
                <a:rPr lang="zh-CN" sz="5700" b="1" dirty="0">
                  <a:solidFill>
                    <a:schemeClr val="accent1"/>
                  </a:solidFill>
                  <a:latin typeface="+mn-lt"/>
                  <a:ea typeface="+mn-ea"/>
                  <a:cs typeface="+mn-cs"/>
                </a:rPr>
                <a:t>コードは読めなくていい。</a:t>
              </a:r>
            </a:p>
          </p:txBody>
        </p:sp>
        <p:sp>
          <p:nvSpPr>
            <p:cNvPr id="4" name="Rectangle 4"/>
            <p:cNvSpPr/>
            <p:nvPr/>
          </p:nvSpPr>
          <p:spPr>
            <a:xfrm>
              <a:off x="990600" y="3543300"/>
              <a:ext cx="4191000" cy="76200"/>
            </a:xfrm>
            <a:prstGeom prst="rect">
              <a:avLst/>
            </a:prstGeom>
            <a:solidFill>
              <a:schemeClr val="accent1"/>
            </a:solidFill>
            <a:ln>
              <a:noFill/>
            </a:ln>
          </p:spPr>
        </p:sp>
        <p:sp>
          <p:nvSpPr>
            <p:cNvPr id="5" name="Rectangle 5"/>
            <p:cNvSpPr/>
            <p:nvPr/>
          </p:nvSpPr>
          <p:spPr>
            <a:xfrm>
              <a:off x="5181600" y="3543300"/>
              <a:ext cx="762000" cy="76200"/>
            </a:xfrm>
            <a:prstGeom prst="rect">
              <a:avLst/>
            </a:prstGeom>
            <a:solidFill>
              <a:schemeClr val="accent2"/>
            </a:solidFill>
            <a:ln>
              <a:noFill/>
            </a:ln>
          </p:spPr>
        </p:sp>
        <p:sp>
          <p:nvSpPr>
            <p:cNvPr id="6" name="TextBox 6"/>
            <p:cNvSpPr txBox="1"/>
            <p:nvPr/>
          </p:nvSpPr>
          <p:spPr>
            <a:xfrm>
              <a:off x="978408" y="3912870"/>
              <a:ext cx="4870704" cy="907542"/>
            </a:xfrm>
            <a:prstGeom prst="rect">
              <a:avLst/>
            </a:prstGeom>
            <a:noFill/>
            <a:ln>
              <a:noFill/>
            </a:ln>
          </p:spPr>
          <p:txBody>
            <a:bodyPr wrap="square" lIns="0" tIns="0" rIns="0" bIns="0" anchor="t" anchorCtr="0"/>
            <a:lstStyle/>
            <a:p>
              <a:pPr algn="l">
                <a:lnSpc>
                  <a:spcPts val="3450"/>
                </a:lnSpc>
              </a:pPr>
              <a:r>
                <a:rPr lang="zh-CN" sz="2400" dirty="0">
                  <a:solidFill>
                    <a:schemeClr val="dk1"/>
                  </a:solidFill>
                  <a:latin typeface="+mn-lt"/>
                  <a:ea typeface="+mn-ea"/>
                  <a:cs typeface="+mn-cs"/>
                </a:rPr>
                <a:t>AIチャットが使えれば、Excel マクロは直せます。開発画面は開きません。</a:t>
              </a:r>
            </a:p>
          </p:txBody>
        </p:sp>
      </p:grpSp>
      <p:grpSp>
        <p:nvGrpSpPr>
          <p:cNvPr id="9" name="Group 9"/>
          <p:cNvGrpSpPr/>
          <p:nvPr/>
        </p:nvGrpSpPr>
        <p:grpSpPr>
          <a:xfrm>
            <a:off x="7562812" y="6236018"/>
            <a:ext cx="4255046" cy="264033"/>
            <a:chOff x="7562812" y="6236018"/>
            <a:chExt cx="4255046" cy="264033"/>
          </a:xfrm>
        </p:grpSpPr>
        <p:sp>
          <p:nvSpPr>
            <p:cNvPr id="8" name="TextBox 8"/>
            <p:cNvSpPr txBox="1"/>
            <p:nvPr/>
          </p:nvSpPr>
          <p:spPr>
            <a:xfrm>
              <a:off x="7562812" y="6236018"/>
              <a:ext cx="4255046" cy="264033"/>
            </a:xfrm>
            <a:prstGeom prst="rect">
              <a:avLst/>
            </a:prstGeom>
            <a:noFill/>
            <a:ln>
              <a:noFill/>
            </a:ln>
          </p:spPr>
          <p:txBody>
            <a:bodyPr wrap="none" lIns="0" tIns="0" rIns="0" bIns="0" anchor="t" anchorCtr="0">
              <a:spAutoFit/>
            </a:bodyPr>
            <a:lstStyle/>
            <a:p>
              <a:pPr algn="r"/>
              <a:r>
                <a:rPr lang="zh-CN" sz="1350" dirty="0">
                  <a:solidFill>
                    <a:srgbClr val="5B6B7C"/>
                  </a:solidFill>
                  <a:latin typeface="+mn-lt"/>
                  <a:ea typeface="+mn-ea"/>
                  <a:cs typeface="+mn-cs"/>
                </a:rPr>
                <a:t>MacroStudio ベータ版 1.0.0 ／ サービス説明と操作マニュアル</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79108"/>
            <a:ext cx="6660833" cy="994409"/>
            <a:chOff x="936498" y="479108"/>
            <a:chExt cx="6660833" cy="994409"/>
          </a:xfrm>
        </p:grpSpPr>
        <p:sp>
          <p:nvSpPr>
            <p:cNvPr id="2" name="TextBox 2"/>
            <p:cNvSpPr txBox="1"/>
            <p:nvPr/>
          </p:nvSpPr>
          <p:spPr>
            <a:xfrm>
              <a:off x="936498" y="479108"/>
              <a:ext cx="573127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マクロは残っているのに、直せる人がいない</a:t>
              </a:r>
            </a:p>
          </p:txBody>
        </p:sp>
        <p:sp>
          <p:nvSpPr>
            <p:cNvPr id="3" name="TextBox 3"/>
            <p:cNvSpPr txBox="1"/>
            <p:nvPr/>
          </p:nvSpPr>
          <p:spPr>
            <a:xfrm>
              <a:off x="941070" y="1033462"/>
              <a:ext cx="6656261"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直せないのは能力の問題ではなく、直すのに開発の知識が要るから</a:t>
              </a:r>
            </a:p>
          </p:txBody>
        </p:sp>
      </p:grpSp>
      <p:grpSp>
        <p:nvGrpSpPr>
          <p:cNvPr id="10" name="Group 10"/>
          <p:cNvGrpSpPr/>
          <p:nvPr/>
        </p:nvGrpSpPr>
        <p:grpSpPr>
          <a:xfrm>
            <a:off x="952500" y="1809750"/>
            <a:ext cx="5029200" cy="2124075"/>
            <a:chOff x="952500" y="1809750"/>
            <a:chExt cx="5029200" cy="2124075"/>
          </a:xfrm>
        </p:grpSpPr>
        <p:sp>
          <p:nvSpPr>
            <p:cNvPr id="5" name="Rectangle 5"/>
            <p:cNvSpPr/>
            <p:nvPr/>
          </p:nvSpPr>
          <p:spPr>
            <a:xfrm>
              <a:off x="952500" y="1809750"/>
              <a:ext cx="5029200" cy="2124075"/>
            </a:xfrm>
            <a:prstGeom prst="roundRect">
              <a:avLst>
                <a:gd name="adj" fmla="val 7175"/>
              </a:avLst>
            </a:prstGeom>
            <a:solidFill>
              <a:schemeClr val="lt2"/>
            </a:solidFill>
            <a:ln>
              <a:noFill/>
            </a:ln>
          </p:spPr>
        </p:sp>
        <p:grpSp>
          <p:nvGrpSpPr>
            <p:cNvPr id="8" name="Group 8"/>
            <p:cNvGrpSpPr/>
            <p:nvPr/>
          </p:nvGrpSpPr>
          <p:grpSpPr>
            <a:xfrm>
              <a:off x="1320799" y="2146300"/>
              <a:ext cx="254003" cy="317502"/>
              <a:chOff x="1320799" y="2146300"/>
              <a:chExt cx="254003" cy="317502"/>
            </a:xfrm>
          </p:grpSpPr>
          <p:sp>
            <p:nvSpPr>
              <p:cNvPr id="6" name="Freeform 6"/>
              <p:cNvSpPr/>
              <p:nvPr/>
            </p:nvSpPr>
            <p:spPr>
              <a:xfrm>
                <a:off x="1320799" y="2146300"/>
                <a:ext cx="254003" cy="317502"/>
              </a:xfrm>
              <a:custGeom>
                <a:avLst/>
                <a:gdLst/>
                <a:ahLst/>
                <a:cxnLst/>
                <a:rect l="l" t="t" r="r" b="b"/>
                <a:pathLst>
                  <a:path w="254003" h="317502">
                    <a:moveTo>
                      <a:pt x="127002" y="0"/>
                    </a:moveTo>
                    <a:lnTo>
                      <a:pt x="128859" y="111"/>
                    </a:lnTo>
                    <a:cubicBezTo>
                      <a:pt x="136153" y="971"/>
                      <a:pt x="141905" y="6723"/>
                      <a:pt x="142766" y="14018"/>
                    </a:cubicBezTo>
                    <a:lnTo>
                      <a:pt x="142877" y="15875"/>
                    </a:lnTo>
                    <a:lnTo>
                      <a:pt x="142877" y="79375"/>
                    </a:lnTo>
                    <a:lnTo>
                      <a:pt x="142956" y="81756"/>
                    </a:lnTo>
                    <a:cubicBezTo>
                      <a:pt x="144130" y="97376"/>
                      <a:pt x="156519" y="109805"/>
                      <a:pt x="172134" y="111030"/>
                    </a:cubicBezTo>
                    <a:lnTo>
                      <a:pt x="174627" y="111125"/>
                    </a:lnTo>
                    <a:lnTo>
                      <a:pt x="238127" y="111125"/>
                    </a:lnTo>
                    <a:lnTo>
                      <a:pt x="239984" y="111236"/>
                    </a:lnTo>
                    <a:cubicBezTo>
                      <a:pt x="247279" y="112097"/>
                      <a:pt x="253031" y="117848"/>
                      <a:pt x="253891" y="125143"/>
                    </a:cubicBezTo>
                    <a:lnTo>
                      <a:pt x="254002" y="127000"/>
                    </a:lnTo>
                    <a:lnTo>
                      <a:pt x="254002" y="269876"/>
                    </a:lnTo>
                    <a:cubicBezTo>
                      <a:pt x="254003" y="295094"/>
                      <a:pt x="234346" y="315942"/>
                      <a:pt x="209171" y="317421"/>
                    </a:cubicBezTo>
                    <a:lnTo>
                      <a:pt x="206377" y="317501"/>
                    </a:lnTo>
                    <a:lnTo>
                      <a:pt x="47627" y="317501"/>
                    </a:lnTo>
                    <a:cubicBezTo>
                      <a:pt x="22408" y="317502"/>
                      <a:pt x="1560" y="297845"/>
                      <a:pt x="81" y="272670"/>
                    </a:cubicBezTo>
                    <a:lnTo>
                      <a:pt x="1" y="269876"/>
                    </a:lnTo>
                    <a:lnTo>
                      <a:pt x="1" y="47625"/>
                    </a:lnTo>
                    <a:cubicBezTo>
                      <a:pt x="0" y="22407"/>
                      <a:pt x="19658" y="1559"/>
                      <a:pt x="44832" y="79"/>
                    </a:cubicBezTo>
                    <a:lnTo>
                      <a:pt x="47627" y="0"/>
                    </a:lnTo>
                    <a:close/>
                    <a:moveTo>
                      <a:pt x="102348" y="176308"/>
                    </a:moveTo>
                    <a:cubicBezTo>
                      <a:pt x="94509" y="172394"/>
                      <a:pt x="84981" y="175569"/>
                      <a:pt x="81059" y="183404"/>
                    </a:cubicBezTo>
                    <a:lnTo>
                      <a:pt x="65184" y="215154"/>
                    </a:lnTo>
                    <a:cubicBezTo>
                      <a:pt x="62952" y="219622"/>
                      <a:pt x="62952" y="224879"/>
                      <a:pt x="65184" y="229347"/>
                    </a:cubicBezTo>
                    <a:lnTo>
                      <a:pt x="81059" y="261097"/>
                    </a:lnTo>
                    <a:cubicBezTo>
                      <a:pt x="84981" y="268931"/>
                      <a:pt x="94509" y="272107"/>
                      <a:pt x="102348" y="268193"/>
                    </a:cubicBezTo>
                    <a:lnTo>
                      <a:pt x="103967" y="267272"/>
                    </a:lnTo>
                    <a:cubicBezTo>
                      <a:pt x="110691" y="262852"/>
                      <a:pt x="113044" y="254100"/>
                      <a:pt x="109444" y="246904"/>
                    </a:cubicBezTo>
                    <a:lnTo>
                      <a:pt x="97125" y="222250"/>
                    </a:lnTo>
                    <a:lnTo>
                      <a:pt x="109444" y="197597"/>
                    </a:lnTo>
                    <a:cubicBezTo>
                      <a:pt x="113358" y="189758"/>
                      <a:pt x="110182" y="180230"/>
                      <a:pt x="102348" y="176308"/>
                    </a:cubicBezTo>
                    <a:moveTo>
                      <a:pt x="172944" y="183404"/>
                    </a:moveTo>
                    <a:cubicBezTo>
                      <a:pt x="169022" y="175569"/>
                      <a:pt x="159494" y="172394"/>
                      <a:pt x="151656" y="176308"/>
                    </a:cubicBezTo>
                    <a:lnTo>
                      <a:pt x="150036" y="177229"/>
                    </a:lnTo>
                    <a:cubicBezTo>
                      <a:pt x="143313" y="181649"/>
                      <a:pt x="140960" y="190400"/>
                      <a:pt x="144559" y="197597"/>
                    </a:cubicBezTo>
                    <a:lnTo>
                      <a:pt x="156847" y="222250"/>
                    </a:lnTo>
                    <a:lnTo>
                      <a:pt x="144544" y="246904"/>
                    </a:lnTo>
                    <a:cubicBezTo>
                      <a:pt x="140947" y="254690"/>
                      <a:pt x="144185" y="263925"/>
                      <a:pt x="151856" y="267761"/>
                    </a:cubicBezTo>
                    <a:cubicBezTo>
                      <a:pt x="159527" y="271596"/>
                      <a:pt x="168857" y="268646"/>
                      <a:pt x="172928" y="261097"/>
                    </a:cubicBezTo>
                    <a:lnTo>
                      <a:pt x="188803" y="229347"/>
                    </a:lnTo>
                    <a:cubicBezTo>
                      <a:pt x="191036" y="224879"/>
                      <a:pt x="191036" y="219622"/>
                      <a:pt x="188803" y="215154"/>
                    </a:cubicBezTo>
                    <a:close/>
                  </a:path>
                </a:pathLst>
              </a:custGeom>
              <a:solidFill>
                <a:schemeClr val="accent3"/>
              </a:solidFill>
              <a:ln>
                <a:noFill/>
              </a:ln>
            </p:spPr>
          </p:sp>
          <p:sp>
            <p:nvSpPr>
              <p:cNvPr id="7" name="Freeform 7"/>
              <p:cNvSpPr/>
              <p:nvPr/>
            </p:nvSpPr>
            <p:spPr>
              <a:xfrm>
                <a:off x="1495410" y="2162159"/>
                <a:ext cx="63516" cy="63516"/>
              </a:xfrm>
              <a:custGeom>
                <a:avLst/>
                <a:gdLst/>
                <a:ahLst/>
                <a:cxnLst/>
                <a:rect l="l" t="t" r="r" b="b"/>
                <a:pathLst>
                  <a:path w="63516" h="63516">
                    <a:moveTo>
                      <a:pt x="63516" y="63516"/>
                    </a:moveTo>
                    <a:lnTo>
                      <a:pt x="16" y="63516"/>
                    </a:lnTo>
                    <a:lnTo>
                      <a:pt x="0" y="0"/>
                    </a:lnTo>
                    <a:close/>
                  </a:path>
                </a:pathLst>
              </a:custGeom>
              <a:solidFill>
                <a:schemeClr val="accent3"/>
              </a:solidFill>
              <a:ln>
                <a:noFill/>
              </a:ln>
            </p:spPr>
          </p:sp>
        </p:grpSp>
        <p:sp>
          <p:nvSpPr>
            <p:cNvPr id="9" name="TextBox 9"/>
            <p:cNvSpPr txBox="1"/>
            <p:nvPr/>
          </p:nvSpPr>
          <p:spPr>
            <a:xfrm>
              <a:off x="1248156" y="2796540"/>
              <a:ext cx="254431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業務マクロは部門ごとに育ち、作った人はもう居ないことが多い。</a:t>
              </a:r>
            </a:p>
          </p:txBody>
        </p:sp>
      </p:grpSp>
      <p:grpSp>
        <p:nvGrpSpPr>
          <p:cNvPr id="16" name="Group 16"/>
          <p:cNvGrpSpPr/>
          <p:nvPr/>
        </p:nvGrpSpPr>
        <p:grpSpPr>
          <a:xfrm>
            <a:off x="6210300" y="1809750"/>
            <a:ext cx="5029200" cy="2124075"/>
            <a:chOff x="6210300" y="1809750"/>
            <a:chExt cx="5029200" cy="2124075"/>
          </a:xfrm>
        </p:grpSpPr>
        <p:sp>
          <p:nvSpPr>
            <p:cNvPr id="11" name="Rectangle 11"/>
            <p:cNvSpPr/>
            <p:nvPr/>
          </p:nvSpPr>
          <p:spPr>
            <a:xfrm>
              <a:off x="6210300" y="1809750"/>
              <a:ext cx="5029200" cy="2124075"/>
            </a:xfrm>
            <a:prstGeom prst="roundRect">
              <a:avLst>
                <a:gd name="adj" fmla="val 7175"/>
              </a:avLst>
            </a:prstGeom>
            <a:solidFill>
              <a:schemeClr val="lt2"/>
            </a:solidFill>
            <a:ln>
              <a:noFill/>
            </a:ln>
          </p:spPr>
        </p:sp>
        <p:grpSp>
          <p:nvGrpSpPr>
            <p:cNvPr id="14" name="Group 14"/>
            <p:cNvGrpSpPr/>
            <p:nvPr/>
          </p:nvGrpSpPr>
          <p:grpSpPr>
            <a:xfrm>
              <a:off x="6594475" y="2146300"/>
              <a:ext cx="222250" cy="317500"/>
              <a:chOff x="6594475" y="2146300"/>
              <a:chExt cx="222250" cy="317500"/>
            </a:xfrm>
          </p:grpSpPr>
          <p:sp>
            <p:nvSpPr>
              <p:cNvPr id="12" name="Freeform 12"/>
              <p:cNvSpPr/>
              <p:nvPr/>
            </p:nvSpPr>
            <p:spPr>
              <a:xfrm>
                <a:off x="6626225" y="2146300"/>
                <a:ext cx="158750" cy="158750"/>
              </a:xfrm>
              <a:custGeom>
                <a:avLst/>
                <a:gdLst/>
                <a:ahLst/>
                <a:cxnLst/>
                <a:rect l="l" t="t" r="r" b="b"/>
                <a:pathLst>
                  <a:path w="158750" h="158750">
                    <a:moveTo>
                      <a:pt x="79375" y="0"/>
                    </a:moveTo>
                    <a:cubicBezTo>
                      <a:pt x="123213" y="0"/>
                      <a:pt x="158750" y="35537"/>
                      <a:pt x="158750" y="79375"/>
                    </a:cubicBezTo>
                    <a:cubicBezTo>
                      <a:pt x="158750" y="123213"/>
                      <a:pt x="123213" y="158750"/>
                      <a:pt x="79375" y="158750"/>
                    </a:cubicBezTo>
                    <a:cubicBezTo>
                      <a:pt x="35537" y="158750"/>
                      <a:pt x="0" y="123213"/>
                      <a:pt x="0" y="79375"/>
                    </a:cubicBezTo>
                    <a:lnTo>
                      <a:pt x="79" y="75930"/>
                    </a:lnTo>
                    <a:cubicBezTo>
                      <a:pt x="1924" y="33474"/>
                      <a:pt x="36879" y="2"/>
                      <a:pt x="79375" y="0"/>
                    </a:cubicBezTo>
                    <a:close/>
                  </a:path>
                </a:pathLst>
              </a:custGeom>
              <a:solidFill>
                <a:schemeClr val="accent3"/>
              </a:solidFill>
              <a:ln>
                <a:noFill/>
              </a:ln>
            </p:spPr>
          </p:sp>
          <p:sp>
            <p:nvSpPr>
              <p:cNvPr id="13" name="Freeform 13"/>
              <p:cNvSpPr/>
              <p:nvPr/>
            </p:nvSpPr>
            <p:spPr>
              <a:xfrm>
                <a:off x="6594475" y="2336800"/>
                <a:ext cx="222250" cy="127000"/>
              </a:xfrm>
              <a:custGeom>
                <a:avLst/>
                <a:gdLst/>
                <a:ahLst/>
                <a:cxnLst/>
                <a:rect l="l" t="t" r="r" b="b"/>
                <a:pathLst>
                  <a:path w="222250" h="127000">
                    <a:moveTo>
                      <a:pt x="142875" y="0"/>
                    </a:moveTo>
                    <a:cubicBezTo>
                      <a:pt x="186713" y="0"/>
                      <a:pt x="222250" y="35537"/>
                      <a:pt x="222250" y="79375"/>
                    </a:cubicBezTo>
                    <a:lnTo>
                      <a:pt x="222250" y="95250"/>
                    </a:lnTo>
                    <a:cubicBezTo>
                      <a:pt x="222250" y="112785"/>
                      <a:pt x="208035" y="127000"/>
                      <a:pt x="190500" y="127000"/>
                    </a:cubicBezTo>
                    <a:lnTo>
                      <a:pt x="31750" y="127000"/>
                    </a:lnTo>
                    <a:cubicBezTo>
                      <a:pt x="14215" y="127000"/>
                      <a:pt x="0" y="112785"/>
                      <a:pt x="0" y="95250"/>
                    </a:cubicBezTo>
                    <a:lnTo>
                      <a:pt x="0" y="79375"/>
                    </a:lnTo>
                    <a:cubicBezTo>
                      <a:pt x="0" y="35537"/>
                      <a:pt x="35537" y="0"/>
                      <a:pt x="79375" y="0"/>
                    </a:cubicBezTo>
                    <a:lnTo>
                      <a:pt x="142875" y="0"/>
                    </a:lnTo>
                    <a:close/>
                  </a:path>
                </a:pathLst>
              </a:custGeom>
              <a:solidFill>
                <a:schemeClr val="accent3"/>
              </a:solidFill>
              <a:ln>
                <a:noFill/>
              </a:ln>
            </p:spPr>
          </p:sp>
        </p:grpSp>
        <p:sp>
          <p:nvSpPr>
            <p:cNvPr id="15" name="TextBox 15"/>
            <p:cNvSpPr txBox="1"/>
            <p:nvPr/>
          </p:nvSpPr>
          <p:spPr>
            <a:xfrm>
              <a:off x="6505956" y="2796540"/>
              <a:ext cx="2144268" cy="10378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直すには開発画面を開いて</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コードを読む必要があり、担当者には手が出ない。</a:t>
              </a:r>
            </a:p>
          </p:txBody>
        </p:sp>
      </p:grpSp>
      <p:grpSp>
        <p:nvGrpSpPr>
          <p:cNvPr id="20" name="Group 20"/>
          <p:cNvGrpSpPr/>
          <p:nvPr/>
        </p:nvGrpSpPr>
        <p:grpSpPr>
          <a:xfrm>
            <a:off x="952500" y="4162425"/>
            <a:ext cx="5029200" cy="2124075"/>
            <a:chOff x="952500" y="4162425"/>
            <a:chExt cx="5029200" cy="2124075"/>
          </a:xfrm>
        </p:grpSpPr>
        <p:sp>
          <p:nvSpPr>
            <p:cNvPr id="17" name="Rectangle 17"/>
            <p:cNvSpPr/>
            <p:nvPr/>
          </p:nvSpPr>
          <p:spPr>
            <a:xfrm>
              <a:off x="952500" y="4162425"/>
              <a:ext cx="5029200" cy="2124075"/>
            </a:xfrm>
            <a:prstGeom prst="roundRect">
              <a:avLst>
                <a:gd name="adj" fmla="val 7175"/>
              </a:avLst>
            </a:prstGeom>
            <a:solidFill>
              <a:schemeClr val="lt2"/>
            </a:solidFill>
            <a:ln>
              <a:noFill/>
            </a:ln>
          </p:spPr>
        </p:sp>
        <p:sp>
          <p:nvSpPr>
            <p:cNvPr id="18" name="Freeform 18"/>
            <p:cNvSpPr/>
            <p:nvPr/>
          </p:nvSpPr>
          <p:spPr>
            <a:xfrm>
              <a:off x="1270926" y="4493736"/>
              <a:ext cx="353565" cy="306801"/>
            </a:xfrm>
            <a:custGeom>
              <a:avLst/>
              <a:gdLst/>
              <a:ahLst/>
              <a:cxnLst/>
              <a:rect l="l" t="t" r="r" b="b"/>
              <a:pathLst>
                <a:path w="353565" h="306801">
                  <a:moveTo>
                    <a:pt x="176875" y="0"/>
                  </a:moveTo>
                  <a:cubicBezTo>
                    <a:pt x="192035" y="0"/>
                    <a:pt x="206164" y="7414"/>
                    <a:pt x="214816" y="19796"/>
                  </a:cubicBezTo>
                  <a:lnTo>
                    <a:pt x="216483" y="22336"/>
                  </a:lnTo>
                  <a:lnTo>
                    <a:pt x="345293" y="237411"/>
                  </a:lnTo>
                  <a:cubicBezTo>
                    <a:pt x="353250" y="251193"/>
                    <a:pt x="353565" y="268097"/>
                    <a:pt x="346126" y="282166"/>
                  </a:cubicBezTo>
                  <a:cubicBezTo>
                    <a:pt x="338687" y="296234"/>
                    <a:pt x="324539" y="305491"/>
                    <a:pt x="308669" y="306674"/>
                  </a:cubicBezTo>
                  <a:lnTo>
                    <a:pt x="305574" y="306801"/>
                  </a:lnTo>
                  <a:lnTo>
                    <a:pt x="48001" y="306801"/>
                  </a:lnTo>
                  <a:cubicBezTo>
                    <a:pt x="32116" y="306622"/>
                    <a:pt x="17433" y="298304"/>
                    <a:pt x="9113" y="284771"/>
                  </a:cubicBezTo>
                  <a:cubicBezTo>
                    <a:pt x="793" y="271237"/>
                    <a:pt x="0" y="254381"/>
                    <a:pt x="7012" y="240126"/>
                  </a:cubicBezTo>
                  <a:lnTo>
                    <a:pt x="8584" y="237189"/>
                  </a:lnTo>
                  <a:lnTo>
                    <a:pt x="137330" y="22273"/>
                  </a:lnTo>
                  <a:cubicBezTo>
                    <a:pt x="145714" y="8448"/>
                    <a:pt x="160707" y="4"/>
                    <a:pt x="176875" y="0"/>
                  </a:cubicBezTo>
                  <a:close/>
                  <a:moveTo>
                    <a:pt x="177034" y="211614"/>
                  </a:moveTo>
                  <a:lnTo>
                    <a:pt x="175017" y="211725"/>
                  </a:lnTo>
                  <a:cubicBezTo>
                    <a:pt x="167032" y="212675"/>
                    <a:pt x="161018" y="219447"/>
                    <a:pt x="161018" y="227489"/>
                  </a:cubicBezTo>
                  <a:cubicBezTo>
                    <a:pt x="161018" y="235531"/>
                    <a:pt x="167032" y="242303"/>
                    <a:pt x="175017" y="243253"/>
                  </a:cubicBezTo>
                  <a:lnTo>
                    <a:pt x="176875" y="243364"/>
                  </a:lnTo>
                  <a:lnTo>
                    <a:pt x="178891" y="243253"/>
                  </a:lnTo>
                  <a:cubicBezTo>
                    <a:pt x="186877" y="242303"/>
                    <a:pt x="192891" y="235531"/>
                    <a:pt x="192891" y="227489"/>
                  </a:cubicBezTo>
                  <a:cubicBezTo>
                    <a:pt x="192891" y="219447"/>
                    <a:pt x="186877" y="212675"/>
                    <a:pt x="178891" y="211725"/>
                  </a:cubicBezTo>
                  <a:lnTo>
                    <a:pt x="177034" y="211614"/>
                  </a:lnTo>
                  <a:close/>
                  <a:moveTo>
                    <a:pt x="176875" y="100489"/>
                  </a:moveTo>
                  <a:cubicBezTo>
                    <a:pt x="168827" y="100490"/>
                    <a:pt x="162053" y="106514"/>
                    <a:pt x="161111" y="114507"/>
                  </a:cubicBezTo>
                  <a:lnTo>
                    <a:pt x="161000" y="116364"/>
                  </a:lnTo>
                  <a:lnTo>
                    <a:pt x="161000" y="179864"/>
                  </a:lnTo>
                  <a:lnTo>
                    <a:pt x="161111" y="181721"/>
                  </a:lnTo>
                  <a:cubicBezTo>
                    <a:pt x="162061" y="189707"/>
                    <a:pt x="168833" y="195721"/>
                    <a:pt x="176875" y="195721"/>
                  </a:cubicBezTo>
                  <a:cubicBezTo>
                    <a:pt x="184917" y="195721"/>
                    <a:pt x="191689" y="189707"/>
                    <a:pt x="192639" y="181721"/>
                  </a:cubicBezTo>
                  <a:lnTo>
                    <a:pt x="192750" y="179864"/>
                  </a:lnTo>
                  <a:lnTo>
                    <a:pt x="192750" y="116364"/>
                  </a:lnTo>
                  <a:lnTo>
                    <a:pt x="192639" y="114507"/>
                  </a:lnTo>
                  <a:cubicBezTo>
                    <a:pt x="191697" y="106514"/>
                    <a:pt x="184923" y="100490"/>
                    <a:pt x="176875" y="100489"/>
                  </a:cubicBezTo>
                  <a:close/>
                </a:path>
              </a:pathLst>
            </a:custGeom>
            <a:solidFill>
              <a:schemeClr val="accent2"/>
            </a:solidFill>
            <a:ln>
              <a:noFill/>
            </a:ln>
          </p:spPr>
        </p:sp>
        <p:sp>
          <p:nvSpPr>
            <p:cNvPr id="19" name="TextBox 19"/>
            <p:cNvSpPr txBox="1"/>
            <p:nvPr/>
          </p:nvSpPr>
          <p:spPr>
            <a:xfrm>
              <a:off x="1248156" y="5149215"/>
              <a:ext cx="216712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端末やファイルの置き場所が変わると動かなくなる。</a:t>
              </a:r>
            </a:p>
          </p:txBody>
        </p:sp>
      </p:grpSp>
      <p:grpSp>
        <p:nvGrpSpPr>
          <p:cNvPr id="24" name="Group 24"/>
          <p:cNvGrpSpPr/>
          <p:nvPr/>
        </p:nvGrpSpPr>
        <p:grpSpPr>
          <a:xfrm>
            <a:off x="6210300" y="4162425"/>
            <a:ext cx="5029200" cy="2124075"/>
            <a:chOff x="6210300" y="4162425"/>
            <a:chExt cx="5029200" cy="2124075"/>
          </a:xfrm>
        </p:grpSpPr>
        <p:sp>
          <p:nvSpPr>
            <p:cNvPr id="21" name="Rectangle 21"/>
            <p:cNvSpPr/>
            <p:nvPr/>
          </p:nvSpPr>
          <p:spPr>
            <a:xfrm>
              <a:off x="6210300" y="4162425"/>
              <a:ext cx="5029200" cy="2124075"/>
            </a:xfrm>
            <a:prstGeom prst="roundRect">
              <a:avLst>
                <a:gd name="adj" fmla="val 7175"/>
              </a:avLst>
            </a:prstGeom>
            <a:solidFill>
              <a:schemeClr val="lt2"/>
            </a:solidFill>
            <a:ln>
              <a:noFill/>
            </a:ln>
          </p:spPr>
        </p:sp>
        <p:sp>
          <p:nvSpPr>
            <p:cNvPr id="22" name="Freeform 22"/>
            <p:cNvSpPr/>
            <p:nvPr/>
          </p:nvSpPr>
          <p:spPr>
            <a:xfrm>
              <a:off x="6546850" y="4491864"/>
              <a:ext cx="333852" cy="334399"/>
            </a:xfrm>
            <a:custGeom>
              <a:avLst/>
              <a:gdLst/>
              <a:ahLst/>
              <a:cxnLst/>
              <a:rect l="l" t="t" r="r" b="b"/>
              <a:pathLst>
                <a:path w="333852" h="334399">
                  <a:moveTo>
                    <a:pt x="238125" y="28384"/>
                  </a:moveTo>
                  <a:cubicBezTo>
                    <a:pt x="304283" y="66582"/>
                    <a:pt x="333852" y="146484"/>
                    <a:pt x="308499" y="218548"/>
                  </a:cubicBezTo>
                  <a:cubicBezTo>
                    <a:pt x="283147" y="290612"/>
                    <a:pt x="210062" y="334399"/>
                    <a:pt x="134561" y="322760"/>
                  </a:cubicBezTo>
                  <a:cubicBezTo>
                    <a:pt x="59059" y="311122"/>
                    <a:pt x="2554" y="247358"/>
                    <a:pt x="79" y="171005"/>
                  </a:cubicBezTo>
                  <a:lnTo>
                    <a:pt x="0" y="165861"/>
                  </a:lnTo>
                  <a:lnTo>
                    <a:pt x="79" y="160718"/>
                  </a:lnTo>
                  <a:cubicBezTo>
                    <a:pt x="1888" y="104949"/>
                    <a:pt x="32843" y="54223"/>
                    <a:pt x="81612" y="27112"/>
                  </a:cubicBezTo>
                  <a:cubicBezTo>
                    <a:pt x="130381" y="0"/>
                    <a:pt x="189803" y="483"/>
                    <a:pt x="238125" y="28384"/>
                  </a:cubicBezTo>
                  <a:close/>
                  <a:moveTo>
                    <a:pt x="158750" y="70611"/>
                  </a:moveTo>
                  <a:cubicBezTo>
                    <a:pt x="150702" y="70612"/>
                    <a:pt x="143928" y="76636"/>
                    <a:pt x="142986" y="84629"/>
                  </a:cubicBezTo>
                  <a:lnTo>
                    <a:pt x="142875" y="86486"/>
                  </a:lnTo>
                  <a:lnTo>
                    <a:pt x="142875" y="165861"/>
                  </a:lnTo>
                  <a:lnTo>
                    <a:pt x="143018" y="167941"/>
                  </a:lnTo>
                  <a:cubicBezTo>
                    <a:pt x="143380" y="170695"/>
                    <a:pt x="144458" y="173306"/>
                    <a:pt x="146146" y="175513"/>
                  </a:cubicBezTo>
                  <a:lnTo>
                    <a:pt x="147527" y="177101"/>
                  </a:lnTo>
                  <a:lnTo>
                    <a:pt x="195152" y="224726"/>
                  </a:lnTo>
                  <a:lnTo>
                    <a:pt x="196644" y="226028"/>
                  </a:lnTo>
                  <a:cubicBezTo>
                    <a:pt x="202371" y="230471"/>
                    <a:pt x="210380" y="230471"/>
                    <a:pt x="216107" y="226028"/>
                  </a:cubicBezTo>
                  <a:lnTo>
                    <a:pt x="217599" y="224710"/>
                  </a:lnTo>
                  <a:lnTo>
                    <a:pt x="218917" y="223218"/>
                  </a:lnTo>
                  <a:cubicBezTo>
                    <a:pt x="223360" y="217491"/>
                    <a:pt x="223360" y="209482"/>
                    <a:pt x="218917" y="203755"/>
                  </a:cubicBezTo>
                  <a:lnTo>
                    <a:pt x="217599" y="202263"/>
                  </a:lnTo>
                  <a:lnTo>
                    <a:pt x="174625" y="159273"/>
                  </a:lnTo>
                  <a:lnTo>
                    <a:pt x="174625" y="86486"/>
                  </a:lnTo>
                  <a:lnTo>
                    <a:pt x="174514" y="84629"/>
                  </a:lnTo>
                  <a:cubicBezTo>
                    <a:pt x="173573" y="76636"/>
                    <a:pt x="166799" y="70612"/>
                    <a:pt x="158750" y="70611"/>
                  </a:cubicBezTo>
                  <a:close/>
                </a:path>
              </a:pathLst>
            </a:custGeom>
            <a:solidFill>
              <a:schemeClr val="accent3"/>
            </a:solidFill>
            <a:ln>
              <a:noFill/>
            </a:ln>
          </p:spPr>
        </p:sp>
        <p:sp>
          <p:nvSpPr>
            <p:cNvPr id="23" name="TextBox 23"/>
            <p:cNvSpPr txBox="1"/>
            <p:nvPr/>
          </p:nvSpPr>
          <p:spPr>
            <a:xfrm>
              <a:off x="6505956" y="5149215"/>
              <a:ext cx="275005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詳しい人に頼むと順番待ちになり、業務が止まる。</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6" name="TextBox 26"/>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6498" y="517208"/>
            <a:ext cx="633615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直しかたを考えるのは AI。こちらは選ぶだけ</a:t>
            </a:r>
          </a:p>
        </p:txBody>
      </p:sp>
      <p:grpSp>
        <p:nvGrpSpPr>
          <p:cNvPr id="5" name="Group 5"/>
          <p:cNvGrpSpPr/>
          <p:nvPr/>
        </p:nvGrpSpPr>
        <p:grpSpPr>
          <a:xfrm>
            <a:off x="973137" y="1672590"/>
            <a:ext cx="3577146" cy="999744"/>
            <a:chOff x="973137" y="1672590"/>
            <a:chExt cx="3577146" cy="999744"/>
          </a:xfrm>
        </p:grpSpPr>
        <p:sp>
          <p:nvSpPr>
            <p:cNvPr id="3" name="Freeform 3"/>
            <p:cNvSpPr/>
            <p:nvPr/>
          </p:nvSpPr>
          <p:spPr>
            <a:xfrm>
              <a:off x="973137" y="16733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4" name="TextBox 4"/>
            <p:cNvSpPr txBox="1"/>
            <p:nvPr/>
          </p:nvSpPr>
          <p:spPr>
            <a:xfrm>
              <a:off x="1305306" y="1672590"/>
              <a:ext cx="3244977"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コードを読み書きできなくても、マクロを直せる。</a:t>
              </a:r>
              <a:r>
                <a:rPr lang="zh-CN" sz="1800" dirty="0">
                  <a:solidFill>
                    <a:schemeClr val="dk1"/>
                  </a:solidFill>
                  <a:latin typeface="+mn-lt"/>
                  <a:ea typeface="+mn-ea"/>
                  <a:cs typeface="+mn-cs"/>
                </a:rPr>
                <a:t>直しかたを考えるのは AI。こちらは画面に出てくることに答えるだけ。</a:t>
              </a:r>
            </a:p>
          </p:txBody>
        </p:sp>
      </p:grpSp>
      <p:grpSp>
        <p:nvGrpSpPr>
          <p:cNvPr id="8" name="Group 8"/>
          <p:cNvGrpSpPr/>
          <p:nvPr/>
        </p:nvGrpSpPr>
        <p:grpSpPr>
          <a:xfrm>
            <a:off x="973137" y="2834640"/>
            <a:ext cx="3890900" cy="675894"/>
            <a:chOff x="973137" y="2834640"/>
            <a:chExt cx="3890900" cy="675894"/>
          </a:xfrm>
        </p:grpSpPr>
        <p:sp>
          <p:nvSpPr>
            <p:cNvPr id="6" name="Freeform 6"/>
            <p:cNvSpPr/>
            <p:nvPr/>
          </p:nvSpPr>
          <p:spPr>
            <a:xfrm>
              <a:off x="973137" y="28354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7" name="TextBox 7"/>
            <p:cNvSpPr txBox="1"/>
            <p:nvPr/>
          </p:nvSpPr>
          <p:spPr>
            <a:xfrm>
              <a:off x="1305306" y="2834640"/>
              <a:ext cx="3558731"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開発画面を一度も開かない。</a:t>
              </a:r>
              <a:r>
                <a:rPr lang="zh-CN" sz="1800" dirty="0">
                  <a:solidFill>
                    <a:schemeClr val="dk1"/>
                  </a:solidFill>
                  <a:latin typeface="+mn-lt"/>
                  <a:ea typeface="+mn-ea"/>
                  <a:cs typeface="+mn-cs"/>
                </a:rPr>
                <a:t>案内どおりに［次へ］を押していけば終わる。</a:t>
              </a:r>
            </a:p>
          </p:txBody>
        </p:sp>
      </p:grpSp>
      <p:grpSp>
        <p:nvGrpSpPr>
          <p:cNvPr id="11" name="Group 11"/>
          <p:cNvGrpSpPr/>
          <p:nvPr/>
        </p:nvGrpSpPr>
        <p:grpSpPr>
          <a:xfrm>
            <a:off x="968465" y="3672840"/>
            <a:ext cx="3252634" cy="675894"/>
            <a:chOff x="968465" y="3672840"/>
            <a:chExt cx="3252634" cy="675894"/>
          </a:xfrm>
        </p:grpSpPr>
        <p:sp>
          <p:nvSpPr>
            <p:cNvPr id="9" name="Freeform 9"/>
            <p:cNvSpPr/>
            <p:nvPr/>
          </p:nvSpPr>
          <p:spPr>
            <a:xfrm>
              <a:off x="968465" y="367823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1"/>
            </a:solidFill>
            <a:ln>
              <a:noFill/>
            </a:ln>
          </p:spPr>
        </p:sp>
        <p:sp>
          <p:nvSpPr>
            <p:cNvPr id="10" name="TextBox 10"/>
            <p:cNvSpPr txBox="1"/>
            <p:nvPr/>
          </p:nvSpPr>
          <p:spPr>
            <a:xfrm>
              <a:off x="1305306" y="3672840"/>
              <a:ext cx="2915793"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元のブックはそのまま残る。</a:t>
              </a:r>
              <a:r>
                <a:rPr lang="zh-CN" sz="1800" dirty="0">
                  <a:solidFill>
                    <a:schemeClr val="dk1"/>
                  </a:solidFill>
                  <a:latin typeface="+mn-lt"/>
                  <a:ea typeface="+mn-ea"/>
                  <a:cs typeface="+mn-cs"/>
                </a:rPr>
                <a:t>直したものは別名の新しいブックとして作られる。</a:t>
              </a:r>
            </a:p>
          </p:txBody>
        </p:sp>
      </p:grpSp>
      <p:grpSp>
        <p:nvGrpSpPr>
          <p:cNvPr id="14" name="Group 14"/>
          <p:cNvGrpSpPr/>
          <p:nvPr/>
        </p:nvGrpSpPr>
        <p:grpSpPr>
          <a:xfrm>
            <a:off x="973137" y="4511040"/>
            <a:ext cx="3486849" cy="675894"/>
            <a:chOff x="973137" y="4511040"/>
            <a:chExt cx="3486849" cy="675894"/>
          </a:xfrm>
        </p:grpSpPr>
        <p:sp>
          <p:nvSpPr>
            <p:cNvPr id="12" name="Freeform 12"/>
            <p:cNvSpPr/>
            <p:nvPr/>
          </p:nvSpPr>
          <p:spPr>
            <a:xfrm>
              <a:off x="973137" y="45118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13" name="TextBox 13"/>
            <p:cNvSpPr txBox="1"/>
            <p:nvPr/>
          </p:nvSpPr>
          <p:spPr>
            <a:xfrm>
              <a:off x="1305306" y="4511040"/>
              <a:ext cx="3154680"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鵜呑みにしなくていい。</a:t>
              </a:r>
              <a:r>
                <a:rPr lang="zh-CN" sz="1800" dirty="0">
                  <a:solidFill>
                    <a:schemeClr val="dk1"/>
                  </a:solidFill>
                  <a:latin typeface="+mn-lt"/>
                  <a:ea typeface="+mn-ea"/>
                  <a:cs typeface="+mn-cs"/>
                </a:rPr>
                <a:t>どこが変わったのかを見てから、作るかどうかを決められる。</a:t>
              </a:r>
            </a:p>
          </p:txBody>
        </p:sp>
      </p:grpSp>
      <p:grpSp>
        <p:nvGrpSpPr>
          <p:cNvPr id="17" name="Group 17"/>
          <p:cNvGrpSpPr/>
          <p:nvPr/>
        </p:nvGrpSpPr>
        <p:grpSpPr>
          <a:xfrm>
            <a:off x="973137" y="5349240"/>
            <a:ext cx="3922332" cy="999744"/>
            <a:chOff x="973137" y="5349240"/>
            <a:chExt cx="3922332" cy="999744"/>
          </a:xfrm>
        </p:grpSpPr>
        <p:sp>
          <p:nvSpPr>
            <p:cNvPr id="15" name="Freeform 15"/>
            <p:cNvSpPr/>
            <p:nvPr/>
          </p:nvSpPr>
          <p:spPr>
            <a:xfrm>
              <a:off x="973137" y="5364956"/>
              <a:ext cx="206374" cy="196538"/>
            </a:xfrm>
            <a:custGeom>
              <a:avLst/>
              <a:gdLst/>
              <a:ahLst/>
              <a:cxnLst/>
              <a:rect l="l" t="t" r="r" b="b"/>
              <a:pathLst>
                <a:path w="206374" h="196538">
                  <a:moveTo>
                    <a:pt x="165099" y="0"/>
                  </a:moveTo>
                  <a:cubicBezTo>
                    <a:pt x="187895" y="0"/>
                    <a:pt x="206374" y="18479"/>
                    <a:pt x="206374" y="41275"/>
                  </a:cubicBezTo>
                  <a:lnTo>
                    <a:pt x="206374" y="123825"/>
                  </a:lnTo>
                  <a:cubicBezTo>
                    <a:pt x="206374" y="146620"/>
                    <a:pt x="187895" y="165099"/>
                    <a:pt x="165099" y="165099"/>
                  </a:cubicBezTo>
                  <a:lnTo>
                    <a:pt x="116354" y="165099"/>
                  </a:lnTo>
                  <a:lnTo>
                    <a:pt x="67216" y="194580"/>
                  </a:lnTo>
                  <a:cubicBezTo>
                    <a:pt x="64209" y="196385"/>
                    <a:pt x="60492" y="196538"/>
                    <a:pt x="57346" y="194988"/>
                  </a:cubicBezTo>
                  <a:cubicBezTo>
                    <a:pt x="54200" y="193439"/>
                    <a:pt x="52057" y="190397"/>
                    <a:pt x="51656" y="186913"/>
                  </a:cubicBezTo>
                  <a:lnTo>
                    <a:pt x="51594" y="185737"/>
                  </a:lnTo>
                  <a:lnTo>
                    <a:pt x="51594" y="165099"/>
                  </a:lnTo>
                  <a:lnTo>
                    <a:pt x="41275" y="165099"/>
                  </a:lnTo>
                  <a:cubicBezTo>
                    <a:pt x="19282" y="165100"/>
                    <a:pt x="1151" y="147854"/>
                    <a:pt x="52" y="125888"/>
                  </a:cubicBezTo>
                  <a:lnTo>
                    <a:pt x="0" y="123825"/>
                  </a:lnTo>
                  <a:lnTo>
                    <a:pt x="0" y="41275"/>
                  </a:lnTo>
                  <a:cubicBezTo>
                    <a:pt x="0" y="18479"/>
                    <a:pt x="18479" y="0"/>
                    <a:pt x="41275" y="0"/>
                  </a:cubicBezTo>
                  <a:close/>
                  <a:moveTo>
                    <a:pt x="136207" y="95820"/>
                  </a:moveTo>
                  <a:cubicBezTo>
                    <a:pt x="132138" y="91831"/>
                    <a:pt x="125606" y="91896"/>
                    <a:pt x="121616" y="95964"/>
                  </a:cubicBezTo>
                  <a:cubicBezTo>
                    <a:pt x="116764" y="100918"/>
                    <a:pt x="110122" y="103710"/>
                    <a:pt x="103187" y="103710"/>
                  </a:cubicBezTo>
                  <a:cubicBezTo>
                    <a:pt x="96253" y="103710"/>
                    <a:pt x="89610" y="100918"/>
                    <a:pt x="84758" y="95964"/>
                  </a:cubicBezTo>
                  <a:cubicBezTo>
                    <a:pt x="80751" y="91993"/>
                    <a:pt x="74298" y="91975"/>
                    <a:pt x="70270" y="95924"/>
                  </a:cubicBezTo>
                  <a:cubicBezTo>
                    <a:pt x="66241" y="99873"/>
                    <a:pt x="66131" y="106326"/>
                    <a:pt x="70023" y="110410"/>
                  </a:cubicBezTo>
                  <a:cubicBezTo>
                    <a:pt x="78756" y="119322"/>
                    <a:pt x="90709" y="124344"/>
                    <a:pt x="103187" y="124344"/>
                  </a:cubicBezTo>
                  <a:cubicBezTo>
                    <a:pt x="115665" y="124344"/>
                    <a:pt x="127618" y="119322"/>
                    <a:pt x="136352" y="110410"/>
                  </a:cubicBezTo>
                  <a:cubicBezTo>
                    <a:pt x="140340" y="106341"/>
                    <a:pt x="140275" y="99809"/>
                    <a:pt x="136207" y="95820"/>
                  </a:cubicBezTo>
                  <a:moveTo>
                    <a:pt x="77494" y="51594"/>
                  </a:moveTo>
                  <a:lnTo>
                    <a:pt x="77390" y="51594"/>
                  </a:lnTo>
                  <a:cubicBezTo>
                    <a:pt x="71692" y="51594"/>
                    <a:pt x="67072" y="56213"/>
                    <a:pt x="67072" y="61912"/>
                  </a:cubicBezTo>
                  <a:cubicBezTo>
                    <a:pt x="67072" y="67611"/>
                    <a:pt x="71692" y="72231"/>
                    <a:pt x="77390" y="72231"/>
                  </a:cubicBezTo>
                  <a:lnTo>
                    <a:pt x="77494" y="72231"/>
                  </a:lnTo>
                  <a:cubicBezTo>
                    <a:pt x="83192" y="72231"/>
                    <a:pt x="87812" y="67611"/>
                    <a:pt x="87812" y="61912"/>
                  </a:cubicBezTo>
                  <a:cubicBezTo>
                    <a:pt x="87812" y="56213"/>
                    <a:pt x="83192" y="51594"/>
                    <a:pt x="77494" y="51594"/>
                  </a:cubicBezTo>
                  <a:moveTo>
                    <a:pt x="129087" y="51594"/>
                  </a:moveTo>
                  <a:lnTo>
                    <a:pt x="128984" y="51594"/>
                  </a:lnTo>
                  <a:cubicBezTo>
                    <a:pt x="123285" y="51594"/>
                    <a:pt x="118665" y="56213"/>
                    <a:pt x="118665" y="61912"/>
                  </a:cubicBezTo>
                  <a:cubicBezTo>
                    <a:pt x="118665" y="67611"/>
                    <a:pt x="123285" y="72231"/>
                    <a:pt x="128984" y="72231"/>
                  </a:cubicBezTo>
                  <a:lnTo>
                    <a:pt x="129087" y="72231"/>
                  </a:lnTo>
                  <a:cubicBezTo>
                    <a:pt x="134786" y="72231"/>
                    <a:pt x="139406" y="67611"/>
                    <a:pt x="139406" y="61912"/>
                  </a:cubicBezTo>
                  <a:cubicBezTo>
                    <a:pt x="139406" y="56213"/>
                    <a:pt x="134786" y="51594"/>
                    <a:pt x="129087" y="51594"/>
                  </a:cubicBezTo>
                </a:path>
              </a:pathLst>
            </a:custGeom>
            <a:solidFill>
              <a:schemeClr val="accent1"/>
            </a:solidFill>
            <a:ln>
              <a:noFill/>
            </a:ln>
          </p:spPr>
        </p:sp>
        <p:sp>
          <p:nvSpPr>
            <p:cNvPr id="16" name="TextBox 16"/>
            <p:cNvSpPr txBox="1"/>
            <p:nvPr/>
          </p:nvSpPr>
          <p:spPr>
            <a:xfrm>
              <a:off x="1305306" y="5349240"/>
              <a:ext cx="3590163"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直さずに、聞くだけでもいい。</a:t>
              </a:r>
              <a:r>
                <a:rPr lang="zh-CN" sz="1800" dirty="0">
                  <a:solidFill>
                    <a:schemeClr val="dk1"/>
                  </a:solidFill>
                  <a:latin typeface="+mn-lt"/>
                  <a:ea typeface="+mn-ea"/>
                  <a:cs typeface="+mn-cs"/>
                </a:rPr>
                <a:t>「新しい端末で動くか」「どう直すのが良いか」を AI に相談するところで終わってもよい。</a:t>
              </a:r>
            </a:p>
          </p:txBody>
        </p:sp>
      </p:grpSp>
      <p:grpSp>
        <p:nvGrpSpPr>
          <p:cNvPr id="21" name="Group 21"/>
          <p:cNvGrpSpPr/>
          <p:nvPr/>
        </p:nvGrpSpPr>
        <p:grpSpPr>
          <a:xfrm>
            <a:off x="6660642" y="1428750"/>
            <a:ext cx="4578858" cy="2928175"/>
            <a:chOff x="6660642" y="1428750"/>
            <a:chExt cx="4578858" cy="2928175"/>
          </a:xfrm>
        </p:grpSpPr>
        <p:sp>
          <p:nvSpPr>
            <p:cNvPr id="18" name="Rectangle 18"/>
            <p:cNvSpPr/>
            <p:nvPr/>
          </p:nvSpPr>
          <p:spPr>
            <a:xfrm>
              <a:off x="6667500" y="1428750"/>
              <a:ext cx="4572000" cy="2524125"/>
            </a:xfrm>
            <a:prstGeom prst="roundRect">
              <a:avLst>
                <a:gd name="adj" fmla="val 6038"/>
              </a:avLst>
            </a:prstGeom>
            <a:solidFill>
              <a:schemeClr val="accent5"/>
            </a:solidFill>
            <a:ln w="9525">
              <a:solidFill>
                <a:schemeClr val="accent6"/>
              </a:solidFill>
            </a:ln>
          </p:spPr>
        </p:sp>
        <p:pic>
          <p:nvPicPr>
            <p:cNvPr id="19" name="Image 19"/>
            <p:cNvPicPr>
              <a:picLocks noChangeAspect="1"/>
            </p:cNvPicPr>
            <p:nvPr/>
          </p:nvPicPr>
          <p:blipFill>
            <a:blip r:embed="rId2"/>
            <a:stretch>
              <a:fillRect/>
            </a:stretch>
          </p:blipFill>
          <p:spPr>
            <a:xfrm>
              <a:off x="7047921" y="1619250"/>
              <a:ext cx="3811158" cy="2143125"/>
            </a:xfrm>
            <a:prstGeom prst="rect">
              <a:avLst/>
            </a:prstGeom>
          </p:spPr>
        </p:pic>
        <p:sp>
          <p:nvSpPr>
            <p:cNvPr id="20" name="TextBox 20"/>
            <p:cNvSpPr txBox="1"/>
            <p:nvPr/>
          </p:nvSpPr>
          <p:spPr>
            <a:xfrm>
              <a:off x="6660642" y="40928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利用者がすることは、この 2 枚から選ぶこと</a:t>
              </a:r>
            </a:p>
          </p:txBody>
        </p:sp>
      </p:grpSp>
      <p:grpSp>
        <p:nvGrpSpPr>
          <p:cNvPr id="24" name="Group 24"/>
          <p:cNvGrpSpPr/>
          <p:nvPr/>
        </p:nvGrpSpPr>
        <p:grpSpPr>
          <a:xfrm>
            <a:off x="946404" y="6557010"/>
            <a:ext cx="10299192" cy="234696"/>
            <a:chOff x="946404" y="6557010"/>
            <a:chExt cx="10299192" cy="234696"/>
          </a:xfrm>
        </p:grpSpPr>
        <p:sp>
          <p:nvSpPr>
            <p:cNvPr id="22" name="TextBox 22"/>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3" name="TextBox 23"/>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936498" y="460058"/>
            <a:ext cx="10303002" cy="1376362"/>
            <a:chOff x="936498" y="460058"/>
            <a:chExt cx="10303002" cy="1376362"/>
          </a:xfrm>
        </p:grpSpPr>
        <p:sp>
          <p:nvSpPr>
            <p:cNvPr id="2" name="TextBox 2"/>
            <p:cNvSpPr txBox="1"/>
            <p:nvPr/>
          </p:nvSpPr>
          <p:spPr>
            <a:xfrm>
              <a:off x="936498" y="460058"/>
              <a:ext cx="33714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心配しなくてよくなること</a:t>
              </a:r>
            </a:p>
          </p:txBody>
        </p:sp>
        <p:sp>
          <p:nvSpPr>
            <p:cNvPr id="3" name="TextBox 3"/>
            <p:cNvSpPr txBox="1"/>
            <p:nvPr/>
          </p:nvSpPr>
          <p:spPr>
            <a:xfrm>
              <a:off x="941070" y="976312"/>
              <a:ext cx="626249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手間も、事故も、あとの説明も、この道具の側で受け持つ</a:t>
              </a:r>
            </a:p>
          </p:txBody>
        </p:sp>
        <p:sp>
          <p:nvSpPr>
            <p:cNvPr id="4" name="Rectangle 4"/>
            <p:cNvSpPr/>
            <p:nvPr/>
          </p:nvSpPr>
          <p:spPr>
            <a:xfrm>
              <a:off x="952500" y="1447800"/>
              <a:ext cx="4476750" cy="381000"/>
            </a:xfrm>
            <a:prstGeom prst="roundRect">
              <a:avLst>
                <a:gd name="adj" fmla="val 30000"/>
              </a:avLst>
            </a:prstGeom>
            <a:solidFill>
              <a:schemeClr val="lt2"/>
            </a:solidFill>
            <a:ln>
              <a:noFill/>
            </a:ln>
          </p:spPr>
        </p:sp>
        <p:sp>
          <p:nvSpPr>
            <p:cNvPr id="5" name="TextBox 5"/>
            <p:cNvSpPr txBox="1"/>
            <p:nvPr/>
          </p:nvSpPr>
          <p:spPr>
            <a:xfrm>
              <a:off x="1173480" y="1543050"/>
              <a:ext cx="1001163"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今までの心配</a:t>
              </a:r>
            </a:p>
          </p:txBody>
        </p:sp>
        <p:sp>
          <p:nvSpPr>
            <p:cNvPr id="6" name="Rectangle 6"/>
            <p:cNvSpPr/>
            <p:nvPr/>
          </p:nvSpPr>
          <p:spPr>
            <a:xfrm>
              <a:off x="6191250" y="1447800"/>
              <a:ext cx="5048250" cy="381000"/>
            </a:xfrm>
            <a:prstGeom prst="roundRect">
              <a:avLst>
                <a:gd name="adj" fmla="val 30000"/>
              </a:avLst>
            </a:prstGeom>
            <a:solidFill>
              <a:schemeClr val="accent1"/>
            </a:solidFill>
            <a:ln>
              <a:noFill/>
            </a:ln>
          </p:spPr>
        </p:sp>
        <p:sp>
          <p:nvSpPr>
            <p:cNvPr id="7" name="TextBox 7"/>
            <p:cNvSpPr txBox="1"/>
            <p:nvPr/>
          </p:nvSpPr>
          <p:spPr>
            <a:xfrm>
              <a:off x="6412230" y="1543050"/>
              <a:ext cx="83154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このツールでは</a:t>
              </a:r>
            </a:p>
          </p:txBody>
        </p:sp>
      </p:grpSp>
      <p:grpSp>
        <p:nvGrpSpPr>
          <p:cNvPr id="16" name="Group 16"/>
          <p:cNvGrpSpPr/>
          <p:nvPr/>
        </p:nvGrpSpPr>
        <p:grpSpPr>
          <a:xfrm>
            <a:off x="952500" y="1924050"/>
            <a:ext cx="10287000" cy="702945"/>
            <a:chOff x="952500" y="1924050"/>
            <a:chExt cx="10287000" cy="702945"/>
          </a:xfrm>
        </p:grpSpPr>
        <p:sp>
          <p:nvSpPr>
            <p:cNvPr id="9" name="Rectangle 9"/>
            <p:cNvSpPr/>
            <p:nvPr/>
          </p:nvSpPr>
          <p:spPr>
            <a:xfrm>
              <a:off x="952500" y="1924050"/>
              <a:ext cx="4476750" cy="685800"/>
            </a:xfrm>
            <a:prstGeom prst="roundRect">
              <a:avLst>
                <a:gd name="adj" fmla="val 16667"/>
              </a:avLst>
            </a:prstGeom>
            <a:solidFill>
              <a:schemeClr val="lt1"/>
            </a:solidFill>
            <a:ln w="9525">
              <a:solidFill>
                <a:schemeClr val="accent6"/>
              </a:solidFill>
            </a:ln>
          </p:spPr>
        </p:sp>
        <p:sp>
          <p:nvSpPr>
            <p:cNvPr id="10" name="TextBox 10"/>
            <p:cNvSpPr txBox="1"/>
            <p:nvPr/>
          </p:nvSpPr>
          <p:spPr>
            <a:xfrm>
              <a:off x="1173480" y="2181225"/>
              <a:ext cx="19537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何をどう頼めばいいか分からない</a:t>
              </a:r>
            </a:p>
          </p:txBody>
        </p:sp>
        <p:sp>
          <p:nvSpPr>
            <p:cNvPr id="11" name="Rectangle 11"/>
            <p:cNvSpPr/>
            <p:nvPr/>
          </p:nvSpPr>
          <p:spPr>
            <a:xfrm>
              <a:off x="6191250" y="1924050"/>
              <a:ext cx="5048250" cy="685800"/>
            </a:xfrm>
            <a:prstGeom prst="roundRect">
              <a:avLst>
                <a:gd name="adj" fmla="val 16667"/>
              </a:avLst>
            </a:prstGeom>
            <a:solidFill>
              <a:schemeClr val="lt2"/>
            </a:solidFill>
            <a:ln>
              <a:noFill/>
            </a:ln>
          </p:spPr>
        </p:sp>
        <p:grpSp>
          <p:nvGrpSpPr>
            <p:cNvPr id="14" name="Group 14"/>
            <p:cNvGrpSpPr/>
            <p:nvPr/>
          </p:nvGrpSpPr>
          <p:grpSpPr>
            <a:xfrm>
              <a:off x="6461124" y="2135187"/>
              <a:ext cx="165101" cy="206375"/>
              <a:chOff x="6461124" y="2135187"/>
              <a:chExt cx="165101" cy="206375"/>
            </a:xfrm>
          </p:grpSpPr>
          <p:sp>
            <p:nvSpPr>
              <p:cNvPr id="12" name="Freeform 12"/>
              <p:cNvSpPr/>
              <p:nvPr/>
            </p:nvSpPr>
            <p:spPr>
              <a:xfrm>
                <a:off x="6461124" y="21351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1"/>
              </a:solidFill>
              <a:ln>
                <a:noFill/>
              </a:ln>
            </p:spPr>
          </p:sp>
          <p:sp>
            <p:nvSpPr>
              <p:cNvPr id="13" name="Freeform 13"/>
              <p:cNvSpPr/>
              <p:nvPr/>
            </p:nvSpPr>
            <p:spPr>
              <a:xfrm>
                <a:off x="6574620" y="214549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15" name="TextBox 15"/>
            <p:cNvSpPr txBox="1"/>
            <p:nvPr/>
          </p:nvSpPr>
          <p:spPr>
            <a:xfrm>
              <a:off x="6774180" y="2066925"/>
              <a:ext cx="22345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頼みたいことを選べば、AI へ渡す文章はこちらで用意される</a:t>
              </a:r>
            </a:p>
          </p:txBody>
        </p:sp>
      </p:grpSp>
      <p:grpSp>
        <p:nvGrpSpPr>
          <p:cNvPr id="22" name="Group 22"/>
          <p:cNvGrpSpPr/>
          <p:nvPr/>
        </p:nvGrpSpPr>
        <p:grpSpPr>
          <a:xfrm>
            <a:off x="952500" y="2686050"/>
            <a:ext cx="10287000" cy="702945"/>
            <a:chOff x="952500" y="2686050"/>
            <a:chExt cx="10287000" cy="702945"/>
          </a:xfrm>
        </p:grpSpPr>
        <p:sp>
          <p:nvSpPr>
            <p:cNvPr id="17" name="Rectangle 17"/>
            <p:cNvSpPr/>
            <p:nvPr/>
          </p:nvSpPr>
          <p:spPr>
            <a:xfrm>
              <a:off x="952500" y="2686050"/>
              <a:ext cx="4476750" cy="685800"/>
            </a:xfrm>
            <a:prstGeom prst="roundRect">
              <a:avLst>
                <a:gd name="adj" fmla="val 16667"/>
              </a:avLst>
            </a:prstGeom>
            <a:solidFill>
              <a:schemeClr val="lt1"/>
            </a:solidFill>
            <a:ln w="9525">
              <a:solidFill>
                <a:schemeClr val="accent6"/>
              </a:solidFill>
            </a:ln>
          </p:spPr>
        </p:sp>
        <p:sp>
          <p:nvSpPr>
            <p:cNvPr id="18" name="TextBox 18"/>
            <p:cNvSpPr txBox="1"/>
            <p:nvPr/>
          </p:nvSpPr>
          <p:spPr>
            <a:xfrm>
              <a:off x="1173480" y="2943225"/>
              <a:ext cx="11965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コピペを間違えそう</a:t>
              </a:r>
            </a:p>
          </p:txBody>
        </p:sp>
        <p:sp>
          <p:nvSpPr>
            <p:cNvPr id="19" name="Rectangle 19"/>
            <p:cNvSpPr/>
            <p:nvPr/>
          </p:nvSpPr>
          <p:spPr>
            <a:xfrm>
              <a:off x="6191250" y="2686050"/>
              <a:ext cx="5048250" cy="685800"/>
            </a:xfrm>
            <a:prstGeom prst="roundRect">
              <a:avLst>
                <a:gd name="adj" fmla="val 16667"/>
              </a:avLst>
            </a:prstGeom>
            <a:solidFill>
              <a:schemeClr val="lt2"/>
            </a:solidFill>
            <a:ln>
              <a:noFill/>
            </a:ln>
          </p:spPr>
        </p:sp>
        <p:sp>
          <p:nvSpPr>
            <p:cNvPr id="20" name="Freeform 20"/>
            <p:cNvSpPr/>
            <p:nvPr/>
          </p:nvSpPr>
          <p:spPr>
            <a:xfrm>
              <a:off x="6461123" y="289718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1" name="TextBox 21"/>
            <p:cNvSpPr txBox="1"/>
            <p:nvPr/>
          </p:nvSpPr>
          <p:spPr>
            <a:xfrm>
              <a:off x="6774180" y="2828925"/>
              <a:ext cx="2082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貼り付けは 1 回だけ。中身を仕分けて写す作業はない</a:t>
              </a:r>
            </a:p>
          </p:txBody>
        </p:sp>
      </p:grpSp>
      <p:grpSp>
        <p:nvGrpSpPr>
          <p:cNvPr id="28" name="Group 28"/>
          <p:cNvGrpSpPr/>
          <p:nvPr/>
        </p:nvGrpSpPr>
        <p:grpSpPr>
          <a:xfrm>
            <a:off x="952500" y="3448050"/>
            <a:ext cx="10287000" cy="702945"/>
            <a:chOff x="952500" y="3448050"/>
            <a:chExt cx="10287000" cy="702945"/>
          </a:xfrm>
        </p:grpSpPr>
        <p:sp>
          <p:nvSpPr>
            <p:cNvPr id="23" name="Rectangle 23"/>
            <p:cNvSpPr/>
            <p:nvPr/>
          </p:nvSpPr>
          <p:spPr>
            <a:xfrm>
              <a:off x="952500" y="3448050"/>
              <a:ext cx="4476750" cy="685800"/>
            </a:xfrm>
            <a:prstGeom prst="roundRect">
              <a:avLst>
                <a:gd name="adj" fmla="val 16667"/>
              </a:avLst>
            </a:prstGeom>
            <a:solidFill>
              <a:schemeClr val="lt1"/>
            </a:solidFill>
            <a:ln w="9525">
              <a:solidFill>
                <a:schemeClr val="accent6"/>
              </a:solidFill>
            </a:ln>
          </p:spPr>
        </p:sp>
        <p:sp>
          <p:nvSpPr>
            <p:cNvPr id="24" name="TextBox 24"/>
            <p:cNvSpPr txBox="1"/>
            <p:nvPr/>
          </p:nvSpPr>
          <p:spPr>
            <a:xfrm>
              <a:off x="1173480" y="37052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直った内容が正しいか分からない</a:t>
              </a:r>
            </a:p>
          </p:txBody>
        </p:sp>
        <p:sp>
          <p:nvSpPr>
            <p:cNvPr id="25" name="Rectangle 25"/>
            <p:cNvSpPr/>
            <p:nvPr/>
          </p:nvSpPr>
          <p:spPr>
            <a:xfrm>
              <a:off x="6191250" y="3448050"/>
              <a:ext cx="5048250" cy="685800"/>
            </a:xfrm>
            <a:prstGeom prst="roundRect">
              <a:avLst>
                <a:gd name="adj" fmla="val 16667"/>
              </a:avLst>
            </a:prstGeom>
            <a:solidFill>
              <a:schemeClr val="lt2"/>
            </a:solidFill>
            <a:ln>
              <a:noFill/>
            </a:ln>
          </p:spPr>
        </p:sp>
        <p:sp>
          <p:nvSpPr>
            <p:cNvPr id="26" name="Freeform 26"/>
            <p:cNvSpPr/>
            <p:nvPr/>
          </p:nvSpPr>
          <p:spPr>
            <a:xfrm>
              <a:off x="6429719" y="3679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1"/>
            </a:solidFill>
            <a:ln>
              <a:noFill/>
            </a:ln>
          </p:spPr>
        </p:sp>
        <p:sp>
          <p:nvSpPr>
            <p:cNvPr id="27" name="TextBox 27"/>
            <p:cNvSpPr txBox="1"/>
            <p:nvPr/>
          </p:nvSpPr>
          <p:spPr>
            <a:xfrm>
              <a:off x="6774180" y="3590925"/>
              <a:ext cx="1701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変わった場所を見てから、作るかどうかを決められる</a:t>
              </a:r>
            </a:p>
          </p:txBody>
        </p:sp>
      </p:grpSp>
      <p:grpSp>
        <p:nvGrpSpPr>
          <p:cNvPr id="34" name="Group 34"/>
          <p:cNvGrpSpPr/>
          <p:nvPr/>
        </p:nvGrpSpPr>
        <p:grpSpPr>
          <a:xfrm>
            <a:off x="952500" y="4210050"/>
            <a:ext cx="10287000" cy="702945"/>
            <a:chOff x="952500" y="4210050"/>
            <a:chExt cx="10287000" cy="702945"/>
          </a:xfrm>
        </p:grpSpPr>
        <p:sp>
          <p:nvSpPr>
            <p:cNvPr id="29" name="Rectangle 29"/>
            <p:cNvSpPr/>
            <p:nvPr/>
          </p:nvSpPr>
          <p:spPr>
            <a:xfrm>
              <a:off x="952500" y="4210050"/>
              <a:ext cx="4476750" cy="685800"/>
            </a:xfrm>
            <a:prstGeom prst="roundRect">
              <a:avLst>
                <a:gd name="adj" fmla="val 16667"/>
              </a:avLst>
            </a:prstGeom>
            <a:solidFill>
              <a:schemeClr val="lt1"/>
            </a:solidFill>
            <a:ln w="9525">
              <a:solidFill>
                <a:schemeClr val="accent6"/>
              </a:solidFill>
            </a:ln>
          </p:spPr>
        </p:sp>
        <p:sp>
          <p:nvSpPr>
            <p:cNvPr id="30" name="TextBox 30"/>
            <p:cNvSpPr txBox="1"/>
            <p:nvPr/>
          </p:nvSpPr>
          <p:spPr>
            <a:xfrm>
              <a:off x="1173480" y="4467225"/>
              <a:ext cx="130759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元のブックを壊しそう</a:t>
              </a:r>
            </a:p>
          </p:txBody>
        </p:sp>
        <p:sp>
          <p:nvSpPr>
            <p:cNvPr id="31" name="Rectangle 31"/>
            <p:cNvSpPr/>
            <p:nvPr/>
          </p:nvSpPr>
          <p:spPr>
            <a:xfrm>
              <a:off x="6191250" y="4210050"/>
              <a:ext cx="5048250" cy="685800"/>
            </a:xfrm>
            <a:prstGeom prst="roundRect">
              <a:avLst>
                <a:gd name="adj" fmla="val 16667"/>
              </a:avLst>
            </a:prstGeom>
            <a:solidFill>
              <a:schemeClr val="lt2"/>
            </a:solidFill>
            <a:ln>
              <a:noFill/>
            </a:ln>
          </p:spPr>
        </p:sp>
        <p:sp>
          <p:nvSpPr>
            <p:cNvPr id="32" name="Freeform 32"/>
            <p:cNvSpPr/>
            <p:nvPr/>
          </p:nvSpPr>
          <p:spPr>
            <a:xfrm>
              <a:off x="6435815" y="44211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2"/>
            </a:solidFill>
            <a:ln>
              <a:noFill/>
            </a:ln>
          </p:spPr>
        </p:sp>
        <p:sp>
          <p:nvSpPr>
            <p:cNvPr id="33" name="TextBox 33"/>
            <p:cNvSpPr txBox="1"/>
            <p:nvPr/>
          </p:nvSpPr>
          <p:spPr>
            <a:xfrm>
              <a:off x="6774180" y="4352925"/>
              <a:ext cx="19107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元のファイルには触れない。作り直せば何度でもやり直せる</a:t>
              </a:r>
            </a:p>
          </p:txBody>
        </p:sp>
      </p:grpSp>
      <p:grpSp>
        <p:nvGrpSpPr>
          <p:cNvPr id="40" name="Group 40"/>
          <p:cNvGrpSpPr/>
          <p:nvPr/>
        </p:nvGrpSpPr>
        <p:grpSpPr>
          <a:xfrm>
            <a:off x="952500" y="4972050"/>
            <a:ext cx="10287000" cy="702945"/>
            <a:chOff x="952500" y="4972050"/>
            <a:chExt cx="10287000" cy="702945"/>
          </a:xfrm>
        </p:grpSpPr>
        <p:sp>
          <p:nvSpPr>
            <p:cNvPr id="35" name="Rectangle 35"/>
            <p:cNvSpPr/>
            <p:nvPr/>
          </p:nvSpPr>
          <p:spPr>
            <a:xfrm>
              <a:off x="952500" y="4972050"/>
              <a:ext cx="4476750" cy="685800"/>
            </a:xfrm>
            <a:prstGeom prst="roundRect">
              <a:avLst>
                <a:gd name="adj" fmla="val 16667"/>
              </a:avLst>
            </a:prstGeom>
            <a:solidFill>
              <a:schemeClr val="lt1"/>
            </a:solidFill>
            <a:ln w="9525">
              <a:solidFill>
                <a:schemeClr val="accent6"/>
              </a:solidFill>
            </a:ln>
          </p:spPr>
        </p:sp>
        <p:sp>
          <p:nvSpPr>
            <p:cNvPr id="36" name="TextBox 36"/>
            <p:cNvSpPr txBox="1"/>
            <p:nvPr/>
          </p:nvSpPr>
          <p:spPr>
            <a:xfrm>
              <a:off x="1173480" y="5229225"/>
              <a:ext cx="148932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後で誰も説明できない</a:t>
              </a:r>
            </a:p>
          </p:txBody>
        </p:sp>
        <p:sp>
          <p:nvSpPr>
            <p:cNvPr id="37" name="Rectangle 37"/>
            <p:cNvSpPr/>
            <p:nvPr/>
          </p:nvSpPr>
          <p:spPr>
            <a:xfrm>
              <a:off x="6191250" y="4972050"/>
              <a:ext cx="5048250" cy="685800"/>
            </a:xfrm>
            <a:prstGeom prst="roundRect">
              <a:avLst>
                <a:gd name="adj" fmla="val 16667"/>
              </a:avLst>
            </a:prstGeom>
            <a:solidFill>
              <a:schemeClr val="lt2"/>
            </a:solidFill>
            <a:ln>
              <a:noFill/>
            </a:ln>
          </p:spPr>
        </p:sp>
        <p:sp>
          <p:nvSpPr>
            <p:cNvPr id="38" name="Freeform 38"/>
            <p:cNvSpPr/>
            <p:nvPr/>
          </p:nvSpPr>
          <p:spPr>
            <a:xfrm>
              <a:off x="6440487" y="51935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39" name="TextBox 39"/>
            <p:cNvSpPr txBox="1"/>
            <p:nvPr/>
          </p:nvSpPr>
          <p:spPr>
            <a:xfrm>
              <a:off x="6774180" y="5114925"/>
              <a:ext cx="19107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何を頼み、何が変わったのかが</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か所に残る</a:t>
              </a:r>
            </a:p>
          </p:txBody>
        </p:sp>
      </p:grpSp>
      <p:grpSp>
        <p:nvGrpSpPr>
          <p:cNvPr id="52" name="Group 52"/>
          <p:cNvGrpSpPr/>
          <p:nvPr/>
        </p:nvGrpSpPr>
        <p:grpSpPr>
          <a:xfrm>
            <a:off x="952500" y="5734050"/>
            <a:ext cx="10287000" cy="702945"/>
            <a:chOff x="952500" y="5734050"/>
            <a:chExt cx="10287000" cy="702945"/>
          </a:xfrm>
        </p:grpSpPr>
        <p:sp>
          <p:nvSpPr>
            <p:cNvPr id="41" name="Rectangle 41"/>
            <p:cNvSpPr/>
            <p:nvPr/>
          </p:nvSpPr>
          <p:spPr>
            <a:xfrm>
              <a:off x="952500" y="5734050"/>
              <a:ext cx="4476750" cy="685800"/>
            </a:xfrm>
            <a:prstGeom prst="roundRect">
              <a:avLst>
                <a:gd name="adj" fmla="val 16667"/>
              </a:avLst>
            </a:prstGeom>
            <a:solidFill>
              <a:schemeClr val="lt1"/>
            </a:solidFill>
            <a:ln w="9525">
              <a:solidFill>
                <a:schemeClr val="accent6"/>
              </a:solidFill>
            </a:ln>
          </p:spPr>
        </p:sp>
        <p:sp>
          <p:nvSpPr>
            <p:cNvPr id="42" name="TextBox 42"/>
            <p:cNvSpPr txBox="1"/>
            <p:nvPr/>
          </p:nvSpPr>
          <p:spPr>
            <a:xfrm>
              <a:off x="1173480" y="5991225"/>
              <a:ext cx="16003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部門ごとにやり方が違う</a:t>
              </a:r>
            </a:p>
          </p:txBody>
        </p:sp>
        <p:sp>
          <p:nvSpPr>
            <p:cNvPr id="43" name="Rectangle 43"/>
            <p:cNvSpPr/>
            <p:nvPr/>
          </p:nvSpPr>
          <p:spPr>
            <a:xfrm>
              <a:off x="6191250" y="5734050"/>
              <a:ext cx="5048250" cy="685800"/>
            </a:xfrm>
            <a:prstGeom prst="roundRect">
              <a:avLst>
                <a:gd name="adj" fmla="val 16667"/>
              </a:avLst>
            </a:prstGeom>
            <a:solidFill>
              <a:schemeClr val="lt2"/>
            </a:solidFill>
            <a:ln>
              <a:noFill/>
            </a:ln>
          </p:spPr>
        </p:sp>
        <p:grpSp>
          <p:nvGrpSpPr>
            <p:cNvPr id="50" name="Group 50"/>
            <p:cNvGrpSpPr/>
            <p:nvPr/>
          </p:nvGrpSpPr>
          <p:grpSpPr>
            <a:xfrm>
              <a:off x="6444760" y="5959661"/>
              <a:ext cx="191783" cy="172268"/>
              <a:chOff x="6444760" y="5959661"/>
              <a:chExt cx="191783" cy="172268"/>
            </a:xfrm>
          </p:grpSpPr>
          <p:sp>
            <p:nvSpPr>
              <p:cNvPr id="44" name="Freeform 44"/>
              <p:cNvSpPr/>
              <p:nvPr/>
            </p:nvSpPr>
            <p:spPr>
              <a:xfrm>
                <a:off x="6444760" y="59596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5" name="Freeform 45"/>
              <p:cNvSpPr/>
              <p:nvPr/>
            </p:nvSpPr>
            <p:spPr>
              <a:xfrm>
                <a:off x="6444760" y="60215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6" name="Freeform 46"/>
              <p:cNvSpPr/>
              <p:nvPr/>
            </p:nvSpPr>
            <p:spPr>
              <a:xfrm>
                <a:off x="6444760" y="60834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7" name="Freeform 47"/>
              <p:cNvSpPr/>
              <p:nvPr/>
            </p:nvSpPr>
            <p:spPr>
              <a:xfrm>
                <a:off x="6523037" y="59761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8" name="Freeform 48"/>
              <p:cNvSpPr/>
              <p:nvPr/>
            </p:nvSpPr>
            <p:spPr>
              <a:xfrm>
                <a:off x="6523037" y="60380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9" name="Freeform 49"/>
              <p:cNvSpPr/>
              <p:nvPr/>
            </p:nvSpPr>
            <p:spPr>
              <a:xfrm>
                <a:off x="6523037" y="60999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51" name="TextBox 51"/>
            <p:cNvSpPr txBox="1"/>
            <p:nvPr/>
          </p:nvSpPr>
          <p:spPr>
            <a:xfrm>
              <a:off x="6774180" y="5876925"/>
              <a:ext cx="19297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よく頼む内容は、自分たちのひな形として増やせる</a:t>
              </a:r>
            </a:p>
          </p:txBody>
        </p:sp>
      </p:grpSp>
      <p:grpSp>
        <p:nvGrpSpPr>
          <p:cNvPr id="55" name="Group 55"/>
          <p:cNvGrpSpPr/>
          <p:nvPr/>
        </p:nvGrpSpPr>
        <p:grpSpPr>
          <a:xfrm>
            <a:off x="946404" y="6557010"/>
            <a:ext cx="10299192" cy="234696"/>
            <a:chOff x="946404" y="6557010"/>
            <a:chExt cx="10299192" cy="234696"/>
          </a:xfrm>
        </p:grpSpPr>
        <p:sp>
          <p:nvSpPr>
            <p:cNvPr id="53" name="TextBox 53"/>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54" name="TextBox 54"/>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040344" cy="956309"/>
            <a:chOff x="936498" y="460058"/>
            <a:chExt cx="5040344" cy="956309"/>
          </a:xfrm>
        </p:grpSpPr>
        <p:sp>
          <p:nvSpPr>
            <p:cNvPr id="2" name="TextBox 2"/>
            <p:cNvSpPr txBox="1"/>
            <p:nvPr/>
          </p:nvSpPr>
          <p:spPr>
            <a:xfrm>
              <a:off x="936498" y="460058"/>
              <a:ext cx="268127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こんなときに使います</a:t>
              </a:r>
            </a:p>
          </p:txBody>
        </p:sp>
        <p:sp>
          <p:nvSpPr>
            <p:cNvPr id="3" name="TextBox 3"/>
            <p:cNvSpPr txBox="1"/>
            <p:nvPr/>
          </p:nvSpPr>
          <p:spPr>
            <a:xfrm>
              <a:off x="941070" y="976312"/>
              <a:ext cx="5035772"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直すときだけでなく、調べたい・決めたいときにも使える</a:t>
              </a:r>
            </a:p>
          </p:txBody>
        </p:sp>
      </p:grpSp>
      <p:sp>
        <p:nvSpPr>
          <p:cNvPr id="5" name="Rectangle 5"/>
          <p:cNvSpPr/>
          <p:nvPr/>
        </p:nvSpPr>
        <p:spPr>
          <a:xfrm>
            <a:off x="1314450" y="2019300"/>
            <a:ext cx="38100" cy="3810000"/>
          </a:xfrm>
          <a:prstGeom prst="roundRect">
            <a:avLst>
              <a:gd name="adj" fmla="val 50000"/>
            </a:avLst>
          </a:prstGeom>
          <a:solidFill>
            <a:srgbClr val="CBD5E1"/>
          </a:solidFill>
          <a:ln>
            <a:noFill/>
          </a:ln>
        </p:spPr>
      </p:sp>
      <p:grpSp>
        <p:nvGrpSpPr>
          <p:cNvPr id="14" name="Group 14"/>
          <p:cNvGrpSpPr/>
          <p:nvPr/>
        </p:nvGrpSpPr>
        <p:grpSpPr>
          <a:xfrm>
            <a:off x="1085850" y="1619250"/>
            <a:ext cx="10153650" cy="800100"/>
            <a:chOff x="1085850" y="1619250"/>
            <a:chExt cx="10153650" cy="800100"/>
          </a:xfrm>
        </p:grpSpPr>
        <p:sp>
          <p:nvSpPr>
            <p:cNvPr id="6" name="Ellipse 6"/>
            <p:cNvSpPr/>
            <p:nvPr/>
          </p:nvSpPr>
          <p:spPr>
            <a:xfrm>
              <a:off x="1085850" y="1771650"/>
              <a:ext cx="495300" cy="495300"/>
            </a:xfrm>
            <a:prstGeom prst="ellipse">
              <a:avLst/>
            </a:prstGeom>
            <a:solidFill>
              <a:schemeClr val="accent1"/>
            </a:solidFill>
            <a:ln>
              <a:noFill/>
            </a:ln>
          </p:spPr>
        </p:sp>
        <p:sp>
          <p:nvSpPr>
            <p:cNvPr id="7" name="TextBox 7"/>
            <p:cNvSpPr txBox="1"/>
            <p:nvPr/>
          </p:nvSpPr>
          <p:spPr>
            <a:xfrm>
              <a:off x="1267573" y="1933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8" name="Rectangle 8"/>
            <p:cNvSpPr/>
            <p:nvPr/>
          </p:nvSpPr>
          <p:spPr>
            <a:xfrm>
              <a:off x="1943100" y="1619250"/>
              <a:ext cx="9296400" cy="800100"/>
            </a:xfrm>
            <a:prstGeom prst="roundRect">
              <a:avLst>
                <a:gd name="adj" fmla="val 16667"/>
              </a:avLst>
            </a:prstGeom>
            <a:solidFill>
              <a:schemeClr val="lt2"/>
            </a:solidFill>
            <a:ln>
              <a:noFill/>
            </a:ln>
          </p:spPr>
        </p:sp>
        <p:sp>
          <p:nvSpPr>
            <p:cNvPr id="9" name="Rectangle 9"/>
            <p:cNvSpPr/>
            <p:nvPr/>
          </p:nvSpPr>
          <p:spPr>
            <a:xfrm>
              <a:off x="1943100" y="1619250"/>
              <a:ext cx="57150" cy="800100"/>
            </a:xfrm>
            <a:prstGeom prst="roundRect">
              <a:avLst>
                <a:gd name="adj" fmla="val 50000"/>
              </a:avLst>
            </a:prstGeom>
            <a:solidFill>
              <a:schemeClr val="accent1"/>
            </a:solidFill>
            <a:ln>
              <a:noFill/>
            </a:ln>
          </p:spPr>
        </p:sp>
        <p:sp>
          <p:nvSpPr>
            <p:cNvPr id="10" name="TextBox 10"/>
            <p:cNvSpPr txBox="1"/>
            <p:nvPr/>
          </p:nvSpPr>
          <p:spPr>
            <a:xfrm>
              <a:off x="2238756" y="1748790"/>
              <a:ext cx="213007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端末の入れ替えに備える</a:t>
              </a:r>
            </a:p>
          </p:txBody>
        </p:sp>
        <p:sp>
          <p:nvSpPr>
            <p:cNvPr id="11" name="TextBox 11"/>
            <p:cNvSpPr txBox="1"/>
            <p:nvPr/>
          </p:nvSpPr>
          <p:spPr>
            <a:xfrm>
              <a:off x="2238756" y="2053590"/>
              <a:ext cx="419823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新しい環境で動かなくなる箇所を洗い出してもらう。</a:t>
              </a:r>
            </a:p>
          </p:txBody>
        </p:sp>
        <p:sp>
          <p:nvSpPr>
            <p:cNvPr id="12" name="Rectangle 12"/>
            <p:cNvSpPr/>
            <p:nvPr/>
          </p:nvSpPr>
          <p:spPr>
            <a:xfrm>
              <a:off x="10020300" y="1885950"/>
              <a:ext cx="990600" cy="266700"/>
            </a:xfrm>
            <a:prstGeom prst="roundRect">
              <a:avLst>
                <a:gd name="adj" fmla="val 50000"/>
              </a:avLst>
            </a:prstGeom>
            <a:solidFill>
              <a:schemeClr val="lt1"/>
            </a:solidFill>
            <a:ln w="9525">
              <a:solidFill>
                <a:srgbClr val="CBD5E1"/>
              </a:solidFill>
            </a:ln>
          </p:spPr>
        </p:sp>
        <p:sp>
          <p:nvSpPr>
            <p:cNvPr id="13" name="TextBox 13"/>
            <p:cNvSpPr txBox="1"/>
            <p:nvPr/>
          </p:nvSpPr>
          <p:spPr>
            <a:xfrm>
              <a:off x="10267940" y="19307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23" name="Group 23"/>
          <p:cNvGrpSpPr/>
          <p:nvPr/>
        </p:nvGrpSpPr>
        <p:grpSpPr>
          <a:xfrm>
            <a:off x="1085850" y="2571750"/>
            <a:ext cx="10153650" cy="800100"/>
            <a:chOff x="1085850" y="2571750"/>
            <a:chExt cx="10153650" cy="800100"/>
          </a:xfrm>
        </p:grpSpPr>
        <p:sp>
          <p:nvSpPr>
            <p:cNvPr id="15" name="Ellipse 15"/>
            <p:cNvSpPr/>
            <p:nvPr/>
          </p:nvSpPr>
          <p:spPr>
            <a:xfrm>
              <a:off x="1085850" y="2724150"/>
              <a:ext cx="495300" cy="495300"/>
            </a:xfrm>
            <a:prstGeom prst="ellipse">
              <a:avLst/>
            </a:prstGeom>
            <a:solidFill>
              <a:schemeClr val="accent1"/>
            </a:solidFill>
            <a:ln>
              <a:noFill/>
            </a:ln>
          </p:spPr>
        </p:sp>
        <p:sp>
          <p:nvSpPr>
            <p:cNvPr id="16" name="TextBox 16"/>
            <p:cNvSpPr txBox="1"/>
            <p:nvPr/>
          </p:nvSpPr>
          <p:spPr>
            <a:xfrm>
              <a:off x="1267573" y="2886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7" name="Rectangle 17"/>
            <p:cNvSpPr/>
            <p:nvPr/>
          </p:nvSpPr>
          <p:spPr>
            <a:xfrm>
              <a:off x="1943100" y="2571750"/>
              <a:ext cx="9296400" cy="800100"/>
            </a:xfrm>
            <a:prstGeom prst="roundRect">
              <a:avLst>
                <a:gd name="adj" fmla="val 16667"/>
              </a:avLst>
            </a:prstGeom>
            <a:solidFill>
              <a:schemeClr val="lt2"/>
            </a:solidFill>
            <a:ln>
              <a:noFill/>
            </a:ln>
          </p:spPr>
        </p:sp>
        <p:sp>
          <p:nvSpPr>
            <p:cNvPr id="18" name="Rectangle 18"/>
            <p:cNvSpPr/>
            <p:nvPr/>
          </p:nvSpPr>
          <p:spPr>
            <a:xfrm>
              <a:off x="1943100" y="2571750"/>
              <a:ext cx="57150" cy="800100"/>
            </a:xfrm>
            <a:prstGeom prst="roundRect">
              <a:avLst>
                <a:gd name="adj" fmla="val 50000"/>
              </a:avLst>
            </a:prstGeom>
            <a:solidFill>
              <a:schemeClr val="accent1"/>
            </a:solidFill>
            <a:ln>
              <a:noFill/>
            </a:ln>
          </p:spPr>
        </p:sp>
        <p:sp>
          <p:nvSpPr>
            <p:cNvPr id="19" name="TextBox 19"/>
            <p:cNvSpPr txBox="1"/>
            <p:nvPr/>
          </p:nvSpPr>
          <p:spPr>
            <a:xfrm>
              <a:off x="2238756" y="2701290"/>
              <a:ext cx="206646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動かなくなったマクロを直す</a:t>
              </a:r>
            </a:p>
          </p:txBody>
        </p:sp>
        <p:sp>
          <p:nvSpPr>
            <p:cNvPr id="20" name="TextBox 20"/>
            <p:cNvSpPr txBox="1"/>
            <p:nvPr/>
          </p:nvSpPr>
          <p:spPr>
            <a:xfrm>
              <a:off x="2238756" y="3006090"/>
              <a:ext cx="479191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使えなくなった機能を、標準機能だけの形へ置き換える。</a:t>
              </a:r>
            </a:p>
          </p:txBody>
        </p:sp>
        <p:sp>
          <p:nvSpPr>
            <p:cNvPr id="21" name="Rectangle 21"/>
            <p:cNvSpPr/>
            <p:nvPr/>
          </p:nvSpPr>
          <p:spPr>
            <a:xfrm>
              <a:off x="10020300" y="2838450"/>
              <a:ext cx="990600" cy="266700"/>
            </a:xfrm>
            <a:prstGeom prst="roundRect">
              <a:avLst>
                <a:gd name="adj" fmla="val 50000"/>
              </a:avLst>
            </a:prstGeom>
            <a:solidFill>
              <a:schemeClr val="lt1"/>
            </a:solidFill>
            <a:ln w="9525">
              <a:solidFill>
                <a:srgbClr val="CBD5E1"/>
              </a:solidFill>
            </a:ln>
          </p:spPr>
        </p:sp>
        <p:sp>
          <p:nvSpPr>
            <p:cNvPr id="22" name="TextBox 22"/>
            <p:cNvSpPr txBox="1"/>
            <p:nvPr/>
          </p:nvSpPr>
          <p:spPr>
            <a:xfrm>
              <a:off x="10327005" y="2883218"/>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32" name="Group 32"/>
          <p:cNvGrpSpPr/>
          <p:nvPr/>
        </p:nvGrpSpPr>
        <p:grpSpPr>
          <a:xfrm>
            <a:off x="1085850" y="3524250"/>
            <a:ext cx="10153650" cy="800100"/>
            <a:chOff x="1085850" y="3524250"/>
            <a:chExt cx="10153650" cy="800100"/>
          </a:xfrm>
        </p:grpSpPr>
        <p:sp>
          <p:nvSpPr>
            <p:cNvPr id="24" name="Ellipse 24"/>
            <p:cNvSpPr/>
            <p:nvPr/>
          </p:nvSpPr>
          <p:spPr>
            <a:xfrm>
              <a:off x="1085850" y="3676650"/>
              <a:ext cx="495300" cy="495300"/>
            </a:xfrm>
            <a:prstGeom prst="ellipse">
              <a:avLst/>
            </a:prstGeom>
            <a:solidFill>
              <a:schemeClr val="accent1"/>
            </a:solidFill>
            <a:ln>
              <a:noFill/>
            </a:ln>
          </p:spPr>
        </p:sp>
        <p:sp>
          <p:nvSpPr>
            <p:cNvPr id="25" name="TextBox 25"/>
            <p:cNvSpPr txBox="1"/>
            <p:nvPr/>
          </p:nvSpPr>
          <p:spPr>
            <a:xfrm>
              <a:off x="1267573" y="3838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6" name="Rectangle 26"/>
            <p:cNvSpPr/>
            <p:nvPr/>
          </p:nvSpPr>
          <p:spPr>
            <a:xfrm>
              <a:off x="1943100" y="3524250"/>
              <a:ext cx="9296400" cy="800100"/>
            </a:xfrm>
            <a:prstGeom prst="roundRect">
              <a:avLst>
                <a:gd name="adj" fmla="val 16667"/>
              </a:avLst>
            </a:prstGeom>
            <a:solidFill>
              <a:schemeClr val="lt2"/>
            </a:solidFill>
            <a:ln>
              <a:noFill/>
            </a:ln>
          </p:spPr>
        </p:sp>
        <p:sp>
          <p:nvSpPr>
            <p:cNvPr id="27" name="Rectangle 27"/>
            <p:cNvSpPr/>
            <p:nvPr/>
          </p:nvSpPr>
          <p:spPr>
            <a:xfrm>
              <a:off x="1943100" y="3524250"/>
              <a:ext cx="57150" cy="800100"/>
            </a:xfrm>
            <a:prstGeom prst="roundRect">
              <a:avLst>
                <a:gd name="adj" fmla="val 50000"/>
              </a:avLst>
            </a:prstGeom>
            <a:solidFill>
              <a:schemeClr val="accent1"/>
            </a:solidFill>
            <a:ln>
              <a:noFill/>
            </a:ln>
          </p:spPr>
        </p:sp>
        <p:sp>
          <p:nvSpPr>
            <p:cNvPr id="28" name="TextBox 28"/>
            <p:cNvSpPr txBox="1"/>
            <p:nvPr/>
          </p:nvSpPr>
          <p:spPr>
            <a:xfrm>
              <a:off x="2238756" y="3653790"/>
              <a:ext cx="308419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担当者しか触れないマクロを整理する</a:t>
              </a:r>
            </a:p>
          </p:txBody>
        </p:sp>
        <p:sp>
          <p:nvSpPr>
            <p:cNvPr id="29" name="TextBox 29"/>
            <p:cNvSpPr txBox="1"/>
            <p:nvPr/>
          </p:nvSpPr>
          <p:spPr>
            <a:xfrm>
              <a:off x="2238756" y="39585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動きを変えずに読みやすく直す。</a:t>
              </a:r>
            </a:p>
          </p:txBody>
        </p:sp>
        <p:sp>
          <p:nvSpPr>
            <p:cNvPr id="30" name="Rectangle 30"/>
            <p:cNvSpPr/>
            <p:nvPr/>
          </p:nvSpPr>
          <p:spPr>
            <a:xfrm>
              <a:off x="10020300" y="3790950"/>
              <a:ext cx="990600" cy="266700"/>
            </a:xfrm>
            <a:prstGeom prst="roundRect">
              <a:avLst>
                <a:gd name="adj" fmla="val 50000"/>
              </a:avLst>
            </a:prstGeom>
            <a:solidFill>
              <a:schemeClr val="lt1"/>
            </a:solidFill>
            <a:ln w="9525">
              <a:solidFill>
                <a:srgbClr val="CBD5E1"/>
              </a:solidFill>
            </a:ln>
          </p:spPr>
        </p:sp>
        <p:sp>
          <p:nvSpPr>
            <p:cNvPr id="31" name="TextBox 31"/>
            <p:cNvSpPr txBox="1"/>
            <p:nvPr/>
          </p:nvSpPr>
          <p:spPr>
            <a:xfrm>
              <a:off x="10327005" y="3835718"/>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41" name="Group 41"/>
          <p:cNvGrpSpPr/>
          <p:nvPr/>
        </p:nvGrpSpPr>
        <p:grpSpPr>
          <a:xfrm>
            <a:off x="1085850" y="4476750"/>
            <a:ext cx="10153650" cy="800100"/>
            <a:chOff x="1085850" y="4476750"/>
            <a:chExt cx="10153650" cy="800100"/>
          </a:xfrm>
        </p:grpSpPr>
        <p:sp>
          <p:nvSpPr>
            <p:cNvPr id="33" name="Ellipse 33"/>
            <p:cNvSpPr/>
            <p:nvPr/>
          </p:nvSpPr>
          <p:spPr>
            <a:xfrm>
              <a:off x="1085850" y="4629150"/>
              <a:ext cx="495300" cy="495300"/>
            </a:xfrm>
            <a:prstGeom prst="ellipse">
              <a:avLst/>
            </a:prstGeom>
            <a:solidFill>
              <a:schemeClr val="accent1"/>
            </a:solidFill>
            <a:ln>
              <a:noFill/>
            </a:ln>
          </p:spPr>
        </p:sp>
        <p:sp>
          <p:nvSpPr>
            <p:cNvPr id="34" name="TextBox 34"/>
            <p:cNvSpPr txBox="1"/>
            <p:nvPr/>
          </p:nvSpPr>
          <p:spPr>
            <a:xfrm>
              <a:off x="1267573" y="4791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5" name="Rectangle 35"/>
            <p:cNvSpPr/>
            <p:nvPr/>
          </p:nvSpPr>
          <p:spPr>
            <a:xfrm>
              <a:off x="1943100" y="4476750"/>
              <a:ext cx="9296400" cy="800100"/>
            </a:xfrm>
            <a:prstGeom prst="roundRect">
              <a:avLst>
                <a:gd name="adj" fmla="val 16667"/>
              </a:avLst>
            </a:prstGeom>
            <a:solidFill>
              <a:schemeClr val="lt2"/>
            </a:solidFill>
            <a:ln>
              <a:noFill/>
            </a:ln>
          </p:spPr>
        </p:sp>
        <p:sp>
          <p:nvSpPr>
            <p:cNvPr id="36" name="Rectangle 36"/>
            <p:cNvSpPr/>
            <p:nvPr/>
          </p:nvSpPr>
          <p:spPr>
            <a:xfrm>
              <a:off x="1943100" y="4476750"/>
              <a:ext cx="57150" cy="800100"/>
            </a:xfrm>
            <a:prstGeom prst="roundRect">
              <a:avLst>
                <a:gd name="adj" fmla="val 50000"/>
              </a:avLst>
            </a:prstGeom>
            <a:solidFill>
              <a:schemeClr val="accent1"/>
            </a:solidFill>
            <a:ln>
              <a:noFill/>
            </a:ln>
          </p:spPr>
        </p:sp>
        <p:sp>
          <p:nvSpPr>
            <p:cNvPr id="37" name="TextBox 37"/>
            <p:cNvSpPr txBox="1"/>
            <p:nvPr/>
          </p:nvSpPr>
          <p:spPr>
            <a:xfrm>
              <a:off x="2238756" y="46062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どう直すか決める</a:t>
              </a:r>
            </a:p>
          </p:txBody>
        </p:sp>
        <p:sp>
          <p:nvSpPr>
            <p:cNvPr id="38" name="TextBox 38"/>
            <p:cNvSpPr txBox="1"/>
            <p:nvPr/>
          </p:nvSpPr>
          <p:spPr>
            <a:xfrm>
              <a:off x="2238756" y="4911090"/>
              <a:ext cx="557418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いくつかの質問に答えて、進め方を AI と相談する材料を作る。</a:t>
              </a:r>
            </a:p>
          </p:txBody>
        </p:sp>
        <p:sp>
          <p:nvSpPr>
            <p:cNvPr id="39" name="Rectangle 39"/>
            <p:cNvSpPr/>
            <p:nvPr/>
          </p:nvSpPr>
          <p:spPr>
            <a:xfrm>
              <a:off x="10020300" y="4743450"/>
              <a:ext cx="990600" cy="266700"/>
            </a:xfrm>
            <a:prstGeom prst="roundRect">
              <a:avLst>
                <a:gd name="adj" fmla="val 50000"/>
              </a:avLst>
            </a:prstGeom>
            <a:solidFill>
              <a:schemeClr val="lt1"/>
            </a:solidFill>
            <a:ln w="9525">
              <a:solidFill>
                <a:srgbClr val="CBD5E1"/>
              </a:solidFill>
            </a:ln>
          </p:spPr>
        </p:sp>
        <p:sp>
          <p:nvSpPr>
            <p:cNvPr id="40" name="TextBox 40"/>
            <p:cNvSpPr txBox="1"/>
            <p:nvPr/>
          </p:nvSpPr>
          <p:spPr>
            <a:xfrm>
              <a:off x="10267940" y="47882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50" name="Group 50"/>
          <p:cNvGrpSpPr/>
          <p:nvPr/>
        </p:nvGrpSpPr>
        <p:grpSpPr>
          <a:xfrm>
            <a:off x="1085850" y="5429250"/>
            <a:ext cx="10153650" cy="800100"/>
            <a:chOff x="1085850" y="5429250"/>
            <a:chExt cx="10153650" cy="800100"/>
          </a:xfrm>
        </p:grpSpPr>
        <p:sp>
          <p:nvSpPr>
            <p:cNvPr id="42" name="Ellipse 42"/>
            <p:cNvSpPr/>
            <p:nvPr/>
          </p:nvSpPr>
          <p:spPr>
            <a:xfrm>
              <a:off x="1085850" y="5581650"/>
              <a:ext cx="495300" cy="495300"/>
            </a:xfrm>
            <a:prstGeom prst="ellipse">
              <a:avLst/>
            </a:prstGeom>
            <a:solidFill>
              <a:schemeClr val="accent1"/>
            </a:solidFill>
            <a:ln>
              <a:noFill/>
            </a:ln>
          </p:spPr>
        </p:sp>
        <p:sp>
          <p:nvSpPr>
            <p:cNvPr id="43" name="TextBox 43"/>
            <p:cNvSpPr txBox="1"/>
            <p:nvPr/>
          </p:nvSpPr>
          <p:spPr>
            <a:xfrm>
              <a:off x="1267573" y="5743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5</a:t>
              </a:r>
            </a:p>
          </p:txBody>
        </p:sp>
        <p:sp>
          <p:nvSpPr>
            <p:cNvPr id="44" name="Rectangle 44"/>
            <p:cNvSpPr/>
            <p:nvPr/>
          </p:nvSpPr>
          <p:spPr>
            <a:xfrm>
              <a:off x="1943100" y="5429250"/>
              <a:ext cx="9296400" cy="800100"/>
            </a:xfrm>
            <a:prstGeom prst="roundRect">
              <a:avLst>
                <a:gd name="adj" fmla="val 16667"/>
              </a:avLst>
            </a:prstGeom>
            <a:solidFill>
              <a:schemeClr val="lt2"/>
            </a:solidFill>
            <a:ln>
              <a:noFill/>
            </a:ln>
          </p:spPr>
        </p:sp>
        <p:sp>
          <p:nvSpPr>
            <p:cNvPr id="45" name="Rectangle 45"/>
            <p:cNvSpPr/>
            <p:nvPr/>
          </p:nvSpPr>
          <p:spPr>
            <a:xfrm>
              <a:off x="1943100" y="5429250"/>
              <a:ext cx="57150" cy="800100"/>
            </a:xfrm>
            <a:prstGeom prst="roundRect">
              <a:avLst>
                <a:gd name="adj" fmla="val 50000"/>
              </a:avLst>
            </a:prstGeom>
            <a:solidFill>
              <a:schemeClr val="accent1"/>
            </a:solidFill>
            <a:ln>
              <a:noFill/>
            </a:ln>
          </p:spPr>
        </p:sp>
        <p:sp>
          <p:nvSpPr>
            <p:cNvPr id="46" name="TextBox 46"/>
            <p:cNvSpPr txBox="1"/>
            <p:nvPr/>
          </p:nvSpPr>
          <p:spPr>
            <a:xfrm>
              <a:off x="2238756" y="5558790"/>
              <a:ext cx="13413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中身を知りたい</a:t>
              </a:r>
            </a:p>
          </p:txBody>
        </p:sp>
        <p:sp>
          <p:nvSpPr>
            <p:cNvPr id="47" name="TextBox 47"/>
            <p:cNvSpPr txBox="1"/>
            <p:nvPr/>
          </p:nvSpPr>
          <p:spPr>
            <a:xfrm>
              <a:off x="2238756" y="5863590"/>
              <a:ext cx="274434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このマクロが何をしているのかを聞く。</a:t>
              </a:r>
            </a:p>
          </p:txBody>
        </p:sp>
        <p:sp>
          <p:nvSpPr>
            <p:cNvPr id="48" name="Rectangle 48"/>
            <p:cNvSpPr/>
            <p:nvPr/>
          </p:nvSpPr>
          <p:spPr>
            <a:xfrm>
              <a:off x="10020300" y="5695950"/>
              <a:ext cx="990600" cy="266700"/>
            </a:xfrm>
            <a:prstGeom prst="roundRect">
              <a:avLst>
                <a:gd name="adj" fmla="val 50000"/>
              </a:avLst>
            </a:prstGeom>
            <a:solidFill>
              <a:schemeClr val="lt1"/>
            </a:solidFill>
            <a:ln w="9525">
              <a:solidFill>
                <a:srgbClr val="CBD5E1"/>
              </a:solidFill>
            </a:ln>
          </p:spPr>
        </p:sp>
        <p:sp>
          <p:nvSpPr>
            <p:cNvPr id="49" name="TextBox 49"/>
            <p:cNvSpPr txBox="1"/>
            <p:nvPr/>
          </p:nvSpPr>
          <p:spPr>
            <a:xfrm>
              <a:off x="10267940" y="57407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53" name="Group 53"/>
          <p:cNvGrpSpPr/>
          <p:nvPr/>
        </p:nvGrpSpPr>
        <p:grpSpPr>
          <a:xfrm>
            <a:off x="946404" y="6557010"/>
            <a:ext cx="10299192" cy="234696"/>
            <a:chOff x="946404" y="6557010"/>
            <a:chExt cx="10299192" cy="234696"/>
          </a:xfrm>
        </p:grpSpPr>
        <p:sp>
          <p:nvSpPr>
            <p:cNvPr id="51" name="TextBox 51"/>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52" name="TextBox 52"/>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936498" y="612458"/>
            <a:ext cx="10303002" cy="1197292"/>
            <a:chOff x="936498" y="612458"/>
            <a:chExt cx="10303002" cy="1197292"/>
          </a:xfrm>
        </p:grpSpPr>
        <p:sp>
          <p:nvSpPr>
            <p:cNvPr id="2" name="TextBox 2"/>
            <p:cNvSpPr txBox="1"/>
            <p:nvPr/>
          </p:nvSpPr>
          <p:spPr>
            <a:xfrm>
              <a:off x="936498" y="612458"/>
              <a:ext cx="339368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用意するものは 4 つだけ</a:t>
              </a:r>
            </a:p>
          </p:txBody>
        </p:sp>
        <p:sp>
          <p:nvSpPr>
            <p:cNvPr id="3" name="TextBox 3"/>
            <p:cNvSpPr txBox="1"/>
            <p:nvPr/>
          </p:nvSpPr>
          <p:spPr>
            <a:xfrm>
              <a:off x="941070" y="1185862"/>
              <a:ext cx="444512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特別な権限も、インストール作業も要らない</a:t>
              </a:r>
            </a:p>
          </p:txBody>
        </p:sp>
        <p:sp>
          <p:nvSpPr>
            <p:cNvPr id="4" name="Rectangle 4"/>
            <p:cNvSpPr/>
            <p:nvPr/>
          </p:nvSpPr>
          <p:spPr>
            <a:xfrm>
              <a:off x="952500" y="1790700"/>
              <a:ext cx="10287000" cy="19050"/>
            </a:xfrm>
            <a:prstGeom prst="rect">
              <a:avLst/>
            </a:prstGeom>
            <a:solidFill>
              <a:srgbClr val="CBD5E1"/>
            </a:solidFill>
            <a:ln>
              <a:noFill/>
            </a:ln>
          </p:spPr>
        </p:sp>
      </p:grpSp>
      <p:grpSp>
        <p:nvGrpSpPr>
          <p:cNvPr id="8" name="Group 8"/>
          <p:cNvGrpSpPr/>
          <p:nvPr/>
        </p:nvGrpSpPr>
        <p:grpSpPr>
          <a:xfrm>
            <a:off x="969086" y="2245436"/>
            <a:ext cx="3001783" cy="407848"/>
            <a:chOff x="969086" y="2245436"/>
            <a:chExt cx="3001783" cy="407848"/>
          </a:xfrm>
        </p:grpSpPr>
        <p:sp>
          <p:nvSpPr>
            <p:cNvPr id="6" name="Freeform 6"/>
            <p:cNvSpPr/>
            <p:nvPr/>
          </p:nvSpPr>
          <p:spPr>
            <a:xfrm>
              <a:off x="969086" y="2245436"/>
              <a:ext cx="271627" cy="271627"/>
            </a:xfrm>
            <a:custGeom>
              <a:avLst/>
              <a:gdLst/>
              <a:ahLst/>
              <a:cxnLst/>
              <a:rect l="l" t="t" r="r" b="b"/>
              <a:pathLst>
                <a:path w="271627" h="271627">
                  <a:moveTo>
                    <a:pt x="169430" y="35242"/>
                  </a:moveTo>
                  <a:cubicBezTo>
                    <a:pt x="170121" y="38095"/>
                    <a:pt x="172133" y="40446"/>
                    <a:pt x="174843" y="41570"/>
                  </a:cubicBezTo>
                  <a:cubicBezTo>
                    <a:pt x="177554" y="42695"/>
                    <a:pt x="180639" y="42458"/>
                    <a:pt x="183146" y="40932"/>
                  </a:cubicBezTo>
                  <a:cubicBezTo>
                    <a:pt x="214121" y="22073"/>
                    <a:pt x="249567" y="57505"/>
                    <a:pt x="230708" y="88481"/>
                  </a:cubicBezTo>
                  <a:cubicBezTo>
                    <a:pt x="229182" y="90986"/>
                    <a:pt x="228943" y="94069"/>
                    <a:pt x="230065" y="96779"/>
                  </a:cubicBezTo>
                  <a:cubicBezTo>
                    <a:pt x="231187" y="99490"/>
                    <a:pt x="233534" y="101502"/>
                    <a:pt x="236385" y="102197"/>
                  </a:cubicBezTo>
                  <a:cubicBezTo>
                    <a:pt x="271627" y="110744"/>
                    <a:pt x="271627" y="160870"/>
                    <a:pt x="236385" y="169430"/>
                  </a:cubicBezTo>
                  <a:cubicBezTo>
                    <a:pt x="233532" y="170121"/>
                    <a:pt x="231181" y="172133"/>
                    <a:pt x="230057" y="174843"/>
                  </a:cubicBezTo>
                  <a:cubicBezTo>
                    <a:pt x="228932" y="177554"/>
                    <a:pt x="229169" y="180639"/>
                    <a:pt x="230695" y="183146"/>
                  </a:cubicBezTo>
                  <a:cubicBezTo>
                    <a:pt x="249554" y="214121"/>
                    <a:pt x="214121" y="249567"/>
                    <a:pt x="183146" y="230708"/>
                  </a:cubicBezTo>
                  <a:cubicBezTo>
                    <a:pt x="180641" y="229182"/>
                    <a:pt x="177558" y="228943"/>
                    <a:pt x="174847" y="230065"/>
                  </a:cubicBezTo>
                  <a:cubicBezTo>
                    <a:pt x="172137" y="231187"/>
                    <a:pt x="170125" y="233534"/>
                    <a:pt x="169430" y="236385"/>
                  </a:cubicBezTo>
                  <a:cubicBezTo>
                    <a:pt x="160883" y="271627"/>
                    <a:pt x="110756" y="271627"/>
                    <a:pt x="102197" y="236385"/>
                  </a:cubicBezTo>
                  <a:cubicBezTo>
                    <a:pt x="101506" y="233532"/>
                    <a:pt x="99494" y="231181"/>
                    <a:pt x="96783" y="230057"/>
                  </a:cubicBezTo>
                  <a:cubicBezTo>
                    <a:pt x="94073" y="228932"/>
                    <a:pt x="90988" y="229169"/>
                    <a:pt x="88481" y="230695"/>
                  </a:cubicBezTo>
                  <a:cubicBezTo>
                    <a:pt x="57505" y="249554"/>
                    <a:pt x="22060" y="214121"/>
                    <a:pt x="40919" y="183146"/>
                  </a:cubicBezTo>
                  <a:cubicBezTo>
                    <a:pt x="42445" y="180641"/>
                    <a:pt x="42684" y="177558"/>
                    <a:pt x="41562" y="174847"/>
                  </a:cubicBezTo>
                  <a:cubicBezTo>
                    <a:pt x="40440" y="172137"/>
                    <a:pt x="38092" y="170125"/>
                    <a:pt x="35242" y="169430"/>
                  </a:cubicBezTo>
                  <a:cubicBezTo>
                    <a:pt x="0" y="160883"/>
                    <a:pt x="0" y="110756"/>
                    <a:pt x="35242" y="102197"/>
                  </a:cubicBezTo>
                  <a:cubicBezTo>
                    <a:pt x="38095" y="101506"/>
                    <a:pt x="40446" y="99494"/>
                    <a:pt x="41570" y="96783"/>
                  </a:cubicBezTo>
                  <a:cubicBezTo>
                    <a:pt x="42695" y="94073"/>
                    <a:pt x="42458" y="90988"/>
                    <a:pt x="40932" y="88481"/>
                  </a:cubicBezTo>
                  <a:cubicBezTo>
                    <a:pt x="22073" y="57505"/>
                    <a:pt x="57505" y="22060"/>
                    <a:pt x="88481" y="40919"/>
                  </a:cubicBezTo>
                  <a:cubicBezTo>
                    <a:pt x="90984" y="42457"/>
                    <a:pt x="94072" y="42702"/>
                    <a:pt x="96786" y="41578"/>
                  </a:cubicBezTo>
                  <a:cubicBezTo>
                    <a:pt x="99501" y="40455"/>
                    <a:pt x="101512" y="38099"/>
                    <a:pt x="102197" y="35242"/>
                  </a:cubicBezTo>
                  <a:cubicBezTo>
                    <a:pt x="110744" y="0"/>
                    <a:pt x="160870" y="0"/>
                    <a:pt x="169430" y="35242"/>
                  </a:cubicBezTo>
                  <a:close/>
                  <a:moveTo>
                    <a:pt x="135813" y="97714"/>
                  </a:moveTo>
                  <a:cubicBezTo>
                    <a:pt x="114771" y="97714"/>
                    <a:pt x="97714" y="114771"/>
                    <a:pt x="97714" y="135813"/>
                  </a:cubicBezTo>
                  <a:cubicBezTo>
                    <a:pt x="97714" y="156855"/>
                    <a:pt x="114771" y="173913"/>
                    <a:pt x="135813" y="173913"/>
                  </a:cubicBezTo>
                  <a:cubicBezTo>
                    <a:pt x="156855" y="173913"/>
                    <a:pt x="173913" y="156855"/>
                    <a:pt x="173913" y="135813"/>
                  </a:cubicBezTo>
                  <a:cubicBezTo>
                    <a:pt x="173913" y="114771"/>
                    <a:pt x="156855" y="97714"/>
                    <a:pt x="135813" y="97714"/>
                  </a:cubicBezTo>
                </a:path>
              </a:pathLst>
            </a:custGeom>
            <a:solidFill>
              <a:schemeClr val="accent3"/>
            </a:solidFill>
            <a:ln>
              <a:noFill/>
            </a:ln>
          </p:spPr>
        </p:sp>
        <p:sp>
          <p:nvSpPr>
            <p:cNvPr id="7" name="TextBox 7"/>
            <p:cNvSpPr txBox="1"/>
            <p:nvPr/>
          </p:nvSpPr>
          <p:spPr>
            <a:xfrm>
              <a:off x="1514856" y="2301240"/>
              <a:ext cx="245601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Windows の PC と Excel</a:t>
              </a:r>
            </a:p>
          </p:txBody>
        </p:sp>
      </p:grpSp>
      <p:grpSp>
        <p:nvGrpSpPr>
          <p:cNvPr id="11" name="Group 11"/>
          <p:cNvGrpSpPr/>
          <p:nvPr/>
        </p:nvGrpSpPr>
        <p:grpSpPr>
          <a:xfrm>
            <a:off x="977900" y="3124200"/>
            <a:ext cx="8298664" cy="386334"/>
            <a:chOff x="977900" y="3124200"/>
            <a:chExt cx="8298664" cy="386334"/>
          </a:xfrm>
        </p:grpSpPr>
        <p:sp>
          <p:nvSpPr>
            <p:cNvPr id="9" name="Freeform 9"/>
            <p:cNvSpPr/>
            <p:nvPr/>
          </p:nvSpPr>
          <p:spPr>
            <a:xfrm>
              <a:off x="977900" y="31242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3"/>
            </a:solidFill>
            <a:ln>
              <a:noFill/>
            </a:ln>
          </p:spPr>
        </p:sp>
        <p:sp>
          <p:nvSpPr>
            <p:cNvPr id="10" name="TextBox 10"/>
            <p:cNvSpPr txBox="1"/>
            <p:nvPr/>
          </p:nvSpPr>
          <p:spPr>
            <a:xfrm>
              <a:off x="1514856" y="3158490"/>
              <a:ext cx="77617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使える AI チャット（Microsoft 365 Copilot Chat など、社内で許可されているもの）</a:t>
              </a:r>
            </a:p>
          </p:txBody>
        </p:sp>
      </p:grpSp>
      <p:grpSp>
        <p:nvGrpSpPr>
          <p:cNvPr id="16" name="Group 16"/>
          <p:cNvGrpSpPr/>
          <p:nvPr/>
        </p:nvGrpSpPr>
        <p:grpSpPr>
          <a:xfrm>
            <a:off x="1003299" y="3968750"/>
            <a:ext cx="2480489" cy="399034"/>
            <a:chOff x="1003299" y="3968750"/>
            <a:chExt cx="2480489" cy="399034"/>
          </a:xfrm>
        </p:grpSpPr>
        <p:grpSp>
          <p:nvGrpSpPr>
            <p:cNvPr id="14" name="Group 14"/>
            <p:cNvGrpSpPr/>
            <p:nvPr/>
          </p:nvGrpSpPr>
          <p:grpSpPr>
            <a:xfrm>
              <a:off x="1003299" y="3968750"/>
              <a:ext cx="203202" cy="254000"/>
              <a:chOff x="1003299" y="3968750"/>
              <a:chExt cx="203202" cy="254000"/>
            </a:xfrm>
          </p:grpSpPr>
          <p:sp>
            <p:nvSpPr>
              <p:cNvPr id="12" name="Freeform 12"/>
              <p:cNvSpPr/>
              <p:nvPr/>
            </p:nvSpPr>
            <p:spPr>
              <a:xfrm>
                <a:off x="1003299" y="3968750"/>
                <a:ext cx="203202" cy="254000"/>
              </a:xfrm>
              <a:custGeom>
                <a:avLst/>
                <a:gdLst/>
                <a:ahLst/>
                <a:cxnLst/>
                <a:rect l="l" t="t" r="r" b="b"/>
                <a:pathLst>
                  <a:path w="203202" h="254000">
                    <a:moveTo>
                      <a:pt x="101601" y="0"/>
                    </a:moveTo>
                    <a:lnTo>
                      <a:pt x="103087" y="89"/>
                    </a:lnTo>
                    <a:cubicBezTo>
                      <a:pt x="108922" y="777"/>
                      <a:pt x="113524" y="5379"/>
                      <a:pt x="114212" y="11214"/>
                    </a:cubicBezTo>
                    <a:lnTo>
                      <a:pt x="114301" y="12700"/>
                    </a:lnTo>
                    <a:lnTo>
                      <a:pt x="114301" y="63500"/>
                    </a:lnTo>
                    <a:lnTo>
                      <a:pt x="114364" y="65405"/>
                    </a:lnTo>
                    <a:cubicBezTo>
                      <a:pt x="115303" y="77900"/>
                      <a:pt x="125215" y="87844"/>
                      <a:pt x="137707" y="88824"/>
                    </a:cubicBezTo>
                    <a:lnTo>
                      <a:pt x="139701" y="88900"/>
                    </a:lnTo>
                    <a:lnTo>
                      <a:pt x="190501" y="88900"/>
                    </a:lnTo>
                    <a:lnTo>
                      <a:pt x="191987" y="88989"/>
                    </a:lnTo>
                    <a:cubicBezTo>
                      <a:pt x="197822" y="89677"/>
                      <a:pt x="202424" y="94278"/>
                      <a:pt x="203112" y="100114"/>
                    </a:cubicBezTo>
                    <a:lnTo>
                      <a:pt x="203201" y="101600"/>
                    </a:lnTo>
                    <a:lnTo>
                      <a:pt x="203201" y="215899"/>
                    </a:lnTo>
                    <a:cubicBezTo>
                      <a:pt x="203202" y="236074"/>
                      <a:pt x="187476" y="252752"/>
                      <a:pt x="167336" y="253936"/>
                    </a:cubicBezTo>
                    <a:lnTo>
                      <a:pt x="165101" y="253999"/>
                    </a:lnTo>
                    <a:lnTo>
                      <a:pt x="38101" y="253999"/>
                    </a:lnTo>
                    <a:cubicBezTo>
                      <a:pt x="17926" y="254000"/>
                      <a:pt x="1248" y="238275"/>
                      <a:pt x="65" y="218135"/>
                    </a:cubicBezTo>
                    <a:lnTo>
                      <a:pt x="1" y="215899"/>
                    </a:lnTo>
                    <a:lnTo>
                      <a:pt x="1" y="38100"/>
                    </a:lnTo>
                    <a:cubicBezTo>
                      <a:pt x="0" y="17925"/>
                      <a:pt x="15726" y="1247"/>
                      <a:pt x="35866" y="63"/>
                    </a:cubicBezTo>
                    <a:lnTo>
                      <a:pt x="38101" y="0"/>
                    </a:lnTo>
                    <a:close/>
                    <a:moveTo>
                      <a:pt x="81878" y="141046"/>
                    </a:moveTo>
                    <a:cubicBezTo>
                      <a:pt x="75607" y="137914"/>
                      <a:pt x="67985" y="140455"/>
                      <a:pt x="64847" y="146723"/>
                    </a:cubicBezTo>
                    <a:lnTo>
                      <a:pt x="52147" y="172123"/>
                    </a:lnTo>
                    <a:cubicBezTo>
                      <a:pt x="50361" y="175697"/>
                      <a:pt x="50361" y="179903"/>
                      <a:pt x="52147" y="183476"/>
                    </a:cubicBezTo>
                    <a:lnTo>
                      <a:pt x="64847" y="208876"/>
                    </a:lnTo>
                    <a:cubicBezTo>
                      <a:pt x="67985" y="215144"/>
                      <a:pt x="75607" y="217685"/>
                      <a:pt x="81878" y="214553"/>
                    </a:cubicBezTo>
                    <a:lnTo>
                      <a:pt x="83173" y="213817"/>
                    </a:lnTo>
                    <a:cubicBezTo>
                      <a:pt x="88552" y="210281"/>
                      <a:pt x="90435" y="203279"/>
                      <a:pt x="87555" y="197523"/>
                    </a:cubicBezTo>
                    <a:lnTo>
                      <a:pt x="77700" y="177800"/>
                    </a:lnTo>
                    <a:lnTo>
                      <a:pt x="87555" y="158077"/>
                    </a:lnTo>
                    <a:cubicBezTo>
                      <a:pt x="90686" y="151806"/>
                      <a:pt x="88146" y="144183"/>
                      <a:pt x="81878" y="141046"/>
                    </a:cubicBezTo>
                    <a:moveTo>
                      <a:pt x="138355" y="146723"/>
                    </a:moveTo>
                    <a:cubicBezTo>
                      <a:pt x="135217" y="140455"/>
                      <a:pt x="127595" y="137914"/>
                      <a:pt x="121324" y="141046"/>
                    </a:cubicBezTo>
                    <a:lnTo>
                      <a:pt x="120029" y="141782"/>
                    </a:lnTo>
                    <a:cubicBezTo>
                      <a:pt x="114650" y="145319"/>
                      <a:pt x="112767" y="152320"/>
                      <a:pt x="115647" y="158077"/>
                    </a:cubicBezTo>
                    <a:lnTo>
                      <a:pt x="125477" y="177800"/>
                    </a:lnTo>
                    <a:lnTo>
                      <a:pt x="115634" y="197523"/>
                    </a:lnTo>
                    <a:cubicBezTo>
                      <a:pt x="112757" y="203751"/>
                      <a:pt x="115347" y="211139"/>
                      <a:pt x="121484" y="214208"/>
                    </a:cubicBezTo>
                    <a:cubicBezTo>
                      <a:pt x="127621" y="217276"/>
                      <a:pt x="135085" y="214915"/>
                      <a:pt x="138342" y="208876"/>
                    </a:cubicBezTo>
                    <a:lnTo>
                      <a:pt x="151042" y="183476"/>
                    </a:lnTo>
                    <a:cubicBezTo>
                      <a:pt x="152828" y="179903"/>
                      <a:pt x="152828" y="175697"/>
                      <a:pt x="151042" y="172123"/>
                    </a:cubicBezTo>
                    <a:close/>
                  </a:path>
                </a:pathLst>
              </a:custGeom>
              <a:solidFill>
                <a:schemeClr val="accent3"/>
              </a:solidFill>
              <a:ln>
                <a:noFill/>
              </a:ln>
            </p:spPr>
          </p:sp>
          <p:sp>
            <p:nvSpPr>
              <p:cNvPr id="13" name="Freeform 13"/>
              <p:cNvSpPr/>
              <p:nvPr/>
            </p:nvSpPr>
            <p:spPr>
              <a:xfrm>
                <a:off x="1142987" y="3981437"/>
                <a:ext cx="50813" cy="50813"/>
              </a:xfrm>
              <a:custGeom>
                <a:avLst/>
                <a:gdLst/>
                <a:ahLst/>
                <a:cxnLst/>
                <a:rect l="l" t="t" r="r" b="b"/>
                <a:pathLst>
                  <a:path w="50813" h="50813">
                    <a:moveTo>
                      <a:pt x="50813" y="50813"/>
                    </a:moveTo>
                    <a:lnTo>
                      <a:pt x="13" y="50813"/>
                    </a:lnTo>
                    <a:lnTo>
                      <a:pt x="0" y="0"/>
                    </a:lnTo>
                    <a:close/>
                  </a:path>
                </a:pathLst>
              </a:custGeom>
              <a:solidFill>
                <a:schemeClr val="accent3"/>
              </a:solidFill>
              <a:ln>
                <a:noFill/>
              </a:ln>
            </p:spPr>
          </p:sp>
        </p:grpSp>
        <p:sp>
          <p:nvSpPr>
            <p:cNvPr id="15" name="TextBox 15"/>
            <p:cNvSpPr txBox="1"/>
            <p:nvPr/>
          </p:nvSpPr>
          <p:spPr>
            <a:xfrm>
              <a:off x="1514856" y="4015740"/>
              <a:ext cx="19689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直したいマクロ入りのブック</a:t>
              </a:r>
            </a:p>
          </p:txBody>
        </p:sp>
      </p:grpSp>
      <p:grpSp>
        <p:nvGrpSpPr>
          <p:cNvPr id="19" name="Group 19"/>
          <p:cNvGrpSpPr/>
          <p:nvPr/>
        </p:nvGrpSpPr>
        <p:grpSpPr>
          <a:xfrm>
            <a:off x="1028699" y="4838066"/>
            <a:ext cx="3448584" cy="386968"/>
            <a:chOff x="1028699" y="4838066"/>
            <a:chExt cx="3448584" cy="386968"/>
          </a:xfrm>
        </p:grpSpPr>
        <p:sp>
          <p:nvSpPr>
            <p:cNvPr id="17" name="Freeform 17"/>
            <p:cNvSpPr/>
            <p:nvPr/>
          </p:nvSpPr>
          <p:spPr>
            <a:xfrm>
              <a:off x="1028699" y="4838066"/>
              <a:ext cx="190507" cy="229868"/>
            </a:xfrm>
            <a:custGeom>
              <a:avLst/>
              <a:gdLst/>
              <a:ahLst/>
              <a:cxnLst/>
              <a:rect l="l" t="t" r="r" b="b"/>
              <a:pathLst>
                <a:path w="190507" h="229868">
                  <a:moveTo>
                    <a:pt x="1" y="13334"/>
                  </a:moveTo>
                  <a:lnTo>
                    <a:pt x="1" y="216534"/>
                  </a:lnTo>
                  <a:cubicBezTo>
                    <a:pt x="0" y="221135"/>
                    <a:pt x="2488" y="225377"/>
                    <a:pt x="6504" y="227623"/>
                  </a:cubicBezTo>
                  <a:cubicBezTo>
                    <a:pt x="10520" y="229868"/>
                    <a:pt x="15437" y="229765"/>
                    <a:pt x="19356" y="227354"/>
                  </a:cubicBezTo>
                  <a:lnTo>
                    <a:pt x="184456" y="125754"/>
                  </a:lnTo>
                  <a:cubicBezTo>
                    <a:pt x="188216" y="123444"/>
                    <a:pt x="190507" y="119347"/>
                    <a:pt x="190507" y="114934"/>
                  </a:cubicBezTo>
                  <a:cubicBezTo>
                    <a:pt x="190507" y="110521"/>
                    <a:pt x="188216" y="106424"/>
                    <a:pt x="184456" y="104114"/>
                  </a:cubicBezTo>
                  <a:lnTo>
                    <a:pt x="19356" y="2514"/>
                  </a:lnTo>
                  <a:cubicBezTo>
                    <a:pt x="15437" y="103"/>
                    <a:pt x="10520" y="0"/>
                    <a:pt x="6504" y="2245"/>
                  </a:cubicBezTo>
                  <a:cubicBezTo>
                    <a:pt x="2488" y="4491"/>
                    <a:pt x="0" y="8733"/>
                    <a:pt x="1" y="13334"/>
                  </a:cubicBezTo>
                  <a:close/>
                </a:path>
              </a:pathLst>
            </a:custGeom>
            <a:solidFill>
              <a:schemeClr val="accent3"/>
            </a:solidFill>
            <a:ln>
              <a:noFill/>
            </a:ln>
          </p:spPr>
        </p:sp>
        <p:sp>
          <p:nvSpPr>
            <p:cNvPr id="18" name="TextBox 18"/>
            <p:cNvSpPr txBox="1"/>
            <p:nvPr/>
          </p:nvSpPr>
          <p:spPr>
            <a:xfrm>
              <a:off x="1514856" y="4872990"/>
              <a:ext cx="296242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Consolas"/>
                  <a:ea typeface="Consolas"/>
                  <a:cs typeface="Consolas"/>
                </a:rPr>
                <a:t>launch.vbs</a:t>
              </a:r>
              <a:r>
                <a:rPr lang="en-US" sz="1800" dirty="0">
                  <a:solidFill>
                    <a:schemeClr val="dk1"/>
                  </a:solidFill>
                  <a:latin typeface="+mn-lt"/>
                  <a:ea typeface="+mn-ea"/>
                  <a:cs typeface="+mn-cs"/>
                </a:rPr>
                <a:t xml:space="preserve"> をダブルクリックするだけ</a:t>
              </a:r>
            </a:p>
          </p:txBody>
        </p:sp>
      </p:grpSp>
      <p:grpSp>
        <p:nvGrpSpPr>
          <p:cNvPr id="22" name="Group 22"/>
          <p:cNvGrpSpPr/>
          <p:nvPr/>
        </p:nvGrpSpPr>
        <p:grpSpPr>
          <a:xfrm>
            <a:off x="952500" y="5676900"/>
            <a:ext cx="10287000" cy="609600"/>
            <a:chOff x="952500" y="5676900"/>
            <a:chExt cx="10287000" cy="609600"/>
          </a:xfrm>
        </p:grpSpPr>
        <p:sp>
          <p:nvSpPr>
            <p:cNvPr id="20" name="Rectangle 20"/>
            <p:cNvSpPr/>
            <p:nvPr/>
          </p:nvSpPr>
          <p:spPr>
            <a:xfrm>
              <a:off x="952500" y="5676900"/>
              <a:ext cx="10287000" cy="609600"/>
            </a:xfrm>
            <a:prstGeom prst="roundRect">
              <a:avLst>
                <a:gd name="adj" fmla="val 25000"/>
              </a:avLst>
            </a:prstGeom>
            <a:solidFill>
              <a:schemeClr val="lt2"/>
            </a:solidFill>
            <a:ln>
              <a:noFill/>
            </a:ln>
          </p:spPr>
        </p:sp>
        <p:sp>
          <p:nvSpPr>
            <p:cNvPr id="21" name="TextBox 21"/>
            <p:cNvSpPr txBox="1"/>
            <p:nvPr/>
          </p:nvSpPr>
          <p:spPr>
            <a:xfrm>
              <a:off x="1248156" y="5863590"/>
              <a:ext cx="3665144"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特別な権限やインストール作業は不要です。</a:t>
              </a:r>
            </a:p>
          </p:txBody>
        </p:sp>
      </p:grpSp>
      <p:grpSp>
        <p:nvGrpSpPr>
          <p:cNvPr id="25" name="Group 25"/>
          <p:cNvGrpSpPr/>
          <p:nvPr/>
        </p:nvGrpSpPr>
        <p:grpSpPr>
          <a:xfrm>
            <a:off x="946404" y="6557010"/>
            <a:ext cx="10299192" cy="234696"/>
            <a:chOff x="946404" y="6557010"/>
            <a:chExt cx="10299192" cy="234696"/>
          </a:xfrm>
        </p:grpSpPr>
        <p:sp>
          <p:nvSpPr>
            <p:cNvPr id="23" name="TextBox 23"/>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4" name="TextBox 24"/>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936498" y="612458"/>
            <a:ext cx="10303002" cy="1197292"/>
            <a:chOff x="936498" y="612458"/>
            <a:chExt cx="10303002" cy="1197292"/>
          </a:xfrm>
        </p:grpSpPr>
        <p:sp>
          <p:nvSpPr>
            <p:cNvPr id="2" name="TextBox 2"/>
            <p:cNvSpPr txBox="1"/>
            <p:nvPr/>
          </p:nvSpPr>
          <p:spPr>
            <a:xfrm>
              <a:off x="936498" y="612458"/>
              <a:ext cx="297069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このツールがやらないこと</a:t>
              </a:r>
            </a:p>
          </p:txBody>
        </p:sp>
        <p:sp>
          <p:nvSpPr>
            <p:cNvPr id="3" name="TextBox 3"/>
            <p:cNvSpPr txBox="1"/>
            <p:nvPr/>
          </p:nvSpPr>
          <p:spPr>
            <a:xfrm>
              <a:off x="941070" y="1185862"/>
              <a:ext cx="5623560"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判断と最終確認は人と AI に残す。だから壊れない</a:t>
              </a:r>
            </a:p>
          </p:txBody>
        </p:sp>
        <p:sp>
          <p:nvSpPr>
            <p:cNvPr id="4" name="Rectangle 4"/>
            <p:cNvSpPr/>
            <p:nvPr/>
          </p:nvSpPr>
          <p:spPr>
            <a:xfrm>
              <a:off x="952500" y="1790700"/>
              <a:ext cx="10287000" cy="19050"/>
            </a:xfrm>
            <a:prstGeom prst="rect">
              <a:avLst/>
            </a:prstGeom>
            <a:solidFill>
              <a:srgbClr val="CBD5E1"/>
            </a:solidFill>
            <a:ln>
              <a:noFill/>
            </a:ln>
          </p:spPr>
        </p:sp>
      </p:grpSp>
      <p:grpSp>
        <p:nvGrpSpPr>
          <p:cNvPr id="8" name="Group 8"/>
          <p:cNvGrpSpPr/>
          <p:nvPr/>
        </p:nvGrpSpPr>
        <p:grpSpPr>
          <a:xfrm>
            <a:off x="976312" y="2209229"/>
            <a:ext cx="4602138" cy="386905"/>
            <a:chOff x="976312" y="2209229"/>
            <a:chExt cx="4602138" cy="386905"/>
          </a:xfrm>
        </p:grpSpPr>
        <p:sp>
          <p:nvSpPr>
            <p:cNvPr id="6" name="Freeform 6"/>
            <p:cNvSpPr/>
            <p:nvPr/>
          </p:nvSpPr>
          <p:spPr>
            <a:xfrm>
              <a:off x="976312" y="22092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7" name="TextBox 7"/>
            <p:cNvSpPr txBox="1"/>
            <p:nvPr/>
          </p:nvSpPr>
          <p:spPr>
            <a:xfrm>
              <a:off x="1514856" y="2244090"/>
              <a:ext cx="406359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どこをどう直すかを決めること。それは AI に聞く。</a:t>
              </a:r>
            </a:p>
          </p:txBody>
        </p:sp>
      </p:grpSp>
      <p:grpSp>
        <p:nvGrpSpPr>
          <p:cNvPr id="11" name="Group 11"/>
          <p:cNvGrpSpPr/>
          <p:nvPr/>
        </p:nvGrpSpPr>
        <p:grpSpPr>
          <a:xfrm>
            <a:off x="976312" y="3009329"/>
            <a:ext cx="4470235" cy="386905"/>
            <a:chOff x="976312" y="3009329"/>
            <a:chExt cx="4470235" cy="386905"/>
          </a:xfrm>
        </p:grpSpPr>
        <p:sp>
          <p:nvSpPr>
            <p:cNvPr id="9" name="Freeform 9"/>
            <p:cNvSpPr/>
            <p:nvPr/>
          </p:nvSpPr>
          <p:spPr>
            <a:xfrm>
              <a:off x="976312" y="30093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0" name="TextBox 10"/>
            <p:cNvSpPr txBox="1"/>
            <p:nvPr/>
          </p:nvSpPr>
          <p:spPr>
            <a:xfrm>
              <a:off x="1514856" y="3044190"/>
              <a:ext cx="39316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元のブックを書き換えること。必ず別名で作る。</a:t>
              </a:r>
            </a:p>
          </p:txBody>
        </p:sp>
      </p:grpSp>
      <p:grpSp>
        <p:nvGrpSpPr>
          <p:cNvPr id="14" name="Group 14"/>
          <p:cNvGrpSpPr/>
          <p:nvPr/>
        </p:nvGrpSpPr>
        <p:grpSpPr>
          <a:xfrm>
            <a:off x="976312" y="3809429"/>
            <a:ext cx="4454462" cy="710755"/>
            <a:chOff x="976312" y="3809429"/>
            <a:chExt cx="4454462" cy="710755"/>
          </a:xfrm>
        </p:grpSpPr>
        <p:sp>
          <p:nvSpPr>
            <p:cNvPr id="12" name="Freeform 12"/>
            <p:cNvSpPr/>
            <p:nvPr/>
          </p:nvSpPr>
          <p:spPr>
            <a:xfrm>
              <a:off x="976312" y="38094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3" name="TextBox 13"/>
            <p:cNvSpPr txBox="1"/>
            <p:nvPr/>
          </p:nvSpPr>
          <p:spPr>
            <a:xfrm>
              <a:off x="1514856" y="3844290"/>
              <a:ext cx="39159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マクロを勝手に増やして構造を変えること。増やせる範囲は限ってある（詳しくは第二部）。</a:t>
              </a:r>
            </a:p>
          </p:txBody>
        </p:sp>
      </p:grpSp>
      <p:grpSp>
        <p:nvGrpSpPr>
          <p:cNvPr id="17" name="Group 17"/>
          <p:cNvGrpSpPr/>
          <p:nvPr/>
        </p:nvGrpSpPr>
        <p:grpSpPr>
          <a:xfrm>
            <a:off x="976312" y="4933379"/>
            <a:ext cx="7602284" cy="386905"/>
            <a:chOff x="976312" y="4933379"/>
            <a:chExt cx="7602284" cy="386905"/>
          </a:xfrm>
        </p:grpSpPr>
        <p:sp>
          <p:nvSpPr>
            <p:cNvPr id="15" name="Freeform 15"/>
            <p:cNvSpPr/>
            <p:nvPr/>
          </p:nvSpPr>
          <p:spPr>
            <a:xfrm>
              <a:off x="976312" y="49333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6" name="TextBox 16"/>
            <p:cNvSpPr txBox="1"/>
            <p:nvPr/>
          </p:nvSpPr>
          <p:spPr>
            <a:xfrm>
              <a:off x="1514856" y="4968240"/>
              <a:ext cx="70637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直ったマクロを実際に動かして確かめること。最後に Excel で開いて確認するのは人。</a:t>
              </a:r>
            </a:p>
          </p:txBody>
        </p:sp>
      </p:grpSp>
      <p:grpSp>
        <p:nvGrpSpPr>
          <p:cNvPr id="20" name="Group 20"/>
          <p:cNvGrpSpPr/>
          <p:nvPr/>
        </p:nvGrpSpPr>
        <p:grpSpPr>
          <a:xfrm>
            <a:off x="946404" y="6557010"/>
            <a:ext cx="10299192" cy="234696"/>
            <a:chOff x="946404" y="6557010"/>
            <a:chExt cx="10299192" cy="234696"/>
          </a:xfrm>
        </p:grpSpPr>
        <p:sp>
          <p:nvSpPr>
            <p:cNvPr id="18" name="TextBox 18"/>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19" name="TextBox 19"/>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2"/>
          <p:cNvSpPr txBox="1"/>
          <p:nvPr/>
        </p:nvSpPr>
        <p:spPr>
          <a:xfrm>
            <a:off x="933450" y="2651760"/>
            <a:ext cx="597850" cy="1390650"/>
          </a:xfrm>
          <a:prstGeom prst="rect">
            <a:avLst/>
          </a:prstGeom>
          <a:noFill/>
          <a:ln>
            <a:noFill/>
          </a:ln>
        </p:spPr>
        <p:txBody>
          <a:bodyPr wrap="none" lIns="0" tIns="0" rIns="0" bIns="0" anchor="t" anchorCtr="0">
            <a:spAutoFit/>
          </a:bodyPr>
          <a:lstStyle/>
          <a:p>
            <a:pPr algn="l"/>
            <a:r>
              <a:rPr lang="en-US" sz="7200" b="1" dirty="0">
                <a:solidFill>
                  <a:schemeClr val="accent3"/>
                </a:solidFill>
                <a:latin typeface="+mn-lt"/>
                <a:ea typeface="+mn-ea"/>
                <a:cs typeface="+mn-cs"/>
              </a:rPr>
              <a:t>2</a:t>
            </a:r>
          </a:p>
        </p:txBody>
      </p:sp>
      <p:grpSp>
        <p:nvGrpSpPr>
          <p:cNvPr id="5" name="Group 5"/>
          <p:cNvGrpSpPr/>
          <p:nvPr/>
        </p:nvGrpSpPr>
        <p:grpSpPr>
          <a:xfrm>
            <a:off x="1885950" y="2775585"/>
            <a:ext cx="6523991" cy="1974532"/>
            <a:chOff x="1885950" y="2775585"/>
            <a:chExt cx="6523991" cy="1974532"/>
          </a:xfrm>
        </p:grpSpPr>
        <p:sp>
          <p:nvSpPr>
            <p:cNvPr id="3" name="TextBox 3"/>
            <p:cNvSpPr txBox="1"/>
            <p:nvPr/>
          </p:nvSpPr>
          <p:spPr>
            <a:xfrm>
              <a:off x="1885950" y="2775585"/>
              <a:ext cx="6523991" cy="1104900"/>
            </a:xfrm>
            <a:prstGeom prst="rect">
              <a:avLst/>
            </a:prstGeom>
            <a:noFill/>
            <a:ln>
              <a:noFill/>
            </a:ln>
          </p:spPr>
          <p:txBody>
            <a:bodyPr wrap="none" lIns="0" tIns="0" rIns="0" bIns="0" anchor="t" anchorCtr="0">
              <a:spAutoFit/>
            </a:bodyPr>
            <a:lstStyle/>
            <a:p>
              <a:pPr algn="l"/>
              <a:r>
                <a:rPr lang="zh-CN" sz="5700" b="1" dirty="0">
                  <a:solidFill>
                    <a:srgbClr val="FFFFFF"/>
                  </a:solidFill>
                  <a:latin typeface="+mn-lt"/>
                  <a:ea typeface="+mn-ea"/>
                  <a:cs typeface="+mn-cs"/>
                </a:rPr>
                <a:t>第二部 操作マニュアル</a:t>
              </a:r>
            </a:p>
          </p:txBody>
        </p:sp>
        <p:sp>
          <p:nvSpPr>
            <p:cNvPr id="4" name="TextBox 4"/>
            <p:cNvSpPr txBox="1"/>
            <p:nvPr/>
          </p:nvSpPr>
          <p:spPr>
            <a:xfrm>
              <a:off x="1893570" y="3910012"/>
              <a:ext cx="4037648" cy="840105"/>
            </a:xfrm>
            <a:prstGeom prst="rect">
              <a:avLst/>
            </a:prstGeom>
            <a:noFill/>
            <a:ln>
              <a:noFill/>
            </a:ln>
          </p:spPr>
          <p:txBody>
            <a:bodyPr wrap="square" lIns="0" tIns="0" rIns="0" bIns="0" anchor="t" anchorCtr="0"/>
            <a:lstStyle/>
            <a:p>
              <a:pPr algn="l">
                <a:lnSpc>
                  <a:spcPts val="3150"/>
                </a:lnSpc>
              </a:pPr>
              <a:r>
                <a:rPr lang="zh-CN" sz="2250" dirty="0">
                  <a:solidFill>
                    <a:srgbClr val="FFFFFF"/>
                  </a:solidFill>
                  <a:latin typeface="+mn-lt"/>
                  <a:ea typeface="+mn-ea"/>
                  <a:cs typeface="+mn-cs"/>
                </a:rPr>
                <a:t>ここからは、実際に操作する人向けです。画面の順にそのまま進みます。</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7206044" cy="956309"/>
            <a:chOff x="936498" y="460058"/>
            <a:chExt cx="7206044" cy="956309"/>
          </a:xfrm>
        </p:grpSpPr>
        <p:sp>
          <p:nvSpPr>
            <p:cNvPr id="2" name="TextBox 2"/>
            <p:cNvSpPr txBox="1"/>
            <p:nvPr/>
          </p:nvSpPr>
          <p:spPr>
            <a:xfrm>
              <a:off x="936498" y="460058"/>
              <a:ext cx="33714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まず、どちらかを選びます</a:t>
              </a:r>
            </a:p>
          </p:txBody>
        </p:sp>
        <p:sp>
          <p:nvSpPr>
            <p:cNvPr id="3" name="TextBox 3"/>
            <p:cNvSpPr txBox="1"/>
            <p:nvPr/>
          </p:nvSpPr>
          <p:spPr>
            <a:xfrm>
              <a:off x="941070" y="976312"/>
              <a:ext cx="7201472"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ブックを書き換えるのは「改修する」だけ。聞くだけなら手順 2 で終わる</a:t>
              </a:r>
            </a:p>
          </p:txBody>
        </p:sp>
      </p:grpSp>
      <p:grpSp>
        <p:nvGrpSpPr>
          <p:cNvPr id="10" name="Group 10"/>
          <p:cNvGrpSpPr/>
          <p:nvPr/>
        </p:nvGrpSpPr>
        <p:grpSpPr>
          <a:xfrm>
            <a:off x="952500" y="1524000"/>
            <a:ext cx="10287000" cy="952500"/>
            <a:chOff x="952500" y="1524000"/>
            <a:chExt cx="10287000" cy="952500"/>
          </a:xfrm>
        </p:grpSpPr>
        <p:sp>
          <p:nvSpPr>
            <p:cNvPr id="5" name="Rectangle 5"/>
            <p:cNvSpPr/>
            <p:nvPr/>
          </p:nvSpPr>
          <p:spPr>
            <a:xfrm>
              <a:off x="952500" y="1524000"/>
              <a:ext cx="10287000" cy="952500"/>
            </a:xfrm>
            <a:prstGeom prst="roundRect">
              <a:avLst>
                <a:gd name="adj" fmla="val 16000"/>
              </a:avLst>
            </a:prstGeom>
            <a:solidFill>
              <a:schemeClr val="lt2"/>
            </a:solidFill>
            <a:ln>
              <a:noFill/>
            </a:ln>
          </p:spPr>
        </p:sp>
        <p:sp>
          <p:nvSpPr>
            <p:cNvPr id="6" name="Freeform 6"/>
            <p:cNvSpPr/>
            <p:nvPr/>
          </p:nvSpPr>
          <p:spPr>
            <a:xfrm>
              <a:off x="1233713" y="174806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7" name="TextBox 7"/>
            <p:cNvSpPr txBox="1"/>
            <p:nvPr/>
          </p:nvSpPr>
          <p:spPr>
            <a:xfrm>
              <a:off x="1629156" y="17487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8" name="TextBox 8"/>
            <p:cNvSpPr txBox="1"/>
            <p:nvPr/>
          </p:nvSpPr>
          <p:spPr>
            <a:xfrm>
              <a:off x="9866948" y="1781175"/>
              <a:ext cx="1075372"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5 ファイルができる</a:t>
              </a:r>
            </a:p>
          </p:txBody>
        </p:sp>
        <p:sp>
          <p:nvSpPr>
            <p:cNvPr id="9" name="TextBox 9"/>
            <p:cNvSpPr txBox="1"/>
            <p:nvPr/>
          </p:nvSpPr>
          <p:spPr>
            <a:xfrm>
              <a:off x="1629156" y="2072640"/>
              <a:ext cx="402518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AI の返答を取り込み、改修済みブックを作る</a:t>
              </a:r>
            </a:p>
          </p:txBody>
        </p:sp>
      </p:grpSp>
      <p:grpSp>
        <p:nvGrpSpPr>
          <p:cNvPr id="16" name="Group 16"/>
          <p:cNvGrpSpPr/>
          <p:nvPr/>
        </p:nvGrpSpPr>
        <p:grpSpPr>
          <a:xfrm>
            <a:off x="952500" y="2628900"/>
            <a:ext cx="10287000" cy="952500"/>
            <a:chOff x="952500" y="2628900"/>
            <a:chExt cx="10287000" cy="952500"/>
          </a:xfrm>
        </p:grpSpPr>
        <p:sp>
          <p:nvSpPr>
            <p:cNvPr id="11" name="Rectangle 11"/>
            <p:cNvSpPr/>
            <p:nvPr/>
          </p:nvSpPr>
          <p:spPr>
            <a:xfrm>
              <a:off x="952500" y="2628900"/>
              <a:ext cx="10287000" cy="952500"/>
            </a:xfrm>
            <a:prstGeom prst="roundRect">
              <a:avLst>
                <a:gd name="adj" fmla="val 16000"/>
              </a:avLst>
            </a:prstGeom>
            <a:solidFill>
              <a:schemeClr val="lt2"/>
            </a:solidFill>
            <a:ln>
              <a:noFill/>
            </a:ln>
          </p:spPr>
        </p:sp>
        <p:sp>
          <p:nvSpPr>
            <p:cNvPr id="12" name="Freeform 12"/>
            <p:cNvSpPr/>
            <p:nvPr/>
          </p:nvSpPr>
          <p:spPr>
            <a:xfrm>
              <a:off x="1241425" y="287178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1"/>
            </a:solidFill>
            <a:ln>
              <a:noFill/>
            </a:ln>
          </p:spPr>
        </p:sp>
        <p:sp>
          <p:nvSpPr>
            <p:cNvPr id="13" name="TextBox 13"/>
            <p:cNvSpPr txBox="1"/>
            <p:nvPr/>
          </p:nvSpPr>
          <p:spPr>
            <a:xfrm>
              <a:off x="1629156" y="2853690"/>
              <a:ext cx="200765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 AI に聞く</a:t>
              </a:r>
            </a:p>
          </p:txBody>
        </p:sp>
        <p:sp>
          <p:nvSpPr>
            <p:cNvPr id="14" name="TextBox 14"/>
            <p:cNvSpPr txBox="1"/>
            <p:nvPr/>
          </p:nvSpPr>
          <p:spPr>
            <a:xfrm>
              <a:off x="9866948" y="2886075"/>
              <a:ext cx="1075372"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2 ファイルができる</a:t>
              </a:r>
            </a:p>
          </p:txBody>
        </p:sp>
        <p:sp>
          <p:nvSpPr>
            <p:cNvPr id="15" name="TextBox 15"/>
            <p:cNvSpPr txBox="1"/>
            <p:nvPr/>
          </p:nvSpPr>
          <p:spPr>
            <a:xfrm>
              <a:off x="1629156" y="3177540"/>
              <a:ext cx="2271827"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依頼文とコード全文を作る</a:t>
              </a:r>
            </a:p>
          </p:txBody>
        </p:sp>
      </p:grpSp>
      <p:grpSp>
        <p:nvGrpSpPr>
          <p:cNvPr id="36" name="Group 36"/>
          <p:cNvGrpSpPr/>
          <p:nvPr/>
        </p:nvGrpSpPr>
        <p:grpSpPr>
          <a:xfrm>
            <a:off x="990600" y="4095750"/>
            <a:ext cx="10210800" cy="914400"/>
            <a:chOff x="990600" y="4095750"/>
            <a:chExt cx="10210800" cy="914400"/>
          </a:xfrm>
        </p:grpSpPr>
        <p:sp>
          <p:nvSpPr>
            <p:cNvPr id="17" name="Line 17"/>
            <p:cNvSpPr/>
            <p:nvPr/>
          </p:nvSpPr>
          <p:spPr>
            <a:xfrm>
              <a:off x="3314700" y="4552950"/>
              <a:ext cx="247650" cy="1"/>
            </a:xfrm>
            <a:prstGeom prst="line">
              <a:avLst/>
            </a:prstGeom>
            <a:noFill/>
            <a:ln w="28575">
              <a:solidFill>
                <a:schemeClr val="accent3"/>
              </a:solidFill>
              <a:tailEnd type="triangle" w="lg" len="lg"/>
            </a:ln>
          </p:spPr>
        </p:sp>
        <p:sp>
          <p:nvSpPr>
            <p:cNvPr id="18" name="Line 18"/>
            <p:cNvSpPr/>
            <p:nvPr/>
          </p:nvSpPr>
          <p:spPr>
            <a:xfrm>
              <a:off x="5943600" y="4552950"/>
              <a:ext cx="247650" cy="1"/>
            </a:xfrm>
            <a:prstGeom prst="line">
              <a:avLst/>
            </a:prstGeom>
            <a:noFill/>
            <a:ln w="28575">
              <a:solidFill>
                <a:schemeClr val="accent3"/>
              </a:solidFill>
              <a:tailEnd type="triangle" w="lg" len="lg"/>
            </a:ln>
          </p:spPr>
        </p:sp>
        <p:sp>
          <p:nvSpPr>
            <p:cNvPr id="19" name="Line 19"/>
            <p:cNvSpPr/>
            <p:nvPr/>
          </p:nvSpPr>
          <p:spPr>
            <a:xfrm>
              <a:off x="8572500" y="4552950"/>
              <a:ext cx="247650" cy="1"/>
            </a:xfrm>
            <a:prstGeom prst="line">
              <a:avLst/>
            </a:prstGeom>
            <a:noFill/>
            <a:ln w="28575">
              <a:solidFill>
                <a:schemeClr val="accent3"/>
              </a:solidFill>
              <a:tailEnd type="triangle" w="lg" len="lg"/>
            </a:ln>
          </p:spPr>
        </p:sp>
        <p:sp>
          <p:nvSpPr>
            <p:cNvPr id="20" name="Rectangle 20"/>
            <p:cNvSpPr/>
            <p:nvPr/>
          </p:nvSpPr>
          <p:spPr>
            <a:xfrm>
              <a:off x="990600" y="4095750"/>
              <a:ext cx="2324100" cy="914400"/>
            </a:xfrm>
            <a:prstGeom prst="roundRect">
              <a:avLst>
                <a:gd name="adj" fmla="val 14583"/>
              </a:avLst>
            </a:prstGeom>
            <a:solidFill>
              <a:schemeClr val="lt1"/>
            </a:solidFill>
            <a:ln w="19050">
              <a:solidFill>
                <a:schemeClr val="accent1"/>
              </a:solidFill>
            </a:ln>
          </p:spPr>
        </p:sp>
        <p:sp>
          <p:nvSpPr>
            <p:cNvPr id="21" name="Ellipse 21"/>
            <p:cNvSpPr/>
            <p:nvPr/>
          </p:nvSpPr>
          <p:spPr>
            <a:xfrm>
              <a:off x="1123950" y="4248150"/>
              <a:ext cx="304800" cy="304800"/>
            </a:xfrm>
            <a:prstGeom prst="ellipse">
              <a:avLst/>
            </a:prstGeom>
            <a:solidFill>
              <a:schemeClr val="accent1"/>
            </a:solidFill>
            <a:ln>
              <a:noFill/>
            </a:ln>
          </p:spPr>
        </p:sp>
        <p:sp>
          <p:nvSpPr>
            <p:cNvPr id="22" name="TextBox 22"/>
            <p:cNvSpPr txBox="1"/>
            <p:nvPr/>
          </p:nvSpPr>
          <p:spPr>
            <a:xfrm>
              <a:off x="12170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23" name="TextBox 23"/>
            <p:cNvSpPr txBox="1"/>
            <p:nvPr/>
          </p:nvSpPr>
          <p:spPr>
            <a:xfrm>
              <a:off x="1469262" y="4644390"/>
              <a:ext cx="136677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ブックを読み込む</a:t>
              </a:r>
            </a:p>
          </p:txBody>
        </p:sp>
        <p:sp>
          <p:nvSpPr>
            <p:cNvPr id="24" name="Rectangle 24"/>
            <p:cNvSpPr/>
            <p:nvPr/>
          </p:nvSpPr>
          <p:spPr>
            <a:xfrm>
              <a:off x="3619500" y="4095750"/>
              <a:ext cx="2324100" cy="914400"/>
            </a:xfrm>
            <a:prstGeom prst="roundRect">
              <a:avLst>
                <a:gd name="adj" fmla="val 14583"/>
              </a:avLst>
            </a:prstGeom>
            <a:solidFill>
              <a:schemeClr val="lt1"/>
            </a:solidFill>
            <a:ln w="19050">
              <a:solidFill>
                <a:schemeClr val="accent1"/>
              </a:solidFill>
            </a:ln>
          </p:spPr>
        </p:sp>
        <p:sp>
          <p:nvSpPr>
            <p:cNvPr id="25" name="Ellipse 25"/>
            <p:cNvSpPr/>
            <p:nvPr/>
          </p:nvSpPr>
          <p:spPr>
            <a:xfrm>
              <a:off x="3752850" y="4248150"/>
              <a:ext cx="304800" cy="304800"/>
            </a:xfrm>
            <a:prstGeom prst="ellipse">
              <a:avLst/>
            </a:prstGeom>
            <a:solidFill>
              <a:schemeClr val="accent1"/>
            </a:solidFill>
            <a:ln>
              <a:noFill/>
            </a:ln>
          </p:spPr>
        </p:sp>
        <p:sp>
          <p:nvSpPr>
            <p:cNvPr id="26" name="TextBox 26"/>
            <p:cNvSpPr txBox="1"/>
            <p:nvPr/>
          </p:nvSpPr>
          <p:spPr>
            <a:xfrm>
              <a:off x="38459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27" name="TextBox 27"/>
            <p:cNvSpPr txBox="1"/>
            <p:nvPr/>
          </p:nvSpPr>
          <p:spPr>
            <a:xfrm>
              <a:off x="4127205" y="4644390"/>
              <a:ext cx="1308689"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AI へ依頼する</a:t>
              </a:r>
            </a:p>
          </p:txBody>
        </p:sp>
        <p:sp>
          <p:nvSpPr>
            <p:cNvPr id="28" name="Rectangle 28"/>
            <p:cNvSpPr/>
            <p:nvPr/>
          </p:nvSpPr>
          <p:spPr>
            <a:xfrm>
              <a:off x="6248400" y="4095750"/>
              <a:ext cx="2324100" cy="914400"/>
            </a:xfrm>
            <a:prstGeom prst="roundRect">
              <a:avLst>
                <a:gd name="adj" fmla="val 14583"/>
              </a:avLst>
            </a:prstGeom>
            <a:solidFill>
              <a:schemeClr val="lt1"/>
            </a:solidFill>
            <a:ln w="19050">
              <a:solidFill>
                <a:schemeClr val="accent1"/>
              </a:solidFill>
            </a:ln>
          </p:spPr>
        </p:sp>
        <p:sp>
          <p:nvSpPr>
            <p:cNvPr id="29" name="Ellipse 29"/>
            <p:cNvSpPr/>
            <p:nvPr/>
          </p:nvSpPr>
          <p:spPr>
            <a:xfrm>
              <a:off x="6381750" y="4248150"/>
              <a:ext cx="304800" cy="304800"/>
            </a:xfrm>
            <a:prstGeom prst="ellipse">
              <a:avLst/>
            </a:prstGeom>
            <a:solidFill>
              <a:schemeClr val="accent1"/>
            </a:solidFill>
            <a:ln>
              <a:noFill/>
            </a:ln>
          </p:spPr>
        </p:sp>
        <p:sp>
          <p:nvSpPr>
            <p:cNvPr id="30" name="TextBox 30"/>
            <p:cNvSpPr txBox="1"/>
            <p:nvPr/>
          </p:nvSpPr>
          <p:spPr>
            <a:xfrm>
              <a:off x="64748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31" name="TextBox 31"/>
            <p:cNvSpPr txBox="1"/>
            <p:nvPr/>
          </p:nvSpPr>
          <p:spPr>
            <a:xfrm>
              <a:off x="6682536" y="4644390"/>
              <a:ext cx="1455828"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返答を取り込む</a:t>
              </a:r>
            </a:p>
          </p:txBody>
        </p:sp>
        <p:sp>
          <p:nvSpPr>
            <p:cNvPr id="32" name="Rectangle 32"/>
            <p:cNvSpPr/>
            <p:nvPr/>
          </p:nvSpPr>
          <p:spPr>
            <a:xfrm>
              <a:off x="8877300" y="4095750"/>
              <a:ext cx="2324100" cy="914400"/>
            </a:xfrm>
            <a:prstGeom prst="roundRect">
              <a:avLst>
                <a:gd name="adj" fmla="val 14583"/>
              </a:avLst>
            </a:prstGeom>
            <a:solidFill>
              <a:schemeClr val="lt1"/>
            </a:solidFill>
            <a:ln w="19050">
              <a:solidFill>
                <a:schemeClr val="accent1"/>
              </a:solidFill>
            </a:ln>
          </p:spPr>
        </p:sp>
        <p:sp>
          <p:nvSpPr>
            <p:cNvPr id="33" name="Ellipse 33"/>
            <p:cNvSpPr/>
            <p:nvPr/>
          </p:nvSpPr>
          <p:spPr>
            <a:xfrm>
              <a:off x="9010650" y="4248150"/>
              <a:ext cx="304800" cy="304800"/>
            </a:xfrm>
            <a:prstGeom prst="ellipse">
              <a:avLst/>
            </a:prstGeom>
            <a:solidFill>
              <a:schemeClr val="accent1"/>
            </a:solidFill>
            <a:ln>
              <a:noFill/>
            </a:ln>
          </p:spPr>
        </p:sp>
        <p:sp>
          <p:nvSpPr>
            <p:cNvPr id="34" name="TextBox 34"/>
            <p:cNvSpPr txBox="1"/>
            <p:nvPr/>
          </p:nvSpPr>
          <p:spPr>
            <a:xfrm>
              <a:off x="91037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35" name="TextBox 35"/>
            <p:cNvSpPr txBox="1"/>
            <p:nvPr/>
          </p:nvSpPr>
          <p:spPr>
            <a:xfrm>
              <a:off x="9553146" y="4644390"/>
              <a:ext cx="97240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ブックを作る</a:t>
              </a:r>
            </a:p>
          </p:txBody>
        </p:sp>
      </p:grpSp>
      <p:grpSp>
        <p:nvGrpSpPr>
          <p:cNvPr id="40" name="Group 40"/>
          <p:cNvGrpSpPr/>
          <p:nvPr/>
        </p:nvGrpSpPr>
        <p:grpSpPr>
          <a:xfrm>
            <a:off x="3619500" y="5010150"/>
            <a:ext cx="4762500" cy="1085850"/>
            <a:chOff x="3619500" y="5010150"/>
            <a:chExt cx="4762500" cy="1085850"/>
          </a:xfrm>
        </p:grpSpPr>
        <p:sp>
          <p:nvSpPr>
            <p:cNvPr id="37" name="Line 37"/>
            <p:cNvSpPr/>
            <p:nvPr/>
          </p:nvSpPr>
          <p:spPr>
            <a:xfrm>
              <a:off x="4781550" y="5010150"/>
              <a:ext cx="1" cy="476250"/>
            </a:xfrm>
            <a:prstGeom prst="line">
              <a:avLst/>
            </a:prstGeom>
            <a:noFill/>
            <a:ln w="28575">
              <a:solidFill>
                <a:schemeClr val="accent2"/>
              </a:solidFill>
              <a:tailEnd type="triangle" w="lg" len="lg"/>
            </a:ln>
          </p:spPr>
        </p:sp>
        <p:sp>
          <p:nvSpPr>
            <p:cNvPr id="38" name="Rectangle 38"/>
            <p:cNvSpPr/>
            <p:nvPr/>
          </p:nvSpPr>
          <p:spPr>
            <a:xfrm>
              <a:off x="3619500" y="5562600"/>
              <a:ext cx="4762500" cy="533400"/>
            </a:xfrm>
            <a:prstGeom prst="roundRect">
              <a:avLst>
                <a:gd name="adj" fmla="val 25000"/>
              </a:avLst>
            </a:prstGeom>
            <a:solidFill>
              <a:schemeClr val="lt1"/>
            </a:solidFill>
            <a:ln w="19050">
              <a:solidFill>
                <a:schemeClr val="accent2"/>
              </a:solidFill>
            </a:ln>
          </p:spPr>
        </p:sp>
        <p:sp>
          <p:nvSpPr>
            <p:cNvPr id="39" name="TextBox 39"/>
            <p:cNvSpPr txBox="1"/>
            <p:nvPr/>
          </p:nvSpPr>
          <p:spPr>
            <a:xfrm>
              <a:off x="4165663" y="5734050"/>
              <a:ext cx="3670173" cy="293370"/>
            </a:xfrm>
            <a:prstGeom prst="rect">
              <a:avLst/>
            </a:prstGeom>
            <a:noFill/>
            <a:ln>
              <a:noFill/>
            </a:ln>
          </p:spPr>
          <p:txBody>
            <a:bodyPr wrap="none" lIns="0" tIns="0" rIns="0" bIns="0" anchor="t" anchorCtr="0">
              <a:spAutoFit/>
            </a:bodyPr>
            <a:lstStyle/>
            <a:p>
              <a:pPr algn="ctr"/>
              <a:r>
                <a:rPr lang="zh-CN" sz="1500" dirty="0">
                  <a:solidFill>
                    <a:schemeClr val="accent2"/>
                  </a:solidFill>
                  <a:latin typeface="+mn-lt"/>
                  <a:ea typeface="+mn-ea"/>
                  <a:cs typeface="+mn-cs"/>
                </a:rPr>
                <a:t>聞くだけの場合は、手順 2 で［完了］が出ます。</a:t>
              </a:r>
            </a:p>
          </p:txBody>
        </p:sp>
      </p:grpSp>
      <p:grpSp>
        <p:nvGrpSpPr>
          <p:cNvPr id="43" name="Group 43"/>
          <p:cNvGrpSpPr/>
          <p:nvPr/>
        </p:nvGrpSpPr>
        <p:grpSpPr>
          <a:xfrm>
            <a:off x="946404" y="6557010"/>
            <a:ext cx="10299192" cy="234696"/>
            <a:chOff x="946404" y="6557010"/>
            <a:chExt cx="10299192" cy="234696"/>
          </a:xfrm>
        </p:grpSpPr>
        <p:sp>
          <p:nvSpPr>
            <p:cNvPr id="41" name="TextBox 4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2" name="TextBox 42"/>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055489" cy="956309"/>
            <a:chOff x="936498" y="460058"/>
            <a:chExt cx="5055489" cy="956309"/>
          </a:xfrm>
        </p:grpSpPr>
        <p:sp>
          <p:nvSpPr>
            <p:cNvPr id="2" name="TextBox 2"/>
            <p:cNvSpPr txBox="1"/>
            <p:nvPr/>
          </p:nvSpPr>
          <p:spPr>
            <a:xfrm>
              <a:off x="936498" y="460058"/>
              <a:ext cx="368310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起動と、画面の見かた</a:t>
              </a:r>
            </a:p>
          </p:txBody>
        </p:sp>
        <p:sp>
          <p:nvSpPr>
            <p:cNvPr id="3" name="TextBox 3"/>
            <p:cNvSpPr txBox="1"/>
            <p:nvPr/>
          </p:nvSpPr>
          <p:spPr>
            <a:xfrm>
              <a:off x="941070" y="976312"/>
              <a:ext cx="505091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上の帯が進捗、左下が「いま何をすればよいか」</a:t>
              </a:r>
            </a:p>
          </p:txBody>
        </p:sp>
      </p:grpSp>
      <p:grpSp>
        <p:nvGrpSpPr>
          <p:cNvPr id="19" name="Group 19"/>
          <p:cNvGrpSpPr/>
          <p:nvPr/>
        </p:nvGrpSpPr>
        <p:grpSpPr>
          <a:xfrm>
            <a:off x="952500" y="1809750"/>
            <a:ext cx="5524500" cy="3276600"/>
            <a:chOff x="952500" y="1809750"/>
            <a:chExt cx="5524500" cy="3276600"/>
          </a:xfrm>
        </p:grpSpPr>
        <p:sp>
          <p:nvSpPr>
            <p:cNvPr id="5" name="Rectangle 5"/>
            <p:cNvSpPr/>
            <p:nvPr/>
          </p:nvSpPr>
          <p:spPr>
            <a:xfrm>
              <a:off x="952500" y="1809750"/>
              <a:ext cx="5524500" cy="3276600"/>
            </a:xfrm>
            <a:prstGeom prst="roundRect">
              <a:avLst>
                <a:gd name="adj" fmla="val 4651"/>
              </a:avLst>
            </a:prstGeom>
            <a:solidFill>
              <a:schemeClr val="accent5"/>
            </a:solidFill>
            <a:ln w="9525">
              <a:solidFill>
                <a:schemeClr val="accent6"/>
              </a:solidFill>
            </a:ln>
          </p:spPr>
        </p:sp>
        <p:pic>
          <p:nvPicPr>
            <p:cNvPr id="6" name="Image 6"/>
            <p:cNvPicPr>
              <a:picLocks noChangeAspect="1"/>
            </p:cNvPicPr>
            <p:nvPr/>
          </p:nvPicPr>
          <p:blipFill>
            <a:blip r:embed="rId2"/>
            <a:stretch>
              <a:fillRect/>
            </a:stretch>
          </p:blipFill>
          <p:spPr>
            <a:xfrm>
              <a:off x="1143000" y="2000250"/>
              <a:ext cx="5143500" cy="2895600"/>
            </a:xfrm>
            <a:prstGeom prst="rect">
              <a:avLst/>
            </a:prstGeom>
          </p:spPr>
        </p:pic>
        <p:sp>
          <p:nvSpPr>
            <p:cNvPr id="7" name="Ellipse 7"/>
            <p:cNvSpPr/>
            <p:nvPr/>
          </p:nvSpPr>
          <p:spPr>
            <a:xfrm>
              <a:off x="2114550" y="2009775"/>
              <a:ext cx="323850" cy="323850"/>
            </a:xfrm>
            <a:prstGeom prst="ellipse">
              <a:avLst/>
            </a:prstGeom>
            <a:solidFill>
              <a:schemeClr val="lt1"/>
            </a:solidFill>
            <a:ln>
              <a:noFill/>
            </a:ln>
          </p:spPr>
        </p:sp>
        <p:sp>
          <p:nvSpPr>
            <p:cNvPr id="8" name="Ellipse 8"/>
            <p:cNvSpPr/>
            <p:nvPr/>
          </p:nvSpPr>
          <p:spPr>
            <a:xfrm>
              <a:off x="2133600" y="2028825"/>
              <a:ext cx="285750" cy="285750"/>
            </a:xfrm>
            <a:prstGeom prst="ellipse">
              <a:avLst/>
            </a:prstGeom>
            <a:solidFill>
              <a:schemeClr val="accent1"/>
            </a:solidFill>
            <a:ln>
              <a:noFill/>
            </a:ln>
          </p:spPr>
        </p:sp>
        <p:sp>
          <p:nvSpPr>
            <p:cNvPr id="9" name="TextBox 9"/>
            <p:cNvSpPr txBox="1"/>
            <p:nvPr/>
          </p:nvSpPr>
          <p:spPr>
            <a:xfrm>
              <a:off x="2217140"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0" name="Ellipse 10"/>
            <p:cNvSpPr/>
            <p:nvPr/>
          </p:nvSpPr>
          <p:spPr>
            <a:xfrm>
              <a:off x="1495425" y="4562475"/>
              <a:ext cx="323850" cy="323850"/>
            </a:xfrm>
            <a:prstGeom prst="ellipse">
              <a:avLst/>
            </a:prstGeom>
            <a:solidFill>
              <a:schemeClr val="lt1"/>
            </a:solidFill>
            <a:ln>
              <a:noFill/>
            </a:ln>
          </p:spPr>
        </p:sp>
        <p:sp>
          <p:nvSpPr>
            <p:cNvPr id="11" name="Ellipse 11"/>
            <p:cNvSpPr/>
            <p:nvPr/>
          </p:nvSpPr>
          <p:spPr>
            <a:xfrm>
              <a:off x="1514475" y="4581525"/>
              <a:ext cx="285750" cy="285750"/>
            </a:xfrm>
            <a:prstGeom prst="ellipse">
              <a:avLst/>
            </a:prstGeom>
            <a:solidFill>
              <a:schemeClr val="accent1"/>
            </a:solidFill>
            <a:ln>
              <a:noFill/>
            </a:ln>
          </p:spPr>
        </p:sp>
        <p:sp>
          <p:nvSpPr>
            <p:cNvPr id="12" name="TextBox 12"/>
            <p:cNvSpPr txBox="1"/>
            <p:nvPr/>
          </p:nvSpPr>
          <p:spPr>
            <a:xfrm>
              <a:off x="1598015" y="46453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3" name="Ellipse 13"/>
            <p:cNvSpPr/>
            <p:nvPr/>
          </p:nvSpPr>
          <p:spPr>
            <a:xfrm>
              <a:off x="5915025" y="2009775"/>
              <a:ext cx="323850" cy="323850"/>
            </a:xfrm>
            <a:prstGeom prst="ellipse">
              <a:avLst/>
            </a:prstGeom>
            <a:solidFill>
              <a:schemeClr val="lt1"/>
            </a:solidFill>
            <a:ln>
              <a:noFill/>
            </a:ln>
          </p:spPr>
        </p:sp>
        <p:sp>
          <p:nvSpPr>
            <p:cNvPr id="14" name="Ellipse 14"/>
            <p:cNvSpPr/>
            <p:nvPr/>
          </p:nvSpPr>
          <p:spPr>
            <a:xfrm>
              <a:off x="5934075" y="2028825"/>
              <a:ext cx="285750" cy="285750"/>
            </a:xfrm>
            <a:prstGeom prst="ellipse">
              <a:avLst/>
            </a:prstGeom>
            <a:solidFill>
              <a:schemeClr val="accent1"/>
            </a:solidFill>
            <a:ln>
              <a:noFill/>
            </a:ln>
          </p:spPr>
        </p:sp>
        <p:sp>
          <p:nvSpPr>
            <p:cNvPr id="15" name="TextBox 15"/>
            <p:cNvSpPr txBox="1"/>
            <p:nvPr/>
          </p:nvSpPr>
          <p:spPr>
            <a:xfrm>
              <a:off x="6017615"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6" name="Ellipse 16"/>
            <p:cNvSpPr/>
            <p:nvPr/>
          </p:nvSpPr>
          <p:spPr>
            <a:xfrm>
              <a:off x="5305425" y="2009775"/>
              <a:ext cx="323850" cy="323850"/>
            </a:xfrm>
            <a:prstGeom prst="ellipse">
              <a:avLst/>
            </a:prstGeom>
            <a:solidFill>
              <a:schemeClr val="lt1"/>
            </a:solidFill>
            <a:ln>
              <a:noFill/>
            </a:ln>
          </p:spPr>
        </p:sp>
        <p:sp>
          <p:nvSpPr>
            <p:cNvPr id="17" name="Ellipse 17"/>
            <p:cNvSpPr/>
            <p:nvPr/>
          </p:nvSpPr>
          <p:spPr>
            <a:xfrm>
              <a:off x="5324475" y="2028825"/>
              <a:ext cx="285750" cy="285750"/>
            </a:xfrm>
            <a:prstGeom prst="ellipse">
              <a:avLst/>
            </a:prstGeom>
            <a:solidFill>
              <a:schemeClr val="accent1"/>
            </a:solidFill>
            <a:ln>
              <a:noFill/>
            </a:ln>
          </p:spPr>
        </p:sp>
        <p:sp>
          <p:nvSpPr>
            <p:cNvPr id="18" name="TextBox 18"/>
            <p:cNvSpPr txBox="1"/>
            <p:nvPr/>
          </p:nvSpPr>
          <p:spPr>
            <a:xfrm>
              <a:off x="5408015"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grpSp>
      <p:grpSp>
        <p:nvGrpSpPr>
          <p:cNvPr id="23" name="Group 23"/>
          <p:cNvGrpSpPr/>
          <p:nvPr/>
        </p:nvGrpSpPr>
        <p:grpSpPr>
          <a:xfrm>
            <a:off x="6877050" y="1809750"/>
            <a:ext cx="2979420" cy="864870"/>
            <a:chOff x="6877050" y="1809750"/>
            <a:chExt cx="2979420" cy="864870"/>
          </a:xfrm>
        </p:grpSpPr>
        <p:sp>
          <p:nvSpPr>
            <p:cNvPr id="20" name="Ellipse 20"/>
            <p:cNvSpPr/>
            <p:nvPr/>
          </p:nvSpPr>
          <p:spPr>
            <a:xfrm>
              <a:off x="6877050" y="1809750"/>
              <a:ext cx="266700" cy="266700"/>
            </a:xfrm>
            <a:prstGeom prst="ellipse">
              <a:avLst/>
            </a:prstGeom>
            <a:solidFill>
              <a:schemeClr val="accent1"/>
            </a:solidFill>
            <a:ln>
              <a:noFill/>
            </a:ln>
          </p:spPr>
        </p:sp>
        <p:sp>
          <p:nvSpPr>
            <p:cNvPr id="21" name="TextBox 21"/>
            <p:cNvSpPr txBox="1"/>
            <p:nvPr/>
          </p:nvSpPr>
          <p:spPr>
            <a:xfrm>
              <a:off x="6951065" y="18640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22" name="TextBox 22"/>
            <p:cNvSpPr txBox="1"/>
            <p:nvPr/>
          </p:nvSpPr>
          <p:spPr>
            <a:xfrm>
              <a:off x="7269480" y="1847850"/>
              <a:ext cx="2586990"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上部の帯が進捗です。最初は「ブックを読み込む」だけが表示され、目的を選ぶとその先の手順が現れます。</a:t>
              </a:r>
            </a:p>
          </p:txBody>
        </p:sp>
      </p:grpSp>
      <p:grpSp>
        <p:nvGrpSpPr>
          <p:cNvPr id="25" name="Group 25"/>
          <p:cNvGrpSpPr/>
          <p:nvPr/>
        </p:nvGrpSpPr>
        <p:grpSpPr>
          <a:xfrm>
            <a:off x="7269480" y="2867025"/>
            <a:ext cx="3074480" cy="293370"/>
            <a:chOff x="7269480" y="2867025"/>
            <a:chExt cx="3074480" cy="293370"/>
          </a:xfrm>
        </p:grpSpPr>
        <p:sp>
          <p:nvSpPr>
            <p:cNvPr id="24" name="TextBox 24"/>
            <p:cNvSpPr txBox="1"/>
            <p:nvPr/>
          </p:nvSpPr>
          <p:spPr>
            <a:xfrm>
              <a:off x="7269480" y="2867025"/>
              <a:ext cx="307448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改修なら 4 手順、聞くだけなら 2 手順。</a:t>
              </a:r>
            </a:p>
          </p:txBody>
        </p:sp>
      </p:grpSp>
      <p:grpSp>
        <p:nvGrpSpPr>
          <p:cNvPr id="29" name="Group 29"/>
          <p:cNvGrpSpPr/>
          <p:nvPr/>
        </p:nvGrpSpPr>
        <p:grpSpPr>
          <a:xfrm>
            <a:off x="6877050" y="3352800"/>
            <a:ext cx="3810191" cy="331470"/>
            <a:chOff x="6877050" y="3352800"/>
            <a:chExt cx="3810191" cy="331470"/>
          </a:xfrm>
        </p:grpSpPr>
        <p:sp>
          <p:nvSpPr>
            <p:cNvPr id="26" name="Ellipse 26"/>
            <p:cNvSpPr/>
            <p:nvPr/>
          </p:nvSpPr>
          <p:spPr>
            <a:xfrm>
              <a:off x="6877050" y="3352800"/>
              <a:ext cx="266700" cy="266700"/>
            </a:xfrm>
            <a:prstGeom prst="ellipse">
              <a:avLst/>
            </a:prstGeom>
            <a:solidFill>
              <a:schemeClr val="accent1"/>
            </a:solidFill>
            <a:ln>
              <a:noFill/>
            </a:ln>
          </p:spPr>
        </p:sp>
        <p:sp>
          <p:nvSpPr>
            <p:cNvPr id="27" name="TextBox 27"/>
            <p:cNvSpPr txBox="1"/>
            <p:nvPr/>
          </p:nvSpPr>
          <p:spPr>
            <a:xfrm>
              <a:off x="6951065" y="34070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28" name="TextBox 28"/>
            <p:cNvSpPr txBox="1"/>
            <p:nvPr/>
          </p:nvSpPr>
          <p:spPr>
            <a:xfrm>
              <a:off x="7269480" y="3390900"/>
              <a:ext cx="341776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左下に「いま何をすればよいか」が 1 行で出ます。</a:t>
              </a:r>
            </a:p>
          </p:txBody>
        </p:sp>
      </p:grpSp>
      <p:grpSp>
        <p:nvGrpSpPr>
          <p:cNvPr id="33" name="Group 33"/>
          <p:cNvGrpSpPr/>
          <p:nvPr/>
        </p:nvGrpSpPr>
        <p:grpSpPr>
          <a:xfrm>
            <a:off x="6877050" y="3924300"/>
            <a:ext cx="3150870" cy="598170"/>
            <a:chOff x="6877050" y="3924300"/>
            <a:chExt cx="3150870" cy="598170"/>
          </a:xfrm>
        </p:grpSpPr>
        <p:sp>
          <p:nvSpPr>
            <p:cNvPr id="30" name="Ellipse 30"/>
            <p:cNvSpPr/>
            <p:nvPr/>
          </p:nvSpPr>
          <p:spPr>
            <a:xfrm>
              <a:off x="6877050" y="3924300"/>
              <a:ext cx="266700" cy="266700"/>
            </a:xfrm>
            <a:prstGeom prst="ellipse">
              <a:avLst/>
            </a:prstGeom>
            <a:solidFill>
              <a:schemeClr val="accent1"/>
            </a:solidFill>
            <a:ln>
              <a:noFill/>
            </a:ln>
          </p:spPr>
        </p:sp>
        <p:sp>
          <p:nvSpPr>
            <p:cNvPr id="31" name="TextBox 31"/>
            <p:cNvSpPr txBox="1"/>
            <p:nvPr/>
          </p:nvSpPr>
          <p:spPr>
            <a:xfrm>
              <a:off x="6951065" y="39785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32" name="TextBox 32"/>
            <p:cNvSpPr txBox="1"/>
            <p:nvPr/>
          </p:nvSpPr>
          <p:spPr>
            <a:xfrm>
              <a:off x="7269480" y="3962400"/>
              <a:ext cx="27584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右上の月／太陽でライト・ダークを切り替え。選択は次回も維持されます。</a:t>
              </a:r>
            </a:p>
          </p:txBody>
        </p:sp>
      </p:grpSp>
      <p:grpSp>
        <p:nvGrpSpPr>
          <p:cNvPr id="37" name="Group 37"/>
          <p:cNvGrpSpPr/>
          <p:nvPr/>
        </p:nvGrpSpPr>
        <p:grpSpPr>
          <a:xfrm>
            <a:off x="6877050" y="4762500"/>
            <a:ext cx="4274630" cy="331470"/>
            <a:chOff x="6877050" y="4762500"/>
            <a:chExt cx="4274630" cy="331470"/>
          </a:xfrm>
        </p:grpSpPr>
        <p:sp>
          <p:nvSpPr>
            <p:cNvPr id="34" name="Ellipse 34"/>
            <p:cNvSpPr/>
            <p:nvPr/>
          </p:nvSpPr>
          <p:spPr>
            <a:xfrm>
              <a:off x="6877050" y="4762500"/>
              <a:ext cx="266700" cy="266700"/>
            </a:xfrm>
            <a:prstGeom prst="ellipse">
              <a:avLst/>
            </a:prstGeom>
            <a:solidFill>
              <a:schemeClr val="accent1"/>
            </a:solidFill>
            <a:ln>
              <a:noFill/>
            </a:ln>
          </p:spPr>
        </p:sp>
        <p:sp>
          <p:nvSpPr>
            <p:cNvPr id="35" name="TextBox 35"/>
            <p:cNvSpPr txBox="1"/>
            <p:nvPr/>
          </p:nvSpPr>
          <p:spPr>
            <a:xfrm>
              <a:off x="69510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36" name="TextBox 36"/>
            <p:cNvSpPr txBox="1"/>
            <p:nvPr/>
          </p:nvSpPr>
          <p:spPr>
            <a:xfrm>
              <a:off x="7269480" y="4800600"/>
              <a:ext cx="38822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対応形式は .xlsm / .xlam / .xlsb / .xls。</a:t>
              </a:r>
            </a:p>
          </p:txBody>
        </p:sp>
      </p:grpSp>
      <p:grpSp>
        <p:nvGrpSpPr>
          <p:cNvPr id="40" name="Group 40"/>
          <p:cNvGrpSpPr/>
          <p:nvPr/>
        </p:nvGrpSpPr>
        <p:grpSpPr>
          <a:xfrm>
            <a:off x="1019174" y="5347733"/>
            <a:ext cx="5790820" cy="677401"/>
            <a:chOff x="1019174" y="5347733"/>
            <a:chExt cx="5790820" cy="677401"/>
          </a:xfrm>
        </p:grpSpPr>
        <p:sp>
          <p:nvSpPr>
            <p:cNvPr id="38" name="Freeform 38"/>
            <p:cNvSpPr/>
            <p:nvPr/>
          </p:nvSpPr>
          <p:spPr>
            <a:xfrm>
              <a:off x="1019174" y="5347733"/>
              <a:ext cx="166694" cy="201135"/>
            </a:xfrm>
            <a:custGeom>
              <a:avLst/>
              <a:gdLst/>
              <a:ahLst/>
              <a:cxnLst/>
              <a:rect l="l" t="t" r="r" b="b"/>
              <a:pathLst>
                <a:path w="166694" h="201135">
                  <a:moveTo>
                    <a:pt x="1" y="11667"/>
                  </a:moveTo>
                  <a:lnTo>
                    <a:pt x="1" y="189468"/>
                  </a:lnTo>
                  <a:cubicBezTo>
                    <a:pt x="0" y="193494"/>
                    <a:pt x="2177" y="197206"/>
                    <a:pt x="5691" y="199171"/>
                  </a:cubicBezTo>
                  <a:cubicBezTo>
                    <a:pt x="9205" y="201135"/>
                    <a:pt x="13507" y="201046"/>
                    <a:pt x="16937" y="198936"/>
                  </a:cubicBezTo>
                  <a:lnTo>
                    <a:pt x="161400" y="110036"/>
                  </a:lnTo>
                  <a:cubicBezTo>
                    <a:pt x="164690" y="108014"/>
                    <a:pt x="166694" y="104429"/>
                    <a:pt x="166694" y="100568"/>
                  </a:cubicBezTo>
                  <a:cubicBezTo>
                    <a:pt x="166694" y="96706"/>
                    <a:pt x="164690" y="93122"/>
                    <a:pt x="161400" y="91100"/>
                  </a:cubicBezTo>
                  <a:lnTo>
                    <a:pt x="16937" y="2200"/>
                  </a:lnTo>
                  <a:cubicBezTo>
                    <a:pt x="13507" y="90"/>
                    <a:pt x="9205" y="0"/>
                    <a:pt x="5691" y="1965"/>
                  </a:cubicBezTo>
                  <a:cubicBezTo>
                    <a:pt x="2177" y="3929"/>
                    <a:pt x="0" y="7641"/>
                    <a:pt x="1" y="11667"/>
                  </a:cubicBezTo>
                  <a:close/>
                </a:path>
              </a:pathLst>
            </a:custGeom>
            <a:solidFill>
              <a:schemeClr val="accent3"/>
            </a:solidFill>
            <a:ln>
              <a:noFill/>
            </a:ln>
          </p:spPr>
        </p:sp>
        <p:sp>
          <p:nvSpPr>
            <p:cNvPr id="39" name="TextBox 39"/>
            <p:cNvSpPr txBox="1"/>
            <p:nvPr/>
          </p:nvSpPr>
          <p:spPr>
            <a:xfrm>
              <a:off x="1362456" y="5349240"/>
              <a:ext cx="54475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xml:space="preserve">起動は </a:t>
              </a:r>
              <a:r>
                <a:rPr lang="en-US" sz="1800" dirty="0">
                  <a:solidFill>
                    <a:schemeClr val="dk1"/>
                  </a:solidFill>
                  <a:latin typeface="Consolas"/>
                  <a:ea typeface="Consolas"/>
                  <a:cs typeface="Consolas"/>
                </a:rPr>
                <a:t>launch.vbs</a:t>
              </a:r>
              <a:r>
                <a:rPr lang="zh-CN" sz="1800" dirty="0">
                  <a:solidFill>
                    <a:schemeClr val="dk1"/>
                  </a:solidFill>
                  <a:latin typeface="+mn-lt"/>
                  <a:ea typeface="+mn-ea"/>
                  <a:cs typeface="+mn-cs"/>
                </a:rPr>
                <a:t xml:space="preserve"> をダブルクリック。黒いコマンド画面は出ません。小さな読み込み画面のあと本画面になります。</a:t>
              </a:r>
            </a:p>
          </p:txBody>
        </p:sp>
      </p:grpSp>
      <p:grpSp>
        <p:nvGrpSpPr>
          <p:cNvPr id="43" name="Group 43"/>
          <p:cNvGrpSpPr/>
          <p:nvPr/>
        </p:nvGrpSpPr>
        <p:grpSpPr>
          <a:xfrm>
            <a:off x="946404" y="6557010"/>
            <a:ext cx="10299192" cy="234696"/>
            <a:chOff x="946404" y="6557010"/>
            <a:chExt cx="10299192" cy="234696"/>
          </a:xfrm>
        </p:grpSpPr>
        <p:sp>
          <p:nvSpPr>
            <p:cNvPr id="41" name="TextBox 4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2" name="TextBox 4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4540568" cy="1181099"/>
            <a:chOff x="1888998" y="444818"/>
            <a:chExt cx="4540568"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1/3</a:t>
              </a:r>
            </a:p>
          </p:txBody>
        </p:sp>
        <p:sp>
          <p:nvSpPr>
            <p:cNvPr id="4" name="TextBox 4"/>
            <p:cNvSpPr txBox="1"/>
            <p:nvPr/>
          </p:nvSpPr>
          <p:spPr>
            <a:xfrm>
              <a:off x="1888998" y="669608"/>
              <a:ext cx="403964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Excelブックを読み込みます</a:t>
              </a:r>
            </a:p>
          </p:txBody>
        </p:sp>
        <p:sp>
          <p:nvSpPr>
            <p:cNvPr id="5" name="TextBox 5"/>
            <p:cNvSpPr txBox="1"/>
            <p:nvPr/>
          </p:nvSpPr>
          <p:spPr>
            <a:xfrm>
              <a:off x="1893570" y="1185862"/>
              <a:ext cx="4535996"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ドラッグして落とすだけ。まだ何も書き込まれない</a:t>
              </a:r>
            </a:p>
          </p:txBody>
        </p:sp>
      </p:grpSp>
      <p:grpSp>
        <p:nvGrpSpPr>
          <p:cNvPr id="8" name="Group 8"/>
          <p:cNvGrpSpPr/>
          <p:nvPr/>
        </p:nvGrpSpPr>
        <p:grpSpPr>
          <a:xfrm>
            <a:off x="943356" y="1844040"/>
            <a:ext cx="2395728" cy="999744"/>
            <a:chOff x="943356" y="1844040"/>
            <a:chExt cx="2395728" cy="999744"/>
          </a:xfrm>
        </p:grpSpPr>
        <p:sp>
          <p:nvSpPr>
            <p:cNvPr id="7" name="TextBox 7"/>
            <p:cNvSpPr txBox="1"/>
            <p:nvPr/>
          </p:nvSpPr>
          <p:spPr>
            <a:xfrm>
              <a:off x="943356" y="1844040"/>
              <a:ext cx="23957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画面中央へ Excel ファイルを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ドラッグ＆ドロップします。クリックして選ぶこともできます。</a:t>
              </a:r>
            </a:p>
          </p:txBody>
        </p:sp>
      </p:grpSp>
      <p:grpSp>
        <p:nvGrpSpPr>
          <p:cNvPr id="12" name="Group 12"/>
          <p:cNvGrpSpPr/>
          <p:nvPr/>
        </p:nvGrpSpPr>
        <p:grpSpPr>
          <a:xfrm>
            <a:off x="943356" y="2967990"/>
            <a:ext cx="2376678" cy="1133094"/>
            <a:chOff x="943356" y="2967990"/>
            <a:chExt cx="2376678" cy="1133094"/>
          </a:xfrm>
        </p:grpSpPr>
        <p:sp>
          <p:nvSpPr>
            <p:cNvPr id="9" name="TextBox 9"/>
            <p:cNvSpPr txBox="1"/>
            <p:nvPr/>
          </p:nvSpPr>
          <p:spPr>
            <a:xfrm>
              <a:off x="943356" y="2967990"/>
              <a:ext cx="18962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案内文はこう出ます。</a:t>
              </a:r>
            </a:p>
          </p:txBody>
        </p:sp>
        <p:sp>
          <p:nvSpPr>
            <p:cNvPr id="10" name="Rectangle 10"/>
            <p:cNvSpPr/>
            <p:nvPr/>
          </p:nvSpPr>
          <p:spPr>
            <a:xfrm>
              <a:off x="952500" y="3295650"/>
              <a:ext cx="57150" cy="666750"/>
            </a:xfrm>
            <a:prstGeom prst="roundRect">
              <a:avLst>
                <a:gd name="adj" fmla="val 50000"/>
              </a:avLst>
            </a:prstGeom>
            <a:solidFill>
              <a:srgbClr val="CBD5E1"/>
            </a:solidFill>
            <a:ln>
              <a:noFill/>
            </a:ln>
          </p:spPr>
        </p:sp>
        <p:sp>
          <p:nvSpPr>
            <p:cNvPr id="11" name="TextBox 11"/>
            <p:cNvSpPr txBox="1"/>
            <p:nvPr/>
          </p:nvSpPr>
          <p:spPr>
            <a:xfrm>
              <a:off x="1210056" y="3425190"/>
              <a:ext cx="210997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改修したいブックを、ここへ</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ドラッグするか選んでください。</a:t>
              </a:r>
            </a:p>
          </p:txBody>
        </p:sp>
      </p:grpSp>
      <p:grpSp>
        <p:nvGrpSpPr>
          <p:cNvPr id="15" name="Group 15"/>
          <p:cNvGrpSpPr/>
          <p:nvPr/>
        </p:nvGrpSpPr>
        <p:grpSpPr>
          <a:xfrm>
            <a:off x="943356" y="4091940"/>
            <a:ext cx="2913964" cy="1475994"/>
            <a:chOff x="943356" y="4091940"/>
            <a:chExt cx="2913964" cy="1475994"/>
          </a:xfrm>
        </p:grpSpPr>
        <p:sp>
          <p:nvSpPr>
            <p:cNvPr id="13" name="TextBox 13"/>
            <p:cNvSpPr txBox="1"/>
            <p:nvPr/>
          </p:nvSpPr>
          <p:spPr>
            <a:xfrm>
              <a:off x="943356" y="4091940"/>
              <a:ext cx="206425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読み込めると、ファイル名と</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パスが表示され、右下の［次へ］が青くなります。</a:t>
              </a:r>
            </a:p>
          </p:txBody>
        </p:sp>
        <p:sp>
          <p:nvSpPr>
            <p:cNvPr id="14" name="TextBox 14"/>
            <p:cNvSpPr txBox="1"/>
            <p:nvPr/>
          </p:nvSpPr>
          <p:spPr>
            <a:xfrm>
              <a:off x="943356" y="5215890"/>
              <a:ext cx="29139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選び直したいときは［選び直す］。</a:t>
              </a:r>
            </a:p>
          </p:txBody>
        </p:sp>
      </p:grpSp>
      <p:grpSp>
        <p:nvGrpSpPr>
          <p:cNvPr id="20" name="Group 20"/>
          <p:cNvGrpSpPr/>
          <p:nvPr/>
        </p:nvGrpSpPr>
        <p:grpSpPr>
          <a:xfrm>
            <a:off x="6660642" y="2095500"/>
            <a:ext cx="4578858" cy="3099625"/>
            <a:chOff x="6660642" y="2095500"/>
            <a:chExt cx="4578858" cy="3099625"/>
          </a:xfrm>
        </p:grpSpPr>
        <p:sp>
          <p:nvSpPr>
            <p:cNvPr id="16" name="Rectangle 16"/>
            <p:cNvSpPr/>
            <p:nvPr/>
          </p:nvSpPr>
          <p:spPr>
            <a:xfrm>
              <a:off x="6667500" y="2095500"/>
              <a:ext cx="4572000" cy="2733675"/>
            </a:xfrm>
            <a:prstGeom prst="roundRect">
              <a:avLst>
                <a:gd name="adj" fmla="val 5575"/>
              </a:avLst>
            </a:prstGeom>
            <a:solidFill>
              <a:schemeClr val="accent5"/>
            </a:solidFill>
            <a:ln w="9525">
              <a:solidFill>
                <a:schemeClr val="accent6"/>
              </a:solidFill>
            </a:ln>
          </p:spPr>
        </p:sp>
        <p:pic>
          <p:nvPicPr>
            <p:cNvPr id="17" name="Image 17"/>
            <p:cNvPicPr>
              <a:picLocks noChangeAspect="1"/>
            </p:cNvPicPr>
            <p:nvPr/>
          </p:nvPicPr>
          <p:blipFill>
            <a:blip r:embed="rId2"/>
            <a:stretch>
              <a:fillRect/>
            </a:stretch>
          </p:blipFill>
          <p:spPr>
            <a:xfrm>
              <a:off x="6861598" y="2286000"/>
              <a:ext cx="4183805" cy="2352675"/>
            </a:xfrm>
            <a:prstGeom prst="rect">
              <a:avLst/>
            </a:prstGeom>
          </p:spPr>
        </p:pic>
        <p:sp>
          <p:nvSpPr>
            <p:cNvPr id="18" name="Rectangle 18"/>
            <p:cNvSpPr/>
            <p:nvPr/>
          </p:nvSpPr>
          <p:spPr>
            <a:xfrm>
              <a:off x="10382250" y="4248150"/>
              <a:ext cx="647700" cy="342900"/>
            </a:xfrm>
            <a:prstGeom prst="roundRect">
              <a:avLst>
                <a:gd name="adj" fmla="val 22222"/>
              </a:avLst>
            </a:prstGeom>
            <a:noFill/>
            <a:ln w="19050">
              <a:solidFill>
                <a:schemeClr val="accent2"/>
              </a:solidFill>
            </a:ln>
          </p:spPr>
        </p:sp>
        <p:sp>
          <p:nvSpPr>
            <p:cNvPr id="19" name="TextBox 19"/>
            <p:cNvSpPr txBox="1"/>
            <p:nvPr/>
          </p:nvSpPr>
          <p:spPr>
            <a:xfrm>
              <a:off x="6660642" y="49310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読み込めた状態。枠は右下の［次へ］</a:t>
              </a:r>
            </a:p>
          </p:txBody>
        </p:sp>
      </p:grpSp>
      <p:grpSp>
        <p:nvGrpSpPr>
          <p:cNvPr id="24" name="Group 24"/>
          <p:cNvGrpSpPr/>
          <p:nvPr/>
        </p:nvGrpSpPr>
        <p:grpSpPr>
          <a:xfrm>
            <a:off x="952500" y="5695950"/>
            <a:ext cx="10287000" cy="666750"/>
            <a:chOff x="952500" y="5695950"/>
            <a:chExt cx="10287000" cy="666750"/>
          </a:xfrm>
        </p:grpSpPr>
        <p:sp>
          <p:nvSpPr>
            <p:cNvPr id="21" name="Rectangle 21"/>
            <p:cNvSpPr/>
            <p:nvPr/>
          </p:nvSpPr>
          <p:spPr>
            <a:xfrm>
              <a:off x="952500" y="5695950"/>
              <a:ext cx="10287000" cy="666750"/>
            </a:xfrm>
            <a:prstGeom prst="roundRect">
              <a:avLst>
                <a:gd name="adj" fmla="val 20000"/>
              </a:avLst>
            </a:prstGeom>
            <a:solidFill>
              <a:schemeClr val="lt1"/>
            </a:solidFill>
            <a:ln w="19050">
              <a:solidFill>
                <a:schemeClr val="accent2"/>
              </a:solidFill>
            </a:ln>
          </p:spPr>
        </p:sp>
        <p:sp>
          <p:nvSpPr>
            <p:cNvPr id="22" name="Freeform 22"/>
            <p:cNvSpPr/>
            <p:nvPr/>
          </p:nvSpPr>
          <p:spPr>
            <a:xfrm>
              <a:off x="1189957" y="59036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3" name="TextBox 23"/>
            <p:cNvSpPr txBox="1"/>
            <p:nvPr/>
          </p:nvSpPr>
          <p:spPr>
            <a:xfrm>
              <a:off x="1554480" y="5800725"/>
              <a:ext cx="48920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マクロを含まないブックを選ぶと「このブックにはマクロが無い」旨のカードが出ます。ファイルを間違えていないか確認してください。</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6" name="TextBox 26"/>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4676870" cy="1181099"/>
            <a:chOff x="1888998" y="444818"/>
            <a:chExt cx="4676870"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2/3</a:t>
              </a:r>
            </a:p>
          </p:txBody>
        </p:sp>
        <p:sp>
          <p:nvSpPr>
            <p:cNvPr id="4" name="TextBox 4"/>
            <p:cNvSpPr txBox="1"/>
            <p:nvPr/>
          </p:nvSpPr>
          <p:spPr>
            <a:xfrm>
              <a:off x="1888998" y="669608"/>
              <a:ext cx="42619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読み込んだマクロを確認します</a:t>
              </a:r>
            </a:p>
          </p:txBody>
        </p:sp>
        <p:sp>
          <p:nvSpPr>
            <p:cNvPr id="5" name="TextBox 5"/>
            <p:cNvSpPr txBox="1"/>
            <p:nvPr/>
          </p:nvSpPr>
          <p:spPr>
            <a:xfrm>
              <a:off x="1893570" y="1185862"/>
              <a:ext cx="467229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ここではまだ、元のブックに一切書き込んでいない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75883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閉じた状態</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263072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「読み取った内容を見る」を開いた状態</a:t>
              </a:r>
            </a:p>
          </p:txBody>
        </p:sp>
      </p:grpSp>
      <p:grpSp>
        <p:nvGrpSpPr>
          <p:cNvPr id="19" name="Group 19"/>
          <p:cNvGrpSpPr/>
          <p:nvPr/>
        </p:nvGrpSpPr>
        <p:grpSpPr>
          <a:xfrm>
            <a:off x="993774" y="5145087"/>
            <a:ext cx="7630466" cy="365697"/>
            <a:chOff x="993774" y="5145087"/>
            <a:chExt cx="7630466" cy="365697"/>
          </a:xfrm>
        </p:grpSpPr>
        <p:grpSp>
          <p:nvGrpSpPr>
            <p:cNvPr id="17" name="Group 17"/>
            <p:cNvGrpSpPr/>
            <p:nvPr/>
          </p:nvGrpSpPr>
          <p:grpSpPr>
            <a:xfrm>
              <a:off x="993774" y="5145087"/>
              <a:ext cx="165101" cy="206375"/>
              <a:chOff x="993774" y="5145087"/>
              <a:chExt cx="165101" cy="206375"/>
            </a:xfrm>
          </p:grpSpPr>
          <p:sp>
            <p:nvSpPr>
              <p:cNvPr id="15" name="Freeform 15"/>
              <p:cNvSpPr/>
              <p:nvPr/>
            </p:nvSpPr>
            <p:spPr>
              <a:xfrm>
                <a:off x="993774" y="5145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66526" y="114600"/>
                    </a:moveTo>
                    <a:cubicBezTo>
                      <a:pt x="61431" y="112055"/>
                      <a:pt x="55238" y="114120"/>
                      <a:pt x="52688" y="119212"/>
                    </a:cubicBezTo>
                    <a:lnTo>
                      <a:pt x="42370" y="139850"/>
                    </a:lnTo>
                    <a:cubicBezTo>
                      <a:pt x="40919" y="142753"/>
                      <a:pt x="40919" y="146171"/>
                      <a:pt x="42370" y="149075"/>
                    </a:cubicBezTo>
                    <a:lnTo>
                      <a:pt x="52688" y="169712"/>
                    </a:lnTo>
                    <a:cubicBezTo>
                      <a:pt x="55238" y="174805"/>
                      <a:pt x="61431" y="176869"/>
                      <a:pt x="66526" y="174324"/>
                    </a:cubicBezTo>
                    <a:lnTo>
                      <a:pt x="67578" y="173726"/>
                    </a:lnTo>
                    <a:cubicBezTo>
                      <a:pt x="71948" y="170853"/>
                      <a:pt x="73478" y="165164"/>
                      <a:pt x="71138" y="160487"/>
                    </a:cubicBezTo>
                    <a:lnTo>
                      <a:pt x="63131" y="144462"/>
                    </a:lnTo>
                    <a:lnTo>
                      <a:pt x="71138" y="128437"/>
                    </a:lnTo>
                    <a:cubicBezTo>
                      <a:pt x="73683" y="123342"/>
                      <a:pt x="71618" y="117149"/>
                      <a:pt x="66526" y="114600"/>
                    </a:cubicBezTo>
                    <a:moveTo>
                      <a:pt x="112413" y="119212"/>
                    </a:moveTo>
                    <a:cubicBezTo>
                      <a:pt x="109864" y="114120"/>
                      <a:pt x="103671" y="112055"/>
                      <a:pt x="98576" y="114600"/>
                    </a:cubicBezTo>
                    <a:lnTo>
                      <a:pt x="97523" y="115198"/>
                    </a:lnTo>
                    <a:cubicBezTo>
                      <a:pt x="93153" y="118071"/>
                      <a:pt x="91623" y="123760"/>
                      <a:pt x="93963" y="128437"/>
                    </a:cubicBezTo>
                    <a:lnTo>
                      <a:pt x="101950" y="144462"/>
                    </a:lnTo>
                    <a:lnTo>
                      <a:pt x="93953" y="160487"/>
                    </a:lnTo>
                    <a:cubicBezTo>
                      <a:pt x="91615" y="165548"/>
                      <a:pt x="93720" y="171551"/>
                      <a:pt x="98706" y="174044"/>
                    </a:cubicBezTo>
                    <a:cubicBezTo>
                      <a:pt x="103692" y="176537"/>
                      <a:pt x="109757" y="174619"/>
                      <a:pt x="112403" y="169712"/>
                    </a:cubicBezTo>
                    <a:lnTo>
                      <a:pt x="122721" y="149075"/>
                    </a:lnTo>
                    <a:cubicBezTo>
                      <a:pt x="124172" y="146171"/>
                      <a:pt x="124172" y="142753"/>
                      <a:pt x="122721" y="139850"/>
                    </a:cubicBezTo>
                    <a:close/>
                  </a:path>
                </a:pathLst>
              </a:custGeom>
              <a:solidFill>
                <a:schemeClr val="accent3"/>
              </a:solidFill>
              <a:ln>
                <a:noFill/>
              </a:ln>
            </p:spPr>
          </p:sp>
          <p:sp>
            <p:nvSpPr>
              <p:cNvPr id="16" name="Freeform 16"/>
              <p:cNvSpPr/>
              <p:nvPr/>
            </p:nvSpPr>
            <p:spPr>
              <a:xfrm>
                <a:off x="1107270" y="51553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8" name="TextBox 18"/>
            <p:cNvSpPr txBox="1"/>
            <p:nvPr/>
          </p:nvSpPr>
          <p:spPr>
            <a:xfrm>
              <a:off x="1324356" y="5158740"/>
              <a:ext cx="72998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「受注管理.xlsm から 4モジュール・412行を読み込みました」のように結果が出ます。</a:t>
              </a:r>
            </a:p>
          </p:txBody>
        </p:sp>
      </p:grpSp>
      <p:grpSp>
        <p:nvGrpSpPr>
          <p:cNvPr id="22" name="Group 22"/>
          <p:cNvGrpSpPr/>
          <p:nvPr/>
        </p:nvGrpSpPr>
        <p:grpSpPr>
          <a:xfrm>
            <a:off x="962369" y="5577840"/>
            <a:ext cx="8182850" cy="352044"/>
            <a:chOff x="962369" y="5577840"/>
            <a:chExt cx="8182850" cy="352044"/>
          </a:xfrm>
        </p:grpSpPr>
        <p:sp>
          <p:nvSpPr>
            <p:cNvPr id="20" name="Freeform 20"/>
            <p:cNvSpPr/>
            <p:nvPr/>
          </p:nvSpPr>
          <p:spPr>
            <a:xfrm>
              <a:off x="962369" y="5584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21" name="TextBox 21"/>
            <p:cNvSpPr txBox="1"/>
            <p:nvPr/>
          </p:nvSpPr>
          <p:spPr>
            <a:xfrm>
              <a:off x="1324356" y="5577840"/>
              <a:ext cx="782086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中身を見たいときは「読み取った内容を見る」を開くと、モジュール名と行数の一覧が出ます。</a:t>
              </a:r>
            </a:p>
          </p:txBody>
        </p:sp>
      </p:grpSp>
      <p:grpSp>
        <p:nvGrpSpPr>
          <p:cNvPr id="25" name="Group 25"/>
          <p:cNvGrpSpPr/>
          <p:nvPr/>
        </p:nvGrpSpPr>
        <p:grpSpPr>
          <a:xfrm>
            <a:off x="968465" y="5983287"/>
            <a:ext cx="4093730" cy="365697"/>
            <a:chOff x="968465" y="5983287"/>
            <a:chExt cx="4093730" cy="365697"/>
          </a:xfrm>
        </p:grpSpPr>
        <p:sp>
          <p:nvSpPr>
            <p:cNvPr id="23" name="Freeform 23"/>
            <p:cNvSpPr/>
            <p:nvPr/>
          </p:nvSpPr>
          <p:spPr>
            <a:xfrm>
              <a:off x="968465" y="59832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2"/>
            </a:solidFill>
            <a:ln>
              <a:noFill/>
            </a:ln>
          </p:spPr>
        </p:sp>
        <p:sp>
          <p:nvSpPr>
            <p:cNvPr id="24" name="TextBox 24"/>
            <p:cNvSpPr txBox="1"/>
            <p:nvPr/>
          </p:nvSpPr>
          <p:spPr>
            <a:xfrm>
              <a:off x="1324356" y="5996940"/>
              <a:ext cx="373783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ここでは元のブックには一切書き込んでいません。</a:t>
              </a:r>
            </a:p>
          </p:txBody>
        </p:sp>
      </p:grpSp>
      <p:grpSp>
        <p:nvGrpSpPr>
          <p:cNvPr id="28" name="Group 28"/>
          <p:cNvGrpSpPr/>
          <p:nvPr/>
        </p:nvGrpSpPr>
        <p:grpSpPr>
          <a:xfrm>
            <a:off x="946404" y="6557010"/>
            <a:ext cx="10299192" cy="234696"/>
            <a:chOff x="946404" y="6557010"/>
            <a:chExt cx="10299192" cy="234696"/>
          </a:xfrm>
        </p:grpSpPr>
        <p:sp>
          <p:nvSpPr>
            <p:cNvPr id="26" name="TextBox 2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7" name="TextBox 2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5055489" cy="1181099"/>
            <a:chOff x="1888998" y="444818"/>
            <a:chExt cx="5055489"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3/3</a:t>
              </a:r>
            </a:p>
          </p:txBody>
        </p:sp>
        <p:sp>
          <p:nvSpPr>
            <p:cNvPr id="4" name="TextBox 4"/>
            <p:cNvSpPr txBox="1"/>
            <p:nvPr/>
          </p:nvSpPr>
          <p:spPr>
            <a:xfrm>
              <a:off x="1888998" y="669608"/>
              <a:ext cx="415061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このマクロをどうしたいか選びます</a:t>
              </a:r>
            </a:p>
          </p:txBody>
        </p:sp>
        <p:sp>
          <p:nvSpPr>
            <p:cNvPr id="5" name="TextBox 5"/>
            <p:cNvSpPr txBox="1"/>
            <p:nvPr/>
          </p:nvSpPr>
          <p:spPr>
            <a:xfrm>
              <a:off x="1893570" y="1185862"/>
              <a:ext cx="505091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選んでも自動では進まない。［次へ］で確定する</a:t>
              </a:r>
            </a:p>
          </p:txBody>
        </p:sp>
      </p:grpSp>
      <p:grpSp>
        <p:nvGrpSpPr>
          <p:cNvPr id="10" name="Group 10"/>
          <p:cNvGrpSpPr/>
          <p:nvPr/>
        </p:nvGrpSpPr>
        <p:grpSpPr>
          <a:xfrm>
            <a:off x="952500" y="1809750"/>
            <a:ext cx="5334000" cy="1186434"/>
            <a:chOff x="952500" y="1809750"/>
            <a:chExt cx="5334000" cy="1186434"/>
          </a:xfrm>
        </p:grpSpPr>
        <p:sp>
          <p:nvSpPr>
            <p:cNvPr id="7" name="Rectangle 7"/>
            <p:cNvSpPr/>
            <p:nvPr/>
          </p:nvSpPr>
          <p:spPr>
            <a:xfrm>
              <a:off x="952500" y="1809750"/>
              <a:ext cx="5334000" cy="1181100"/>
            </a:xfrm>
            <a:prstGeom prst="roundRect">
              <a:avLst>
                <a:gd name="adj" fmla="val 11290"/>
              </a:avLst>
            </a:prstGeom>
            <a:solidFill>
              <a:schemeClr val="lt2"/>
            </a:solidFill>
            <a:ln>
              <a:noFill/>
            </a:ln>
          </p:spPr>
        </p:sp>
        <p:sp>
          <p:nvSpPr>
            <p:cNvPr id="8" name="TextBox 8"/>
            <p:cNvSpPr txBox="1"/>
            <p:nvPr/>
          </p:nvSpPr>
          <p:spPr>
            <a:xfrm>
              <a:off x="1210056" y="19773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9" name="TextBox 9"/>
            <p:cNvSpPr txBox="1"/>
            <p:nvPr/>
          </p:nvSpPr>
          <p:spPr>
            <a:xfrm>
              <a:off x="1210056" y="2320290"/>
              <a:ext cx="292150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AIの返答を取り込んで、改修済みの</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ブックをこのアプリで作ります。</a:t>
              </a:r>
            </a:p>
          </p:txBody>
        </p:sp>
      </p:grpSp>
      <p:grpSp>
        <p:nvGrpSpPr>
          <p:cNvPr id="14" name="Group 14"/>
          <p:cNvGrpSpPr/>
          <p:nvPr/>
        </p:nvGrpSpPr>
        <p:grpSpPr>
          <a:xfrm>
            <a:off x="952500" y="3143250"/>
            <a:ext cx="5334000" cy="1186434"/>
            <a:chOff x="952500" y="3143250"/>
            <a:chExt cx="5334000" cy="1186434"/>
          </a:xfrm>
        </p:grpSpPr>
        <p:sp>
          <p:nvSpPr>
            <p:cNvPr id="11" name="Rectangle 11"/>
            <p:cNvSpPr/>
            <p:nvPr/>
          </p:nvSpPr>
          <p:spPr>
            <a:xfrm>
              <a:off x="952500" y="3143250"/>
              <a:ext cx="5334000" cy="1181100"/>
            </a:xfrm>
            <a:prstGeom prst="roundRect">
              <a:avLst>
                <a:gd name="adj" fmla="val 11290"/>
              </a:avLst>
            </a:prstGeom>
            <a:solidFill>
              <a:schemeClr val="lt2"/>
            </a:solidFill>
            <a:ln>
              <a:noFill/>
            </a:ln>
          </p:spPr>
        </p:sp>
        <p:sp>
          <p:nvSpPr>
            <p:cNvPr id="12" name="TextBox 12"/>
            <p:cNvSpPr txBox="1"/>
            <p:nvPr/>
          </p:nvSpPr>
          <p:spPr>
            <a:xfrm>
              <a:off x="1210056" y="3310890"/>
              <a:ext cx="184635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マクロについてAIに聞く</a:t>
              </a:r>
            </a:p>
          </p:txBody>
        </p:sp>
        <p:sp>
          <p:nvSpPr>
            <p:cNvPr id="13" name="TextBox 13"/>
            <p:cNvSpPr txBox="1"/>
            <p:nvPr/>
          </p:nvSpPr>
          <p:spPr>
            <a:xfrm>
              <a:off x="1210056" y="3653790"/>
              <a:ext cx="254431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AIチャットへ渡す依頼文とコードを作ります。ブックは変更しません。</a:t>
              </a:r>
            </a:p>
          </p:txBody>
        </p:sp>
      </p:grpSp>
      <p:grpSp>
        <p:nvGrpSpPr>
          <p:cNvPr id="16" name="Group 16"/>
          <p:cNvGrpSpPr/>
          <p:nvPr/>
        </p:nvGrpSpPr>
        <p:grpSpPr>
          <a:xfrm>
            <a:off x="943356" y="4549140"/>
            <a:ext cx="2406587" cy="675894"/>
            <a:chOff x="943356" y="4549140"/>
            <a:chExt cx="2406587" cy="675894"/>
          </a:xfrm>
        </p:grpSpPr>
        <p:sp>
          <p:nvSpPr>
            <p:cNvPr id="15" name="TextBox 15"/>
            <p:cNvSpPr txBox="1"/>
            <p:nvPr/>
          </p:nvSpPr>
          <p:spPr>
            <a:xfrm>
              <a:off x="943356" y="4549140"/>
              <a:ext cx="2406587" cy="675894"/>
            </a:xfrm>
            <a:prstGeom prst="rect">
              <a:avLst/>
            </a:prstGeom>
            <a:noFill/>
            <a:ln>
              <a:noFill/>
            </a:ln>
          </p:spPr>
          <p:txBody>
            <a:bodyPr wrap="square" lIns="0" tIns="0" rIns="0" bIns="0" anchor="t" anchorCtr="0"/>
            <a:lstStyle/>
            <a:p>
              <a:pPr algn="l">
                <a:lnSpc>
                  <a:spcPts val="2550"/>
                </a:lnSpc>
              </a:pPr>
              <a:r>
                <a:rPr lang="zh-CN" sz="1800" b="1" dirty="0">
                  <a:solidFill>
                    <a:schemeClr val="accent2"/>
                  </a:solidFill>
                  <a:latin typeface="+mn-lt"/>
                  <a:ea typeface="+mn-ea"/>
                  <a:cs typeface="+mn-cs"/>
                </a:rPr>
                <a:t>選んでも自動では進みません。［次へ］で確定します。</a:t>
              </a:r>
            </a:p>
          </p:txBody>
        </p:sp>
      </p:grpSp>
      <p:grpSp>
        <p:nvGrpSpPr>
          <p:cNvPr id="21" name="Group 21"/>
          <p:cNvGrpSpPr/>
          <p:nvPr/>
        </p:nvGrpSpPr>
        <p:grpSpPr>
          <a:xfrm>
            <a:off x="6660642" y="1809750"/>
            <a:ext cx="4578858" cy="3099625"/>
            <a:chOff x="6660642" y="1809750"/>
            <a:chExt cx="4578858" cy="3099625"/>
          </a:xfrm>
        </p:grpSpPr>
        <p:sp>
          <p:nvSpPr>
            <p:cNvPr id="17" name="Rectangle 17"/>
            <p:cNvSpPr/>
            <p:nvPr/>
          </p:nvSpPr>
          <p:spPr>
            <a:xfrm>
              <a:off x="6667500" y="1809750"/>
              <a:ext cx="4572000" cy="2733675"/>
            </a:xfrm>
            <a:prstGeom prst="roundRect">
              <a:avLst>
                <a:gd name="adj" fmla="val 5575"/>
              </a:avLst>
            </a:prstGeom>
            <a:solidFill>
              <a:schemeClr val="accent5"/>
            </a:solidFill>
            <a:ln w="9525">
              <a:solidFill>
                <a:schemeClr val="accent6"/>
              </a:solidFill>
            </a:ln>
          </p:spPr>
        </p:sp>
        <p:pic>
          <p:nvPicPr>
            <p:cNvPr id="18" name="Image 18"/>
            <p:cNvPicPr>
              <a:picLocks noChangeAspect="1"/>
            </p:cNvPicPr>
            <p:nvPr/>
          </p:nvPicPr>
          <p:blipFill>
            <a:blip r:embed="rId2"/>
            <a:stretch>
              <a:fillRect/>
            </a:stretch>
          </p:blipFill>
          <p:spPr>
            <a:xfrm>
              <a:off x="6861598" y="2000250"/>
              <a:ext cx="4183805" cy="2352675"/>
            </a:xfrm>
            <a:prstGeom prst="rect">
              <a:avLst/>
            </a:prstGeom>
          </p:spPr>
        </p:pic>
        <p:sp>
          <p:nvSpPr>
            <p:cNvPr id="19" name="Rectangle 19"/>
            <p:cNvSpPr/>
            <p:nvPr/>
          </p:nvSpPr>
          <p:spPr>
            <a:xfrm>
              <a:off x="10382250" y="3962400"/>
              <a:ext cx="647700" cy="342900"/>
            </a:xfrm>
            <a:prstGeom prst="roundRect">
              <a:avLst>
                <a:gd name="adj" fmla="val 22222"/>
              </a:avLst>
            </a:prstGeom>
            <a:noFill/>
            <a:ln w="19050">
              <a:solidFill>
                <a:schemeClr val="accent2"/>
              </a:solidFill>
            </a:ln>
          </p:spPr>
        </p:sp>
        <p:sp>
          <p:nvSpPr>
            <p:cNvPr id="20" name="TextBox 20"/>
            <p:cNvSpPr txBox="1"/>
            <p:nvPr/>
          </p:nvSpPr>
          <p:spPr>
            <a:xfrm>
              <a:off x="6660642" y="4645342"/>
              <a:ext cx="329406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「マクロを改修する」を選んだ状態。枠は［次へ］</a:t>
              </a:r>
            </a:p>
          </p:txBody>
        </p:sp>
      </p:grpSp>
      <p:grpSp>
        <p:nvGrpSpPr>
          <p:cNvPr id="24" name="Group 24"/>
          <p:cNvGrpSpPr/>
          <p:nvPr/>
        </p:nvGrpSpPr>
        <p:grpSpPr>
          <a:xfrm>
            <a:off x="972238" y="5564187"/>
            <a:ext cx="4986526" cy="365697"/>
            <a:chOff x="972238" y="5564187"/>
            <a:chExt cx="4986526" cy="365697"/>
          </a:xfrm>
        </p:grpSpPr>
        <p:sp>
          <p:nvSpPr>
            <p:cNvPr id="22" name="Freeform 22"/>
            <p:cNvSpPr/>
            <p:nvPr/>
          </p:nvSpPr>
          <p:spPr>
            <a:xfrm>
              <a:off x="972238" y="5564187"/>
              <a:ext cx="208173" cy="206372"/>
            </a:xfrm>
            <a:custGeom>
              <a:avLst/>
              <a:gdLst/>
              <a:ahLst/>
              <a:cxnLst/>
              <a:rect l="l" t="t" r="r" b="b"/>
              <a:pathLst>
                <a:path w="208173" h="206372">
                  <a:moveTo>
                    <a:pt x="104086" y="0"/>
                  </a:moveTo>
                  <a:lnTo>
                    <a:pt x="107430" y="52"/>
                  </a:lnTo>
                  <a:cubicBezTo>
                    <a:pt x="163737" y="1877"/>
                    <a:pt x="208173" y="48527"/>
                    <a:pt x="207260" y="104856"/>
                  </a:cubicBezTo>
                  <a:cubicBezTo>
                    <a:pt x="206347" y="161186"/>
                    <a:pt x="160423" y="206372"/>
                    <a:pt x="104086" y="206372"/>
                  </a:cubicBezTo>
                  <a:cubicBezTo>
                    <a:pt x="47750" y="206372"/>
                    <a:pt x="1826" y="161186"/>
                    <a:pt x="913" y="104856"/>
                  </a:cubicBezTo>
                  <a:cubicBezTo>
                    <a:pt x="0" y="48527"/>
                    <a:pt x="44436" y="1877"/>
                    <a:pt x="100743" y="52"/>
                  </a:cubicBezTo>
                  <a:lnTo>
                    <a:pt x="104086" y="0"/>
                  </a:lnTo>
                  <a:close/>
                  <a:moveTo>
                    <a:pt x="110412" y="53761"/>
                  </a:moveTo>
                  <a:cubicBezTo>
                    <a:pt x="106108" y="50432"/>
                    <a:pt x="99959" y="51018"/>
                    <a:pt x="96360" y="55099"/>
                  </a:cubicBezTo>
                  <a:cubicBezTo>
                    <a:pt x="92762" y="59180"/>
                    <a:pt x="92950" y="65354"/>
                    <a:pt x="96791" y="69208"/>
                  </a:cubicBezTo>
                  <a:lnTo>
                    <a:pt x="120431" y="92868"/>
                  </a:lnTo>
                  <a:lnTo>
                    <a:pt x="62812" y="92868"/>
                  </a:lnTo>
                  <a:lnTo>
                    <a:pt x="61604" y="92941"/>
                  </a:lnTo>
                  <a:cubicBezTo>
                    <a:pt x="56183" y="93586"/>
                    <a:pt x="52202" y="98342"/>
                    <a:pt x="52522" y="103792"/>
                  </a:cubicBezTo>
                  <a:cubicBezTo>
                    <a:pt x="52842" y="109242"/>
                    <a:pt x="57352" y="113500"/>
                    <a:pt x="62812" y="113506"/>
                  </a:cubicBezTo>
                  <a:lnTo>
                    <a:pt x="120431" y="113506"/>
                  </a:lnTo>
                  <a:lnTo>
                    <a:pt x="96791" y="137167"/>
                  </a:lnTo>
                  <a:lnTo>
                    <a:pt x="95935" y="138137"/>
                  </a:lnTo>
                  <a:cubicBezTo>
                    <a:pt x="92606" y="142441"/>
                    <a:pt x="93192" y="148590"/>
                    <a:pt x="97273" y="152188"/>
                  </a:cubicBezTo>
                  <a:cubicBezTo>
                    <a:pt x="101354" y="155787"/>
                    <a:pt x="107528" y="155598"/>
                    <a:pt x="111382" y="151757"/>
                  </a:cubicBezTo>
                  <a:lnTo>
                    <a:pt x="152657" y="110483"/>
                  </a:lnTo>
                  <a:lnTo>
                    <a:pt x="153410" y="109636"/>
                  </a:lnTo>
                  <a:lnTo>
                    <a:pt x="154070" y="108718"/>
                  </a:lnTo>
                  <a:lnTo>
                    <a:pt x="154710" y="107552"/>
                  </a:lnTo>
                  <a:lnTo>
                    <a:pt x="155164" y="106417"/>
                  </a:lnTo>
                  <a:lnTo>
                    <a:pt x="155474" y="105261"/>
                  </a:lnTo>
                  <a:lnTo>
                    <a:pt x="155649" y="103961"/>
                  </a:lnTo>
                  <a:lnTo>
                    <a:pt x="155680" y="103187"/>
                  </a:lnTo>
                  <a:lnTo>
                    <a:pt x="155608" y="101970"/>
                  </a:lnTo>
                  <a:lnTo>
                    <a:pt x="155309" y="100442"/>
                  </a:lnTo>
                  <a:lnTo>
                    <a:pt x="154947" y="99359"/>
                  </a:lnTo>
                  <a:lnTo>
                    <a:pt x="154390" y="98193"/>
                  </a:lnTo>
                  <a:lnTo>
                    <a:pt x="153658" y="97048"/>
                  </a:lnTo>
                  <a:cubicBezTo>
                    <a:pt x="153353" y="96638"/>
                    <a:pt x="153018" y="96252"/>
                    <a:pt x="152657" y="95892"/>
                  </a:cubicBezTo>
                  <a:lnTo>
                    <a:pt x="111382" y="54617"/>
                  </a:lnTo>
                  <a:close/>
                </a:path>
              </a:pathLst>
            </a:custGeom>
            <a:solidFill>
              <a:schemeClr val="accent3"/>
            </a:solidFill>
            <a:ln>
              <a:noFill/>
            </a:ln>
          </p:spPr>
        </p:sp>
        <p:sp>
          <p:nvSpPr>
            <p:cNvPr id="23" name="TextBox 23"/>
            <p:cNvSpPr txBox="1"/>
            <p:nvPr/>
          </p:nvSpPr>
          <p:spPr>
            <a:xfrm>
              <a:off x="1324356" y="5577840"/>
              <a:ext cx="46344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選ぶと、画面上部の進捗にその先の手順が現れます。</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6" name="TextBox 26"/>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5116068" cy="1181099"/>
            <a:chOff x="1888998" y="444818"/>
            <a:chExt cx="5116068" cy="1181099"/>
          </a:xfrm>
        </p:grpSpPr>
        <p:sp>
          <p:nvSpPr>
            <p:cNvPr id="3" name="TextBox 3"/>
            <p:cNvSpPr txBox="1"/>
            <p:nvPr/>
          </p:nvSpPr>
          <p:spPr>
            <a:xfrm>
              <a:off x="1898142" y="444818"/>
              <a:ext cx="19492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依頼の内容を選ぶ</a:t>
              </a:r>
            </a:p>
          </p:txBody>
        </p:sp>
        <p:sp>
          <p:nvSpPr>
            <p:cNvPr id="4" name="TextBox 4"/>
            <p:cNvSpPr txBox="1"/>
            <p:nvPr/>
          </p:nvSpPr>
          <p:spPr>
            <a:xfrm>
              <a:off x="1888998" y="669608"/>
              <a:ext cx="38166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どんな改修をするか選びます</a:t>
              </a:r>
            </a:p>
          </p:txBody>
        </p:sp>
        <p:sp>
          <p:nvSpPr>
            <p:cNvPr id="5" name="TextBox 5"/>
            <p:cNvSpPr txBox="1"/>
            <p:nvPr/>
          </p:nvSpPr>
          <p:spPr>
            <a:xfrm>
              <a:off x="1893570" y="1185862"/>
              <a:ext cx="5111496"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一覧に出るのはファイル名ではなく、ひな形の見出し</a:t>
              </a:r>
            </a:p>
          </p:txBody>
        </p:sp>
      </p:grpSp>
      <p:grpSp>
        <p:nvGrpSpPr>
          <p:cNvPr id="11" name="Group 11"/>
          <p:cNvGrpSpPr/>
          <p:nvPr/>
        </p:nvGrpSpPr>
        <p:grpSpPr>
          <a:xfrm>
            <a:off x="952500" y="1809750"/>
            <a:ext cx="4770806" cy="537401"/>
            <a:chOff x="952500" y="1809750"/>
            <a:chExt cx="4770806" cy="537401"/>
          </a:xfrm>
        </p:grpSpPr>
        <p:sp>
          <p:nvSpPr>
            <p:cNvPr id="7" name="Rectangle 7"/>
            <p:cNvSpPr/>
            <p:nvPr/>
          </p:nvSpPr>
          <p:spPr>
            <a:xfrm>
              <a:off x="952500" y="1809750"/>
              <a:ext cx="723900" cy="247650"/>
            </a:xfrm>
            <a:prstGeom prst="roundRect">
              <a:avLst>
                <a:gd name="adj" fmla="val 50000"/>
              </a:avLst>
            </a:prstGeom>
            <a:solidFill>
              <a:schemeClr val="lt1"/>
            </a:solidFill>
            <a:ln w="9525">
              <a:solidFill>
                <a:srgbClr val="CBD5E1"/>
              </a:solidFill>
            </a:ln>
          </p:spPr>
        </p:sp>
        <p:sp>
          <p:nvSpPr>
            <p:cNvPr id="8" name="TextBox 8"/>
            <p:cNvSpPr txBox="1"/>
            <p:nvPr/>
          </p:nvSpPr>
          <p:spPr>
            <a:xfrm>
              <a:off x="1125855" y="18449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9" name="TextBox 9"/>
            <p:cNvSpPr txBox="1"/>
            <p:nvPr/>
          </p:nvSpPr>
          <p:spPr>
            <a:xfrm>
              <a:off x="1821180" y="1838325"/>
              <a:ext cx="3902126"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VBAリファクター（動きを変えずに整理・改善する）</a:t>
              </a:r>
            </a:p>
          </p:txBody>
        </p:sp>
        <p:sp>
          <p:nvSpPr>
            <p:cNvPr id="10" name="TextBox 10"/>
            <p:cNvSpPr txBox="1"/>
            <p:nvPr/>
          </p:nvSpPr>
          <p:spPr>
            <a:xfrm>
              <a:off x="1821942" y="2083118"/>
              <a:ext cx="336676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動作を変えずに、読みやすさ・速さ・壊れにくさを直します</a:t>
              </a:r>
            </a:p>
          </p:txBody>
        </p:sp>
      </p:grpSp>
      <p:grpSp>
        <p:nvGrpSpPr>
          <p:cNvPr id="16" name="Group 16"/>
          <p:cNvGrpSpPr/>
          <p:nvPr/>
        </p:nvGrpSpPr>
        <p:grpSpPr>
          <a:xfrm>
            <a:off x="952500" y="2419350"/>
            <a:ext cx="4723638" cy="537401"/>
            <a:chOff x="952500" y="2419350"/>
            <a:chExt cx="4723638" cy="537401"/>
          </a:xfrm>
        </p:grpSpPr>
        <p:sp>
          <p:nvSpPr>
            <p:cNvPr id="12" name="Rectangle 12"/>
            <p:cNvSpPr/>
            <p:nvPr/>
          </p:nvSpPr>
          <p:spPr>
            <a:xfrm>
              <a:off x="952500" y="2419350"/>
              <a:ext cx="723900" cy="247650"/>
            </a:xfrm>
            <a:prstGeom prst="roundRect">
              <a:avLst>
                <a:gd name="adj" fmla="val 50000"/>
              </a:avLst>
            </a:prstGeom>
            <a:solidFill>
              <a:schemeClr val="lt1"/>
            </a:solidFill>
            <a:ln w="9525">
              <a:solidFill>
                <a:srgbClr val="CBD5E1"/>
              </a:solidFill>
            </a:ln>
          </p:spPr>
        </p:sp>
        <p:sp>
          <p:nvSpPr>
            <p:cNvPr id="13" name="TextBox 13"/>
            <p:cNvSpPr txBox="1"/>
            <p:nvPr/>
          </p:nvSpPr>
          <p:spPr>
            <a:xfrm>
              <a:off x="1125855" y="24545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14" name="TextBox 14"/>
            <p:cNvSpPr txBox="1"/>
            <p:nvPr/>
          </p:nvSpPr>
          <p:spPr>
            <a:xfrm>
              <a:off x="1821180" y="2447925"/>
              <a:ext cx="2435542"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Win32 API を使わない形へ直す</a:t>
              </a:r>
            </a:p>
          </p:txBody>
        </p:sp>
        <p:sp>
          <p:nvSpPr>
            <p:cNvPr id="15" name="TextBox 15"/>
            <p:cNvSpPr txBox="1"/>
            <p:nvPr/>
          </p:nvSpPr>
          <p:spPr>
            <a:xfrm>
              <a:off x="1821942" y="2692718"/>
              <a:ext cx="385419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依存した箇所を、VBA 標準機能だけの形へ置き換えます</a:t>
              </a:r>
            </a:p>
          </p:txBody>
        </p:sp>
      </p:grpSp>
      <p:grpSp>
        <p:nvGrpSpPr>
          <p:cNvPr id="21" name="Group 21"/>
          <p:cNvGrpSpPr/>
          <p:nvPr/>
        </p:nvGrpSpPr>
        <p:grpSpPr>
          <a:xfrm>
            <a:off x="952500" y="3028950"/>
            <a:ext cx="3618300" cy="537401"/>
            <a:chOff x="952500" y="3028950"/>
            <a:chExt cx="3618300" cy="537401"/>
          </a:xfrm>
        </p:grpSpPr>
        <p:sp>
          <p:nvSpPr>
            <p:cNvPr id="17" name="Rectangle 17"/>
            <p:cNvSpPr/>
            <p:nvPr/>
          </p:nvSpPr>
          <p:spPr>
            <a:xfrm>
              <a:off x="952500" y="3028950"/>
              <a:ext cx="723900" cy="247650"/>
            </a:xfrm>
            <a:prstGeom prst="roundRect">
              <a:avLst>
                <a:gd name="adj" fmla="val 50000"/>
              </a:avLst>
            </a:prstGeom>
            <a:solidFill>
              <a:schemeClr val="lt1"/>
            </a:solidFill>
            <a:ln w="9525">
              <a:solidFill>
                <a:srgbClr val="CBD5E1"/>
              </a:solidFill>
            </a:ln>
          </p:spPr>
        </p:sp>
        <p:sp>
          <p:nvSpPr>
            <p:cNvPr id="18" name="TextBox 18"/>
            <p:cNvSpPr txBox="1"/>
            <p:nvPr/>
          </p:nvSpPr>
          <p:spPr>
            <a:xfrm>
              <a:off x="1125855" y="30641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19" name="TextBox 19"/>
            <p:cNvSpPr txBox="1"/>
            <p:nvPr/>
          </p:nvSpPr>
          <p:spPr>
            <a:xfrm>
              <a:off x="1821180" y="30575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自分で改修内容を書く</a:t>
              </a:r>
            </a:p>
          </p:txBody>
        </p:sp>
        <p:sp>
          <p:nvSpPr>
            <p:cNvPr id="20" name="TextBox 20"/>
            <p:cNvSpPr txBox="1"/>
            <p:nvPr/>
          </p:nvSpPr>
          <p:spPr>
            <a:xfrm>
              <a:off x="1821942" y="3302318"/>
              <a:ext cx="274885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改修してほしい内容を自分の言葉で書きます</a:t>
              </a:r>
            </a:p>
          </p:txBody>
        </p:sp>
      </p:grpSp>
      <p:grpSp>
        <p:nvGrpSpPr>
          <p:cNvPr id="26" name="Group 26"/>
          <p:cNvGrpSpPr/>
          <p:nvPr/>
        </p:nvGrpSpPr>
        <p:grpSpPr>
          <a:xfrm>
            <a:off x="952500" y="3638550"/>
            <a:ext cx="3936340" cy="537401"/>
            <a:chOff x="952500" y="3638550"/>
            <a:chExt cx="3936340" cy="537401"/>
          </a:xfrm>
        </p:grpSpPr>
        <p:sp>
          <p:nvSpPr>
            <p:cNvPr id="22" name="Rectangle 22"/>
            <p:cNvSpPr/>
            <p:nvPr/>
          </p:nvSpPr>
          <p:spPr>
            <a:xfrm>
              <a:off x="952500" y="3638550"/>
              <a:ext cx="723900" cy="247650"/>
            </a:xfrm>
            <a:prstGeom prst="roundRect">
              <a:avLst>
                <a:gd name="adj" fmla="val 50000"/>
              </a:avLst>
            </a:prstGeom>
            <a:solidFill>
              <a:schemeClr val="lt1"/>
            </a:solidFill>
            <a:ln w="9525">
              <a:solidFill>
                <a:srgbClr val="CBD5E1"/>
              </a:solidFill>
            </a:ln>
          </p:spPr>
        </p:sp>
        <p:sp>
          <p:nvSpPr>
            <p:cNvPr id="23" name="TextBox 23"/>
            <p:cNvSpPr txBox="1"/>
            <p:nvPr/>
          </p:nvSpPr>
          <p:spPr>
            <a:xfrm>
              <a:off x="1166746" y="36737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24" name="TextBox 24"/>
            <p:cNvSpPr txBox="1"/>
            <p:nvPr/>
          </p:nvSpPr>
          <p:spPr>
            <a:xfrm>
              <a:off x="1821180" y="3667125"/>
              <a:ext cx="23581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新しい端末で動くかを調べてもらう</a:t>
              </a:r>
            </a:p>
          </p:txBody>
        </p:sp>
        <p:sp>
          <p:nvSpPr>
            <p:cNvPr id="25" name="TextBox 25"/>
            <p:cNvSpPr txBox="1"/>
            <p:nvPr/>
          </p:nvSpPr>
          <p:spPr>
            <a:xfrm>
              <a:off x="1821942" y="3911918"/>
              <a:ext cx="306689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動かなくなる箇所と直し方の方針を挙げてもらいます</a:t>
              </a:r>
            </a:p>
          </p:txBody>
        </p:sp>
      </p:grpSp>
      <p:grpSp>
        <p:nvGrpSpPr>
          <p:cNvPr id="31" name="Group 31"/>
          <p:cNvGrpSpPr/>
          <p:nvPr/>
        </p:nvGrpSpPr>
        <p:grpSpPr>
          <a:xfrm>
            <a:off x="952500" y="4248150"/>
            <a:ext cx="4618025" cy="537401"/>
            <a:chOff x="952500" y="4248150"/>
            <a:chExt cx="4618025" cy="537401"/>
          </a:xfrm>
        </p:grpSpPr>
        <p:sp>
          <p:nvSpPr>
            <p:cNvPr id="27" name="Rectangle 27"/>
            <p:cNvSpPr/>
            <p:nvPr/>
          </p:nvSpPr>
          <p:spPr>
            <a:xfrm>
              <a:off x="952500" y="4248150"/>
              <a:ext cx="723900" cy="247650"/>
            </a:xfrm>
            <a:prstGeom prst="roundRect">
              <a:avLst>
                <a:gd name="adj" fmla="val 50000"/>
              </a:avLst>
            </a:prstGeom>
            <a:solidFill>
              <a:schemeClr val="lt1"/>
            </a:solidFill>
            <a:ln w="9525">
              <a:solidFill>
                <a:srgbClr val="CBD5E1"/>
              </a:solidFill>
            </a:ln>
          </p:spPr>
        </p:sp>
        <p:sp>
          <p:nvSpPr>
            <p:cNvPr id="28" name="TextBox 28"/>
            <p:cNvSpPr txBox="1"/>
            <p:nvPr/>
          </p:nvSpPr>
          <p:spPr>
            <a:xfrm>
              <a:off x="1166746" y="42833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29" name="TextBox 29"/>
            <p:cNvSpPr txBox="1"/>
            <p:nvPr/>
          </p:nvSpPr>
          <p:spPr>
            <a:xfrm>
              <a:off x="1821180" y="4276725"/>
              <a:ext cx="372570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相談用の依頼文を作る（進め方を決めたいとき）</a:t>
              </a:r>
            </a:p>
          </p:txBody>
        </p:sp>
        <p:sp>
          <p:nvSpPr>
            <p:cNvPr id="30" name="TextBox 30"/>
            <p:cNvSpPr txBox="1"/>
            <p:nvPr/>
          </p:nvSpPr>
          <p:spPr>
            <a:xfrm>
              <a:off x="1821942" y="4521518"/>
              <a:ext cx="374858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質問に答え、AI と方針を決めるための 1 通目を作ります</a:t>
              </a:r>
            </a:p>
          </p:txBody>
        </p:sp>
      </p:grpSp>
      <p:grpSp>
        <p:nvGrpSpPr>
          <p:cNvPr id="36" name="Group 36"/>
          <p:cNvGrpSpPr/>
          <p:nvPr/>
        </p:nvGrpSpPr>
        <p:grpSpPr>
          <a:xfrm>
            <a:off x="952500" y="4857750"/>
            <a:ext cx="3073089" cy="537401"/>
            <a:chOff x="952500" y="4857750"/>
            <a:chExt cx="3073089" cy="537401"/>
          </a:xfrm>
        </p:grpSpPr>
        <p:sp>
          <p:nvSpPr>
            <p:cNvPr id="32" name="Rectangle 32"/>
            <p:cNvSpPr/>
            <p:nvPr/>
          </p:nvSpPr>
          <p:spPr>
            <a:xfrm>
              <a:off x="952500" y="4857750"/>
              <a:ext cx="723900" cy="247650"/>
            </a:xfrm>
            <a:prstGeom prst="roundRect">
              <a:avLst>
                <a:gd name="adj" fmla="val 50000"/>
              </a:avLst>
            </a:prstGeom>
            <a:solidFill>
              <a:schemeClr val="lt1"/>
            </a:solidFill>
            <a:ln w="9525">
              <a:solidFill>
                <a:srgbClr val="CBD5E1"/>
              </a:solidFill>
            </a:ln>
          </p:spPr>
        </p:sp>
        <p:sp>
          <p:nvSpPr>
            <p:cNvPr id="33" name="TextBox 33"/>
            <p:cNvSpPr txBox="1"/>
            <p:nvPr/>
          </p:nvSpPr>
          <p:spPr>
            <a:xfrm>
              <a:off x="1166746" y="48929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34" name="TextBox 34"/>
            <p:cNvSpPr txBox="1"/>
            <p:nvPr/>
          </p:nvSpPr>
          <p:spPr>
            <a:xfrm>
              <a:off x="1821180" y="4886325"/>
              <a:ext cx="179626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聞きたいことを自分で書く</a:t>
              </a:r>
            </a:p>
          </p:txBody>
        </p:sp>
        <p:sp>
          <p:nvSpPr>
            <p:cNvPr id="35" name="TextBox 35"/>
            <p:cNvSpPr txBox="1"/>
            <p:nvPr/>
          </p:nvSpPr>
          <p:spPr>
            <a:xfrm>
              <a:off x="1821942" y="5131118"/>
              <a:ext cx="220364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聞きたいことを自分の言葉で書きます</a:t>
              </a:r>
            </a:p>
          </p:txBody>
        </p:sp>
      </p:grpSp>
      <p:grpSp>
        <p:nvGrpSpPr>
          <p:cNvPr id="40" name="Group 40"/>
          <p:cNvGrpSpPr/>
          <p:nvPr/>
        </p:nvGrpSpPr>
        <p:grpSpPr>
          <a:xfrm>
            <a:off x="7232142" y="1809750"/>
            <a:ext cx="4007358" cy="2785301"/>
            <a:chOff x="7232142" y="1809750"/>
            <a:chExt cx="4007358" cy="2785301"/>
          </a:xfrm>
        </p:grpSpPr>
        <p:sp>
          <p:nvSpPr>
            <p:cNvPr id="37" name="Rectangle 37"/>
            <p:cNvSpPr/>
            <p:nvPr/>
          </p:nvSpPr>
          <p:spPr>
            <a:xfrm>
              <a:off x="7239000" y="1809750"/>
              <a:ext cx="4000500" cy="2419350"/>
            </a:xfrm>
            <a:prstGeom prst="roundRect">
              <a:avLst>
                <a:gd name="adj" fmla="val 6299"/>
              </a:avLst>
            </a:prstGeom>
            <a:solidFill>
              <a:schemeClr val="accent5"/>
            </a:solidFill>
            <a:ln w="9525">
              <a:solidFill>
                <a:schemeClr val="accent6"/>
              </a:solidFill>
            </a:ln>
          </p:spPr>
        </p:sp>
        <p:pic>
          <p:nvPicPr>
            <p:cNvPr id="38" name="Image 38"/>
            <p:cNvPicPr>
              <a:picLocks noChangeAspect="1"/>
            </p:cNvPicPr>
            <p:nvPr/>
          </p:nvPicPr>
          <p:blipFill>
            <a:blip r:embed="rId2"/>
            <a:stretch>
              <a:fillRect/>
            </a:stretch>
          </p:blipFill>
          <p:spPr>
            <a:xfrm>
              <a:off x="7429500" y="2000250"/>
              <a:ext cx="3619500" cy="2038350"/>
            </a:xfrm>
            <a:prstGeom prst="rect">
              <a:avLst/>
            </a:prstGeom>
          </p:spPr>
        </p:pic>
        <p:sp>
          <p:nvSpPr>
            <p:cNvPr id="39" name="TextBox 39"/>
            <p:cNvSpPr txBox="1"/>
            <p:nvPr/>
          </p:nvSpPr>
          <p:spPr>
            <a:xfrm>
              <a:off x="7232142" y="4331018"/>
              <a:ext cx="208551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「改修する」を選んだときの一覧</a:t>
              </a:r>
            </a:p>
          </p:txBody>
        </p:sp>
      </p:grpSp>
      <p:grpSp>
        <p:nvGrpSpPr>
          <p:cNvPr id="50" name="Group 50"/>
          <p:cNvGrpSpPr/>
          <p:nvPr/>
        </p:nvGrpSpPr>
        <p:grpSpPr>
          <a:xfrm>
            <a:off x="952500" y="5676900"/>
            <a:ext cx="10287000" cy="723900"/>
            <a:chOff x="952500" y="5676900"/>
            <a:chExt cx="10287000" cy="723900"/>
          </a:xfrm>
        </p:grpSpPr>
        <p:sp>
          <p:nvSpPr>
            <p:cNvPr id="41" name="Rectangle 41"/>
            <p:cNvSpPr/>
            <p:nvPr/>
          </p:nvSpPr>
          <p:spPr>
            <a:xfrm>
              <a:off x="952500" y="5676900"/>
              <a:ext cx="10287000" cy="723900"/>
            </a:xfrm>
            <a:prstGeom prst="roundRect">
              <a:avLst>
                <a:gd name="adj" fmla="val 18421"/>
              </a:avLst>
            </a:prstGeom>
            <a:solidFill>
              <a:schemeClr val="lt2"/>
            </a:solidFill>
            <a:ln>
              <a:noFill/>
            </a:ln>
          </p:spPr>
        </p:sp>
        <p:grpSp>
          <p:nvGrpSpPr>
            <p:cNvPr id="48" name="Group 48"/>
            <p:cNvGrpSpPr/>
            <p:nvPr/>
          </p:nvGrpSpPr>
          <p:grpSpPr>
            <a:xfrm>
              <a:off x="1206010" y="5921561"/>
              <a:ext cx="191783" cy="172268"/>
              <a:chOff x="1206010" y="5921561"/>
              <a:chExt cx="191783" cy="172268"/>
            </a:xfrm>
          </p:grpSpPr>
          <p:sp>
            <p:nvSpPr>
              <p:cNvPr id="42" name="Freeform 42"/>
              <p:cNvSpPr/>
              <p:nvPr/>
            </p:nvSpPr>
            <p:spPr>
              <a:xfrm>
                <a:off x="1206010" y="59215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3" name="Freeform 43"/>
              <p:cNvSpPr/>
              <p:nvPr/>
            </p:nvSpPr>
            <p:spPr>
              <a:xfrm>
                <a:off x="1206010" y="59834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4" name="Freeform 44"/>
              <p:cNvSpPr/>
              <p:nvPr/>
            </p:nvSpPr>
            <p:spPr>
              <a:xfrm>
                <a:off x="1206010" y="60453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5" name="Freeform 45"/>
              <p:cNvSpPr/>
              <p:nvPr/>
            </p:nvSpPr>
            <p:spPr>
              <a:xfrm>
                <a:off x="1284287" y="59380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6" name="Freeform 46"/>
              <p:cNvSpPr/>
              <p:nvPr/>
            </p:nvSpPr>
            <p:spPr>
              <a:xfrm>
                <a:off x="1284287" y="59999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7" name="Freeform 47"/>
              <p:cNvSpPr/>
              <p:nvPr/>
            </p:nvSpPr>
            <p:spPr>
              <a:xfrm>
                <a:off x="1284287" y="60618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49" name="TextBox 49"/>
            <p:cNvSpPr txBox="1"/>
            <p:nvPr/>
          </p:nvSpPr>
          <p:spPr>
            <a:xfrm>
              <a:off x="1554480" y="5838825"/>
              <a:ext cx="58826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「AIに聞く」を選んだ場合、この画面の見出しは「AIに何を聞くか選びます」になります。ひな形は自分で増やせます（「覚えておくとよいこと」で説明します）。</a:t>
              </a:r>
            </a:p>
          </p:txBody>
        </p:sp>
      </p:grpSp>
      <p:grpSp>
        <p:nvGrpSpPr>
          <p:cNvPr id="53" name="Group 53"/>
          <p:cNvGrpSpPr/>
          <p:nvPr/>
        </p:nvGrpSpPr>
        <p:grpSpPr>
          <a:xfrm>
            <a:off x="946404" y="6557010"/>
            <a:ext cx="10299192" cy="234696"/>
            <a:chOff x="946404" y="6557010"/>
            <a:chExt cx="10299192" cy="234696"/>
          </a:xfrm>
        </p:grpSpPr>
        <p:sp>
          <p:nvSpPr>
            <p:cNvPr id="51" name="TextBox 5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2" name="TextBox 5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3768185" cy="1181099"/>
            <a:chOff x="1888998" y="444818"/>
            <a:chExt cx="3768185" cy="1181099"/>
          </a:xfrm>
        </p:grpSpPr>
        <p:sp>
          <p:nvSpPr>
            <p:cNvPr id="3" name="TextBox 3"/>
            <p:cNvSpPr txBox="1"/>
            <p:nvPr/>
          </p:nvSpPr>
          <p:spPr>
            <a:xfrm>
              <a:off x="1898142" y="444818"/>
              <a:ext cx="365754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質問に答える（ひな形に質問がある場合だけ）</a:t>
              </a:r>
            </a:p>
          </p:txBody>
        </p:sp>
        <p:sp>
          <p:nvSpPr>
            <p:cNvPr id="4" name="TextBox 4"/>
            <p:cNvSpPr txBox="1"/>
            <p:nvPr/>
          </p:nvSpPr>
          <p:spPr>
            <a:xfrm>
              <a:off x="1888998" y="669608"/>
              <a:ext cx="292616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いくつか教えてください</a:t>
              </a:r>
            </a:p>
          </p:txBody>
        </p:sp>
        <p:sp>
          <p:nvSpPr>
            <p:cNvPr id="5" name="TextBox 5"/>
            <p:cNvSpPr txBox="1"/>
            <p:nvPr/>
          </p:nvSpPr>
          <p:spPr>
            <a:xfrm>
              <a:off x="1893570" y="1185862"/>
              <a:ext cx="376361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1 問ずつ。分かるところだけで大丈夫</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84061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選択式の問</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102235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自由記述の問</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65888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最後の問</a:t>
              </a:r>
            </a:p>
          </p:txBody>
        </p:sp>
      </p:grpSp>
      <p:grpSp>
        <p:nvGrpSpPr>
          <p:cNvPr id="29" name="Group 29"/>
          <p:cNvGrpSpPr/>
          <p:nvPr/>
        </p:nvGrpSpPr>
        <p:grpSpPr>
          <a:xfrm>
            <a:off x="1000125" y="4282440"/>
            <a:ext cx="7911389" cy="1799844"/>
            <a:chOff x="1000125" y="4282440"/>
            <a:chExt cx="7911389" cy="1799844"/>
          </a:xfrm>
        </p:grpSpPr>
        <p:sp>
          <p:nvSpPr>
            <p:cNvPr id="19" name="Ellipse 19"/>
            <p:cNvSpPr/>
            <p:nvPr/>
          </p:nvSpPr>
          <p:spPr>
            <a:xfrm>
              <a:off x="1000125" y="4362450"/>
              <a:ext cx="95250" cy="95250"/>
            </a:xfrm>
            <a:prstGeom prst="ellipse">
              <a:avLst/>
            </a:prstGeom>
            <a:solidFill>
              <a:schemeClr val="accent3"/>
            </a:solidFill>
            <a:ln>
              <a:noFill/>
            </a:ln>
          </p:spPr>
        </p:sp>
        <p:sp>
          <p:nvSpPr>
            <p:cNvPr id="20" name="TextBox 20"/>
            <p:cNvSpPr txBox="1"/>
            <p:nvPr/>
          </p:nvSpPr>
          <p:spPr>
            <a:xfrm>
              <a:off x="1248156" y="4282440"/>
              <a:ext cx="72756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質問が 1 問ずつ出ます。上の丸（番号入り）が進捗で、答えた問は色が付きます。</a:t>
              </a:r>
            </a:p>
          </p:txBody>
        </p:sp>
        <p:sp>
          <p:nvSpPr>
            <p:cNvPr id="21" name="Ellipse 21"/>
            <p:cNvSpPr/>
            <p:nvPr/>
          </p:nvSpPr>
          <p:spPr>
            <a:xfrm>
              <a:off x="1000125" y="4724400"/>
              <a:ext cx="95250" cy="95250"/>
            </a:xfrm>
            <a:prstGeom prst="ellipse">
              <a:avLst/>
            </a:prstGeom>
            <a:solidFill>
              <a:schemeClr val="accent3"/>
            </a:solidFill>
            <a:ln>
              <a:noFill/>
            </a:ln>
          </p:spPr>
        </p:sp>
        <p:sp>
          <p:nvSpPr>
            <p:cNvPr id="22" name="TextBox 22"/>
            <p:cNvSpPr txBox="1"/>
            <p:nvPr/>
          </p:nvSpPr>
          <p:spPr>
            <a:xfrm>
              <a:off x="1248156" y="4644390"/>
              <a:ext cx="766335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移動は左右の矢印、または丸を直接クリック。問数が多いときは中間の丸が省略されます。</a:t>
              </a:r>
            </a:p>
          </p:txBody>
        </p:sp>
        <p:sp>
          <p:nvSpPr>
            <p:cNvPr id="23" name="Ellipse 23"/>
            <p:cNvSpPr/>
            <p:nvPr/>
          </p:nvSpPr>
          <p:spPr>
            <a:xfrm>
              <a:off x="1000125" y="5086350"/>
              <a:ext cx="95250" cy="95250"/>
            </a:xfrm>
            <a:prstGeom prst="ellipse">
              <a:avLst/>
            </a:prstGeom>
            <a:solidFill>
              <a:schemeClr val="accent3"/>
            </a:solidFill>
            <a:ln>
              <a:noFill/>
            </a:ln>
          </p:spPr>
        </p:sp>
        <p:sp>
          <p:nvSpPr>
            <p:cNvPr id="24" name="TextBox 24"/>
            <p:cNvSpPr txBox="1"/>
            <p:nvPr/>
          </p:nvSpPr>
          <p:spPr>
            <a:xfrm>
              <a:off x="1248156" y="5006340"/>
              <a:ext cx="641543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選択式の問はボタンを 1 回押すだけ。自由記述の問は複数行で書けます。</a:t>
              </a:r>
            </a:p>
          </p:txBody>
        </p:sp>
        <p:sp>
          <p:nvSpPr>
            <p:cNvPr id="25" name="Ellipse 25"/>
            <p:cNvSpPr/>
            <p:nvPr/>
          </p:nvSpPr>
          <p:spPr>
            <a:xfrm>
              <a:off x="1000125" y="5448300"/>
              <a:ext cx="95250" cy="95250"/>
            </a:xfrm>
            <a:prstGeom prst="ellipse">
              <a:avLst/>
            </a:prstGeom>
            <a:solidFill>
              <a:schemeClr val="accent3"/>
            </a:solidFill>
            <a:ln>
              <a:noFill/>
            </a:ln>
          </p:spPr>
        </p:sp>
        <p:sp>
          <p:nvSpPr>
            <p:cNvPr id="26" name="TextBox 26"/>
            <p:cNvSpPr txBox="1"/>
            <p:nvPr/>
          </p:nvSpPr>
          <p:spPr>
            <a:xfrm>
              <a:off x="1248156" y="5368290"/>
              <a:ext cx="601560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分かるところだけで大丈夫です。1 問以上答えると［次へ］が使えます。</a:t>
              </a:r>
            </a:p>
          </p:txBody>
        </p:sp>
        <p:sp>
          <p:nvSpPr>
            <p:cNvPr id="27" name="Ellipse 27"/>
            <p:cNvSpPr/>
            <p:nvPr/>
          </p:nvSpPr>
          <p:spPr>
            <a:xfrm>
              <a:off x="1000125" y="5810250"/>
              <a:ext cx="95250" cy="95250"/>
            </a:xfrm>
            <a:prstGeom prst="ellipse">
              <a:avLst/>
            </a:prstGeom>
            <a:solidFill>
              <a:schemeClr val="accent3"/>
            </a:solidFill>
            <a:ln>
              <a:noFill/>
            </a:ln>
          </p:spPr>
        </p:sp>
        <p:sp>
          <p:nvSpPr>
            <p:cNvPr id="28" name="TextBox 28"/>
            <p:cNvSpPr txBox="1"/>
            <p:nvPr/>
          </p:nvSpPr>
          <p:spPr>
            <a:xfrm>
              <a:off x="1248156" y="5730240"/>
              <a:ext cx="67546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答えた内容は、次の画面の依頼文に【質問への回答】として折り込まれます。</a:t>
              </a:r>
            </a:p>
          </p:txBody>
        </p:sp>
      </p:grpSp>
      <p:grpSp>
        <p:nvGrpSpPr>
          <p:cNvPr id="32" name="Group 32"/>
          <p:cNvGrpSpPr/>
          <p:nvPr/>
        </p:nvGrpSpPr>
        <p:grpSpPr>
          <a:xfrm>
            <a:off x="946404" y="6557010"/>
            <a:ext cx="10299192" cy="234696"/>
            <a:chOff x="946404" y="6557010"/>
            <a:chExt cx="10299192" cy="234696"/>
          </a:xfrm>
        </p:grpSpPr>
        <p:sp>
          <p:nvSpPr>
            <p:cNvPr id="30" name="TextBox 30"/>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1" name="TextBox 31"/>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5065913" cy="1181099"/>
            <a:chOff x="1888998" y="444818"/>
            <a:chExt cx="5065913" cy="1181099"/>
          </a:xfrm>
        </p:grpSpPr>
        <p:sp>
          <p:nvSpPr>
            <p:cNvPr id="3" name="TextBox 3"/>
            <p:cNvSpPr txBox="1"/>
            <p:nvPr/>
          </p:nvSpPr>
          <p:spPr>
            <a:xfrm>
              <a:off x="1898142" y="444818"/>
              <a:ext cx="19492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依頼文を確認する</a:t>
              </a:r>
            </a:p>
          </p:txBody>
        </p:sp>
        <p:sp>
          <p:nvSpPr>
            <p:cNvPr id="4" name="TextBox 4"/>
            <p:cNvSpPr txBox="1"/>
            <p:nvPr/>
          </p:nvSpPr>
          <p:spPr>
            <a:xfrm>
              <a:off x="1888998" y="669608"/>
              <a:ext cx="506591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AIへ送る依頼文を用意しました</a:t>
              </a:r>
            </a:p>
          </p:txBody>
        </p:sp>
        <p:sp>
          <p:nvSpPr>
            <p:cNvPr id="5" name="TextBox 5"/>
            <p:cNvSpPr txBox="1"/>
            <p:nvPr/>
          </p:nvSpPr>
          <p:spPr>
            <a:xfrm>
              <a:off x="1893570" y="1185862"/>
              <a:ext cx="409679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できあがっているので、そのまま進んで構わない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87696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そのままの状態</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269433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「依頼文を確認・編集」を開いた状態</a:t>
              </a:r>
            </a:p>
          </p:txBody>
        </p:sp>
      </p:grpSp>
      <p:grpSp>
        <p:nvGrpSpPr>
          <p:cNvPr id="19" name="Group 19"/>
          <p:cNvGrpSpPr/>
          <p:nvPr/>
        </p:nvGrpSpPr>
        <p:grpSpPr>
          <a:xfrm>
            <a:off x="993774" y="5145087"/>
            <a:ext cx="4710558" cy="365697"/>
            <a:chOff x="993774" y="5145087"/>
            <a:chExt cx="4710558" cy="365697"/>
          </a:xfrm>
        </p:grpSpPr>
        <p:grpSp>
          <p:nvGrpSpPr>
            <p:cNvPr id="17" name="Group 17"/>
            <p:cNvGrpSpPr/>
            <p:nvPr/>
          </p:nvGrpSpPr>
          <p:grpSpPr>
            <a:xfrm>
              <a:off x="993774" y="5145087"/>
              <a:ext cx="165101" cy="206375"/>
              <a:chOff x="993774" y="5145087"/>
              <a:chExt cx="165101" cy="206375"/>
            </a:xfrm>
          </p:grpSpPr>
          <p:sp>
            <p:nvSpPr>
              <p:cNvPr id="15" name="Freeform 15"/>
              <p:cNvSpPr/>
              <p:nvPr/>
            </p:nvSpPr>
            <p:spPr>
              <a:xfrm>
                <a:off x="993774" y="5145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3"/>
              </a:solidFill>
              <a:ln>
                <a:noFill/>
              </a:ln>
            </p:spPr>
          </p:sp>
          <p:sp>
            <p:nvSpPr>
              <p:cNvPr id="16" name="Freeform 16"/>
              <p:cNvSpPr/>
              <p:nvPr/>
            </p:nvSpPr>
            <p:spPr>
              <a:xfrm>
                <a:off x="1107270" y="51553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8" name="TextBox 18"/>
            <p:cNvSpPr txBox="1"/>
            <p:nvPr/>
          </p:nvSpPr>
          <p:spPr>
            <a:xfrm>
              <a:off x="1324356" y="5158740"/>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依頼文はできあがっています。そのまま進んで構いません。</a:t>
              </a:r>
            </a:p>
          </p:txBody>
        </p:sp>
      </p:grpSp>
      <p:grpSp>
        <p:nvGrpSpPr>
          <p:cNvPr id="22" name="Group 22"/>
          <p:cNvGrpSpPr/>
          <p:nvPr/>
        </p:nvGrpSpPr>
        <p:grpSpPr>
          <a:xfrm>
            <a:off x="962369" y="5577840"/>
            <a:ext cx="6898575" cy="352044"/>
            <a:chOff x="962369" y="5577840"/>
            <a:chExt cx="6898575" cy="352044"/>
          </a:xfrm>
        </p:grpSpPr>
        <p:sp>
          <p:nvSpPr>
            <p:cNvPr id="20" name="Freeform 20"/>
            <p:cNvSpPr/>
            <p:nvPr/>
          </p:nvSpPr>
          <p:spPr>
            <a:xfrm>
              <a:off x="962369" y="5584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21" name="TextBox 21"/>
            <p:cNvSpPr txBox="1"/>
            <p:nvPr/>
          </p:nvSpPr>
          <p:spPr>
            <a:xfrm>
              <a:off x="1324356" y="5577840"/>
              <a:ext cx="653658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直したいときだけ「依頼文を確認・編集」を開きます。全文が編集できます。</a:t>
              </a:r>
            </a:p>
          </p:txBody>
        </p:sp>
      </p:grpSp>
      <p:grpSp>
        <p:nvGrpSpPr>
          <p:cNvPr id="25" name="Group 25"/>
          <p:cNvGrpSpPr/>
          <p:nvPr/>
        </p:nvGrpSpPr>
        <p:grpSpPr>
          <a:xfrm>
            <a:off x="961357" y="5979882"/>
            <a:ext cx="8050588" cy="369102"/>
            <a:chOff x="961357" y="5979882"/>
            <a:chExt cx="8050588" cy="369102"/>
          </a:xfrm>
        </p:grpSpPr>
        <p:sp>
          <p:nvSpPr>
            <p:cNvPr id="23" name="Freeform 23"/>
            <p:cNvSpPr/>
            <p:nvPr/>
          </p:nvSpPr>
          <p:spPr>
            <a:xfrm>
              <a:off x="961357" y="59798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4" name="TextBox 24"/>
            <p:cNvSpPr txBox="1"/>
            <p:nvPr/>
          </p:nvSpPr>
          <p:spPr>
            <a:xfrm>
              <a:off x="1324356" y="5996940"/>
              <a:ext cx="76875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依頼文には毎回変わる依頼番号が入ります。取り込みの照合に使うので消さないでください。</a:t>
              </a:r>
            </a:p>
          </p:txBody>
        </p:sp>
      </p:grpSp>
      <p:grpSp>
        <p:nvGrpSpPr>
          <p:cNvPr id="28" name="Group 28"/>
          <p:cNvGrpSpPr/>
          <p:nvPr/>
        </p:nvGrpSpPr>
        <p:grpSpPr>
          <a:xfrm>
            <a:off x="946404" y="6557010"/>
            <a:ext cx="10299192" cy="234696"/>
            <a:chOff x="946404" y="6557010"/>
            <a:chExt cx="10299192" cy="234696"/>
          </a:xfrm>
        </p:grpSpPr>
        <p:sp>
          <p:nvSpPr>
            <p:cNvPr id="26" name="TextBox 2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7" name="TextBox 2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4642500" cy="1181099"/>
            <a:chOff x="1888998" y="444818"/>
            <a:chExt cx="4642500" cy="1181099"/>
          </a:xfrm>
        </p:grpSpPr>
        <p:sp>
          <p:nvSpPr>
            <p:cNvPr id="3" name="TextBox 3"/>
            <p:cNvSpPr txBox="1"/>
            <p:nvPr/>
          </p:nvSpPr>
          <p:spPr>
            <a:xfrm>
              <a:off x="1898142" y="444818"/>
              <a:ext cx="140589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AI へ渡す</a:t>
              </a:r>
            </a:p>
          </p:txBody>
        </p:sp>
        <p:sp>
          <p:nvSpPr>
            <p:cNvPr id="4" name="TextBox 4"/>
            <p:cNvSpPr txBox="1"/>
            <p:nvPr/>
          </p:nvSpPr>
          <p:spPr>
            <a:xfrm>
              <a:off x="1888998" y="669608"/>
              <a:ext cx="464250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AIチャットへ改修を依頼します</a:t>
              </a:r>
            </a:p>
          </p:txBody>
        </p:sp>
        <p:sp>
          <p:nvSpPr>
            <p:cNvPr id="5" name="TextBox 5"/>
            <p:cNvSpPr txBox="1"/>
            <p:nvPr/>
          </p:nvSpPr>
          <p:spPr>
            <a:xfrm>
              <a:off x="1893570" y="1185862"/>
              <a:ext cx="400592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依頼文を貼り、コードのファイルを添える</a:t>
              </a:r>
            </a:p>
          </p:txBody>
        </p:sp>
      </p:grpSp>
      <p:grpSp>
        <p:nvGrpSpPr>
          <p:cNvPr id="10" name="Group 10"/>
          <p:cNvGrpSpPr/>
          <p:nvPr/>
        </p:nvGrpSpPr>
        <p:grpSpPr>
          <a:xfrm>
            <a:off x="945642" y="1695450"/>
            <a:ext cx="3816858" cy="2671001"/>
            <a:chOff x="945642" y="1695450"/>
            <a:chExt cx="3816858" cy="2671001"/>
          </a:xfrm>
        </p:grpSpPr>
        <p:sp>
          <p:nvSpPr>
            <p:cNvPr id="7" name="Rectangle 7"/>
            <p:cNvSpPr/>
            <p:nvPr/>
          </p:nvSpPr>
          <p:spPr>
            <a:xfrm>
              <a:off x="952500" y="1695450"/>
              <a:ext cx="3810000" cy="2305050"/>
            </a:xfrm>
            <a:prstGeom prst="roundRect">
              <a:avLst>
                <a:gd name="adj" fmla="val 6612"/>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6713" y="1885950"/>
              <a:ext cx="3421573" cy="1924050"/>
            </a:xfrm>
            <a:prstGeom prst="rect">
              <a:avLst/>
            </a:prstGeom>
          </p:spPr>
        </p:pic>
        <p:sp>
          <p:nvSpPr>
            <p:cNvPr id="9" name="TextBox 9"/>
            <p:cNvSpPr txBox="1"/>
            <p:nvPr/>
          </p:nvSpPr>
          <p:spPr>
            <a:xfrm>
              <a:off x="945642" y="4102418"/>
              <a:ext cx="218547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押す前。［次へ］はまだ使えません</a:t>
              </a:r>
            </a:p>
          </p:txBody>
        </p:sp>
      </p:grpSp>
      <p:grpSp>
        <p:nvGrpSpPr>
          <p:cNvPr id="14" name="Group 14"/>
          <p:cNvGrpSpPr/>
          <p:nvPr/>
        </p:nvGrpSpPr>
        <p:grpSpPr>
          <a:xfrm>
            <a:off x="4946142" y="1695450"/>
            <a:ext cx="3816858" cy="2671001"/>
            <a:chOff x="4946142" y="1695450"/>
            <a:chExt cx="3816858" cy="2671001"/>
          </a:xfrm>
        </p:grpSpPr>
        <p:sp>
          <p:nvSpPr>
            <p:cNvPr id="11" name="Rectangle 11"/>
            <p:cNvSpPr/>
            <p:nvPr/>
          </p:nvSpPr>
          <p:spPr>
            <a:xfrm>
              <a:off x="4953000" y="1695450"/>
              <a:ext cx="3810000" cy="2305050"/>
            </a:xfrm>
            <a:prstGeom prst="roundRect">
              <a:avLst>
                <a:gd name="adj" fmla="val 6612"/>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5147213" y="1885950"/>
              <a:ext cx="3421573" cy="1924050"/>
            </a:xfrm>
            <a:prstGeom prst="rect">
              <a:avLst/>
            </a:prstGeom>
          </p:spPr>
        </p:pic>
        <p:sp>
          <p:nvSpPr>
            <p:cNvPr id="13" name="TextBox 13"/>
            <p:cNvSpPr txBox="1"/>
            <p:nvPr/>
          </p:nvSpPr>
          <p:spPr>
            <a:xfrm>
              <a:off x="4946142" y="410241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両方押したあと。［次へ］が使えます</a:t>
              </a:r>
            </a:p>
          </p:txBody>
        </p:sp>
      </p:grpSp>
      <p:grpSp>
        <p:nvGrpSpPr>
          <p:cNvPr id="18" name="Group 18"/>
          <p:cNvGrpSpPr/>
          <p:nvPr/>
        </p:nvGrpSpPr>
        <p:grpSpPr>
          <a:xfrm>
            <a:off x="8953500" y="1695450"/>
            <a:ext cx="2286000" cy="2305050"/>
            <a:chOff x="8953500" y="1695450"/>
            <a:chExt cx="2286000" cy="2305050"/>
          </a:xfrm>
        </p:grpSpPr>
        <p:sp>
          <p:nvSpPr>
            <p:cNvPr id="15" name="Rectangle 15"/>
            <p:cNvSpPr/>
            <p:nvPr/>
          </p:nvSpPr>
          <p:spPr>
            <a:xfrm>
              <a:off x="8953500" y="1695450"/>
              <a:ext cx="2286000" cy="2305050"/>
            </a:xfrm>
            <a:prstGeom prst="roundRect">
              <a:avLst>
                <a:gd name="adj" fmla="val 5833"/>
              </a:avLst>
            </a:prstGeom>
            <a:solidFill>
              <a:schemeClr val="lt2"/>
            </a:solidFill>
            <a:ln>
              <a:noFill/>
            </a:ln>
          </p:spPr>
        </p:sp>
        <p:sp>
          <p:nvSpPr>
            <p:cNvPr id="16" name="TextBox 16"/>
            <p:cNvSpPr txBox="1"/>
            <p:nvPr/>
          </p:nvSpPr>
          <p:spPr>
            <a:xfrm>
              <a:off x="9156192" y="1854518"/>
              <a:ext cx="117774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画面に出る案内</a:t>
              </a:r>
            </a:p>
          </p:txBody>
        </p:sp>
        <p:sp>
          <p:nvSpPr>
            <p:cNvPr id="17" name="TextBox 17"/>
            <p:cNvSpPr txBox="1"/>
            <p:nvPr/>
          </p:nvSpPr>
          <p:spPr>
            <a:xfrm>
              <a:off x="9156192" y="2197418"/>
              <a:ext cx="1342454" cy="15022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マクロが読み書きする</a:t>
              </a:r>
              <a:r>
                <a:rPr lang="en-US" sz="1350" dirty="0">
                  <a:solidFill>
                    <a:schemeClr val="dk1"/>
                  </a:solidFill>
                  <a:latin typeface="+mn-lt"/>
                  <a:ea typeface="+mn-ea"/>
                  <a:cs typeface="+mn-cs"/>
                </a:rPr>
                <a:t xml:space="preserve"> Excel シートやファイル </a:t>
              </a:r>
              <a:r>
                <a:rPr lang="zh-CN" sz="1350" dirty="0">
                  <a:solidFill>
                    <a:schemeClr val="dk1"/>
                  </a:solidFill>
                  <a:latin typeface="+mn-lt"/>
                  <a:ea typeface="+mn-ea"/>
                  <a:cs typeface="+mn-cs"/>
                </a:rPr>
                <a:t>があれば、それも一緒に</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AI チャットへ添付する</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と、より正確な回答が得られます。</a:t>
              </a:r>
            </a:p>
          </p:txBody>
        </p:sp>
      </p:grpSp>
      <p:grpSp>
        <p:nvGrpSpPr>
          <p:cNvPr id="20" name="Group 20"/>
          <p:cNvGrpSpPr/>
          <p:nvPr/>
        </p:nvGrpSpPr>
        <p:grpSpPr>
          <a:xfrm>
            <a:off x="944880" y="4714875"/>
            <a:ext cx="6416421" cy="293370"/>
            <a:chOff x="944880" y="4714875"/>
            <a:chExt cx="6416421" cy="293370"/>
          </a:xfrm>
        </p:grpSpPr>
        <p:sp>
          <p:nvSpPr>
            <p:cNvPr id="19" name="TextBox 19"/>
            <p:cNvSpPr txBox="1"/>
            <p:nvPr/>
          </p:nvSpPr>
          <p:spPr>
            <a:xfrm>
              <a:off x="944880" y="4714875"/>
              <a:ext cx="641642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［次へ］を押した時点で、この改修専用のフォルダが作られ、2 つのファイルが書き出されます。</a:t>
              </a:r>
            </a:p>
          </p:txBody>
        </p:sp>
      </p:grpSp>
      <p:grpSp>
        <p:nvGrpSpPr>
          <p:cNvPr id="24" name="Group 24"/>
          <p:cNvGrpSpPr/>
          <p:nvPr/>
        </p:nvGrpSpPr>
        <p:grpSpPr>
          <a:xfrm>
            <a:off x="944880" y="5038725"/>
            <a:ext cx="6921807" cy="941070"/>
            <a:chOff x="944880" y="5038725"/>
            <a:chExt cx="6921807" cy="941070"/>
          </a:xfrm>
        </p:grpSpPr>
        <p:sp>
          <p:nvSpPr>
            <p:cNvPr id="21" name="TextBox 21"/>
            <p:cNvSpPr txBox="1"/>
            <p:nvPr/>
          </p:nvSpPr>
          <p:spPr>
            <a:xfrm>
              <a:off x="944880" y="5038725"/>
              <a:ext cx="40639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 ［依頼文をコピー］→ クリップボードに依頼文が入ります</a:t>
              </a:r>
            </a:p>
          </p:txBody>
        </p:sp>
        <p:sp>
          <p:nvSpPr>
            <p:cNvPr id="22" name="TextBox 22"/>
            <p:cNvSpPr txBox="1"/>
            <p:nvPr/>
          </p:nvSpPr>
          <p:spPr>
            <a:xfrm>
              <a:off x="944880" y="5362575"/>
              <a:ext cx="434663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 ［ファイルの場所を開く］→ エクスプローラーでフォルダが開きます</a:t>
              </a:r>
            </a:p>
          </p:txBody>
        </p:sp>
        <p:sp>
          <p:nvSpPr>
            <p:cNvPr id="23" name="TextBox 23"/>
            <p:cNvSpPr txBox="1"/>
            <p:nvPr/>
          </p:nvSpPr>
          <p:spPr>
            <a:xfrm>
              <a:off x="944880" y="5686425"/>
              <a:ext cx="692180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3. チャット AI に依頼文を貼り付け（Ctrl+V）、source-code.md を添付して送信します</a:t>
              </a:r>
            </a:p>
          </p:txBody>
        </p:sp>
      </p:grpSp>
      <p:grpSp>
        <p:nvGrpSpPr>
          <p:cNvPr id="26" name="Group 26"/>
          <p:cNvGrpSpPr/>
          <p:nvPr/>
        </p:nvGrpSpPr>
        <p:grpSpPr>
          <a:xfrm>
            <a:off x="944880" y="6086475"/>
            <a:ext cx="7308952" cy="293370"/>
            <a:chOff x="944880" y="6086475"/>
            <a:chExt cx="7308952" cy="293370"/>
          </a:xfrm>
        </p:grpSpPr>
        <p:sp>
          <p:nvSpPr>
            <p:cNvPr id="25" name="TextBox 25"/>
            <p:cNvSpPr txBox="1"/>
            <p:nvPr/>
          </p:nvSpPr>
          <p:spPr>
            <a:xfrm>
              <a:off x="944880" y="6086475"/>
              <a:ext cx="7308952"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両方のボタンを押すまで［次へ］は使えません。聞くだけの場合は、ここで右下が［完了］になります。</a:t>
              </a:r>
            </a:p>
          </p:txBody>
        </p:sp>
      </p:grpSp>
      <p:grpSp>
        <p:nvGrpSpPr>
          <p:cNvPr id="29" name="Group 29"/>
          <p:cNvGrpSpPr/>
          <p:nvPr/>
        </p:nvGrpSpPr>
        <p:grpSpPr>
          <a:xfrm>
            <a:off x="946404" y="6557010"/>
            <a:ext cx="10299192" cy="234696"/>
            <a:chOff x="946404" y="6557010"/>
            <a:chExt cx="10299192" cy="234696"/>
          </a:xfrm>
        </p:grpSpPr>
        <p:sp>
          <p:nvSpPr>
            <p:cNvPr id="27" name="TextBox 27"/>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8" name="TextBox 28"/>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3</a:t>
            </a:r>
          </a:p>
        </p:txBody>
      </p:sp>
      <p:grpSp>
        <p:nvGrpSpPr>
          <p:cNvPr id="6" name="Group 6"/>
          <p:cNvGrpSpPr/>
          <p:nvPr/>
        </p:nvGrpSpPr>
        <p:grpSpPr>
          <a:xfrm>
            <a:off x="1888998" y="444818"/>
            <a:ext cx="4901253" cy="1181099"/>
            <a:chOff x="1888998" y="444818"/>
            <a:chExt cx="4901253"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3 ・ 1/2</a:t>
              </a:r>
            </a:p>
          </p:txBody>
        </p:sp>
        <p:sp>
          <p:nvSpPr>
            <p:cNvPr id="4" name="TextBox 4"/>
            <p:cNvSpPr txBox="1"/>
            <p:nvPr/>
          </p:nvSpPr>
          <p:spPr>
            <a:xfrm>
              <a:off x="1888998" y="669608"/>
              <a:ext cx="490125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AIの返答をまとめて取り込みます</a:t>
              </a:r>
            </a:p>
          </p:txBody>
        </p:sp>
        <p:sp>
          <p:nvSpPr>
            <p:cNvPr id="5" name="TextBox 5"/>
            <p:cNvSpPr txBox="1"/>
            <p:nvPr/>
          </p:nvSpPr>
          <p:spPr>
            <a:xfrm>
              <a:off x="1893570" y="1185862"/>
              <a:ext cx="461171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コードブロックをコピーして、ボタンを 1 回押すだけ</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75883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取り込む前</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269433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取り込んだ結果（既存・新規の内訳）</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313410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「AIが書いた改修内容を見る」を開いた状態</a:t>
              </a:r>
            </a:p>
          </p:txBody>
        </p:sp>
      </p:grpSp>
      <p:grpSp>
        <p:nvGrpSpPr>
          <p:cNvPr id="21" name="Group 21"/>
          <p:cNvGrpSpPr/>
          <p:nvPr/>
        </p:nvGrpSpPr>
        <p:grpSpPr>
          <a:xfrm>
            <a:off x="1000125" y="4320540"/>
            <a:ext cx="4644009" cy="675894"/>
            <a:chOff x="1000125" y="4320540"/>
            <a:chExt cx="4644009" cy="675894"/>
          </a:xfrm>
        </p:grpSpPr>
        <p:sp>
          <p:nvSpPr>
            <p:cNvPr id="19" name="Ellipse 19"/>
            <p:cNvSpPr/>
            <p:nvPr/>
          </p:nvSpPr>
          <p:spPr>
            <a:xfrm>
              <a:off x="1000125" y="4400550"/>
              <a:ext cx="95250" cy="95250"/>
            </a:xfrm>
            <a:prstGeom prst="ellipse">
              <a:avLst/>
            </a:prstGeom>
            <a:solidFill>
              <a:schemeClr val="accent3"/>
            </a:solidFill>
            <a:ln>
              <a:noFill/>
            </a:ln>
          </p:spPr>
        </p:sp>
        <p:sp>
          <p:nvSpPr>
            <p:cNvPr id="20" name="TextBox 20"/>
            <p:cNvSpPr txBox="1"/>
            <p:nvPr/>
          </p:nvSpPr>
          <p:spPr>
            <a:xfrm>
              <a:off x="1248156" y="4320540"/>
              <a:ext cx="439597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 は、変更したモジュールと新しく作ったモジュールの全文を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つのコードブロックにまとめて返します。</a:t>
              </a:r>
            </a:p>
          </p:txBody>
        </p:sp>
      </p:grpSp>
      <p:grpSp>
        <p:nvGrpSpPr>
          <p:cNvPr id="24" name="Group 24"/>
          <p:cNvGrpSpPr/>
          <p:nvPr/>
        </p:nvGrpSpPr>
        <p:grpSpPr>
          <a:xfrm>
            <a:off x="993773" y="5006340"/>
            <a:ext cx="5985385" cy="675894"/>
            <a:chOff x="993773" y="5006340"/>
            <a:chExt cx="5985385" cy="675894"/>
          </a:xfrm>
        </p:grpSpPr>
        <p:sp>
          <p:nvSpPr>
            <p:cNvPr id="22" name="Freeform 22"/>
            <p:cNvSpPr/>
            <p:nvPr/>
          </p:nvSpPr>
          <p:spPr>
            <a:xfrm>
              <a:off x="993773" y="501173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3" name="TextBox 23"/>
            <p:cNvSpPr txBox="1"/>
            <p:nvPr/>
          </p:nvSpPr>
          <p:spPr>
            <a:xfrm>
              <a:off x="1248156" y="5006340"/>
              <a:ext cx="5731002"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そのコードブロックをコピーして、［クリップボードからAIの返答を取り込む］を</a:t>
              </a:r>
              <a:r>
                <a:rPr lang="en-US" sz="1800" b="1" dirty="0">
                  <a:solidFill>
                    <a:schemeClr val="dk1"/>
                  </a:solidFill>
                  <a:latin typeface="+mn-lt"/>
                  <a:ea typeface="+mn-ea"/>
                  <a:cs typeface="+mn-cs"/>
                </a:rPr>
                <a:t xml:space="preserve"> </a:t>
              </a:r>
              <a:r>
                <a:rPr lang="zh-CN" sz="1800" b="1" dirty="0">
                  <a:solidFill>
                    <a:schemeClr val="dk1"/>
                  </a:solidFill>
                  <a:latin typeface="+mn-lt"/>
                  <a:ea typeface="+mn-ea"/>
                  <a:cs typeface="+mn-cs"/>
                </a:rPr>
                <a:t>1 回押すだけ。Ctrl+V でも同じです。</a:t>
              </a:r>
            </a:p>
          </p:txBody>
        </p:sp>
      </p:grpSp>
      <p:grpSp>
        <p:nvGrpSpPr>
          <p:cNvPr id="27" name="Group 27"/>
          <p:cNvGrpSpPr/>
          <p:nvPr/>
        </p:nvGrpSpPr>
        <p:grpSpPr>
          <a:xfrm>
            <a:off x="1000125" y="5615940"/>
            <a:ext cx="5036915" cy="352044"/>
            <a:chOff x="1000125" y="5615940"/>
            <a:chExt cx="5036915" cy="352044"/>
          </a:xfrm>
        </p:grpSpPr>
        <p:sp>
          <p:nvSpPr>
            <p:cNvPr id="25" name="Ellipse 25"/>
            <p:cNvSpPr/>
            <p:nvPr/>
          </p:nvSpPr>
          <p:spPr>
            <a:xfrm>
              <a:off x="1000125" y="5695950"/>
              <a:ext cx="95250" cy="95250"/>
            </a:xfrm>
            <a:prstGeom prst="ellipse">
              <a:avLst/>
            </a:prstGeom>
            <a:solidFill>
              <a:schemeClr val="accent3"/>
            </a:solidFill>
            <a:ln>
              <a:noFill/>
            </a:ln>
          </p:spPr>
        </p:sp>
        <p:sp>
          <p:nvSpPr>
            <p:cNvPr id="26" name="TextBox 26"/>
            <p:cNvSpPr txBox="1"/>
            <p:nvPr/>
          </p:nvSpPr>
          <p:spPr>
            <a:xfrm>
              <a:off x="1248156" y="5615940"/>
              <a:ext cx="478888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モジュールを選ぶ必要も、1 つずつ貼る必要もありません。</a:t>
              </a:r>
            </a:p>
          </p:txBody>
        </p:sp>
      </p:grpSp>
      <p:grpSp>
        <p:nvGrpSpPr>
          <p:cNvPr id="30" name="Group 30"/>
          <p:cNvGrpSpPr/>
          <p:nvPr/>
        </p:nvGrpSpPr>
        <p:grpSpPr>
          <a:xfrm>
            <a:off x="1000125" y="5939790"/>
            <a:ext cx="6743929" cy="352044"/>
            <a:chOff x="1000125" y="5939790"/>
            <a:chExt cx="6743929" cy="352044"/>
          </a:xfrm>
        </p:grpSpPr>
        <p:sp>
          <p:nvSpPr>
            <p:cNvPr id="28" name="Ellipse 28"/>
            <p:cNvSpPr/>
            <p:nvPr/>
          </p:nvSpPr>
          <p:spPr>
            <a:xfrm>
              <a:off x="1000125" y="6019800"/>
              <a:ext cx="95250" cy="95250"/>
            </a:xfrm>
            <a:prstGeom prst="ellipse">
              <a:avLst/>
            </a:prstGeom>
            <a:solidFill>
              <a:schemeClr val="accent3"/>
            </a:solidFill>
            <a:ln>
              <a:noFill/>
            </a:ln>
          </p:spPr>
        </p:sp>
        <p:sp>
          <p:nvSpPr>
            <p:cNvPr id="29" name="TextBox 29"/>
            <p:cNvSpPr txBox="1"/>
            <p:nvPr/>
          </p:nvSpPr>
          <p:spPr>
            <a:xfrm>
              <a:off x="1248156" y="5939790"/>
              <a:ext cx="649589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AI が書いた改修内容の要約も一緒に取り込まれ、日本語で読めます。</a:t>
              </a:r>
            </a:p>
          </p:txBody>
        </p:sp>
      </p:grpSp>
      <p:grpSp>
        <p:nvGrpSpPr>
          <p:cNvPr id="33" name="Group 33"/>
          <p:cNvGrpSpPr/>
          <p:nvPr/>
        </p:nvGrpSpPr>
        <p:grpSpPr>
          <a:xfrm>
            <a:off x="946404" y="6557010"/>
            <a:ext cx="10299192" cy="234696"/>
            <a:chOff x="946404" y="6557010"/>
            <a:chExt cx="10299192" cy="234696"/>
          </a:xfrm>
        </p:grpSpPr>
        <p:sp>
          <p:nvSpPr>
            <p:cNvPr id="31" name="TextBox 3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207383" cy="956309"/>
            <a:chOff x="936498" y="460058"/>
            <a:chExt cx="4207383" cy="956309"/>
          </a:xfrm>
        </p:grpSpPr>
        <p:sp>
          <p:nvSpPr>
            <p:cNvPr id="2" name="TextBox 2"/>
            <p:cNvSpPr txBox="1"/>
            <p:nvPr/>
          </p:nvSpPr>
          <p:spPr>
            <a:xfrm>
              <a:off x="936498" y="460058"/>
              <a:ext cx="239185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取り込めないとき</a:t>
              </a:r>
            </a:p>
          </p:txBody>
        </p:sp>
        <p:sp>
          <p:nvSpPr>
            <p:cNvPr id="3" name="TextBox 3"/>
            <p:cNvSpPr txBox="1"/>
            <p:nvPr/>
          </p:nvSpPr>
          <p:spPr>
            <a:xfrm>
              <a:off x="941070" y="976312"/>
              <a:ext cx="4202811"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何も取り込まれないので、そのままやり直せる</a:t>
              </a:r>
            </a:p>
          </p:txBody>
        </p:sp>
      </p:grpSp>
      <p:grpSp>
        <p:nvGrpSpPr>
          <p:cNvPr id="8" name="Group 8"/>
          <p:cNvGrpSpPr/>
          <p:nvPr/>
        </p:nvGrpSpPr>
        <p:grpSpPr>
          <a:xfrm>
            <a:off x="952500" y="1447800"/>
            <a:ext cx="10287000" cy="495300"/>
            <a:chOff x="952500" y="1447800"/>
            <a:chExt cx="10287000" cy="495300"/>
          </a:xfrm>
        </p:grpSpPr>
        <p:sp>
          <p:nvSpPr>
            <p:cNvPr id="5" name="Rectangle 5"/>
            <p:cNvSpPr/>
            <p:nvPr/>
          </p:nvSpPr>
          <p:spPr>
            <a:xfrm>
              <a:off x="952500" y="1447800"/>
              <a:ext cx="10287000" cy="495300"/>
            </a:xfrm>
            <a:prstGeom prst="roundRect">
              <a:avLst>
                <a:gd name="adj" fmla="val 26923"/>
              </a:avLst>
            </a:prstGeom>
            <a:solidFill>
              <a:schemeClr val="lt2"/>
            </a:solidFill>
            <a:ln>
              <a:noFill/>
            </a:ln>
          </p:spPr>
        </p:sp>
        <p:sp>
          <p:nvSpPr>
            <p:cNvPr id="6" name="Freeform 6"/>
            <p:cNvSpPr/>
            <p:nvPr/>
          </p:nvSpPr>
          <p:spPr>
            <a:xfrm>
              <a:off x="1195837" y="16002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chemeClr val="accent1"/>
            </a:solidFill>
            <a:ln>
              <a:noFill/>
            </a:ln>
          </p:spPr>
        </p:sp>
        <p:sp>
          <p:nvSpPr>
            <p:cNvPr id="7" name="TextBox 7"/>
            <p:cNvSpPr txBox="1"/>
            <p:nvPr/>
          </p:nvSpPr>
          <p:spPr>
            <a:xfrm>
              <a:off x="1535430" y="1609725"/>
              <a:ext cx="556831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どの場合も何も取り込まれないので、そのままやり直せます。元のブックも変わりません。</a:t>
              </a:r>
            </a:p>
          </p:txBody>
        </p:sp>
      </p:grpSp>
      <p:grpSp>
        <p:nvGrpSpPr>
          <p:cNvPr id="45" name="Group 45"/>
          <p:cNvGrpSpPr/>
          <p:nvPr/>
        </p:nvGrpSpPr>
        <p:grpSpPr>
          <a:xfrm>
            <a:off x="952500" y="2095500"/>
            <a:ext cx="10287000" cy="4152900"/>
            <a:chOff x="952500" y="2095500"/>
            <a:chExt cx="10287000" cy="4152900"/>
          </a:xfrm>
        </p:grpSpPr>
        <p:sp>
          <p:nvSpPr>
            <p:cNvPr id="9" name="Rectangle 9"/>
            <p:cNvSpPr/>
            <p:nvPr/>
          </p:nvSpPr>
          <p:spPr>
            <a:xfrm>
              <a:off x="952500" y="2095500"/>
              <a:ext cx="3619500" cy="419100"/>
            </a:xfrm>
            <a:prstGeom prst="roundRect">
              <a:avLst>
                <a:gd name="adj" fmla="val 22727"/>
              </a:avLst>
            </a:prstGeom>
            <a:solidFill>
              <a:schemeClr val="accent1"/>
            </a:solidFill>
            <a:ln>
              <a:noFill/>
            </a:ln>
          </p:spPr>
        </p:sp>
        <p:sp>
          <p:nvSpPr>
            <p:cNvPr id="10" name="TextBox 10"/>
            <p:cNvSpPr txBox="1"/>
            <p:nvPr/>
          </p:nvSpPr>
          <p:spPr>
            <a:xfrm>
              <a:off x="1173480" y="2209800"/>
              <a:ext cx="102236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表示されること</a:t>
              </a:r>
            </a:p>
          </p:txBody>
        </p:sp>
        <p:sp>
          <p:nvSpPr>
            <p:cNvPr id="11" name="Rectangle 11"/>
            <p:cNvSpPr/>
            <p:nvPr/>
          </p:nvSpPr>
          <p:spPr>
            <a:xfrm>
              <a:off x="4686300" y="2095500"/>
              <a:ext cx="2667000" cy="419100"/>
            </a:xfrm>
            <a:prstGeom prst="roundRect">
              <a:avLst>
                <a:gd name="adj" fmla="val 22727"/>
              </a:avLst>
            </a:prstGeom>
            <a:solidFill>
              <a:schemeClr val="accent1"/>
            </a:solidFill>
            <a:ln>
              <a:noFill/>
            </a:ln>
          </p:spPr>
        </p:sp>
        <p:sp>
          <p:nvSpPr>
            <p:cNvPr id="12" name="TextBox 12"/>
            <p:cNvSpPr txBox="1"/>
            <p:nvPr/>
          </p:nvSpPr>
          <p:spPr>
            <a:xfrm>
              <a:off x="4907280" y="22098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意味</a:t>
              </a:r>
            </a:p>
          </p:txBody>
        </p:sp>
        <p:sp>
          <p:nvSpPr>
            <p:cNvPr id="13" name="Rectangle 13"/>
            <p:cNvSpPr/>
            <p:nvPr/>
          </p:nvSpPr>
          <p:spPr>
            <a:xfrm>
              <a:off x="7467600" y="2095500"/>
              <a:ext cx="3771900" cy="419100"/>
            </a:xfrm>
            <a:prstGeom prst="roundRect">
              <a:avLst>
                <a:gd name="adj" fmla="val 22727"/>
              </a:avLst>
            </a:prstGeom>
            <a:solidFill>
              <a:schemeClr val="accent1"/>
            </a:solidFill>
            <a:ln>
              <a:noFill/>
            </a:ln>
          </p:spPr>
        </p:sp>
        <p:sp>
          <p:nvSpPr>
            <p:cNvPr id="14" name="TextBox 14"/>
            <p:cNvSpPr txBox="1"/>
            <p:nvPr/>
          </p:nvSpPr>
          <p:spPr>
            <a:xfrm>
              <a:off x="7688580" y="2209800"/>
              <a:ext cx="5983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どうするか</a:t>
              </a:r>
            </a:p>
          </p:txBody>
        </p:sp>
        <p:sp>
          <p:nvSpPr>
            <p:cNvPr id="15" name="Rectangle 15"/>
            <p:cNvSpPr/>
            <p:nvPr/>
          </p:nvSpPr>
          <p:spPr>
            <a:xfrm>
              <a:off x="952500" y="2609850"/>
              <a:ext cx="3619500" cy="666750"/>
            </a:xfrm>
            <a:prstGeom prst="roundRect">
              <a:avLst>
                <a:gd name="adj" fmla="val 14286"/>
              </a:avLst>
            </a:prstGeom>
            <a:solidFill>
              <a:schemeClr val="lt2"/>
            </a:solidFill>
            <a:ln>
              <a:noFill/>
            </a:ln>
          </p:spPr>
        </p:sp>
        <p:sp>
          <p:nvSpPr>
            <p:cNvPr id="16" name="TextBox 16"/>
            <p:cNvSpPr txBox="1"/>
            <p:nvPr/>
          </p:nvSpPr>
          <p:spPr>
            <a:xfrm>
              <a:off x="1173480" y="284797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別の依頼への返答のようです</a:t>
              </a:r>
            </a:p>
          </p:txBody>
        </p:sp>
        <p:sp>
          <p:nvSpPr>
            <p:cNvPr id="17" name="Rectangle 17"/>
            <p:cNvSpPr/>
            <p:nvPr/>
          </p:nvSpPr>
          <p:spPr>
            <a:xfrm>
              <a:off x="4686300" y="2609850"/>
              <a:ext cx="2667000" cy="666750"/>
            </a:xfrm>
            <a:prstGeom prst="roundRect">
              <a:avLst>
                <a:gd name="adj" fmla="val 14286"/>
              </a:avLst>
            </a:prstGeom>
            <a:solidFill>
              <a:schemeClr val="lt1"/>
            </a:solidFill>
            <a:ln w="9525">
              <a:solidFill>
                <a:schemeClr val="accent6"/>
              </a:solidFill>
            </a:ln>
          </p:spPr>
        </p:sp>
        <p:sp>
          <p:nvSpPr>
            <p:cNvPr id="18" name="TextBox 18"/>
            <p:cNvSpPr txBox="1"/>
            <p:nvPr/>
          </p:nvSpPr>
          <p:spPr>
            <a:xfrm>
              <a:off x="4907280" y="2847975"/>
              <a:ext cx="2095119"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依頼番号が今回のものと違う</a:t>
              </a:r>
            </a:p>
          </p:txBody>
        </p:sp>
        <p:sp>
          <p:nvSpPr>
            <p:cNvPr id="19" name="Rectangle 19"/>
            <p:cNvSpPr/>
            <p:nvPr/>
          </p:nvSpPr>
          <p:spPr>
            <a:xfrm>
              <a:off x="7467600" y="2609850"/>
              <a:ext cx="3771900" cy="666750"/>
            </a:xfrm>
            <a:prstGeom prst="roundRect">
              <a:avLst>
                <a:gd name="adj" fmla="val 14286"/>
              </a:avLst>
            </a:prstGeom>
            <a:solidFill>
              <a:schemeClr val="lt1"/>
            </a:solidFill>
            <a:ln w="9525">
              <a:solidFill>
                <a:schemeClr val="accent6"/>
              </a:solidFill>
            </a:ln>
          </p:spPr>
        </p:sp>
        <p:sp>
          <p:nvSpPr>
            <p:cNvPr id="20" name="TextBox 20"/>
            <p:cNvSpPr txBox="1"/>
            <p:nvPr/>
          </p:nvSpPr>
          <p:spPr>
            <a:xfrm>
              <a:off x="7688580" y="2847975"/>
              <a:ext cx="277825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依頼文をコピーし直して AI へ送り直す</a:t>
              </a:r>
            </a:p>
          </p:txBody>
        </p:sp>
        <p:sp>
          <p:nvSpPr>
            <p:cNvPr id="21" name="Rectangle 21"/>
            <p:cNvSpPr/>
            <p:nvPr/>
          </p:nvSpPr>
          <p:spPr>
            <a:xfrm>
              <a:off x="952500" y="3352800"/>
              <a:ext cx="3619500" cy="666750"/>
            </a:xfrm>
            <a:prstGeom prst="roundRect">
              <a:avLst>
                <a:gd name="adj" fmla="val 14286"/>
              </a:avLst>
            </a:prstGeom>
            <a:solidFill>
              <a:schemeClr val="lt2"/>
            </a:solidFill>
            <a:ln>
              <a:noFill/>
            </a:ln>
          </p:spPr>
        </p:sp>
        <p:sp>
          <p:nvSpPr>
            <p:cNvPr id="22" name="TextBox 22"/>
            <p:cNvSpPr txBox="1"/>
            <p:nvPr/>
          </p:nvSpPr>
          <p:spPr>
            <a:xfrm>
              <a:off x="1173480" y="35909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返答が途中で切れているようです</a:t>
              </a:r>
            </a:p>
          </p:txBody>
        </p:sp>
        <p:sp>
          <p:nvSpPr>
            <p:cNvPr id="23" name="Rectangle 23"/>
            <p:cNvSpPr/>
            <p:nvPr/>
          </p:nvSpPr>
          <p:spPr>
            <a:xfrm>
              <a:off x="4686300" y="3352800"/>
              <a:ext cx="2667000" cy="666750"/>
            </a:xfrm>
            <a:prstGeom prst="roundRect">
              <a:avLst>
                <a:gd name="adj" fmla="val 14286"/>
              </a:avLst>
            </a:prstGeom>
            <a:solidFill>
              <a:schemeClr val="lt1"/>
            </a:solidFill>
            <a:ln w="9525">
              <a:solidFill>
                <a:schemeClr val="accent6"/>
              </a:solidFill>
            </a:ln>
          </p:spPr>
        </p:sp>
        <p:sp>
          <p:nvSpPr>
            <p:cNvPr id="24" name="TextBox 24"/>
            <p:cNvSpPr txBox="1"/>
            <p:nvPr/>
          </p:nvSpPr>
          <p:spPr>
            <a:xfrm>
              <a:off x="4907280" y="3590925"/>
              <a:ext cx="117633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終わりの行が無い</a:t>
              </a:r>
            </a:p>
          </p:txBody>
        </p:sp>
        <p:sp>
          <p:nvSpPr>
            <p:cNvPr id="25" name="Rectangle 25"/>
            <p:cNvSpPr/>
            <p:nvPr/>
          </p:nvSpPr>
          <p:spPr>
            <a:xfrm>
              <a:off x="7467600" y="3352800"/>
              <a:ext cx="3771900" cy="666750"/>
            </a:xfrm>
            <a:prstGeom prst="roundRect">
              <a:avLst>
                <a:gd name="adj" fmla="val 14286"/>
              </a:avLst>
            </a:prstGeom>
            <a:solidFill>
              <a:schemeClr val="lt1"/>
            </a:solidFill>
            <a:ln w="9525">
              <a:solidFill>
                <a:schemeClr val="accent6"/>
              </a:solidFill>
            </a:ln>
          </p:spPr>
        </p:sp>
        <p:sp>
          <p:nvSpPr>
            <p:cNvPr id="26" name="TextBox 26"/>
            <p:cNvSpPr txBox="1"/>
            <p:nvPr/>
          </p:nvSpPr>
          <p:spPr>
            <a:xfrm>
              <a:off x="7688580" y="3590925"/>
              <a:ext cx="20648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コードブロック全体をコピーし直す</a:t>
              </a:r>
            </a:p>
          </p:txBody>
        </p:sp>
        <p:sp>
          <p:nvSpPr>
            <p:cNvPr id="27" name="Rectangle 27"/>
            <p:cNvSpPr/>
            <p:nvPr/>
          </p:nvSpPr>
          <p:spPr>
            <a:xfrm>
              <a:off x="952500" y="4095750"/>
              <a:ext cx="3619500" cy="666750"/>
            </a:xfrm>
            <a:prstGeom prst="roundRect">
              <a:avLst>
                <a:gd name="adj" fmla="val 14286"/>
              </a:avLst>
            </a:prstGeom>
            <a:solidFill>
              <a:schemeClr val="lt2"/>
            </a:solidFill>
            <a:ln>
              <a:noFill/>
            </a:ln>
          </p:spPr>
        </p:sp>
        <p:sp>
          <p:nvSpPr>
            <p:cNvPr id="28" name="TextBox 28"/>
            <p:cNvSpPr txBox="1"/>
            <p:nvPr/>
          </p:nvSpPr>
          <p:spPr>
            <a:xfrm>
              <a:off x="1173480" y="4219575"/>
              <a:ext cx="14249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取り込める形のコードが見つかりませんでした</a:t>
              </a:r>
            </a:p>
          </p:txBody>
        </p:sp>
        <p:sp>
          <p:nvSpPr>
            <p:cNvPr id="29" name="Rectangle 29"/>
            <p:cNvSpPr/>
            <p:nvPr/>
          </p:nvSpPr>
          <p:spPr>
            <a:xfrm>
              <a:off x="4686300" y="4095750"/>
              <a:ext cx="2667000" cy="666750"/>
            </a:xfrm>
            <a:prstGeom prst="roundRect">
              <a:avLst>
                <a:gd name="adj" fmla="val 14286"/>
              </a:avLst>
            </a:prstGeom>
            <a:solidFill>
              <a:schemeClr val="lt1"/>
            </a:solidFill>
            <a:ln w="9525">
              <a:solidFill>
                <a:schemeClr val="accent6"/>
              </a:solidFill>
            </a:ln>
          </p:spPr>
        </p:sp>
        <p:sp>
          <p:nvSpPr>
            <p:cNvPr id="30" name="TextBox 30"/>
            <p:cNvSpPr txBox="1"/>
            <p:nvPr/>
          </p:nvSpPr>
          <p:spPr>
            <a:xfrm>
              <a:off x="4907280" y="4333875"/>
              <a:ext cx="115614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区切り行が無い</a:t>
              </a:r>
            </a:p>
          </p:txBody>
        </p:sp>
        <p:sp>
          <p:nvSpPr>
            <p:cNvPr id="31" name="Rectangle 31"/>
            <p:cNvSpPr/>
            <p:nvPr/>
          </p:nvSpPr>
          <p:spPr>
            <a:xfrm>
              <a:off x="7467600" y="4095750"/>
              <a:ext cx="3771900" cy="666750"/>
            </a:xfrm>
            <a:prstGeom prst="roundRect">
              <a:avLst>
                <a:gd name="adj" fmla="val 14286"/>
              </a:avLst>
            </a:prstGeom>
            <a:solidFill>
              <a:schemeClr val="lt1"/>
            </a:solidFill>
            <a:ln w="9525">
              <a:solidFill>
                <a:schemeClr val="accent6"/>
              </a:solidFill>
            </a:ln>
          </p:spPr>
        </p:sp>
        <p:sp>
          <p:nvSpPr>
            <p:cNvPr id="32" name="TextBox 32"/>
            <p:cNvSpPr txBox="1"/>
            <p:nvPr/>
          </p:nvSpPr>
          <p:spPr>
            <a:xfrm>
              <a:off x="7688580" y="4219575"/>
              <a:ext cx="258699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コードブロック全体（区切り行を含む）をコピーし直す</a:t>
              </a:r>
            </a:p>
          </p:txBody>
        </p:sp>
        <p:sp>
          <p:nvSpPr>
            <p:cNvPr id="33" name="Rectangle 33"/>
            <p:cNvSpPr/>
            <p:nvPr/>
          </p:nvSpPr>
          <p:spPr>
            <a:xfrm>
              <a:off x="952500" y="4838700"/>
              <a:ext cx="3619500" cy="666750"/>
            </a:xfrm>
            <a:prstGeom prst="roundRect">
              <a:avLst>
                <a:gd name="adj" fmla="val 14286"/>
              </a:avLst>
            </a:prstGeom>
            <a:solidFill>
              <a:schemeClr val="lt2"/>
            </a:solidFill>
            <a:ln>
              <a:noFill/>
            </a:ln>
          </p:spPr>
        </p:sp>
        <p:sp>
          <p:nvSpPr>
            <p:cNvPr id="34" name="TextBox 34"/>
            <p:cNvSpPr txBox="1"/>
            <p:nvPr/>
          </p:nvSpPr>
          <p:spPr>
            <a:xfrm>
              <a:off x="1173480" y="5076825"/>
              <a:ext cx="217589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同じモジュールが2回入っていました</a:t>
              </a:r>
            </a:p>
          </p:txBody>
        </p:sp>
        <p:sp>
          <p:nvSpPr>
            <p:cNvPr id="35" name="Rectangle 35"/>
            <p:cNvSpPr/>
            <p:nvPr/>
          </p:nvSpPr>
          <p:spPr>
            <a:xfrm>
              <a:off x="4686300" y="4838700"/>
              <a:ext cx="2667000" cy="666750"/>
            </a:xfrm>
            <a:prstGeom prst="roundRect">
              <a:avLst>
                <a:gd name="adj" fmla="val 14286"/>
              </a:avLst>
            </a:prstGeom>
            <a:solidFill>
              <a:schemeClr val="lt1"/>
            </a:solidFill>
            <a:ln w="9525">
              <a:solidFill>
                <a:schemeClr val="accent6"/>
              </a:solidFill>
            </a:ln>
          </p:spPr>
        </p:sp>
        <p:sp>
          <p:nvSpPr>
            <p:cNvPr id="36" name="TextBox 36"/>
            <p:cNvSpPr txBox="1"/>
            <p:nvPr/>
          </p:nvSpPr>
          <p:spPr>
            <a:xfrm>
              <a:off x="4907280" y="5076825"/>
              <a:ext cx="41910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重複</a:t>
              </a:r>
            </a:p>
          </p:txBody>
        </p:sp>
        <p:sp>
          <p:nvSpPr>
            <p:cNvPr id="37" name="Rectangle 37"/>
            <p:cNvSpPr/>
            <p:nvPr/>
          </p:nvSpPr>
          <p:spPr>
            <a:xfrm>
              <a:off x="7467600" y="4838700"/>
              <a:ext cx="3771900" cy="666750"/>
            </a:xfrm>
            <a:prstGeom prst="roundRect">
              <a:avLst>
                <a:gd name="adj" fmla="val 14286"/>
              </a:avLst>
            </a:prstGeom>
            <a:solidFill>
              <a:schemeClr val="lt1"/>
            </a:solidFill>
            <a:ln w="9525">
              <a:solidFill>
                <a:schemeClr val="accent6"/>
              </a:solidFill>
            </a:ln>
          </p:spPr>
        </p:sp>
        <p:sp>
          <p:nvSpPr>
            <p:cNvPr id="38" name="TextBox 38"/>
            <p:cNvSpPr txBox="1"/>
            <p:nvPr/>
          </p:nvSpPr>
          <p:spPr>
            <a:xfrm>
              <a:off x="7688580" y="4962525"/>
              <a:ext cx="13963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 へ、モジュールごとに</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つだけ返すよう伝える</a:t>
              </a:r>
            </a:p>
          </p:txBody>
        </p:sp>
        <p:sp>
          <p:nvSpPr>
            <p:cNvPr id="39" name="Rectangle 39"/>
            <p:cNvSpPr/>
            <p:nvPr/>
          </p:nvSpPr>
          <p:spPr>
            <a:xfrm>
              <a:off x="952500" y="5581650"/>
              <a:ext cx="3619500" cy="666750"/>
            </a:xfrm>
            <a:prstGeom prst="roundRect">
              <a:avLst>
                <a:gd name="adj" fmla="val 14286"/>
              </a:avLst>
            </a:prstGeom>
            <a:solidFill>
              <a:schemeClr val="lt2"/>
            </a:solidFill>
            <a:ln>
              <a:noFill/>
            </a:ln>
          </p:spPr>
        </p:sp>
        <p:sp>
          <p:nvSpPr>
            <p:cNvPr id="40" name="TextBox 40"/>
            <p:cNvSpPr txBox="1"/>
            <p:nvPr/>
          </p:nvSpPr>
          <p:spPr>
            <a:xfrm>
              <a:off x="1173480" y="5819775"/>
              <a:ext cx="14388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クリップボードが空でした</a:t>
              </a:r>
            </a:p>
          </p:txBody>
        </p:sp>
        <p:sp>
          <p:nvSpPr>
            <p:cNvPr id="41" name="Rectangle 41"/>
            <p:cNvSpPr/>
            <p:nvPr/>
          </p:nvSpPr>
          <p:spPr>
            <a:xfrm>
              <a:off x="4686300" y="5581650"/>
              <a:ext cx="2667000" cy="666750"/>
            </a:xfrm>
            <a:prstGeom prst="roundRect">
              <a:avLst>
                <a:gd name="adj" fmla="val 14286"/>
              </a:avLst>
            </a:prstGeom>
            <a:solidFill>
              <a:schemeClr val="lt1"/>
            </a:solidFill>
            <a:ln w="9525">
              <a:solidFill>
                <a:schemeClr val="accent6"/>
              </a:solidFill>
            </a:ln>
          </p:spPr>
        </p:sp>
        <p:sp>
          <p:nvSpPr>
            <p:cNvPr id="42" name="TextBox 42"/>
            <p:cNvSpPr txBox="1"/>
            <p:nvPr/>
          </p:nvSpPr>
          <p:spPr>
            <a:xfrm>
              <a:off x="4907280" y="5819775"/>
              <a:ext cx="1014794" cy="293370"/>
            </a:xfrm>
            <a:prstGeom prst="rect">
              <a:avLst/>
            </a:prstGeom>
            <a:noFill/>
            <a:ln>
              <a:noFill/>
            </a:ln>
          </p:spPr>
          <p:txBody>
            <a:bodyPr wrap="none" lIns="0" tIns="0" rIns="0" bIns="0" anchor="t" anchorCtr="0">
              <a:spAutoFit/>
            </a:bodyPr>
            <a:lstStyle/>
            <a:p>
              <a:pPr algn="l"/>
              <a:r>
                <a:rPr lang="en-US" sz="1500" dirty="0">
                  <a:solidFill>
                    <a:srgbClr val="5B6B7C"/>
                  </a:solidFill>
                  <a:latin typeface="+mn-lt"/>
                  <a:ea typeface="+mn-ea"/>
                  <a:cs typeface="+mn-cs"/>
                </a:rPr>
                <a:t>コピーできていない</a:t>
              </a:r>
            </a:p>
          </p:txBody>
        </p:sp>
        <p:sp>
          <p:nvSpPr>
            <p:cNvPr id="43" name="Rectangle 43"/>
            <p:cNvSpPr/>
            <p:nvPr/>
          </p:nvSpPr>
          <p:spPr>
            <a:xfrm>
              <a:off x="7467600" y="5581650"/>
              <a:ext cx="3771900" cy="666750"/>
            </a:xfrm>
            <a:prstGeom prst="roundRect">
              <a:avLst>
                <a:gd name="adj" fmla="val 14286"/>
              </a:avLst>
            </a:prstGeom>
            <a:solidFill>
              <a:schemeClr val="lt1"/>
            </a:solidFill>
            <a:ln w="9525">
              <a:solidFill>
                <a:schemeClr val="accent6"/>
              </a:solidFill>
            </a:ln>
          </p:spPr>
        </p:sp>
        <p:sp>
          <p:nvSpPr>
            <p:cNvPr id="44" name="TextBox 44"/>
            <p:cNvSpPr txBox="1"/>
            <p:nvPr/>
          </p:nvSpPr>
          <p:spPr>
            <a:xfrm>
              <a:off x="7688580" y="5819775"/>
              <a:ext cx="23071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コードブロックのコピーボタンで取り直す</a:t>
              </a:r>
            </a:p>
          </p:txBody>
        </p:sp>
      </p:grpSp>
      <p:grpSp>
        <p:nvGrpSpPr>
          <p:cNvPr id="48" name="Group 48"/>
          <p:cNvGrpSpPr/>
          <p:nvPr/>
        </p:nvGrpSpPr>
        <p:grpSpPr>
          <a:xfrm>
            <a:off x="946404" y="6557010"/>
            <a:ext cx="10299192" cy="234696"/>
            <a:chOff x="946404" y="6557010"/>
            <a:chExt cx="10299192" cy="234696"/>
          </a:xfrm>
        </p:grpSpPr>
        <p:sp>
          <p:nvSpPr>
            <p:cNvPr id="46" name="TextBox 4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7" name="TextBox 4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3</a:t>
            </a:r>
          </a:p>
        </p:txBody>
      </p:sp>
      <p:grpSp>
        <p:nvGrpSpPr>
          <p:cNvPr id="6" name="Group 6"/>
          <p:cNvGrpSpPr/>
          <p:nvPr/>
        </p:nvGrpSpPr>
        <p:grpSpPr>
          <a:xfrm>
            <a:off x="1888998" y="444818"/>
            <a:ext cx="6463951" cy="1181099"/>
            <a:chOff x="1888998" y="444818"/>
            <a:chExt cx="6463951"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3 ・ 2/2</a:t>
              </a:r>
            </a:p>
          </p:txBody>
        </p:sp>
        <p:sp>
          <p:nvSpPr>
            <p:cNvPr id="4" name="TextBox 4"/>
            <p:cNvSpPr txBox="1"/>
            <p:nvPr/>
          </p:nvSpPr>
          <p:spPr>
            <a:xfrm>
              <a:off x="1888998" y="669608"/>
              <a:ext cx="44177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取り込んだ変更を確認します</a:t>
              </a:r>
            </a:p>
          </p:txBody>
        </p:sp>
        <p:sp>
          <p:nvSpPr>
            <p:cNvPr id="5" name="TextBox 5"/>
            <p:cNvSpPr txBox="1"/>
            <p:nvPr/>
          </p:nvSpPr>
          <p:spPr>
            <a:xfrm>
              <a:off x="1893570" y="1185862"/>
              <a:ext cx="645937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取り込めた内容が、そのまま書き戻す対象。採用ボタンは無い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228542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結果の要約。採用ボタンはありません</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398466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「変更内容を見る」を開いた状態。左が一覧、右が差分</a:t>
              </a:r>
            </a:p>
          </p:txBody>
        </p:sp>
      </p:grpSp>
      <p:grpSp>
        <p:nvGrpSpPr>
          <p:cNvPr id="18" name="Group 18"/>
          <p:cNvGrpSpPr/>
          <p:nvPr/>
        </p:nvGrpSpPr>
        <p:grpSpPr>
          <a:xfrm>
            <a:off x="961610" y="5172075"/>
            <a:ext cx="2751235" cy="864870"/>
            <a:chOff x="961610" y="5172075"/>
            <a:chExt cx="2751235" cy="864870"/>
          </a:xfrm>
        </p:grpSpPr>
        <p:sp>
          <p:nvSpPr>
            <p:cNvPr id="15" name="Freeform 15"/>
            <p:cNvSpPr/>
            <p:nvPr/>
          </p:nvSpPr>
          <p:spPr>
            <a:xfrm>
              <a:off x="961610" y="5181600"/>
              <a:ext cx="209955" cy="152400"/>
            </a:xfrm>
            <a:custGeom>
              <a:avLst/>
              <a:gdLst/>
              <a:ahLst/>
              <a:cxnLst/>
              <a:rect l="l" t="t" r="r" b="b"/>
              <a:pathLst>
                <a:path w="209955" h="152400">
                  <a:moveTo>
                    <a:pt x="105190" y="0"/>
                  </a:moveTo>
                  <a:cubicBezTo>
                    <a:pt x="146052" y="0"/>
                    <a:pt x="180085" y="23136"/>
                    <a:pt x="206774" y="68142"/>
                  </a:cubicBezTo>
                  <a:lnTo>
                    <a:pt x="208870" y="71752"/>
                  </a:lnTo>
                  <a:lnTo>
                    <a:pt x="209298" y="72704"/>
                  </a:lnTo>
                  <a:lnTo>
                    <a:pt x="209584" y="73495"/>
                  </a:lnTo>
                  <a:lnTo>
                    <a:pt x="209717" y="74019"/>
                  </a:lnTo>
                  <a:lnTo>
                    <a:pt x="209851" y="74800"/>
                  </a:lnTo>
                  <a:lnTo>
                    <a:pt x="209955" y="75752"/>
                  </a:lnTo>
                  <a:lnTo>
                    <a:pt x="209955" y="76800"/>
                  </a:lnTo>
                  <a:lnTo>
                    <a:pt x="209822" y="77857"/>
                  </a:lnTo>
                  <a:cubicBezTo>
                    <a:pt x="209760" y="78211"/>
                    <a:pt x="209677" y="78561"/>
                    <a:pt x="209574" y="78905"/>
                  </a:cubicBezTo>
                  <a:lnTo>
                    <a:pt x="209203" y="79934"/>
                  </a:lnTo>
                  <a:lnTo>
                    <a:pt x="208860" y="80648"/>
                  </a:lnTo>
                  <a:lnTo>
                    <a:pt x="208708" y="80934"/>
                  </a:lnTo>
                  <a:cubicBezTo>
                    <a:pt x="182381" y="126997"/>
                    <a:pt x="148700" y="151228"/>
                    <a:pt x="108171" y="152362"/>
                  </a:cubicBezTo>
                  <a:lnTo>
                    <a:pt x="105190" y="152400"/>
                  </a:lnTo>
                  <a:cubicBezTo>
                    <a:pt x="63318" y="152400"/>
                    <a:pt x="28638" y="128121"/>
                    <a:pt x="1672" y="80924"/>
                  </a:cubicBezTo>
                  <a:cubicBezTo>
                    <a:pt x="0" y="77997"/>
                    <a:pt x="0" y="74403"/>
                    <a:pt x="1672" y="71476"/>
                  </a:cubicBezTo>
                  <a:cubicBezTo>
                    <a:pt x="28638" y="24279"/>
                    <a:pt x="63318" y="0"/>
                    <a:pt x="105190" y="0"/>
                  </a:cubicBezTo>
                  <a:close/>
                  <a:moveTo>
                    <a:pt x="105190" y="47625"/>
                  </a:moveTo>
                  <a:cubicBezTo>
                    <a:pt x="89408" y="47625"/>
                    <a:pt x="76615" y="60418"/>
                    <a:pt x="76615" y="76200"/>
                  </a:cubicBezTo>
                  <a:cubicBezTo>
                    <a:pt x="76615" y="91982"/>
                    <a:pt x="89408" y="104775"/>
                    <a:pt x="105190" y="104775"/>
                  </a:cubicBezTo>
                  <a:cubicBezTo>
                    <a:pt x="120972" y="104775"/>
                    <a:pt x="133765" y="91982"/>
                    <a:pt x="133765" y="76200"/>
                  </a:cubicBezTo>
                  <a:cubicBezTo>
                    <a:pt x="133765" y="60418"/>
                    <a:pt x="120972" y="47625"/>
                    <a:pt x="105190" y="47625"/>
                  </a:cubicBezTo>
                </a:path>
              </a:pathLst>
            </a:custGeom>
            <a:solidFill>
              <a:schemeClr val="accent3"/>
            </a:solidFill>
            <a:ln>
              <a:noFill/>
            </a:ln>
          </p:spPr>
        </p:sp>
        <p:sp>
          <p:nvSpPr>
            <p:cNvPr id="16" name="TextBox 16"/>
            <p:cNvSpPr txBox="1"/>
            <p:nvPr/>
          </p:nvSpPr>
          <p:spPr>
            <a:xfrm>
              <a:off x="1287780" y="517207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左：モジュール一覧</a:t>
              </a:r>
            </a:p>
          </p:txBody>
        </p:sp>
        <p:sp>
          <p:nvSpPr>
            <p:cNvPr id="17" name="TextBox 17"/>
            <p:cNvSpPr txBox="1"/>
            <p:nvPr/>
          </p:nvSpPr>
          <p:spPr>
            <a:xfrm>
              <a:off x="1287780" y="5476875"/>
              <a:ext cx="24250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標準 / クラス / シートで区分され、+5 −2 のように増減行数が出ます。</a:t>
              </a:r>
            </a:p>
          </p:txBody>
        </p:sp>
      </p:grpSp>
      <p:grpSp>
        <p:nvGrpSpPr>
          <p:cNvPr id="24" name="Group 24"/>
          <p:cNvGrpSpPr/>
          <p:nvPr/>
        </p:nvGrpSpPr>
        <p:grpSpPr>
          <a:xfrm>
            <a:off x="6229349" y="5162550"/>
            <a:ext cx="3798571" cy="874395"/>
            <a:chOff x="6229349" y="5162550"/>
            <a:chExt cx="3798571" cy="874395"/>
          </a:xfrm>
        </p:grpSpPr>
        <p:grpSp>
          <p:nvGrpSpPr>
            <p:cNvPr id="21" name="Group 21"/>
            <p:cNvGrpSpPr/>
            <p:nvPr/>
          </p:nvGrpSpPr>
          <p:grpSpPr>
            <a:xfrm>
              <a:off x="6229349" y="5162550"/>
              <a:ext cx="152402" cy="190501"/>
              <a:chOff x="6229349" y="5162550"/>
              <a:chExt cx="152402" cy="190501"/>
            </a:xfrm>
          </p:grpSpPr>
          <p:sp>
            <p:nvSpPr>
              <p:cNvPr id="19" name="Freeform 19"/>
              <p:cNvSpPr/>
              <p:nvPr/>
            </p:nvSpPr>
            <p:spPr>
              <a:xfrm>
                <a:off x="6229349" y="51625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95251" y="142875"/>
                    </a:moveTo>
                    <a:lnTo>
                      <a:pt x="57151" y="142875"/>
                    </a:lnTo>
                    <a:cubicBezTo>
                      <a:pt x="51890" y="142875"/>
                      <a:pt x="47626" y="147139"/>
                      <a:pt x="47626" y="152400"/>
                    </a:cubicBezTo>
                    <a:cubicBezTo>
                      <a:pt x="47626" y="157661"/>
                      <a:pt x="51890" y="161925"/>
                      <a:pt x="57151" y="161925"/>
                    </a:cubicBezTo>
                    <a:lnTo>
                      <a:pt x="95251" y="161925"/>
                    </a:lnTo>
                    <a:cubicBezTo>
                      <a:pt x="100511" y="161925"/>
                      <a:pt x="104776" y="157661"/>
                      <a:pt x="104776" y="152400"/>
                    </a:cubicBezTo>
                    <a:cubicBezTo>
                      <a:pt x="104776" y="147139"/>
                      <a:pt x="100511" y="142875"/>
                      <a:pt x="95251" y="142875"/>
                    </a:cubicBezTo>
                    <a:moveTo>
                      <a:pt x="76201" y="76200"/>
                    </a:moveTo>
                    <a:cubicBezTo>
                      <a:pt x="70940" y="76200"/>
                      <a:pt x="66676" y="80464"/>
                      <a:pt x="66676" y="85725"/>
                    </a:cubicBezTo>
                    <a:lnTo>
                      <a:pt x="66676" y="95250"/>
                    </a:lnTo>
                    <a:lnTo>
                      <a:pt x="57151" y="95250"/>
                    </a:lnTo>
                    <a:cubicBezTo>
                      <a:pt x="51890" y="95250"/>
                      <a:pt x="47626" y="99514"/>
                      <a:pt x="47626" y="104775"/>
                    </a:cubicBezTo>
                    <a:cubicBezTo>
                      <a:pt x="47626" y="110036"/>
                      <a:pt x="51890" y="114300"/>
                      <a:pt x="57151" y="114300"/>
                    </a:cubicBezTo>
                    <a:lnTo>
                      <a:pt x="66676" y="114300"/>
                    </a:lnTo>
                    <a:lnTo>
                      <a:pt x="66676" y="123825"/>
                    </a:lnTo>
                    <a:cubicBezTo>
                      <a:pt x="66676" y="129086"/>
                      <a:pt x="70940" y="133350"/>
                      <a:pt x="76201" y="133350"/>
                    </a:cubicBezTo>
                    <a:cubicBezTo>
                      <a:pt x="81461" y="133350"/>
                      <a:pt x="85726" y="129086"/>
                      <a:pt x="85726" y="123825"/>
                    </a:cubicBezTo>
                    <a:lnTo>
                      <a:pt x="85726" y="114300"/>
                    </a:lnTo>
                    <a:lnTo>
                      <a:pt x="95251" y="114300"/>
                    </a:lnTo>
                    <a:cubicBezTo>
                      <a:pt x="100511" y="114300"/>
                      <a:pt x="104776" y="110036"/>
                      <a:pt x="104776" y="104775"/>
                    </a:cubicBezTo>
                    <a:cubicBezTo>
                      <a:pt x="104776" y="99514"/>
                      <a:pt x="100511" y="95250"/>
                      <a:pt x="95251" y="95250"/>
                    </a:cubicBezTo>
                    <a:lnTo>
                      <a:pt x="85726" y="95250"/>
                    </a:lnTo>
                    <a:lnTo>
                      <a:pt x="85726" y="85725"/>
                    </a:lnTo>
                    <a:cubicBezTo>
                      <a:pt x="85726" y="80464"/>
                      <a:pt x="81461" y="76200"/>
                      <a:pt x="76201" y="76200"/>
                    </a:cubicBezTo>
                  </a:path>
                </a:pathLst>
              </a:custGeom>
              <a:solidFill>
                <a:schemeClr val="accent3"/>
              </a:solidFill>
              <a:ln>
                <a:noFill/>
              </a:ln>
            </p:spPr>
          </p:sp>
          <p:sp>
            <p:nvSpPr>
              <p:cNvPr id="20" name="Freeform 20"/>
              <p:cNvSpPr/>
              <p:nvPr/>
            </p:nvSpPr>
            <p:spPr>
              <a:xfrm>
                <a:off x="6334115" y="51720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22" name="TextBox 22"/>
            <p:cNvSpPr txBox="1"/>
            <p:nvPr/>
          </p:nvSpPr>
          <p:spPr>
            <a:xfrm>
              <a:off x="6526530" y="517207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右：インライン差分</a:t>
              </a:r>
            </a:p>
          </p:txBody>
        </p:sp>
        <p:sp>
          <p:nvSpPr>
            <p:cNvPr id="23" name="TextBox 23"/>
            <p:cNvSpPr txBox="1"/>
            <p:nvPr/>
          </p:nvSpPr>
          <p:spPr>
            <a:xfrm>
              <a:off x="6526530" y="5476875"/>
              <a:ext cx="3501390"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削除行は赤、追加行は緑。［変更箇所のみ］［折り返し］［↑前の変更］［↓次の変更］。</a:t>
              </a:r>
            </a:p>
          </p:txBody>
        </p:sp>
      </p:grpSp>
      <p:grpSp>
        <p:nvGrpSpPr>
          <p:cNvPr id="27" name="Group 27"/>
          <p:cNvGrpSpPr/>
          <p:nvPr/>
        </p:nvGrpSpPr>
        <p:grpSpPr>
          <a:xfrm>
            <a:off x="967237" y="6057900"/>
            <a:ext cx="6727058" cy="560070"/>
            <a:chOff x="967237" y="6057900"/>
            <a:chExt cx="6727058" cy="560070"/>
          </a:xfrm>
        </p:grpSpPr>
        <p:sp>
          <p:nvSpPr>
            <p:cNvPr id="25" name="Freeform 25"/>
            <p:cNvSpPr/>
            <p:nvPr/>
          </p:nvSpPr>
          <p:spPr>
            <a:xfrm>
              <a:off x="967237" y="60579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chemeClr val="accent2"/>
            </a:solidFill>
            <a:ln>
              <a:noFill/>
            </a:ln>
          </p:spPr>
        </p:sp>
        <p:sp>
          <p:nvSpPr>
            <p:cNvPr id="26" name="TextBox 26"/>
            <p:cNvSpPr txBox="1"/>
            <p:nvPr/>
          </p:nvSpPr>
          <p:spPr>
            <a:xfrm>
              <a:off x="1287780" y="6057900"/>
              <a:ext cx="64065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軽微な修正は［手動修正］でその場で直せます。違うと思ったら［戻る］で取り込み直せます。元のブックは何も変わりません。</a:t>
              </a:r>
            </a:p>
          </p:txBody>
        </p:sp>
      </p:grpSp>
      <p:grpSp>
        <p:nvGrpSpPr>
          <p:cNvPr id="30" name="Group 30"/>
          <p:cNvGrpSpPr/>
          <p:nvPr/>
        </p:nvGrpSpPr>
        <p:grpSpPr>
          <a:xfrm>
            <a:off x="946404" y="6557010"/>
            <a:ext cx="10299192" cy="234696"/>
            <a:chOff x="946404" y="6557010"/>
            <a:chExt cx="10299192" cy="234696"/>
          </a:xfrm>
        </p:grpSpPr>
        <p:sp>
          <p:nvSpPr>
            <p:cNvPr id="28" name="TextBox 28"/>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9" name="TextBox 29"/>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4</a:t>
            </a:r>
          </a:p>
        </p:txBody>
      </p:sp>
      <p:grpSp>
        <p:nvGrpSpPr>
          <p:cNvPr id="6" name="Group 6"/>
          <p:cNvGrpSpPr/>
          <p:nvPr/>
        </p:nvGrpSpPr>
        <p:grpSpPr>
          <a:xfrm>
            <a:off x="1888998" y="444818"/>
            <a:ext cx="5949029" cy="1181099"/>
            <a:chOff x="1888998" y="444818"/>
            <a:chExt cx="5949029" cy="1181099"/>
          </a:xfrm>
        </p:grpSpPr>
        <p:sp>
          <p:nvSpPr>
            <p:cNvPr id="3" name="TextBox 3"/>
            <p:cNvSpPr txBox="1"/>
            <p:nvPr/>
          </p:nvSpPr>
          <p:spPr>
            <a:xfrm>
              <a:off x="1898142" y="444818"/>
              <a:ext cx="53166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4</a:t>
              </a:r>
            </a:p>
          </p:txBody>
        </p:sp>
        <p:sp>
          <p:nvSpPr>
            <p:cNvPr id="4" name="TextBox 4"/>
            <p:cNvSpPr txBox="1"/>
            <p:nvPr/>
          </p:nvSpPr>
          <p:spPr>
            <a:xfrm>
              <a:off x="1888998" y="669608"/>
              <a:ext cx="377215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改修済みブックを作ります</a:t>
              </a:r>
            </a:p>
          </p:txBody>
        </p:sp>
        <p:sp>
          <p:nvSpPr>
            <p:cNvPr id="5" name="TextBox 5"/>
            <p:cNvSpPr txBox="1"/>
            <p:nvPr/>
          </p:nvSpPr>
          <p:spPr>
            <a:xfrm>
              <a:off x="1893570" y="1185862"/>
              <a:ext cx="594445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別名の新しいブックができる。元のブックは最後まで変わらない</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187652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1. 出力ファイル名を確認する</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2. 自動で進みます（通常 1〜2 秒）</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195830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3. 右下が［完了］になります</a:t>
              </a:r>
            </a:p>
          </p:txBody>
        </p:sp>
      </p:grpSp>
      <p:grpSp>
        <p:nvGrpSpPr>
          <p:cNvPr id="21" name="Group 21"/>
          <p:cNvGrpSpPr/>
          <p:nvPr/>
        </p:nvGrpSpPr>
        <p:grpSpPr>
          <a:xfrm>
            <a:off x="1000125" y="4320540"/>
            <a:ext cx="7592949" cy="675894"/>
            <a:chOff x="1000125" y="4320540"/>
            <a:chExt cx="7592949" cy="675894"/>
          </a:xfrm>
        </p:grpSpPr>
        <p:sp>
          <p:nvSpPr>
            <p:cNvPr id="19" name="Ellipse 19"/>
            <p:cNvSpPr/>
            <p:nvPr/>
          </p:nvSpPr>
          <p:spPr>
            <a:xfrm>
              <a:off x="1000125" y="4400550"/>
              <a:ext cx="95250" cy="95250"/>
            </a:xfrm>
            <a:prstGeom prst="ellipse">
              <a:avLst/>
            </a:prstGeom>
            <a:solidFill>
              <a:schemeClr val="accent3"/>
            </a:solidFill>
            <a:ln>
              <a:noFill/>
            </a:ln>
          </p:spPr>
        </p:sp>
        <p:sp>
          <p:nvSpPr>
            <p:cNvPr id="20" name="TextBox 20"/>
            <p:cNvSpPr txBox="1"/>
            <p:nvPr/>
          </p:nvSpPr>
          <p:spPr>
            <a:xfrm>
              <a:off x="1248156" y="4320540"/>
              <a:ext cx="73449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出力名の既定は「ブック名_macrostudio.xlsm」。名前はファイル名だけを入れます。区切り文字や、元と違う拡張子は使えません。</a:t>
              </a:r>
            </a:p>
          </p:txBody>
        </p:sp>
      </p:grpSp>
      <p:grpSp>
        <p:nvGrpSpPr>
          <p:cNvPr id="24" name="Group 24"/>
          <p:cNvGrpSpPr/>
          <p:nvPr/>
        </p:nvGrpSpPr>
        <p:grpSpPr>
          <a:xfrm>
            <a:off x="1000125" y="4968240"/>
            <a:ext cx="4964049" cy="675894"/>
            <a:chOff x="1000125" y="4968240"/>
            <a:chExt cx="4964049" cy="675894"/>
          </a:xfrm>
        </p:grpSpPr>
        <p:sp>
          <p:nvSpPr>
            <p:cNvPr id="22" name="Ellipse 22"/>
            <p:cNvSpPr/>
            <p:nvPr/>
          </p:nvSpPr>
          <p:spPr>
            <a:xfrm>
              <a:off x="1000125" y="5048250"/>
              <a:ext cx="95250" cy="95250"/>
            </a:xfrm>
            <a:prstGeom prst="ellipse">
              <a:avLst/>
            </a:prstGeom>
            <a:solidFill>
              <a:schemeClr val="accent3"/>
            </a:solidFill>
            <a:ln>
              <a:noFill/>
            </a:ln>
          </p:spPr>
        </p:sp>
        <p:sp>
          <p:nvSpPr>
            <p:cNvPr id="23" name="TextBox 23"/>
            <p:cNvSpPr txBox="1"/>
            <p:nvPr/>
          </p:nvSpPr>
          <p:spPr>
            <a:xfrm>
              <a:off x="1248156" y="4968240"/>
              <a:ext cx="47160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書き戻したあとブックを読み直して、意図どおり書き込まれたかを検証しています。</a:t>
              </a:r>
            </a:p>
          </p:txBody>
        </p:sp>
      </p:grpSp>
      <p:grpSp>
        <p:nvGrpSpPr>
          <p:cNvPr id="27" name="Group 27"/>
          <p:cNvGrpSpPr/>
          <p:nvPr/>
        </p:nvGrpSpPr>
        <p:grpSpPr>
          <a:xfrm>
            <a:off x="973137" y="5654040"/>
            <a:ext cx="5551564" cy="352044"/>
            <a:chOff x="973137" y="5654040"/>
            <a:chExt cx="5551564" cy="352044"/>
          </a:xfrm>
        </p:grpSpPr>
        <p:sp>
          <p:nvSpPr>
            <p:cNvPr id="25" name="Freeform 25"/>
            <p:cNvSpPr/>
            <p:nvPr/>
          </p:nvSpPr>
          <p:spPr>
            <a:xfrm>
              <a:off x="973137" y="56548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26" name="TextBox 26"/>
            <p:cNvSpPr txBox="1"/>
            <p:nvPr/>
          </p:nvSpPr>
          <p:spPr>
            <a:xfrm>
              <a:off x="1248156" y="5654040"/>
              <a:ext cx="52765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［完了］を押すと最初の画面へ戻り、次のブックに移れます。</a:t>
              </a:r>
            </a:p>
          </p:txBody>
        </p:sp>
      </p:grpSp>
      <p:grpSp>
        <p:nvGrpSpPr>
          <p:cNvPr id="30" name="Group 30"/>
          <p:cNvGrpSpPr/>
          <p:nvPr/>
        </p:nvGrpSpPr>
        <p:grpSpPr>
          <a:xfrm>
            <a:off x="961357" y="6035040"/>
            <a:ext cx="5541389" cy="352044"/>
            <a:chOff x="961357" y="6035040"/>
            <a:chExt cx="5541389" cy="352044"/>
          </a:xfrm>
        </p:grpSpPr>
        <p:sp>
          <p:nvSpPr>
            <p:cNvPr id="28" name="Freeform 28"/>
            <p:cNvSpPr/>
            <p:nvPr/>
          </p:nvSpPr>
          <p:spPr>
            <a:xfrm>
              <a:off x="961357" y="603703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9" name="TextBox 29"/>
            <p:cNvSpPr txBox="1"/>
            <p:nvPr/>
          </p:nvSpPr>
          <p:spPr>
            <a:xfrm>
              <a:off x="1248156" y="6035040"/>
              <a:ext cx="5254590"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最後に Excel で開いて、マクロの動作を確認してください。</a:t>
              </a:r>
            </a:p>
          </p:txBody>
        </p:sp>
      </p:grpSp>
      <p:grpSp>
        <p:nvGrpSpPr>
          <p:cNvPr id="33" name="Group 33"/>
          <p:cNvGrpSpPr/>
          <p:nvPr/>
        </p:nvGrpSpPr>
        <p:grpSpPr>
          <a:xfrm>
            <a:off x="946404" y="6557010"/>
            <a:ext cx="10299192" cy="234696"/>
            <a:chOff x="946404" y="6557010"/>
            <a:chExt cx="10299192" cy="234696"/>
          </a:xfrm>
        </p:grpSpPr>
        <p:sp>
          <p:nvSpPr>
            <p:cNvPr id="31" name="TextBox 3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707160" cy="956309"/>
            <a:chOff x="936498" y="460058"/>
            <a:chExt cx="4707160" cy="956309"/>
          </a:xfrm>
        </p:grpSpPr>
        <p:sp>
          <p:nvSpPr>
            <p:cNvPr id="2" name="TextBox 2"/>
            <p:cNvSpPr txBox="1"/>
            <p:nvPr/>
          </p:nvSpPr>
          <p:spPr>
            <a:xfrm>
              <a:off x="936498" y="460058"/>
              <a:ext cx="1746238"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できあがるもの</a:t>
              </a:r>
            </a:p>
          </p:txBody>
        </p:sp>
        <p:sp>
          <p:nvSpPr>
            <p:cNvPr id="3" name="TextBox 3"/>
            <p:cNvSpPr txBox="1"/>
            <p:nvPr/>
          </p:nvSpPr>
          <p:spPr>
            <a:xfrm>
              <a:off x="941070" y="976312"/>
              <a:ext cx="470258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依頼から結果まで、1 つのフォルダに全部残る</a:t>
              </a:r>
            </a:p>
          </p:txBody>
        </p:sp>
      </p:grpSp>
      <p:grpSp>
        <p:nvGrpSpPr>
          <p:cNvPr id="7" name="Group 7"/>
          <p:cNvGrpSpPr/>
          <p:nvPr/>
        </p:nvGrpSpPr>
        <p:grpSpPr>
          <a:xfrm>
            <a:off x="952500" y="1619250"/>
            <a:ext cx="4953000" cy="2381250"/>
            <a:chOff x="952500" y="1619250"/>
            <a:chExt cx="4953000" cy="2381250"/>
          </a:xfrm>
        </p:grpSpPr>
        <p:sp>
          <p:nvSpPr>
            <p:cNvPr id="5" name="Rectangle 5"/>
            <p:cNvSpPr/>
            <p:nvPr/>
          </p:nvSpPr>
          <p:spPr>
            <a:xfrm>
              <a:off x="952500" y="1619250"/>
              <a:ext cx="4953000" cy="2381250"/>
            </a:xfrm>
            <a:prstGeom prst="roundRect">
              <a:avLst>
                <a:gd name="adj" fmla="val 6400"/>
              </a:avLst>
            </a:prstGeom>
            <a:solidFill>
              <a:schemeClr val="lt2"/>
            </a:solidFill>
            <a:ln>
              <a:noFill/>
            </a:ln>
          </p:spPr>
        </p:sp>
        <p:sp>
          <p:nvSpPr>
            <p:cNvPr id="6" name="TextBox 6"/>
            <p:cNvSpPr txBox="1"/>
            <p:nvPr/>
          </p:nvSpPr>
          <p:spPr>
            <a:xfrm>
              <a:off x="1173480" y="1838325"/>
              <a:ext cx="2710815" cy="18935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Consolas"/>
                  <a:ea typeface="Microsoft YaHei"/>
                  <a:cs typeface="Consolas"/>
                </a:rPr>
                <a:t>&lt;元のブックのフォルダ&gt;\MacroStudio\</a:t>
              </a:r>
              <a:r>
                <a:rPr lang="en-US" sz="1500" dirty="0">
                  <a:solidFill>
                    <a:schemeClr val="dk1"/>
                  </a:solidFill>
                  <a:latin typeface="Consolas"/>
                  <a:ea typeface="Consolas"/>
                  <a:cs typeface="Consolas"/>
                </a:rPr>
                <a:t xml:space="preserve"> </a:t>
              </a:r>
              <a:r>
                <a:rPr lang="zh-CN" sz="1500" dirty="0">
                  <a:solidFill>
                    <a:schemeClr val="dk1"/>
                  </a:solidFill>
                  <a:latin typeface="Consolas"/>
                  <a:ea typeface="Microsoft YaHei"/>
                  <a:cs typeface="Consolas"/>
                </a:rPr>
                <a:t>&lt;ブック名&gt;_&lt;日付_時刻&gt;\</a:t>
              </a:r>
              <a:r>
                <a:rPr lang="en-US" sz="1500" dirty="0">
                  <a:solidFill>
                    <a:schemeClr val="dk1"/>
                  </a:solidFill>
                  <a:latin typeface="Consolas"/>
                  <a:ea typeface="Consolas"/>
                  <a:cs typeface="Consolas"/>
                </a:rPr>
                <a:t xml:space="preserve"> request.md source-code.md </a:t>
              </a:r>
              <a:r>
                <a:rPr lang="zh-CN" sz="1500" dirty="0">
                  <a:solidFill>
                    <a:schemeClr val="dk1"/>
                  </a:solidFill>
                  <a:latin typeface="Consolas"/>
                  <a:ea typeface="Microsoft YaHei"/>
                  <a:cs typeface="Consolas"/>
                </a:rPr>
                <a:t>&lt;ブック名&gt;_macrostudio.xlsm</a:t>
              </a:r>
              <a:r>
                <a:rPr lang="en-US" sz="1500" dirty="0">
                  <a:solidFill>
                    <a:schemeClr val="dk1"/>
                  </a:solidFill>
                  <a:latin typeface="Consolas"/>
                  <a:ea typeface="Consolas"/>
                  <a:cs typeface="Consolas"/>
                </a:rPr>
                <a:t xml:space="preserve"> diff-report.html result.md</a:t>
              </a:r>
            </a:p>
          </p:txBody>
        </p:sp>
      </p:grpSp>
      <p:grpSp>
        <p:nvGrpSpPr>
          <p:cNvPr id="13" name="Group 13"/>
          <p:cNvGrpSpPr/>
          <p:nvPr/>
        </p:nvGrpSpPr>
        <p:grpSpPr>
          <a:xfrm>
            <a:off x="6324599" y="1685925"/>
            <a:ext cx="1559815" cy="508826"/>
            <a:chOff x="6324599" y="1685925"/>
            <a:chExt cx="1559815" cy="508826"/>
          </a:xfrm>
        </p:grpSpPr>
        <p:grpSp>
          <p:nvGrpSpPr>
            <p:cNvPr id="10" name="Group 10"/>
            <p:cNvGrpSpPr/>
            <p:nvPr/>
          </p:nvGrpSpPr>
          <p:grpSpPr>
            <a:xfrm>
              <a:off x="6324599" y="1695450"/>
              <a:ext cx="152402" cy="190501"/>
              <a:chOff x="6324599" y="1695450"/>
              <a:chExt cx="152402" cy="190501"/>
            </a:xfrm>
          </p:grpSpPr>
          <p:sp>
            <p:nvSpPr>
              <p:cNvPr id="8" name="Freeform 8"/>
              <p:cNvSpPr/>
              <p:nvPr/>
            </p:nvSpPr>
            <p:spPr>
              <a:xfrm>
                <a:off x="6324599" y="16954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104776" y="133350"/>
                    </a:moveTo>
                    <a:lnTo>
                      <a:pt x="47626" y="133350"/>
                    </a:lnTo>
                    <a:cubicBezTo>
                      <a:pt x="42365" y="133350"/>
                      <a:pt x="38101" y="137614"/>
                      <a:pt x="38101" y="142875"/>
                    </a:cubicBezTo>
                    <a:cubicBezTo>
                      <a:pt x="38101" y="148136"/>
                      <a:pt x="42365" y="152400"/>
                      <a:pt x="47626" y="152400"/>
                    </a:cubicBezTo>
                    <a:lnTo>
                      <a:pt x="104776" y="152400"/>
                    </a:lnTo>
                    <a:cubicBezTo>
                      <a:pt x="110036" y="152400"/>
                      <a:pt x="114301" y="148136"/>
                      <a:pt x="114301" y="142875"/>
                    </a:cubicBezTo>
                    <a:cubicBezTo>
                      <a:pt x="114301" y="137614"/>
                      <a:pt x="110036" y="133350"/>
                      <a:pt x="104776" y="133350"/>
                    </a:cubicBezTo>
                    <a:moveTo>
                      <a:pt x="104776" y="95250"/>
                    </a:moveTo>
                    <a:lnTo>
                      <a:pt x="47626" y="95250"/>
                    </a:lnTo>
                    <a:cubicBezTo>
                      <a:pt x="42365" y="95250"/>
                      <a:pt x="38101" y="99514"/>
                      <a:pt x="38101" y="104775"/>
                    </a:cubicBezTo>
                    <a:cubicBezTo>
                      <a:pt x="38101" y="110036"/>
                      <a:pt x="42365" y="114300"/>
                      <a:pt x="47626" y="114300"/>
                    </a:cubicBezTo>
                    <a:lnTo>
                      <a:pt x="104776" y="114300"/>
                    </a:lnTo>
                    <a:cubicBezTo>
                      <a:pt x="110036" y="114300"/>
                      <a:pt x="114301" y="110036"/>
                      <a:pt x="114301" y="104775"/>
                    </a:cubicBezTo>
                    <a:cubicBezTo>
                      <a:pt x="114301" y="99514"/>
                      <a:pt x="110036" y="95250"/>
                      <a:pt x="104776" y="95250"/>
                    </a:cubicBezTo>
                    <a:moveTo>
                      <a:pt x="57151" y="57150"/>
                    </a:moveTo>
                    <a:lnTo>
                      <a:pt x="47626" y="57150"/>
                    </a:lnTo>
                    <a:cubicBezTo>
                      <a:pt x="42365" y="57150"/>
                      <a:pt x="38101" y="61414"/>
                      <a:pt x="38101" y="66675"/>
                    </a:cubicBezTo>
                    <a:cubicBezTo>
                      <a:pt x="38101" y="71936"/>
                      <a:pt x="42365" y="76200"/>
                      <a:pt x="47626" y="76200"/>
                    </a:cubicBezTo>
                    <a:lnTo>
                      <a:pt x="57151" y="76200"/>
                    </a:lnTo>
                    <a:cubicBezTo>
                      <a:pt x="62411" y="76200"/>
                      <a:pt x="66676" y="71936"/>
                      <a:pt x="66676" y="66675"/>
                    </a:cubicBezTo>
                    <a:cubicBezTo>
                      <a:pt x="66676" y="61414"/>
                      <a:pt x="62411" y="57150"/>
                      <a:pt x="57151" y="57150"/>
                    </a:cubicBezTo>
                  </a:path>
                </a:pathLst>
              </a:custGeom>
              <a:solidFill>
                <a:schemeClr val="accent3"/>
              </a:solidFill>
              <a:ln>
                <a:noFill/>
              </a:ln>
            </p:spPr>
          </p:sp>
          <p:sp>
            <p:nvSpPr>
              <p:cNvPr id="9" name="Freeform 9"/>
              <p:cNvSpPr/>
              <p:nvPr/>
            </p:nvSpPr>
            <p:spPr>
              <a:xfrm>
                <a:off x="6429365" y="17049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11" name="TextBox 11"/>
            <p:cNvSpPr txBox="1"/>
            <p:nvPr/>
          </p:nvSpPr>
          <p:spPr>
            <a:xfrm>
              <a:off x="6621780" y="1685925"/>
              <a:ext cx="122379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request.md</a:t>
              </a:r>
            </a:p>
          </p:txBody>
        </p:sp>
        <p:sp>
          <p:nvSpPr>
            <p:cNvPr id="12" name="TextBox 12"/>
            <p:cNvSpPr txBox="1"/>
            <p:nvPr/>
          </p:nvSpPr>
          <p:spPr>
            <a:xfrm>
              <a:off x="6622542" y="1930718"/>
              <a:ext cx="126187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AIへ渡した依頼文</a:t>
              </a:r>
            </a:p>
          </p:txBody>
        </p:sp>
      </p:grpSp>
      <p:grpSp>
        <p:nvGrpSpPr>
          <p:cNvPr id="19" name="Group 19"/>
          <p:cNvGrpSpPr/>
          <p:nvPr/>
        </p:nvGrpSpPr>
        <p:grpSpPr>
          <a:xfrm>
            <a:off x="6324599" y="2295525"/>
            <a:ext cx="1987430" cy="508826"/>
            <a:chOff x="6324599" y="2295525"/>
            <a:chExt cx="1987430" cy="508826"/>
          </a:xfrm>
        </p:grpSpPr>
        <p:grpSp>
          <p:nvGrpSpPr>
            <p:cNvPr id="16" name="Group 16"/>
            <p:cNvGrpSpPr/>
            <p:nvPr/>
          </p:nvGrpSpPr>
          <p:grpSpPr>
            <a:xfrm>
              <a:off x="6324599" y="2305050"/>
              <a:ext cx="152402" cy="190501"/>
              <a:chOff x="6324599" y="2305050"/>
              <a:chExt cx="152402" cy="190501"/>
            </a:xfrm>
          </p:grpSpPr>
          <p:sp>
            <p:nvSpPr>
              <p:cNvPr id="14" name="Freeform 14"/>
              <p:cNvSpPr/>
              <p:nvPr/>
            </p:nvSpPr>
            <p:spPr>
              <a:xfrm>
                <a:off x="6324599" y="23050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61409" y="105785"/>
                    </a:moveTo>
                    <a:cubicBezTo>
                      <a:pt x="56705" y="103436"/>
                      <a:pt x="50989" y="105341"/>
                      <a:pt x="48635" y="110042"/>
                    </a:cubicBezTo>
                    <a:lnTo>
                      <a:pt x="39110" y="129092"/>
                    </a:lnTo>
                    <a:cubicBezTo>
                      <a:pt x="37771" y="131773"/>
                      <a:pt x="37771" y="134927"/>
                      <a:pt x="39110" y="137608"/>
                    </a:cubicBezTo>
                    <a:lnTo>
                      <a:pt x="48635" y="156658"/>
                    </a:lnTo>
                    <a:cubicBezTo>
                      <a:pt x="50989" y="161359"/>
                      <a:pt x="56705" y="163264"/>
                      <a:pt x="61409" y="160915"/>
                    </a:cubicBezTo>
                    <a:lnTo>
                      <a:pt x="62380" y="160363"/>
                    </a:lnTo>
                    <a:cubicBezTo>
                      <a:pt x="66414" y="157711"/>
                      <a:pt x="67826" y="152460"/>
                      <a:pt x="65666" y="148142"/>
                    </a:cubicBezTo>
                    <a:lnTo>
                      <a:pt x="58275" y="133350"/>
                    </a:lnTo>
                    <a:lnTo>
                      <a:pt x="65666" y="118558"/>
                    </a:lnTo>
                    <a:cubicBezTo>
                      <a:pt x="68015" y="113855"/>
                      <a:pt x="66109" y="108138"/>
                      <a:pt x="61409" y="105785"/>
                    </a:cubicBezTo>
                    <a:moveTo>
                      <a:pt x="103766" y="110042"/>
                    </a:moveTo>
                    <a:cubicBezTo>
                      <a:pt x="101413" y="105341"/>
                      <a:pt x="95696" y="103436"/>
                      <a:pt x="90993" y="105785"/>
                    </a:cubicBezTo>
                    <a:lnTo>
                      <a:pt x="90022" y="106337"/>
                    </a:lnTo>
                    <a:cubicBezTo>
                      <a:pt x="85988" y="108989"/>
                      <a:pt x="84576" y="114240"/>
                      <a:pt x="86735" y="118558"/>
                    </a:cubicBezTo>
                    <a:lnTo>
                      <a:pt x="94108" y="133350"/>
                    </a:lnTo>
                    <a:lnTo>
                      <a:pt x="86726" y="148142"/>
                    </a:lnTo>
                    <a:cubicBezTo>
                      <a:pt x="84568" y="152814"/>
                      <a:pt x="86511" y="158355"/>
                      <a:pt x="91113" y="160656"/>
                    </a:cubicBezTo>
                    <a:cubicBezTo>
                      <a:pt x="95716" y="162957"/>
                      <a:pt x="101314" y="161187"/>
                      <a:pt x="103757" y="156658"/>
                    </a:cubicBezTo>
                    <a:lnTo>
                      <a:pt x="113282" y="137608"/>
                    </a:lnTo>
                    <a:cubicBezTo>
                      <a:pt x="114621" y="134927"/>
                      <a:pt x="114621" y="131773"/>
                      <a:pt x="113282" y="129092"/>
                    </a:cubicBezTo>
                    <a:close/>
                  </a:path>
                </a:pathLst>
              </a:custGeom>
              <a:solidFill>
                <a:schemeClr val="accent3"/>
              </a:solidFill>
              <a:ln>
                <a:noFill/>
              </a:ln>
            </p:spPr>
          </p:sp>
          <p:sp>
            <p:nvSpPr>
              <p:cNvPr id="15" name="Freeform 15"/>
              <p:cNvSpPr/>
              <p:nvPr/>
            </p:nvSpPr>
            <p:spPr>
              <a:xfrm>
                <a:off x="6429365" y="23145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17" name="TextBox 17"/>
            <p:cNvSpPr txBox="1"/>
            <p:nvPr/>
          </p:nvSpPr>
          <p:spPr>
            <a:xfrm>
              <a:off x="6621780" y="2295525"/>
              <a:ext cx="169024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source-code.md</a:t>
              </a:r>
            </a:p>
          </p:txBody>
        </p:sp>
        <p:sp>
          <p:nvSpPr>
            <p:cNvPr id="18" name="TextBox 18"/>
            <p:cNvSpPr txBox="1"/>
            <p:nvPr/>
          </p:nvSpPr>
          <p:spPr>
            <a:xfrm>
              <a:off x="6622542" y="2540318"/>
              <a:ext cx="125861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元マクロのコード全文</a:t>
              </a:r>
            </a:p>
          </p:txBody>
        </p:sp>
      </p:grpSp>
      <p:grpSp>
        <p:nvGrpSpPr>
          <p:cNvPr id="23" name="Group 23"/>
          <p:cNvGrpSpPr/>
          <p:nvPr/>
        </p:nvGrpSpPr>
        <p:grpSpPr>
          <a:xfrm>
            <a:off x="6305550" y="2905125"/>
            <a:ext cx="3087814" cy="508826"/>
            <a:chOff x="6305550" y="2905125"/>
            <a:chExt cx="3087814" cy="508826"/>
          </a:xfrm>
        </p:grpSpPr>
        <p:sp>
          <p:nvSpPr>
            <p:cNvPr id="20" name="Freeform 20"/>
            <p:cNvSpPr/>
            <p:nvPr/>
          </p:nvSpPr>
          <p:spPr>
            <a:xfrm>
              <a:off x="6305550" y="291038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chemeClr val="accent3"/>
            </a:solidFill>
            <a:ln>
              <a:noFill/>
            </a:ln>
          </p:spPr>
        </p:sp>
        <p:sp>
          <p:nvSpPr>
            <p:cNvPr id="21" name="TextBox 21"/>
            <p:cNvSpPr txBox="1"/>
            <p:nvPr/>
          </p:nvSpPr>
          <p:spPr>
            <a:xfrm>
              <a:off x="6621780" y="2905125"/>
              <a:ext cx="27715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Consolas"/>
                  <a:ea typeface="Microsoft YaHei"/>
                  <a:cs typeface="Consolas"/>
                </a:rPr>
                <a:t>&lt;ブック名&gt;_macrostudio.xlsm</a:t>
              </a:r>
            </a:p>
          </p:txBody>
        </p:sp>
        <p:sp>
          <p:nvSpPr>
            <p:cNvPr id="22" name="TextBox 22"/>
            <p:cNvSpPr txBox="1"/>
            <p:nvPr/>
          </p:nvSpPr>
          <p:spPr>
            <a:xfrm>
              <a:off x="6622542" y="3149918"/>
              <a:ext cx="95874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改修済みブック</a:t>
              </a:r>
            </a:p>
          </p:txBody>
        </p:sp>
      </p:grpSp>
      <p:grpSp>
        <p:nvGrpSpPr>
          <p:cNvPr id="29" name="Group 29"/>
          <p:cNvGrpSpPr/>
          <p:nvPr/>
        </p:nvGrpSpPr>
        <p:grpSpPr>
          <a:xfrm>
            <a:off x="6324599" y="3514725"/>
            <a:ext cx="2114646" cy="508826"/>
            <a:chOff x="6324599" y="3514725"/>
            <a:chExt cx="2114646" cy="508826"/>
          </a:xfrm>
        </p:grpSpPr>
        <p:grpSp>
          <p:nvGrpSpPr>
            <p:cNvPr id="26" name="Group 26"/>
            <p:cNvGrpSpPr/>
            <p:nvPr/>
          </p:nvGrpSpPr>
          <p:grpSpPr>
            <a:xfrm>
              <a:off x="6324599" y="3524250"/>
              <a:ext cx="152402" cy="190501"/>
              <a:chOff x="6324599" y="3524250"/>
              <a:chExt cx="152402" cy="190501"/>
            </a:xfrm>
          </p:grpSpPr>
          <p:sp>
            <p:nvSpPr>
              <p:cNvPr id="24" name="Freeform 24"/>
              <p:cNvSpPr/>
              <p:nvPr/>
            </p:nvSpPr>
            <p:spPr>
              <a:xfrm>
                <a:off x="6324599" y="35242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95251" y="142875"/>
                    </a:moveTo>
                    <a:lnTo>
                      <a:pt x="57151" y="142875"/>
                    </a:lnTo>
                    <a:cubicBezTo>
                      <a:pt x="51890" y="142875"/>
                      <a:pt x="47626" y="147139"/>
                      <a:pt x="47626" y="152400"/>
                    </a:cubicBezTo>
                    <a:cubicBezTo>
                      <a:pt x="47626" y="157661"/>
                      <a:pt x="51890" y="161925"/>
                      <a:pt x="57151" y="161925"/>
                    </a:cubicBezTo>
                    <a:lnTo>
                      <a:pt x="95251" y="161925"/>
                    </a:lnTo>
                    <a:cubicBezTo>
                      <a:pt x="100511" y="161925"/>
                      <a:pt x="104776" y="157661"/>
                      <a:pt x="104776" y="152400"/>
                    </a:cubicBezTo>
                    <a:cubicBezTo>
                      <a:pt x="104776" y="147139"/>
                      <a:pt x="100511" y="142875"/>
                      <a:pt x="95251" y="142875"/>
                    </a:cubicBezTo>
                    <a:moveTo>
                      <a:pt x="76201" y="76200"/>
                    </a:moveTo>
                    <a:cubicBezTo>
                      <a:pt x="70940" y="76200"/>
                      <a:pt x="66676" y="80464"/>
                      <a:pt x="66676" y="85725"/>
                    </a:cubicBezTo>
                    <a:lnTo>
                      <a:pt x="66676" y="95250"/>
                    </a:lnTo>
                    <a:lnTo>
                      <a:pt x="57151" y="95250"/>
                    </a:lnTo>
                    <a:cubicBezTo>
                      <a:pt x="51890" y="95250"/>
                      <a:pt x="47626" y="99514"/>
                      <a:pt x="47626" y="104775"/>
                    </a:cubicBezTo>
                    <a:cubicBezTo>
                      <a:pt x="47626" y="110036"/>
                      <a:pt x="51890" y="114300"/>
                      <a:pt x="57151" y="114300"/>
                    </a:cubicBezTo>
                    <a:lnTo>
                      <a:pt x="66676" y="114300"/>
                    </a:lnTo>
                    <a:lnTo>
                      <a:pt x="66676" y="123825"/>
                    </a:lnTo>
                    <a:cubicBezTo>
                      <a:pt x="66676" y="129086"/>
                      <a:pt x="70940" y="133350"/>
                      <a:pt x="76201" y="133350"/>
                    </a:cubicBezTo>
                    <a:cubicBezTo>
                      <a:pt x="81461" y="133350"/>
                      <a:pt x="85726" y="129086"/>
                      <a:pt x="85726" y="123825"/>
                    </a:cubicBezTo>
                    <a:lnTo>
                      <a:pt x="85726" y="114300"/>
                    </a:lnTo>
                    <a:lnTo>
                      <a:pt x="95251" y="114300"/>
                    </a:lnTo>
                    <a:cubicBezTo>
                      <a:pt x="100511" y="114300"/>
                      <a:pt x="104776" y="110036"/>
                      <a:pt x="104776" y="104775"/>
                    </a:cubicBezTo>
                    <a:cubicBezTo>
                      <a:pt x="104776" y="99514"/>
                      <a:pt x="100511" y="95250"/>
                      <a:pt x="95251" y="95250"/>
                    </a:cubicBezTo>
                    <a:lnTo>
                      <a:pt x="85726" y="95250"/>
                    </a:lnTo>
                    <a:lnTo>
                      <a:pt x="85726" y="85725"/>
                    </a:lnTo>
                    <a:cubicBezTo>
                      <a:pt x="85726" y="80464"/>
                      <a:pt x="81461" y="76200"/>
                      <a:pt x="76201" y="76200"/>
                    </a:cubicBezTo>
                  </a:path>
                </a:pathLst>
              </a:custGeom>
              <a:solidFill>
                <a:schemeClr val="accent3"/>
              </a:solidFill>
              <a:ln>
                <a:noFill/>
              </a:ln>
            </p:spPr>
          </p:sp>
          <p:sp>
            <p:nvSpPr>
              <p:cNvPr id="25" name="Freeform 25"/>
              <p:cNvSpPr/>
              <p:nvPr/>
            </p:nvSpPr>
            <p:spPr>
              <a:xfrm>
                <a:off x="6429365" y="35337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27" name="TextBox 27"/>
            <p:cNvSpPr txBox="1"/>
            <p:nvPr/>
          </p:nvSpPr>
          <p:spPr>
            <a:xfrm>
              <a:off x="6621780" y="3514725"/>
              <a:ext cx="181746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diff-report.html</a:t>
              </a:r>
            </a:p>
          </p:txBody>
        </p:sp>
        <p:sp>
          <p:nvSpPr>
            <p:cNvPr id="28" name="TextBox 28"/>
            <p:cNvSpPr txBox="1"/>
            <p:nvPr/>
          </p:nvSpPr>
          <p:spPr>
            <a:xfrm>
              <a:off x="6622542" y="3759518"/>
              <a:ext cx="16039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変更内容の確認レポート</a:t>
              </a:r>
            </a:p>
          </p:txBody>
        </p:sp>
      </p:grpSp>
      <p:grpSp>
        <p:nvGrpSpPr>
          <p:cNvPr id="39" name="Group 39"/>
          <p:cNvGrpSpPr/>
          <p:nvPr/>
        </p:nvGrpSpPr>
        <p:grpSpPr>
          <a:xfrm>
            <a:off x="6309494" y="4124325"/>
            <a:ext cx="2680258" cy="508826"/>
            <a:chOff x="6309494" y="4124325"/>
            <a:chExt cx="2680258" cy="508826"/>
          </a:xfrm>
        </p:grpSpPr>
        <p:grpSp>
          <p:nvGrpSpPr>
            <p:cNvPr id="36" name="Group 36"/>
            <p:cNvGrpSpPr/>
            <p:nvPr/>
          </p:nvGrpSpPr>
          <p:grpSpPr>
            <a:xfrm>
              <a:off x="6309494" y="4147210"/>
              <a:ext cx="177031" cy="159018"/>
              <a:chOff x="6309494" y="4147210"/>
              <a:chExt cx="177031" cy="159018"/>
            </a:xfrm>
          </p:grpSpPr>
          <p:sp>
            <p:nvSpPr>
              <p:cNvPr id="30" name="Freeform 30"/>
              <p:cNvSpPr/>
              <p:nvPr/>
            </p:nvSpPr>
            <p:spPr>
              <a:xfrm>
                <a:off x="6309494" y="41472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1" name="Freeform 31"/>
              <p:cNvSpPr/>
              <p:nvPr/>
            </p:nvSpPr>
            <p:spPr>
              <a:xfrm>
                <a:off x="6309494" y="420436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2" name="Freeform 32"/>
              <p:cNvSpPr/>
              <p:nvPr/>
            </p:nvSpPr>
            <p:spPr>
              <a:xfrm>
                <a:off x="6309494" y="42615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3" name="Freeform 33"/>
              <p:cNvSpPr/>
              <p:nvPr/>
            </p:nvSpPr>
            <p:spPr>
              <a:xfrm>
                <a:off x="6381750" y="41624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sp>
            <p:nvSpPr>
              <p:cNvPr id="34" name="Freeform 34"/>
              <p:cNvSpPr/>
              <p:nvPr/>
            </p:nvSpPr>
            <p:spPr>
              <a:xfrm>
                <a:off x="6381750" y="421957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sp>
            <p:nvSpPr>
              <p:cNvPr id="35" name="Freeform 35"/>
              <p:cNvSpPr/>
              <p:nvPr/>
            </p:nvSpPr>
            <p:spPr>
              <a:xfrm>
                <a:off x="6381750" y="42767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grpSp>
        <p:sp>
          <p:nvSpPr>
            <p:cNvPr id="37" name="TextBox 37"/>
            <p:cNvSpPr txBox="1"/>
            <p:nvPr/>
          </p:nvSpPr>
          <p:spPr>
            <a:xfrm>
              <a:off x="6621780" y="4124325"/>
              <a:ext cx="105417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result.md</a:t>
              </a:r>
            </a:p>
          </p:txBody>
        </p:sp>
        <p:sp>
          <p:nvSpPr>
            <p:cNvPr id="38" name="TextBox 38"/>
            <p:cNvSpPr txBox="1"/>
            <p:nvPr/>
          </p:nvSpPr>
          <p:spPr>
            <a:xfrm>
              <a:off x="6622542" y="436911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改修の概要メモ（何をどう直したか）</a:t>
              </a:r>
            </a:p>
          </p:txBody>
        </p:sp>
      </p:grpSp>
      <p:grpSp>
        <p:nvGrpSpPr>
          <p:cNvPr id="45" name="Group 45"/>
          <p:cNvGrpSpPr/>
          <p:nvPr/>
        </p:nvGrpSpPr>
        <p:grpSpPr>
          <a:xfrm>
            <a:off x="952500" y="4857750"/>
            <a:ext cx="10287000" cy="952500"/>
            <a:chOff x="952500" y="4857750"/>
            <a:chExt cx="10287000" cy="952500"/>
          </a:xfrm>
        </p:grpSpPr>
        <p:sp>
          <p:nvSpPr>
            <p:cNvPr id="40" name="Rectangle 40"/>
            <p:cNvSpPr/>
            <p:nvPr/>
          </p:nvSpPr>
          <p:spPr>
            <a:xfrm>
              <a:off x="952500" y="4857750"/>
              <a:ext cx="10287000" cy="952500"/>
            </a:xfrm>
            <a:prstGeom prst="roundRect">
              <a:avLst>
                <a:gd name="adj" fmla="val 16000"/>
              </a:avLst>
            </a:prstGeom>
            <a:solidFill>
              <a:schemeClr val="lt2"/>
            </a:solidFill>
            <a:ln>
              <a:noFill/>
            </a:ln>
          </p:spPr>
        </p:sp>
        <p:grpSp>
          <p:nvGrpSpPr>
            <p:cNvPr id="43" name="Group 43"/>
            <p:cNvGrpSpPr/>
            <p:nvPr/>
          </p:nvGrpSpPr>
          <p:grpSpPr>
            <a:xfrm>
              <a:off x="1222374" y="5087937"/>
              <a:ext cx="165101" cy="206375"/>
              <a:chOff x="1222374" y="5087937"/>
              <a:chExt cx="165101" cy="206375"/>
            </a:xfrm>
          </p:grpSpPr>
          <p:sp>
            <p:nvSpPr>
              <p:cNvPr id="41" name="Freeform 41"/>
              <p:cNvSpPr/>
              <p:nvPr/>
            </p:nvSpPr>
            <p:spPr>
              <a:xfrm>
                <a:off x="1222374" y="50879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1"/>
              </a:solidFill>
              <a:ln>
                <a:noFill/>
              </a:ln>
            </p:spPr>
          </p:sp>
          <p:sp>
            <p:nvSpPr>
              <p:cNvPr id="42" name="Freeform 42"/>
              <p:cNvSpPr/>
              <p:nvPr/>
            </p:nvSpPr>
            <p:spPr>
              <a:xfrm>
                <a:off x="1335870" y="509824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44" name="TextBox 44"/>
            <p:cNvSpPr txBox="1"/>
            <p:nvPr/>
          </p:nvSpPr>
          <p:spPr>
            <a:xfrm>
              <a:off x="1552956" y="5063490"/>
              <a:ext cx="607618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差分レポートはブラウザで開ける自己完結のファイルです。変更しなかったモジュールも含めて全モジュールが入っているので、改修後の記録としてそのまま保管できます。</a:t>
              </a:r>
            </a:p>
          </p:txBody>
        </p:sp>
      </p:grpSp>
      <p:grpSp>
        <p:nvGrpSpPr>
          <p:cNvPr id="48" name="Group 48"/>
          <p:cNvGrpSpPr/>
          <p:nvPr/>
        </p:nvGrpSpPr>
        <p:grpSpPr>
          <a:xfrm>
            <a:off x="973137" y="6015990"/>
            <a:ext cx="5492738" cy="352044"/>
            <a:chOff x="973137" y="6015990"/>
            <a:chExt cx="5492738" cy="352044"/>
          </a:xfrm>
        </p:grpSpPr>
        <p:sp>
          <p:nvSpPr>
            <p:cNvPr id="46" name="Freeform 46"/>
            <p:cNvSpPr/>
            <p:nvPr/>
          </p:nvSpPr>
          <p:spPr>
            <a:xfrm>
              <a:off x="973137" y="60317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3"/>
            </a:solidFill>
            <a:ln>
              <a:noFill/>
            </a:ln>
          </p:spPr>
        </p:sp>
        <p:sp>
          <p:nvSpPr>
            <p:cNvPr id="47" name="TextBox 47"/>
            <p:cNvSpPr txBox="1"/>
            <p:nvPr/>
          </p:nvSpPr>
          <p:spPr>
            <a:xfrm>
              <a:off x="1286256" y="6015990"/>
              <a:ext cx="517961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［出力フォルダをエクスプローラーで開く］でそのフォルダを開けます。</a:t>
              </a:r>
            </a:p>
          </p:txBody>
        </p:sp>
      </p:grpSp>
      <p:grpSp>
        <p:nvGrpSpPr>
          <p:cNvPr id="51" name="Group 51"/>
          <p:cNvGrpSpPr/>
          <p:nvPr/>
        </p:nvGrpSpPr>
        <p:grpSpPr>
          <a:xfrm>
            <a:off x="946404" y="6557010"/>
            <a:ext cx="10299192" cy="234696"/>
            <a:chOff x="946404" y="6557010"/>
            <a:chExt cx="10299192" cy="234696"/>
          </a:xfrm>
        </p:grpSpPr>
        <p:sp>
          <p:nvSpPr>
            <p:cNvPr id="49" name="TextBox 49"/>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767739" cy="956309"/>
            <a:chOff x="936498" y="460058"/>
            <a:chExt cx="4767739" cy="956309"/>
          </a:xfrm>
        </p:grpSpPr>
        <p:sp>
          <p:nvSpPr>
            <p:cNvPr id="2" name="TextBox 2"/>
            <p:cNvSpPr txBox="1"/>
            <p:nvPr/>
          </p:nvSpPr>
          <p:spPr>
            <a:xfrm>
              <a:off x="936498" y="460058"/>
              <a:ext cx="401704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改修せずに、聞くだけのとき</a:t>
              </a:r>
            </a:p>
          </p:txBody>
        </p:sp>
        <p:sp>
          <p:nvSpPr>
            <p:cNvPr id="3" name="TextBox 3"/>
            <p:cNvSpPr txBox="1"/>
            <p:nvPr/>
          </p:nvSpPr>
          <p:spPr>
            <a:xfrm>
              <a:off x="941070" y="976312"/>
              <a:ext cx="476316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手順 2 で［完了］。ブックは何も変わらない</a:t>
              </a:r>
            </a:p>
          </p:txBody>
        </p:sp>
      </p:grpSp>
      <p:grpSp>
        <p:nvGrpSpPr>
          <p:cNvPr id="8" name="Group 8"/>
          <p:cNvGrpSpPr/>
          <p:nvPr/>
        </p:nvGrpSpPr>
        <p:grpSpPr>
          <a:xfrm>
            <a:off x="945642" y="1581150"/>
            <a:ext cx="3245358" cy="2337625"/>
            <a:chOff x="945642" y="1581150"/>
            <a:chExt cx="3245358" cy="2337625"/>
          </a:xfrm>
        </p:grpSpPr>
        <p:sp>
          <p:nvSpPr>
            <p:cNvPr id="5" name="Rectangle 5"/>
            <p:cNvSpPr/>
            <p:nvPr/>
          </p:nvSpPr>
          <p:spPr>
            <a:xfrm>
              <a:off x="952500" y="1581150"/>
              <a:ext cx="3238500" cy="1990725"/>
            </a:xfrm>
            <a:prstGeom prst="roundRect">
              <a:avLst>
                <a:gd name="adj" fmla="val 7656"/>
              </a:avLst>
            </a:prstGeom>
            <a:solidFill>
              <a:schemeClr val="accent5"/>
            </a:solidFill>
            <a:ln w="9525">
              <a:solidFill>
                <a:schemeClr val="accent6"/>
              </a:solidFill>
            </a:ln>
          </p:spPr>
        </p:sp>
        <p:pic>
          <p:nvPicPr>
            <p:cNvPr id="6" name="Image 6"/>
            <p:cNvPicPr>
              <a:picLocks noChangeAspect="1"/>
            </p:cNvPicPr>
            <p:nvPr/>
          </p:nvPicPr>
          <p:blipFill>
            <a:blip r:embed="rId2"/>
            <a:stretch>
              <a:fillRect/>
            </a:stretch>
          </p:blipFill>
          <p:spPr>
            <a:xfrm>
              <a:off x="1143000" y="1771650"/>
              <a:ext cx="2857500" cy="1609725"/>
            </a:xfrm>
            <a:prstGeom prst="rect">
              <a:avLst/>
            </a:prstGeom>
          </p:spPr>
        </p:pic>
        <p:sp>
          <p:nvSpPr>
            <p:cNvPr id="7" name="TextBox 7"/>
            <p:cNvSpPr txBox="1"/>
            <p:nvPr/>
          </p:nvSpPr>
          <p:spPr>
            <a:xfrm>
              <a:off x="945642" y="3654742"/>
              <a:ext cx="2375611"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1. 「マクロについてAIに聞く」を選ぶ</a:t>
              </a:r>
            </a:p>
          </p:txBody>
        </p:sp>
      </p:grpSp>
      <p:grpSp>
        <p:nvGrpSpPr>
          <p:cNvPr id="12" name="Group 12"/>
          <p:cNvGrpSpPr/>
          <p:nvPr/>
        </p:nvGrpSpPr>
        <p:grpSpPr>
          <a:xfrm>
            <a:off x="4374642" y="1581150"/>
            <a:ext cx="3245358" cy="2337625"/>
            <a:chOff x="4374642" y="1581150"/>
            <a:chExt cx="3245358" cy="2337625"/>
          </a:xfrm>
        </p:grpSpPr>
        <p:sp>
          <p:nvSpPr>
            <p:cNvPr id="9" name="Rectangle 9"/>
            <p:cNvSpPr/>
            <p:nvPr/>
          </p:nvSpPr>
          <p:spPr>
            <a:xfrm>
              <a:off x="4381500" y="1581150"/>
              <a:ext cx="3238500" cy="1990725"/>
            </a:xfrm>
            <a:prstGeom prst="roundRect">
              <a:avLst>
                <a:gd name="adj" fmla="val 7656"/>
              </a:avLst>
            </a:prstGeom>
            <a:solidFill>
              <a:schemeClr val="accent5"/>
            </a:solidFill>
            <a:ln w="9525">
              <a:solidFill>
                <a:schemeClr val="accent6"/>
              </a:solidFill>
            </a:ln>
          </p:spPr>
        </p:sp>
        <p:pic>
          <p:nvPicPr>
            <p:cNvPr id="10" name="Image 10"/>
            <p:cNvPicPr>
              <a:picLocks noChangeAspect="1"/>
            </p:cNvPicPr>
            <p:nvPr/>
          </p:nvPicPr>
          <p:blipFill>
            <a:blip r:embed="rId3"/>
            <a:stretch>
              <a:fillRect/>
            </a:stretch>
          </p:blipFill>
          <p:spPr>
            <a:xfrm>
              <a:off x="4572000" y="1771650"/>
              <a:ext cx="2857500" cy="1609725"/>
            </a:xfrm>
            <a:prstGeom prst="rect">
              <a:avLst/>
            </a:prstGeom>
          </p:spPr>
        </p:pic>
        <p:sp>
          <p:nvSpPr>
            <p:cNvPr id="11" name="TextBox 11"/>
            <p:cNvSpPr txBox="1"/>
            <p:nvPr/>
          </p:nvSpPr>
          <p:spPr>
            <a:xfrm>
              <a:off x="4374642" y="3654742"/>
              <a:ext cx="214518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2. 「AIに何を聞くか選びます」</a:t>
              </a:r>
            </a:p>
          </p:txBody>
        </p:sp>
      </p:grpSp>
      <p:grpSp>
        <p:nvGrpSpPr>
          <p:cNvPr id="16" name="Group 16"/>
          <p:cNvGrpSpPr/>
          <p:nvPr/>
        </p:nvGrpSpPr>
        <p:grpSpPr>
          <a:xfrm>
            <a:off x="945642" y="4000500"/>
            <a:ext cx="3245358" cy="2337625"/>
            <a:chOff x="945642" y="4000500"/>
            <a:chExt cx="3245358" cy="2337625"/>
          </a:xfrm>
        </p:grpSpPr>
        <p:sp>
          <p:nvSpPr>
            <p:cNvPr id="13" name="Rectangle 13"/>
            <p:cNvSpPr/>
            <p:nvPr/>
          </p:nvSpPr>
          <p:spPr>
            <a:xfrm>
              <a:off x="952500" y="4000500"/>
              <a:ext cx="3238500" cy="1990725"/>
            </a:xfrm>
            <a:prstGeom prst="roundRect">
              <a:avLst>
                <a:gd name="adj" fmla="val 7656"/>
              </a:avLst>
            </a:prstGeom>
            <a:solidFill>
              <a:schemeClr val="accent5"/>
            </a:solidFill>
            <a:ln w="9525">
              <a:solidFill>
                <a:schemeClr val="accent6"/>
              </a:solidFill>
            </a:ln>
          </p:spPr>
        </p:sp>
        <p:pic>
          <p:nvPicPr>
            <p:cNvPr id="14" name="Image 14"/>
            <p:cNvPicPr>
              <a:picLocks noChangeAspect="1"/>
            </p:cNvPicPr>
            <p:nvPr/>
          </p:nvPicPr>
          <p:blipFill>
            <a:blip r:embed="rId4"/>
            <a:stretch>
              <a:fillRect/>
            </a:stretch>
          </p:blipFill>
          <p:spPr>
            <a:xfrm>
              <a:off x="1143000" y="4191000"/>
              <a:ext cx="2857500" cy="1609725"/>
            </a:xfrm>
            <a:prstGeom prst="rect">
              <a:avLst/>
            </a:prstGeom>
          </p:spPr>
        </p:pic>
        <p:sp>
          <p:nvSpPr>
            <p:cNvPr id="15" name="TextBox 15"/>
            <p:cNvSpPr txBox="1"/>
            <p:nvPr/>
          </p:nvSpPr>
          <p:spPr>
            <a:xfrm>
              <a:off x="945642" y="6074092"/>
              <a:ext cx="238538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3. 依頼文の画面（改修と同じ）</a:t>
              </a:r>
            </a:p>
          </p:txBody>
        </p:sp>
      </p:grpSp>
      <p:grpSp>
        <p:nvGrpSpPr>
          <p:cNvPr id="21" name="Group 21"/>
          <p:cNvGrpSpPr/>
          <p:nvPr/>
        </p:nvGrpSpPr>
        <p:grpSpPr>
          <a:xfrm>
            <a:off x="4374642" y="4000500"/>
            <a:ext cx="3245358" cy="2337625"/>
            <a:chOff x="4374642" y="4000500"/>
            <a:chExt cx="3245358" cy="2337625"/>
          </a:xfrm>
        </p:grpSpPr>
        <p:sp>
          <p:nvSpPr>
            <p:cNvPr id="17" name="Rectangle 17"/>
            <p:cNvSpPr/>
            <p:nvPr/>
          </p:nvSpPr>
          <p:spPr>
            <a:xfrm>
              <a:off x="4381500" y="4000500"/>
              <a:ext cx="3238500" cy="1990725"/>
            </a:xfrm>
            <a:prstGeom prst="roundRect">
              <a:avLst>
                <a:gd name="adj" fmla="val 7656"/>
              </a:avLst>
            </a:prstGeom>
            <a:solidFill>
              <a:schemeClr val="accent5"/>
            </a:solidFill>
            <a:ln w="9525">
              <a:solidFill>
                <a:schemeClr val="accent6"/>
              </a:solidFill>
            </a:ln>
          </p:spPr>
        </p:sp>
        <p:pic>
          <p:nvPicPr>
            <p:cNvPr id="18" name="Image 18"/>
            <p:cNvPicPr>
              <a:picLocks noChangeAspect="1"/>
            </p:cNvPicPr>
            <p:nvPr/>
          </p:nvPicPr>
          <p:blipFill>
            <a:blip r:embed="rId5"/>
            <a:stretch>
              <a:fillRect/>
            </a:stretch>
          </p:blipFill>
          <p:spPr>
            <a:xfrm>
              <a:off x="4572000" y="4191000"/>
              <a:ext cx="2857500" cy="1609725"/>
            </a:xfrm>
            <a:prstGeom prst="rect">
              <a:avLst/>
            </a:prstGeom>
          </p:spPr>
        </p:pic>
        <p:sp>
          <p:nvSpPr>
            <p:cNvPr id="19" name="Rectangle 19"/>
            <p:cNvSpPr/>
            <p:nvPr/>
          </p:nvSpPr>
          <p:spPr>
            <a:xfrm>
              <a:off x="7010400" y="5553075"/>
              <a:ext cx="419100" cy="247650"/>
            </a:xfrm>
            <a:prstGeom prst="roundRect">
              <a:avLst>
                <a:gd name="adj" fmla="val 23077"/>
              </a:avLst>
            </a:prstGeom>
            <a:noFill/>
            <a:ln w="19050">
              <a:solidFill>
                <a:schemeClr val="accent2"/>
              </a:solidFill>
            </a:ln>
          </p:spPr>
        </p:sp>
        <p:sp>
          <p:nvSpPr>
            <p:cNvPr id="20" name="TextBox 20"/>
            <p:cNvSpPr txBox="1"/>
            <p:nvPr/>
          </p:nvSpPr>
          <p:spPr>
            <a:xfrm>
              <a:off x="4374642" y="6074092"/>
              <a:ext cx="214003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4. ここで終わり。枠は［完了］</a:t>
              </a:r>
            </a:p>
          </p:txBody>
        </p:sp>
      </p:grpSp>
      <p:grpSp>
        <p:nvGrpSpPr>
          <p:cNvPr id="28" name="Group 28"/>
          <p:cNvGrpSpPr/>
          <p:nvPr/>
        </p:nvGrpSpPr>
        <p:grpSpPr>
          <a:xfrm>
            <a:off x="7905750" y="1581150"/>
            <a:ext cx="3333750" cy="3810000"/>
            <a:chOff x="7905750" y="1581150"/>
            <a:chExt cx="3333750" cy="3810000"/>
          </a:xfrm>
        </p:grpSpPr>
        <p:sp>
          <p:nvSpPr>
            <p:cNvPr id="22" name="Rectangle 22"/>
            <p:cNvSpPr/>
            <p:nvPr/>
          </p:nvSpPr>
          <p:spPr>
            <a:xfrm>
              <a:off x="7905750" y="1581150"/>
              <a:ext cx="3333750" cy="3810000"/>
            </a:xfrm>
            <a:prstGeom prst="roundRect">
              <a:avLst>
                <a:gd name="adj" fmla="val 4571"/>
              </a:avLst>
            </a:prstGeom>
            <a:solidFill>
              <a:schemeClr val="lt2"/>
            </a:solidFill>
            <a:ln>
              <a:noFill/>
            </a:ln>
          </p:spPr>
        </p:sp>
        <p:sp>
          <p:nvSpPr>
            <p:cNvPr id="23" name="Freeform 23"/>
            <p:cNvSpPr/>
            <p:nvPr/>
          </p:nvSpPr>
          <p:spPr>
            <a:xfrm>
              <a:off x="8154987" y="1849437"/>
              <a:ext cx="206419" cy="207356"/>
            </a:xfrm>
            <a:custGeom>
              <a:avLst/>
              <a:gdLst/>
              <a:ahLst/>
              <a:cxnLst/>
              <a:rect l="l" t="t" r="r" b="b"/>
              <a:pathLst>
                <a:path w="206419" h="207356">
                  <a:moveTo>
                    <a:pt x="103187" y="0"/>
                  </a:moveTo>
                  <a:cubicBezTo>
                    <a:pt x="160177" y="0"/>
                    <a:pt x="206374" y="46197"/>
                    <a:pt x="206374" y="103187"/>
                  </a:cubicBezTo>
                  <a:cubicBezTo>
                    <a:pt x="206419" y="159556"/>
                    <a:pt x="161220" y="205529"/>
                    <a:pt x="104859" y="206442"/>
                  </a:cubicBezTo>
                  <a:cubicBezTo>
                    <a:pt x="48498" y="207356"/>
                    <a:pt x="1833" y="162871"/>
                    <a:pt x="52" y="106530"/>
                  </a:cubicBezTo>
                  <a:lnTo>
                    <a:pt x="0" y="103187"/>
                  </a:lnTo>
                  <a:lnTo>
                    <a:pt x="41" y="100298"/>
                  </a:lnTo>
                  <a:cubicBezTo>
                    <a:pt x="1568" y="44649"/>
                    <a:pt x="47157" y="0"/>
                    <a:pt x="103187" y="0"/>
                  </a:cubicBezTo>
                  <a:close/>
                  <a:moveTo>
                    <a:pt x="103187" y="134143"/>
                  </a:moveTo>
                  <a:cubicBezTo>
                    <a:pt x="97956" y="134144"/>
                    <a:pt x="93553" y="138059"/>
                    <a:pt x="92941" y="143255"/>
                  </a:cubicBezTo>
                  <a:lnTo>
                    <a:pt x="92868" y="144462"/>
                  </a:lnTo>
                  <a:lnTo>
                    <a:pt x="92941" y="145773"/>
                  </a:lnTo>
                  <a:cubicBezTo>
                    <a:pt x="93558" y="150963"/>
                    <a:pt x="97960" y="154872"/>
                    <a:pt x="103187" y="154872"/>
                  </a:cubicBezTo>
                  <a:cubicBezTo>
                    <a:pt x="108415" y="154872"/>
                    <a:pt x="112816" y="150963"/>
                    <a:pt x="113434" y="145773"/>
                  </a:cubicBezTo>
                  <a:lnTo>
                    <a:pt x="113506" y="144565"/>
                  </a:lnTo>
                  <a:lnTo>
                    <a:pt x="113434" y="143255"/>
                  </a:lnTo>
                  <a:cubicBezTo>
                    <a:pt x="112822" y="138059"/>
                    <a:pt x="108419" y="134144"/>
                    <a:pt x="103187" y="134143"/>
                  </a:cubicBezTo>
                  <a:close/>
                  <a:moveTo>
                    <a:pt x="117303" y="65287"/>
                  </a:moveTo>
                  <a:cubicBezTo>
                    <a:pt x="104585" y="58785"/>
                    <a:pt x="89064" y="61896"/>
                    <a:pt x="79836" y="72799"/>
                  </a:cubicBezTo>
                  <a:cubicBezTo>
                    <a:pt x="76288" y="76954"/>
                    <a:pt x="76595" y="83155"/>
                    <a:pt x="80536" y="86940"/>
                  </a:cubicBezTo>
                  <a:cubicBezTo>
                    <a:pt x="84477" y="90725"/>
                    <a:pt x="90686" y="90782"/>
                    <a:pt x="94695" y="87069"/>
                  </a:cubicBezTo>
                  <a:lnTo>
                    <a:pt x="96459" y="85212"/>
                  </a:lnTo>
                  <a:cubicBezTo>
                    <a:pt x="99577" y="82350"/>
                    <a:pt x="104148" y="81732"/>
                    <a:pt x="107913" y="83664"/>
                  </a:cubicBezTo>
                  <a:cubicBezTo>
                    <a:pt x="111983" y="85724"/>
                    <a:pt x="114218" y="90212"/>
                    <a:pt x="113409" y="94702"/>
                  </a:cubicBezTo>
                  <a:cubicBezTo>
                    <a:pt x="112599" y="99191"/>
                    <a:pt x="108938" y="102616"/>
                    <a:pt x="104405" y="103125"/>
                  </a:cubicBezTo>
                  <a:lnTo>
                    <a:pt x="102011" y="103249"/>
                  </a:lnTo>
                  <a:cubicBezTo>
                    <a:pt x="96561" y="103849"/>
                    <a:pt x="92532" y="108605"/>
                    <a:pt x="92837" y="114079"/>
                  </a:cubicBezTo>
                  <a:cubicBezTo>
                    <a:pt x="93141" y="119554"/>
                    <a:pt x="97674" y="123834"/>
                    <a:pt x="103156" y="123825"/>
                  </a:cubicBezTo>
                  <a:cubicBezTo>
                    <a:pt x="117486" y="123868"/>
                    <a:pt x="129973" y="114070"/>
                    <a:pt x="133339" y="100140"/>
                  </a:cubicBezTo>
                  <a:cubicBezTo>
                    <a:pt x="136705" y="86211"/>
                    <a:pt x="130071" y="71792"/>
                    <a:pt x="117303" y="65287"/>
                  </a:cubicBezTo>
                  <a:close/>
                </a:path>
              </a:pathLst>
            </a:custGeom>
            <a:solidFill>
              <a:schemeClr val="accent1"/>
            </a:solidFill>
            <a:ln>
              <a:noFill/>
            </a:ln>
          </p:spPr>
        </p:sp>
        <p:sp>
          <p:nvSpPr>
            <p:cNvPr id="24" name="TextBox 24"/>
            <p:cNvSpPr txBox="1"/>
            <p:nvPr/>
          </p:nvSpPr>
          <p:spPr>
            <a:xfrm>
              <a:off x="8126730" y="2200275"/>
              <a:ext cx="1351007"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聞くだけの終わり方</a:t>
              </a:r>
            </a:p>
          </p:txBody>
        </p:sp>
        <p:sp>
          <p:nvSpPr>
            <p:cNvPr id="25" name="TextBox 25"/>
            <p:cNvSpPr txBox="1"/>
            <p:nvPr/>
          </p:nvSpPr>
          <p:spPr>
            <a:xfrm>
              <a:off x="8126730" y="2619375"/>
              <a:ext cx="177736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「AIチャットへ質問します」で終わりです。右下が［完了］になります。</a:t>
              </a:r>
            </a:p>
          </p:txBody>
        </p:sp>
        <p:sp>
          <p:nvSpPr>
            <p:cNvPr id="26" name="TextBox 26"/>
            <p:cNvSpPr txBox="1"/>
            <p:nvPr/>
          </p:nvSpPr>
          <p:spPr>
            <a:xfrm>
              <a:off x="8126730" y="3686175"/>
              <a:ext cx="164401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できるのは依頼文とコード全文の 2 ファイルだけで、ブックは変更されません。</a:t>
              </a:r>
            </a:p>
          </p:txBody>
        </p:sp>
        <p:sp>
          <p:nvSpPr>
            <p:cNvPr id="27" name="TextBox 27"/>
            <p:cNvSpPr txBox="1"/>
            <p:nvPr/>
          </p:nvSpPr>
          <p:spPr>
            <a:xfrm>
              <a:off x="8126730" y="4752975"/>
              <a:ext cx="16249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質問のあるひな形なら、先に 1 問ずつ答えます。</a:t>
              </a:r>
            </a:p>
          </p:txBody>
        </p:sp>
      </p:grpSp>
      <p:grpSp>
        <p:nvGrpSpPr>
          <p:cNvPr id="31" name="Group 31"/>
          <p:cNvGrpSpPr/>
          <p:nvPr/>
        </p:nvGrpSpPr>
        <p:grpSpPr>
          <a:xfrm>
            <a:off x="946404" y="6557010"/>
            <a:ext cx="10299192" cy="234696"/>
            <a:chOff x="946404" y="6557010"/>
            <a:chExt cx="10299192" cy="234696"/>
          </a:xfrm>
        </p:grpSpPr>
        <p:sp>
          <p:nvSpPr>
            <p:cNvPr id="29" name="TextBox 29"/>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0" name="TextBox 30"/>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585555" cy="956309"/>
            <a:chOff x="936498" y="460058"/>
            <a:chExt cx="5585555" cy="956309"/>
          </a:xfrm>
        </p:grpSpPr>
        <p:sp>
          <p:nvSpPr>
            <p:cNvPr id="2" name="TextBox 2"/>
            <p:cNvSpPr txBox="1"/>
            <p:nvPr/>
          </p:nvSpPr>
          <p:spPr>
            <a:xfrm>
              <a:off x="936498" y="460058"/>
              <a:ext cx="268127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覚えておくとよいこと</a:t>
              </a:r>
            </a:p>
          </p:txBody>
        </p:sp>
        <p:sp>
          <p:nvSpPr>
            <p:cNvPr id="3" name="TextBox 3"/>
            <p:cNvSpPr txBox="1"/>
            <p:nvPr/>
          </p:nvSpPr>
          <p:spPr>
            <a:xfrm>
              <a:off x="941070" y="976312"/>
              <a:ext cx="558098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増やせるのは決まった範囲だけ。ひな形は部門で増やせる</a:t>
              </a:r>
            </a:p>
          </p:txBody>
        </p:sp>
      </p:grpSp>
      <p:grpSp>
        <p:nvGrpSpPr>
          <p:cNvPr id="9" name="Group 9"/>
          <p:cNvGrpSpPr/>
          <p:nvPr/>
        </p:nvGrpSpPr>
        <p:grpSpPr>
          <a:xfrm>
            <a:off x="952500" y="1543050"/>
            <a:ext cx="4953000" cy="1483995"/>
            <a:chOff x="952500" y="1543050"/>
            <a:chExt cx="4953000" cy="1483995"/>
          </a:xfrm>
        </p:grpSpPr>
        <p:sp>
          <p:nvSpPr>
            <p:cNvPr id="5" name="Rectangle 5"/>
            <p:cNvSpPr/>
            <p:nvPr/>
          </p:nvSpPr>
          <p:spPr>
            <a:xfrm>
              <a:off x="952500" y="1543050"/>
              <a:ext cx="4953000" cy="1428750"/>
            </a:xfrm>
            <a:prstGeom prst="roundRect">
              <a:avLst>
                <a:gd name="adj" fmla="val 10667"/>
              </a:avLst>
            </a:prstGeom>
            <a:solidFill>
              <a:schemeClr val="lt2"/>
            </a:solidFill>
            <a:ln>
              <a:noFill/>
            </a:ln>
          </p:spPr>
        </p:sp>
        <p:sp>
          <p:nvSpPr>
            <p:cNvPr id="6" name="Freeform 6"/>
            <p:cNvSpPr/>
            <p:nvPr/>
          </p:nvSpPr>
          <p:spPr>
            <a:xfrm>
              <a:off x="1194576" y="1766076"/>
              <a:ext cx="220697" cy="220697"/>
            </a:xfrm>
            <a:custGeom>
              <a:avLst/>
              <a:gdLst/>
              <a:ahLst/>
              <a:cxnLst/>
              <a:rect l="l" t="t" r="r" b="b"/>
              <a:pathLst>
                <a:path w="220697" h="220697">
                  <a:moveTo>
                    <a:pt x="137662" y="28634"/>
                  </a:moveTo>
                  <a:cubicBezTo>
                    <a:pt x="138224" y="30952"/>
                    <a:pt x="139858" y="32862"/>
                    <a:pt x="142060" y="33776"/>
                  </a:cubicBezTo>
                  <a:cubicBezTo>
                    <a:pt x="144263" y="34689"/>
                    <a:pt x="146769" y="34497"/>
                    <a:pt x="148806" y="33257"/>
                  </a:cubicBezTo>
                  <a:cubicBezTo>
                    <a:pt x="173974" y="17934"/>
                    <a:pt x="202773" y="46723"/>
                    <a:pt x="187450" y="71891"/>
                  </a:cubicBezTo>
                  <a:cubicBezTo>
                    <a:pt x="186210" y="73926"/>
                    <a:pt x="186016" y="76431"/>
                    <a:pt x="186928" y="78633"/>
                  </a:cubicBezTo>
                  <a:cubicBezTo>
                    <a:pt x="187839" y="80835"/>
                    <a:pt x="189747" y="82471"/>
                    <a:pt x="192062" y="83035"/>
                  </a:cubicBezTo>
                  <a:cubicBezTo>
                    <a:pt x="220697" y="89979"/>
                    <a:pt x="220697" y="130707"/>
                    <a:pt x="192062" y="137662"/>
                  </a:cubicBezTo>
                  <a:cubicBezTo>
                    <a:pt x="189745" y="138224"/>
                    <a:pt x="187835" y="139858"/>
                    <a:pt x="186921" y="142060"/>
                  </a:cubicBezTo>
                  <a:cubicBezTo>
                    <a:pt x="186007" y="144263"/>
                    <a:pt x="186200" y="146769"/>
                    <a:pt x="187440" y="148806"/>
                  </a:cubicBezTo>
                  <a:cubicBezTo>
                    <a:pt x="202763" y="173974"/>
                    <a:pt x="173974" y="202773"/>
                    <a:pt x="148806" y="187450"/>
                  </a:cubicBezTo>
                  <a:cubicBezTo>
                    <a:pt x="146771" y="186210"/>
                    <a:pt x="144266" y="186016"/>
                    <a:pt x="142063" y="186928"/>
                  </a:cubicBezTo>
                  <a:cubicBezTo>
                    <a:pt x="139861" y="187839"/>
                    <a:pt x="138226" y="189747"/>
                    <a:pt x="137662" y="192062"/>
                  </a:cubicBezTo>
                  <a:cubicBezTo>
                    <a:pt x="130718" y="220697"/>
                    <a:pt x="89990" y="220697"/>
                    <a:pt x="83035" y="192062"/>
                  </a:cubicBezTo>
                  <a:cubicBezTo>
                    <a:pt x="82473" y="189745"/>
                    <a:pt x="80839" y="187835"/>
                    <a:pt x="78637" y="186921"/>
                  </a:cubicBezTo>
                  <a:cubicBezTo>
                    <a:pt x="76434" y="186007"/>
                    <a:pt x="73928" y="186200"/>
                    <a:pt x="71891" y="187440"/>
                  </a:cubicBezTo>
                  <a:cubicBezTo>
                    <a:pt x="46723" y="202763"/>
                    <a:pt x="17924" y="173974"/>
                    <a:pt x="33247" y="148806"/>
                  </a:cubicBezTo>
                  <a:cubicBezTo>
                    <a:pt x="34487" y="146771"/>
                    <a:pt x="34681" y="144266"/>
                    <a:pt x="33769" y="142063"/>
                  </a:cubicBezTo>
                  <a:cubicBezTo>
                    <a:pt x="32858" y="139861"/>
                    <a:pt x="30950" y="138226"/>
                    <a:pt x="28634" y="137662"/>
                  </a:cubicBezTo>
                  <a:cubicBezTo>
                    <a:pt x="0" y="130718"/>
                    <a:pt x="0" y="89990"/>
                    <a:pt x="28634" y="83035"/>
                  </a:cubicBezTo>
                  <a:cubicBezTo>
                    <a:pt x="30952" y="82473"/>
                    <a:pt x="32862" y="80839"/>
                    <a:pt x="33776" y="78637"/>
                  </a:cubicBezTo>
                  <a:cubicBezTo>
                    <a:pt x="34689" y="76434"/>
                    <a:pt x="34497" y="73928"/>
                    <a:pt x="33257" y="71891"/>
                  </a:cubicBezTo>
                  <a:cubicBezTo>
                    <a:pt x="17934" y="46723"/>
                    <a:pt x="46723" y="17924"/>
                    <a:pt x="71891" y="33247"/>
                  </a:cubicBezTo>
                  <a:cubicBezTo>
                    <a:pt x="73924" y="34496"/>
                    <a:pt x="76433" y="34695"/>
                    <a:pt x="78639" y="33782"/>
                  </a:cubicBezTo>
                  <a:cubicBezTo>
                    <a:pt x="80844" y="32870"/>
                    <a:pt x="82479" y="30956"/>
                    <a:pt x="83035" y="28634"/>
                  </a:cubicBezTo>
                  <a:cubicBezTo>
                    <a:pt x="89979" y="0"/>
                    <a:pt x="130707" y="0"/>
                    <a:pt x="137662" y="28634"/>
                  </a:cubicBezTo>
                  <a:close/>
                  <a:moveTo>
                    <a:pt x="110348" y="79392"/>
                  </a:moveTo>
                  <a:cubicBezTo>
                    <a:pt x="93252" y="79392"/>
                    <a:pt x="79392" y="93252"/>
                    <a:pt x="79392" y="110348"/>
                  </a:cubicBezTo>
                  <a:cubicBezTo>
                    <a:pt x="79392" y="127445"/>
                    <a:pt x="93252" y="141305"/>
                    <a:pt x="110348" y="141305"/>
                  </a:cubicBezTo>
                  <a:cubicBezTo>
                    <a:pt x="127445" y="141305"/>
                    <a:pt x="141305" y="127445"/>
                    <a:pt x="141305" y="110348"/>
                  </a:cubicBezTo>
                  <a:cubicBezTo>
                    <a:pt x="141305" y="93252"/>
                    <a:pt x="127445" y="79392"/>
                    <a:pt x="110348" y="79392"/>
                  </a:cubicBezTo>
                </a:path>
              </a:pathLst>
            </a:custGeom>
            <a:solidFill>
              <a:schemeClr val="accent1"/>
            </a:solidFill>
            <a:ln>
              <a:noFill/>
            </a:ln>
          </p:spPr>
        </p:sp>
        <p:sp>
          <p:nvSpPr>
            <p:cNvPr id="7" name="TextBox 7"/>
            <p:cNvSpPr txBox="1"/>
            <p:nvPr/>
          </p:nvSpPr>
          <p:spPr>
            <a:xfrm>
              <a:off x="1554480" y="1800225"/>
              <a:ext cx="205069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増やせるのは標準モジュールだけ</a:t>
              </a:r>
            </a:p>
          </p:txBody>
        </p:sp>
        <p:sp>
          <p:nvSpPr>
            <p:cNvPr id="8" name="TextBox 8"/>
            <p:cNvSpPr txBox="1"/>
            <p:nvPr/>
          </p:nvSpPr>
          <p:spPr>
            <a:xfrm>
              <a:off x="1173480" y="2200275"/>
              <a:ext cx="2491740"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既存のクラスモジュールやシートのモジュールを直すことはできます。新しいクラスやユーザー</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フォームを含む返答は取り込みません。</a:t>
              </a:r>
            </a:p>
          </p:txBody>
        </p:sp>
      </p:grpSp>
      <p:grpSp>
        <p:nvGrpSpPr>
          <p:cNvPr id="20" name="Group 20"/>
          <p:cNvGrpSpPr/>
          <p:nvPr/>
        </p:nvGrpSpPr>
        <p:grpSpPr>
          <a:xfrm>
            <a:off x="6286500" y="1543050"/>
            <a:ext cx="4953000" cy="1483995"/>
            <a:chOff x="6286500" y="1543050"/>
            <a:chExt cx="4953000" cy="1483995"/>
          </a:xfrm>
        </p:grpSpPr>
        <p:sp>
          <p:nvSpPr>
            <p:cNvPr id="10" name="Rectangle 10"/>
            <p:cNvSpPr/>
            <p:nvPr/>
          </p:nvSpPr>
          <p:spPr>
            <a:xfrm>
              <a:off x="6286500" y="1543050"/>
              <a:ext cx="4953000" cy="1428750"/>
            </a:xfrm>
            <a:prstGeom prst="roundRect">
              <a:avLst>
                <a:gd name="adj" fmla="val 10667"/>
              </a:avLst>
            </a:prstGeom>
            <a:solidFill>
              <a:schemeClr val="lt2"/>
            </a:solidFill>
            <a:ln>
              <a:noFill/>
            </a:ln>
          </p:spPr>
        </p:sp>
        <p:grpSp>
          <p:nvGrpSpPr>
            <p:cNvPr id="17" name="Group 17"/>
            <p:cNvGrpSpPr/>
            <p:nvPr/>
          </p:nvGrpSpPr>
          <p:grpSpPr>
            <a:xfrm>
              <a:off x="6540010" y="1787711"/>
              <a:ext cx="191783" cy="172268"/>
              <a:chOff x="6540010" y="1787711"/>
              <a:chExt cx="191783" cy="172268"/>
            </a:xfrm>
          </p:grpSpPr>
          <p:sp>
            <p:nvSpPr>
              <p:cNvPr id="11" name="Freeform 11"/>
              <p:cNvSpPr/>
              <p:nvPr/>
            </p:nvSpPr>
            <p:spPr>
              <a:xfrm>
                <a:off x="6540010" y="178771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2" name="Freeform 12"/>
              <p:cNvSpPr/>
              <p:nvPr/>
            </p:nvSpPr>
            <p:spPr>
              <a:xfrm>
                <a:off x="6540010" y="184962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3" name="Freeform 13"/>
              <p:cNvSpPr/>
              <p:nvPr/>
            </p:nvSpPr>
            <p:spPr>
              <a:xfrm>
                <a:off x="6540010" y="191153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4" name="Freeform 14"/>
              <p:cNvSpPr/>
              <p:nvPr/>
            </p:nvSpPr>
            <p:spPr>
              <a:xfrm>
                <a:off x="6618287" y="180419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5" name="Freeform 15"/>
              <p:cNvSpPr/>
              <p:nvPr/>
            </p:nvSpPr>
            <p:spPr>
              <a:xfrm>
                <a:off x="6618287" y="186610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6" name="Freeform 16"/>
              <p:cNvSpPr/>
              <p:nvPr/>
            </p:nvSpPr>
            <p:spPr>
              <a:xfrm>
                <a:off x="6618287" y="192801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18" name="TextBox 18"/>
            <p:cNvSpPr txBox="1"/>
            <p:nvPr/>
          </p:nvSpPr>
          <p:spPr>
            <a:xfrm>
              <a:off x="6888480" y="1800225"/>
              <a:ext cx="167964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ひな形は自分で増やせる</a:t>
              </a:r>
            </a:p>
          </p:txBody>
        </p:sp>
        <p:sp>
          <p:nvSpPr>
            <p:cNvPr id="19" name="TextBox 19"/>
            <p:cNvSpPr txBox="1"/>
            <p:nvPr/>
          </p:nvSpPr>
          <p:spPr>
            <a:xfrm>
              <a:off x="6507480" y="2200275"/>
              <a:ext cx="2777490" cy="826770"/>
            </a:xfrm>
            <a:prstGeom prst="rect">
              <a:avLst/>
            </a:prstGeom>
            <a:noFill/>
            <a:ln>
              <a:noFill/>
            </a:ln>
          </p:spPr>
          <p:txBody>
            <a:bodyPr wrap="square" lIns="0" tIns="0" rIns="0" bIns="0" anchor="t" anchorCtr="0"/>
            <a:lstStyle/>
            <a:p>
              <a:pPr algn="l">
                <a:lnSpc>
                  <a:spcPts val="2100"/>
                </a:lnSpc>
              </a:pPr>
              <a:r>
                <a:rPr lang="en-US" sz="1500" dirty="0">
                  <a:solidFill>
                    <a:schemeClr val="dk1"/>
                  </a:solidFill>
                  <a:latin typeface="+mn-lt"/>
                  <a:ea typeface="+mn-ea"/>
                  <a:cs typeface="+mn-cs"/>
                </a:rPr>
                <a:t>presets フォルダに Markdown ファイル</a:t>
              </a:r>
              <a:r>
                <a:rPr lang="zh-CN" sz="1500" dirty="0">
                  <a:solidFill>
                    <a:schemeClr val="dk1"/>
                  </a:solidFill>
                  <a:latin typeface="+mn-lt"/>
                  <a:ea typeface="+mn-ea"/>
                  <a:cs typeface="+mn-cs"/>
                </a:rPr>
                <a:t>（UTF-8）を置くと、ファイル 1 つにつき</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件、目的の画面に自動で現れます。</a:t>
              </a:r>
            </a:p>
          </p:txBody>
        </p:sp>
      </p:grpSp>
      <p:grpSp>
        <p:nvGrpSpPr>
          <p:cNvPr id="22" name="Group 22"/>
          <p:cNvGrpSpPr/>
          <p:nvPr/>
        </p:nvGrpSpPr>
        <p:grpSpPr>
          <a:xfrm>
            <a:off x="944880" y="3152775"/>
            <a:ext cx="7035165" cy="1093470"/>
            <a:chOff x="944880" y="3152775"/>
            <a:chExt cx="7035165" cy="1093470"/>
          </a:xfrm>
        </p:grpSpPr>
        <p:sp>
          <p:nvSpPr>
            <p:cNvPr id="21" name="TextBox 21"/>
            <p:cNvSpPr txBox="1"/>
            <p:nvPr/>
          </p:nvSpPr>
          <p:spPr>
            <a:xfrm>
              <a:off x="944880" y="3152775"/>
              <a:ext cx="7035165" cy="10934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・最初の「# ...」が一覧に出る名前です。アプリの再起動は不要です。</a:t>
              </a:r>
            </a:p>
            <a:p>
              <a:pPr algn="l">
                <a:lnSpc>
                  <a:spcPts val="2100"/>
                </a:lnSpc>
              </a:pPr>
              <a:r>
                <a:rPr lang="zh-CN" sz="1500" dirty="0">
                  <a:solidFill>
                    <a:schemeClr val="dk1"/>
                  </a:solidFill>
                  <a:latin typeface="+mn-lt"/>
                  <a:ea typeface="+mn-ea"/>
                  <a:cs typeface="+mn-cs"/>
                </a:rPr>
                <a:t>・「## 用途」に「改修」か「診断」と書くと、その使いかたの一覧に並びます（省略すると改修）。</a:t>
              </a:r>
            </a:p>
            <a:p>
              <a:pPr algn="l">
                <a:lnSpc>
                  <a:spcPts val="2100"/>
                </a:lnSpc>
              </a:pPr>
              <a:r>
                <a:rPr lang="zh-CN" sz="1500" dirty="0">
                  <a:solidFill>
                    <a:schemeClr val="dk1"/>
                  </a:solidFill>
                  <a:latin typeface="+mn-lt"/>
                  <a:ea typeface="+mn-ea"/>
                  <a:cs typeface="+mn-cs"/>
                </a:rPr>
                <a:t>・「## 質問」を書くと、1 問ずつ質問する画面が出ます。</a:t>
              </a:r>
            </a:p>
            <a:p>
              <a:pPr algn="l">
                <a:lnSpc>
                  <a:spcPts val="2100"/>
                </a:lnSpc>
              </a:pPr>
              <a:r>
                <a:rPr lang="zh-CN" sz="1500" dirty="0">
                  <a:solidFill>
                    <a:schemeClr val="dk1"/>
                  </a:solidFill>
                  <a:latin typeface="+mn-lt"/>
                  <a:ea typeface="+mn-ea"/>
                  <a:cs typeface="+mn-cs"/>
                </a:rPr>
                <a:t>・書式が足りないファイルは選べず、理由付きで一覧の下に出ます。</a:t>
              </a:r>
            </a:p>
          </p:txBody>
        </p:sp>
      </p:grpSp>
      <p:grpSp>
        <p:nvGrpSpPr>
          <p:cNvPr id="25" name="Group 25"/>
          <p:cNvGrpSpPr/>
          <p:nvPr/>
        </p:nvGrpSpPr>
        <p:grpSpPr>
          <a:xfrm>
            <a:off x="960675" y="4302157"/>
            <a:ext cx="1391876" cy="306038"/>
            <a:chOff x="960675" y="4302157"/>
            <a:chExt cx="1391876" cy="306038"/>
          </a:xfrm>
        </p:grpSpPr>
        <p:sp>
          <p:nvSpPr>
            <p:cNvPr id="23" name="Freeform 23"/>
            <p:cNvSpPr/>
            <p:nvPr/>
          </p:nvSpPr>
          <p:spPr>
            <a:xfrm>
              <a:off x="960675" y="430215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chemeClr val="accent2"/>
            </a:solidFill>
            <a:ln>
              <a:noFill/>
            </a:ln>
          </p:spPr>
        </p:sp>
        <p:sp>
          <p:nvSpPr>
            <p:cNvPr id="24" name="TextBox 24"/>
            <p:cNvSpPr txBox="1"/>
            <p:nvPr/>
          </p:nvSpPr>
          <p:spPr>
            <a:xfrm>
              <a:off x="1287780" y="4314825"/>
              <a:ext cx="10647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うまくいかないとき</a:t>
              </a:r>
            </a:p>
          </p:txBody>
        </p:sp>
      </p:grpSp>
      <p:grpSp>
        <p:nvGrpSpPr>
          <p:cNvPr id="42" name="Group 42"/>
          <p:cNvGrpSpPr/>
          <p:nvPr/>
        </p:nvGrpSpPr>
        <p:grpSpPr>
          <a:xfrm>
            <a:off x="952500" y="4591050"/>
            <a:ext cx="10287000" cy="1845945"/>
            <a:chOff x="952500" y="4591050"/>
            <a:chExt cx="10287000" cy="1845945"/>
          </a:xfrm>
        </p:grpSpPr>
        <p:sp>
          <p:nvSpPr>
            <p:cNvPr id="26" name="Rectangle 26"/>
            <p:cNvSpPr/>
            <p:nvPr/>
          </p:nvSpPr>
          <p:spPr>
            <a:xfrm>
              <a:off x="952500" y="4591050"/>
              <a:ext cx="3429000" cy="342900"/>
            </a:xfrm>
            <a:prstGeom prst="roundRect">
              <a:avLst>
                <a:gd name="adj" fmla="val 27778"/>
              </a:avLst>
            </a:prstGeom>
            <a:solidFill>
              <a:schemeClr val="accent1"/>
            </a:solidFill>
            <a:ln>
              <a:noFill/>
            </a:ln>
          </p:spPr>
        </p:sp>
        <p:sp>
          <p:nvSpPr>
            <p:cNvPr id="27" name="TextBox 27"/>
            <p:cNvSpPr txBox="1"/>
            <p:nvPr/>
          </p:nvSpPr>
          <p:spPr>
            <a:xfrm>
              <a:off x="1173480" y="466725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症状</a:t>
              </a:r>
            </a:p>
          </p:txBody>
        </p:sp>
        <p:sp>
          <p:nvSpPr>
            <p:cNvPr id="28" name="Rectangle 28"/>
            <p:cNvSpPr/>
            <p:nvPr/>
          </p:nvSpPr>
          <p:spPr>
            <a:xfrm>
              <a:off x="4495800" y="4591050"/>
              <a:ext cx="6743700" cy="342900"/>
            </a:xfrm>
            <a:prstGeom prst="roundRect">
              <a:avLst>
                <a:gd name="adj" fmla="val 27778"/>
              </a:avLst>
            </a:prstGeom>
            <a:solidFill>
              <a:schemeClr val="accent1"/>
            </a:solidFill>
            <a:ln>
              <a:noFill/>
            </a:ln>
          </p:spPr>
        </p:sp>
        <p:sp>
          <p:nvSpPr>
            <p:cNvPr id="29" name="TextBox 29"/>
            <p:cNvSpPr txBox="1"/>
            <p:nvPr/>
          </p:nvSpPr>
          <p:spPr>
            <a:xfrm>
              <a:off x="4716780" y="466725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対処</a:t>
              </a:r>
            </a:p>
          </p:txBody>
        </p:sp>
        <p:sp>
          <p:nvSpPr>
            <p:cNvPr id="30" name="Rectangle 30"/>
            <p:cNvSpPr/>
            <p:nvPr/>
          </p:nvSpPr>
          <p:spPr>
            <a:xfrm>
              <a:off x="952500" y="4991100"/>
              <a:ext cx="3429000" cy="323850"/>
            </a:xfrm>
            <a:prstGeom prst="roundRect">
              <a:avLst>
                <a:gd name="adj" fmla="val 23529"/>
              </a:avLst>
            </a:prstGeom>
            <a:solidFill>
              <a:schemeClr val="lt2"/>
            </a:solidFill>
            <a:ln>
              <a:noFill/>
            </a:ln>
          </p:spPr>
        </p:sp>
        <p:sp>
          <p:nvSpPr>
            <p:cNvPr id="31" name="TextBox 31"/>
            <p:cNvSpPr txBox="1"/>
            <p:nvPr/>
          </p:nvSpPr>
          <p:spPr>
            <a:xfrm>
              <a:off x="1173480" y="505777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起動しない・白い画面のまま</a:t>
              </a:r>
            </a:p>
          </p:txBody>
        </p:sp>
        <p:sp>
          <p:nvSpPr>
            <p:cNvPr id="32" name="TextBox 32"/>
            <p:cNvSpPr txBox="1"/>
            <p:nvPr/>
          </p:nvSpPr>
          <p:spPr>
            <a:xfrm>
              <a:off x="4716780" y="5057775"/>
              <a:ext cx="514513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WebView2 ランタイムが未導入の可能性。起動時のエラー案内に従う</a:t>
              </a:r>
            </a:p>
          </p:txBody>
        </p:sp>
        <p:sp>
          <p:nvSpPr>
            <p:cNvPr id="33" name="Rectangle 33"/>
            <p:cNvSpPr/>
            <p:nvPr/>
          </p:nvSpPr>
          <p:spPr>
            <a:xfrm>
              <a:off x="952500" y="5353050"/>
              <a:ext cx="3429000" cy="323850"/>
            </a:xfrm>
            <a:prstGeom prst="roundRect">
              <a:avLst>
                <a:gd name="adj" fmla="val 23529"/>
              </a:avLst>
            </a:prstGeom>
            <a:solidFill>
              <a:schemeClr val="lt2"/>
            </a:solidFill>
            <a:ln>
              <a:noFill/>
            </a:ln>
          </p:spPr>
        </p:sp>
        <p:sp>
          <p:nvSpPr>
            <p:cNvPr id="34" name="TextBox 34"/>
            <p:cNvSpPr txBox="1"/>
            <p:nvPr/>
          </p:nvSpPr>
          <p:spPr>
            <a:xfrm>
              <a:off x="1173480" y="5419725"/>
              <a:ext cx="13782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返答を取り込めない</a:t>
              </a:r>
            </a:p>
          </p:txBody>
        </p:sp>
        <p:sp>
          <p:nvSpPr>
            <p:cNvPr id="35" name="TextBox 35"/>
            <p:cNvSpPr txBox="1"/>
            <p:nvPr/>
          </p:nvSpPr>
          <p:spPr>
            <a:xfrm>
              <a:off x="4716780" y="5419725"/>
              <a:ext cx="36095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コードブロック全体（区切り行を含む）をコピーし直す</a:t>
              </a:r>
            </a:p>
          </p:txBody>
        </p:sp>
        <p:sp>
          <p:nvSpPr>
            <p:cNvPr id="36" name="Rectangle 36"/>
            <p:cNvSpPr/>
            <p:nvPr/>
          </p:nvSpPr>
          <p:spPr>
            <a:xfrm>
              <a:off x="952500" y="5715000"/>
              <a:ext cx="3429000" cy="323850"/>
            </a:xfrm>
            <a:prstGeom prst="roundRect">
              <a:avLst>
                <a:gd name="adj" fmla="val 23529"/>
              </a:avLst>
            </a:prstGeom>
            <a:solidFill>
              <a:schemeClr val="lt2"/>
            </a:solidFill>
            <a:ln>
              <a:noFill/>
            </a:ln>
          </p:spPr>
        </p:sp>
        <p:sp>
          <p:nvSpPr>
            <p:cNvPr id="37" name="TextBox 37"/>
            <p:cNvSpPr txBox="1"/>
            <p:nvPr/>
          </p:nvSpPr>
          <p:spPr>
            <a:xfrm>
              <a:off x="1173480" y="5781675"/>
              <a:ext cx="148932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ひな形が一覧に出ない</a:t>
              </a:r>
            </a:p>
          </p:txBody>
        </p:sp>
        <p:sp>
          <p:nvSpPr>
            <p:cNvPr id="38" name="TextBox 38"/>
            <p:cNvSpPr txBox="1"/>
            <p:nvPr/>
          </p:nvSpPr>
          <p:spPr>
            <a:xfrm>
              <a:off x="4716780" y="5781675"/>
              <a:ext cx="502803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その Markdown の見出しが揃っているか確認する。画面に理由が出る</a:t>
              </a:r>
            </a:p>
          </p:txBody>
        </p:sp>
        <p:sp>
          <p:nvSpPr>
            <p:cNvPr id="39" name="Rectangle 39"/>
            <p:cNvSpPr/>
            <p:nvPr/>
          </p:nvSpPr>
          <p:spPr>
            <a:xfrm>
              <a:off x="952500" y="6076950"/>
              <a:ext cx="3429000" cy="323850"/>
            </a:xfrm>
            <a:prstGeom prst="roundRect">
              <a:avLst>
                <a:gd name="adj" fmla="val 23529"/>
              </a:avLst>
            </a:prstGeom>
            <a:solidFill>
              <a:schemeClr val="lt2"/>
            </a:solidFill>
            <a:ln>
              <a:noFill/>
            </a:ln>
          </p:spPr>
        </p:sp>
        <p:sp>
          <p:nvSpPr>
            <p:cNvPr id="40" name="TextBox 40"/>
            <p:cNvSpPr txBox="1"/>
            <p:nvPr/>
          </p:nvSpPr>
          <p:spPr>
            <a:xfrm>
              <a:off x="1173480" y="6143625"/>
              <a:ext cx="108546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ビルドに失敗した</a:t>
              </a:r>
            </a:p>
          </p:txBody>
        </p:sp>
        <p:sp>
          <p:nvSpPr>
            <p:cNvPr id="41" name="TextBox 41"/>
            <p:cNvSpPr txBox="1"/>
            <p:nvPr/>
          </p:nvSpPr>
          <p:spPr>
            <a:xfrm>
              <a:off x="4716780" y="6143625"/>
              <a:ext cx="499281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画面の指示に従う。元のファイルは変更されていないので何度でもやり直せる</a:t>
              </a:r>
            </a:p>
          </p:txBody>
        </p:sp>
      </p:grpSp>
      <p:sp>
        <p:nvSpPr>
          <p:cNvPr id="43" name="TextBox 43"/>
          <p:cNvSpPr txBox="1"/>
          <p:nvPr/>
        </p:nvSpPr>
        <p:spPr>
          <a:xfrm>
            <a:off x="11055706" y="65951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8572500" y="4000500"/>
            <a:ext cx="5334000" cy="5334000"/>
          </a:xfrm>
          <a:prstGeom prst="ellipse">
            <a:avLst/>
          </a:prstGeom>
          <a:solidFill>
            <a:schemeClr val="lt2"/>
          </a:solidFill>
          <a:ln>
            <a:noFill/>
          </a:ln>
        </p:spPr>
      </p:sp>
      <p:grpSp>
        <p:nvGrpSpPr>
          <p:cNvPr id="6" name="Group 6"/>
          <p:cNvGrpSpPr/>
          <p:nvPr/>
        </p:nvGrpSpPr>
        <p:grpSpPr>
          <a:xfrm>
            <a:off x="936498" y="2413000"/>
            <a:ext cx="6827425" cy="1556067"/>
            <a:chOff x="936498" y="2413000"/>
            <a:chExt cx="6827425" cy="1556067"/>
          </a:xfrm>
        </p:grpSpPr>
        <p:sp>
          <p:nvSpPr>
            <p:cNvPr id="3" name="Freeform 3"/>
            <p:cNvSpPr/>
            <p:nvPr/>
          </p:nvSpPr>
          <p:spPr>
            <a:xfrm>
              <a:off x="982867" y="2413000"/>
              <a:ext cx="320268" cy="317497"/>
            </a:xfrm>
            <a:custGeom>
              <a:avLst/>
              <a:gdLst/>
              <a:ahLst/>
              <a:cxnLst/>
              <a:rect l="l" t="t" r="r" b="b"/>
              <a:pathLst>
                <a:path w="320268" h="317497">
                  <a:moveTo>
                    <a:pt x="160134" y="0"/>
                  </a:moveTo>
                  <a:lnTo>
                    <a:pt x="165277" y="79"/>
                  </a:lnTo>
                  <a:cubicBezTo>
                    <a:pt x="251904" y="2888"/>
                    <a:pt x="320268" y="74657"/>
                    <a:pt x="318863" y="161318"/>
                  </a:cubicBezTo>
                  <a:cubicBezTo>
                    <a:pt x="317459" y="247980"/>
                    <a:pt x="246806" y="317497"/>
                    <a:pt x="160134" y="317497"/>
                  </a:cubicBezTo>
                  <a:cubicBezTo>
                    <a:pt x="73461" y="317497"/>
                    <a:pt x="2809" y="247980"/>
                    <a:pt x="1404" y="161318"/>
                  </a:cubicBezTo>
                  <a:cubicBezTo>
                    <a:pt x="0" y="74657"/>
                    <a:pt x="68363" y="2888"/>
                    <a:pt x="154990" y="79"/>
                  </a:cubicBezTo>
                  <a:lnTo>
                    <a:pt x="160134" y="0"/>
                  </a:lnTo>
                  <a:close/>
                  <a:moveTo>
                    <a:pt x="169865" y="82709"/>
                  </a:moveTo>
                  <a:cubicBezTo>
                    <a:pt x="163243" y="77589"/>
                    <a:pt x="153783" y="78490"/>
                    <a:pt x="148247" y="84768"/>
                  </a:cubicBezTo>
                  <a:cubicBezTo>
                    <a:pt x="142711" y="91047"/>
                    <a:pt x="143001" y="100545"/>
                    <a:pt x="148910" y="106474"/>
                  </a:cubicBezTo>
                  <a:lnTo>
                    <a:pt x="185280" y="142875"/>
                  </a:lnTo>
                  <a:lnTo>
                    <a:pt x="96634" y="142875"/>
                  </a:lnTo>
                  <a:lnTo>
                    <a:pt x="94776" y="142986"/>
                  </a:lnTo>
                  <a:cubicBezTo>
                    <a:pt x="86436" y="143978"/>
                    <a:pt x="80311" y="151296"/>
                    <a:pt x="80803" y="159681"/>
                  </a:cubicBezTo>
                  <a:cubicBezTo>
                    <a:pt x="81296" y="168066"/>
                    <a:pt x="88234" y="174616"/>
                    <a:pt x="96634" y="174625"/>
                  </a:cubicBezTo>
                  <a:lnTo>
                    <a:pt x="185280" y="174625"/>
                  </a:lnTo>
                  <a:lnTo>
                    <a:pt x="148910" y="211027"/>
                  </a:lnTo>
                  <a:lnTo>
                    <a:pt x="147592" y="212519"/>
                  </a:lnTo>
                  <a:cubicBezTo>
                    <a:pt x="142472" y="219141"/>
                    <a:pt x="143373" y="228601"/>
                    <a:pt x="149652" y="234137"/>
                  </a:cubicBezTo>
                  <a:cubicBezTo>
                    <a:pt x="155930" y="239673"/>
                    <a:pt x="165428" y="239383"/>
                    <a:pt x="171357" y="233474"/>
                  </a:cubicBezTo>
                  <a:lnTo>
                    <a:pt x="234858" y="169974"/>
                  </a:lnTo>
                  <a:lnTo>
                    <a:pt x="236016" y="168672"/>
                  </a:lnTo>
                  <a:lnTo>
                    <a:pt x="237032" y="167259"/>
                  </a:lnTo>
                  <a:lnTo>
                    <a:pt x="238017" y="165465"/>
                  </a:lnTo>
                  <a:lnTo>
                    <a:pt x="238715" y="163719"/>
                  </a:lnTo>
                  <a:lnTo>
                    <a:pt x="239191" y="161941"/>
                  </a:lnTo>
                  <a:lnTo>
                    <a:pt x="239461" y="159941"/>
                  </a:lnTo>
                  <a:lnTo>
                    <a:pt x="239509" y="158750"/>
                  </a:lnTo>
                  <a:lnTo>
                    <a:pt x="239398" y="156877"/>
                  </a:lnTo>
                  <a:lnTo>
                    <a:pt x="238937" y="154528"/>
                  </a:lnTo>
                  <a:lnTo>
                    <a:pt x="238382" y="152861"/>
                  </a:lnTo>
                  <a:lnTo>
                    <a:pt x="237525" y="151067"/>
                  </a:lnTo>
                  <a:lnTo>
                    <a:pt x="236397" y="149305"/>
                  </a:lnTo>
                  <a:cubicBezTo>
                    <a:pt x="235928" y="148675"/>
                    <a:pt x="235414" y="148081"/>
                    <a:pt x="234858" y="147527"/>
                  </a:cubicBezTo>
                  <a:lnTo>
                    <a:pt x="171357" y="84027"/>
                  </a:lnTo>
                  <a:close/>
                </a:path>
              </a:pathLst>
            </a:custGeom>
            <a:solidFill>
              <a:schemeClr val="accent2"/>
            </a:solidFill>
            <a:ln>
              <a:noFill/>
            </a:ln>
          </p:spPr>
        </p:sp>
        <p:sp>
          <p:nvSpPr>
            <p:cNvPr id="4" name="TextBox 4"/>
            <p:cNvSpPr txBox="1"/>
            <p:nvPr/>
          </p:nvSpPr>
          <p:spPr>
            <a:xfrm>
              <a:off x="936498" y="2917508"/>
              <a:ext cx="617653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うまくいかなくても、元のブックは無傷です。</a:t>
              </a:r>
            </a:p>
          </p:txBody>
        </p:sp>
        <p:sp>
          <p:nvSpPr>
            <p:cNvPr id="5" name="TextBox 5"/>
            <p:cNvSpPr txBox="1"/>
            <p:nvPr/>
          </p:nvSpPr>
          <p:spPr>
            <a:xfrm>
              <a:off x="941070" y="3529012"/>
              <a:ext cx="682285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気になっているマクロを 1 つ選んで、読み込むところから始めてください。</a:t>
              </a:r>
            </a:p>
          </p:txBody>
        </p:sp>
      </p:grpSp>
      <p:grpSp>
        <p:nvGrpSpPr>
          <p:cNvPr id="9" name="Group 9"/>
          <p:cNvGrpSpPr/>
          <p:nvPr/>
        </p:nvGrpSpPr>
        <p:grpSpPr>
          <a:xfrm>
            <a:off x="952500" y="4381500"/>
            <a:ext cx="7306818" cy="1428750"/>
            <a:chOff x="952500" y="4381500"/>
            <a:chExt cx="7306818" cy="1428750"/>
          </a:xfrm>
        </p:grpSpPr>
        <p:sp>
          <p:nvSpPr>
            <p:cNvPr id="7" name="Rectangle 7"/>
            <p:cNvSpPr/>
            <p:nvPr/>
          </p:nvSpPr>
          <p:spPr>
            <a:xfrm>
              <a:off x="952500" y="4381500"/>
              <a:ext cx="57150" cy="1428750"/>
            </a:xfrm>
            <a:prstGeom prst="roundRect">
              <a:avLst>
                <a:gd name="adj" fmla="val 50000"/>
              </a:avLst>
            </a:prstGeom>
            <a:solidFill>
              <a:srgbClr val="CBD5E1"/>
            </a:solidFill>
            <a:ln>
              <a:noFill/>
            </a:ln>
          </p:spPr>
        </p:sp>
        <p:sp>
          <p:nvSpPr>
            <p:cNvPr id="8" name="TextBox 8"/>
            <p:cNvSpPr txBox="1"/>
            <p:nvPr/>
          </p:nvSpPr>
          <p:spPr>
            <a:xfrm>
              <a:off x="1250442" y="4483418"/>
              <a:ext cx="7008876" cy="1235583"/>
            </a:xfrm>
            <a:prstGeom prst="rect">
              <a:avLst/>
            </a:prstGeom>
            <a:noFill/>
            <a:ln>
              <a:noFill/>
            </a:ln>
          </p:spPr>
          <p:txBody>
            <a:bodyPr wrap="square" lIns="0" tIns="0" rIns="0" bIns="0" anchor="t" anchorCtr="0"/>
            <a:lstStyle/>
            <a:p>
              <a:pPr algn="l">
                <a:lnSpc>
                  <a:spcPts val="2550"/>
                </a:lnSpc>
              </a:pPr>
              <a:r>
                <a:rPr lang="zh-CN" sz="1350" dirty="0">
                  <a:solidFill>
                    <a:srgbClr val="5B6B7C"/>
                  </a:solidFill>
                  <a:latin typeface="+mn-lt"/>
                  <a:ea typeface="+mn-ea"/>
                  <a:cs typeface="+mn-cs"/>
                </a:rPr>
                <a:t>画面は MacroStudio ベータ版 1.0.0 のものです。ベータ版のため、画面の文言や配置は今後変わることがあります。掲載しているスクリーンショットは、サンプルのブック（受注管理.xlsm）を読み込んだ実画面です。フォルダのパスや日時は説明用の例です。判断は AI が行います。最後に Excel で開いて動作を確認するのは人です。</a:t>
              </a:r>
            </a:p>
          </p:txBody>
        </p:sp>
      </p:grpSp>
      <p:grpSp>
        <p:nvGrpSpPr>
          <p:cNvPr id="11" name="Group 11"/>
          <p:cNvGrpSpPr/>
          <p:nvPr/>
        </p:nvGrpSpPr>
        <p:grpSpPr>
          <a:xfrm>
            <a:off x="7463333" y="6252210"/>
            <a:ext cx="3782263" cy="234696"/>
            <a:chOff x="7463333" y="6252210"/>
            <a:chExt cx="3782263" cy="234696"/>
          </a:xfrm>
        </p:grpSpPr>
        <p:sp>
          <p:nvSpPr>
            <p:cNvPr id="10" name="TextBox 10"/>
            <p:cNvSpPr txBox="1"/>
            <p:nvPr/>
          </p:nvSpPr>
          <p:spPr>
            <a:xfrm>
              <a:off x="7463333" y="6252210"/>
              <a:ext cx="3782263" cy="234696"/>
            </a:xfrm>
            <a:prstGeom prst="rect">
              <a:avLst/>
            </a:prstGeom>
            <a:noFill/>
            <a:ln>
              <a:noFill/>
            </a:ln>
          </p:spPr>
          <p:txBody>
            <a:bodyPr wrap="none" lIns="0" tIns="0" rIns="0" bIns="0" anchor="t" anchorCtr="0">
              <a:spAutoFit/>
            </a:bodyPr>
            <a:lstStyle/>
            <a:p>
              <a:pPr algn="r"/>
              <a:r>
                <a:rPr lang="zh-CN" sz="1200" dirty="0">
                  <a:solidFill>
                    <a:srgbClr val="5B6B7C"/>
                  </a:solidFill>
                  <a:latin typeface="+mn-lt"/>
                  <a:ea typeface="+mn-ea"/>
                  <a:cs typeface="+mn-cs"/>
                </a:rPr>
                <a:t>MacroStudio ベータ版 1.0.0 ／ サービス説明と操作マニュアル</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E2E8F0"/>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E2E8F0"/>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2026-07-29T17:56:57Z</dcterms:created>
  <dcterms:modified xsi:type="dcterms:W3CDTF">2026-07-29T17:56:57Z</dcterms:modified>
  <cp:category/>
  <cp:contentStatus/>
</cp:coreProperties>
</file>