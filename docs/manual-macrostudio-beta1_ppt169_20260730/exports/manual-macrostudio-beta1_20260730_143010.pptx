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  <Relationship Id="rId20"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Macro Studio の使い方を、前半のご紹介と後半の操作手順に分けてご案内します。お伝えしたいことはひとつだけで、コードを読み書きできなくても、AIチャットが使えれば部門のマクロは直せるということです。右に写っているのが最初の画面です。</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このアプリの立ち位置を三つに絞りました。どこをどう直すかを決めるのはAIで、このアプリは渡す材料を作り、返ってきた答えをブックへ書き戻す側です。ですから利用者の仕事は、画面に出てくる選択肢を選んで進めることだけになります。そしてできあがるのは別のファイルですから、いま使っているブックはそのまま残ります。</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用意していただくのは、直したいブックと、ファイルを添付できるAIチャットだけです。右側は、実際に持ち込まれることが多いマクロの例です。部門ごとに育ってきたマクロや、端末を入れ替えて動かなくなったマクロ、作った人がもういないマクロ。どれもこのアプリの想定どおりです。</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ここから後半の操作編です。手順は四つで、画面の順番どおりに進みます。迷いにくくするために、右下の［次へ］はその画面ですべきことが終わるまで押せません。ですから押せるようになったことが、次へ進んでよいという合図になります。改修まではせず、AIに見てもらうだけで終わらせる道もあり、その場合は手順2で終わります。</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まずブックを読み込みます。画面の点線の枠へドラッグするのがいちばん早いですが、枠をクリックしてファイルを選んでもかまいません。次の画面では、いくつのモジュールで何行あったかが出ます。数を覚える必要はなく、思っていたブックが読めているかだけ確かめて先へ進んでください。なお、この資料の画面写真に写っているブック名とパスは架空のサンプルです。</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ここが最初の分かれ道です。改修まで進めるのか、いまはAIに見てもらうだけにするのか。あとから読み込み直せますので、迷ったら改修する側を選んで、依頼文を見てから決めても遅くありません。聞くだけを選んだ場合は、依頼文とコードのファイルができた時点で終わりになります。</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依頼の内容を選びます。用意されているものは、動きを変えずに整えるもの、新しい端末で動くように直すもの、そして自分で書くものです。したいことがはっきりしているなら自分で書くのがいちばん速いです。選んだ内容によっては、このあと二、三問だけ質問が出ます。全部答えなくても進めますので、分かるところだけで大丈夫です。</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依頼文はもう組み立て終わっています。ですから、直したいところが無ければ開かずにそのまま進めてください。書き換えたいときだけ開きます。ひとつ覚えておくとよいのが、下にあるモジュール単位出力です。コードが長くてAIの返答が途中で切れてしまうときに、ここへ印を付けると一つずつ返してもらう形に変わります。</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渡すものは二つです。依頼文はボタンでクリップボードに入りますので、チャットへ貼り付けてください。コードはファイルになっていますので、同じメッセージに添付します。もしそのマクロが読み書きしているExcelシートやCSVがあれば、それも一緒に添付すると答えの精度が上がります。両方渡し終えると［次へ］が使えるようになります。</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返ってきたコードブロックを、先頭から末尾まで全部選んでコピーし、ボタンを押します。うまく取り込めないときは、たいていコピーの範囲が足りていません。もう一度ブロック全体をコピーして押し直してください。取り込めた件数が出れば成功です。</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書き戻す前に、何が変わるのかをここで見ておきます。左にモジュールごとの増減、右に消える行と増える行が並びます。赤が消える行、緑が増える行です。全部を読み込む必要はありません。意図していなかった大きな変更が入っていないか、そこだけ見ていただければ十分です。</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最後にファイル名を確かめて進めます。拡張子はそのままにしてください。作成は数秒で終わり、この改修用のフォルダに四つのファイルがまとまります。渡した依頼文、渡したコード、できあがったブック、そして変更内容のレポートです。忘れずにやっていただきたいのは最後の一つで、できたブックをExcelで開いて、マクロが思ったとおりに動くかを確かめることです。</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最後に、つまずいたときのために四つだけ。依頼文と返答は一対一で結び付いていますので、依頼文を作り直したら返答も取り直してください。途中でやめても元のブックは変わりません。変更内容はレポートとして残るので、あとからブラウザで読み返せます。そして画面の左下には、次にすることが必ず一行で出ています。困ったら右上の［最初から］で、いつでもやり直せます。</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manual-macrostudio-beta1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manual-macrostudio-beta1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ce187f920832b04.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ce187f920832b04.jp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9ce8a8171e76a9e.jp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f53efc4b211c7d3.jp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18c66a5fd3889e9.jp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4779a6940b06b0e.jp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ee6525ce14ae982.jp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e2d1af2d3d5927b.jp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13ccafe4c789855.jpg"/>
  <Relationship Id="rId3" Type="http://schemas.openxmlformats.org/officeDocument/2006/relationships/image" Target="../media/image_5805436e63f5cdb5.jpg"/>
  <Relationship Id="rId4"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Group 3"/>
          <p:cNvGrpSpPr/>
          <p:nvPr/>
        </p:nvGrpSpPr>
        <p:grpSpPr>
          <a:xfrm>
            <a:off x="6781800" y="1809750"/>
            <a:ext cx="8343900" cy="8343900"/>
            <a:chOff x="6781800" y="1809750"/>
            <a:chExt cx="8343900" cy="8343900"/>
          </a:xfrm>
        </p:grpSpPr>
        <p:sp>
          <p:nvSpPr>
            <p:cNvPr id="2" name="Ellipse 2"/>
            <p:cNvSpPr/>
            <p:nvPr/>
          </p:nvSpPr>
          <p:spPr>
            <a:xfrm>
              <a:off x="6781800" y="1809750"/>
              <a:ext cx="8343900" cy="8343900"/>
            </a:xfrm>
            <a:prstGeom prst="ellipse">
              <a:avLst/>
            </a:prstGeom>
            <a:solidFill>
              <a:schemeClr val="lt2"/>
            </a:solidFill>
            <a:ln>
              <a:noFill/>
            </a:ln>
          </p:spPr>
        </p:sp>
      </p:grpSp>
      <p:grpSp>
        <p:nvGrpSpPr>
          <p:cNvPr id="5" name="Group 5"/>
          <p:cNvGrpSpPr/>
          <p:nvPr/>
        </p:nvGrpSpPr>
        <p:grpSpPr>
          <a:xfrm>
            <a:off x="666750" y="1626870"/>
            <a:ext cx="3854577" cy="1885950"/>
            <a:chOff x="666750" y="1626870"/>
            <a:chExt cx="3854577" cy="1885950"/>
          </a:xfrm>
        </p:grpSpPr>
        <p:sp>
          <p:nvSpPr>
            <p:cNvPr id="4" name="TextBox 4"/>
            <p:cNvSpPr txBox="1"/>
            <p:nvPr/>
          </p:nvSpPr>
          <p:spPr>
            <a:xfrm>
              <a:off x="666750" y="1626870"/>
              <a:ext cx="3854577" cy="1885950"/>
            </a:xfrm>
            <a:prstGeom prst="rect">
              <a:avLst/>
            </a:prstGeom>
            <a:noFill/>
            <a:ln>
              <a:noFill/>
            </a:ln>
          </p:spPr>
          <p:txBody>
            <a:bodyPr wrap="square" lIns="0" tIns="0" rIns="0" bIns="0" anchor="t" anchorCtr="0"/>
            <a:lstStyle/>
            <a:p>
              <a:pPr algn="l">
                <a:lnSpc>
                  <a:spcPts val="6600"/>
                </a:lnSpc>
              </a:pPr>
              <a:r>
                <a:rPr lang="en-US" sz="5400" b="1" dirty="0">
                  <a:solidFill>
                    <a:schemeClr val="dk1"/>
                  </a:solidFill>
                  <a:latin typeface="+mn-lt"/>
                  <a:ea typeface="+mn-ea"/>
                  <a:cs typeface="+mn-cs"/>
                </a:rPr>
                <a:t>コードは</a:t>
              </a:r>
              <a:r>
                <a:rPr lang="zh-CN" sz="5400" b="1" dirty="0">
                  <a:solidFill>
                    <a:schemeClr val="dk1"/>
                  </a:solidFill>
                  <a:latin typeface="+mn-lt"/>
                  <a:ea typeface="+mn-ea"/>
                  <a:cs typeface="+mn-cs"/>
                </a:rPr>
                <a:t>読めなくていい。</a:t>
              </a:r>
            </a:p>
          </p:txBody>
        </p:sp>
      </p:grpSp>
      <p:grpSp>
        <p:nvGrpSpPr>
          <p:cNvPr id="9" name="Group 9"/>
          <p:cNvGrpSpPr/>
          <p:nvPr/>
        </p:nvGrpSpPr>
        <p:grpSpPr>
          <a:xfrm>
            <a:off x="674370" y="3390900"/>
            <a:ext cx="4161300" cy="1987867"/>
            <a:chOff x="674370" y="3390900"/>
            <a:chExt cx="4161300" cy="1987867"/>
          </a:xfrm>
        </p:grpSpPr>
        <p:sp>
          <p:nvSpPr>
            <p:cNvPr id="6" name="Rectangle 6"/>
            <p:cNvSpPr/>
            <p:nvPr/>
          </p:nvSpPr>
          <p:spPr>
            <a:xfrm>
              <a:off x="685800" y="3390900"/>
              <a:ext cx="66675" cy="400050"/>
            </a:xfrm>
            <a:prstGeom prst="roundRect">
              <a:avLst>
                <a:gd name="adj" fmla="val 50000"/>
              </a:avLst>
            </a:prstGeom>
            <a:solidFill>
              <a:schemeClr val="accent1"/>
            </a:solidFill>
            <a:ln>
              <a:noFill/>
            </a:ln>
          </p:spPr>
        </p:sp>
        <p:sp>
          <p:nvSpPr>
            <p:cNvPr id="7" name="TextBox 7"/>
            <p:cNvSpPr txBox="1"/>
            <p:nvPr/>
          </p:nvSpPr>
          <p:spPr>
            <a:xfrm>
              <a:off x="921258" y="3436620"/>
              <a:ext cx="391441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Macro Studio 操作マニュアル</a:t>
              </a:r>
            </a:p>
          </p:txBody>
        </p:sp>
        <p:sp>
          <p:nvSpPr>
            <p:cNvPr id="8" name="TextBox 8"/>
            <p:cNvSpPr txBox="1"/>
            <p:nvPr/>
          </p:nvSpPr>
          <p:spPr>
            <a:xfrm>
              <a:off x="674370" y="4062412"/>
              <a:ext cx="3566160" cy="1316355"/>
            </a:xfrm>
            <a:prstGeom prst="rect">
              <a:avLst/>
            </a:prstGeom>
            <a:noFill/>
            <a:ln>
              <a:noFill/>
            </a:ln>
          </p:spPr>
          <p:txBody>
            <a:bodyPr wrap="square" lIns="0" tIns="0" rIns="0" bIns="0" anchor="t" anchorCtr="0"/>
            <a:lstStyle/>
            <a:p>
              <a:pPr algn="l">
                <a:lnSpc>
                  <a:spcPts val="3450"/>
                </a:lnSpc>
              </a:pPr>
              <a:r>
                <a:rPr lang="zh-CN" sz="2250" dirty="0">
                  <a:solidFill>
                    <a:schemeClr val="dk1"/>
                  </a:solidFill>
                  <a:latin typeface="+mn-lt"/>
                  <a:ea typeface="+mn-ea"/>
                  <a:cs typeface="+mn-cs"/>
                </a:rPr>
                <a:t>ブックを読み込み、AIへ依頼し、返答を取り込む。改修済みブックは</a:t>
              </a:r>
              <a:r>
                <a:rPr lang="en-US" sz="2250" dirty="0">
                  <a:solidFill>
                    <a:schemeClr val="dk1"/>
                  </a:solidFill>
                  <a:latin typeface="+mn-lt"/>
                  <a:ea typeface="+mn-ea"/>
                  <a:cs typeface="+mn-cs"/>
                </a:rPr>
                <a:t xml:space="preserve"> </a:t>
              </a:r>
              <a:r>
                <a:rPr lang="zh-CN" sz="2250" dirty="0">
                  <a:solidFill>
                    <a:schemeClr val="dk1"/>
                  </a:solidFill>
                  <a:latin typeface="+mn-lt"/>
                  <a:ea typeface="+mn-ea"/>
                  <a:cs typeface="+mn-cs"/>
                </a:rPr>
                <a:t>このアプリが作ります。</a:t>
              </a:r>
            </a:p>
          </p:txBody>
        </p:sp>
      </p:grpSp>
      <p:grpSp>
        <p:nvGrpSpPr>
          <p:cNvPr id="12" name="Group 12"/>
          <p:cNvGrpSpPr/>
          <p:nvPr/>
        </p:nvGrpSpPr>
        <p:grpSpPr>
          <a:xfrm>
            <a:off x="6286500" y="2781300"/>
            <a:ext cx="6400800" cy="3600450"/>
            <a:chOff x="6286500" y="2781300"/>
            <a:chExt cx="6400800" cy="3600450"/>
          </a:xfrm>
        </p:grpSpPr>
        <p:pic>
          <p:nvPicPr>
            <p:cNvPr id="10" name="Image 10"/>
            <p:cNvPicPr>
              <a:picLocks noChangeAspect="1"/>
            </p:cNvPicPr>
            <p:nvPr/>
          </p:nvPicPr>
          <p:blipFill>
            <a:blip r:embed="rId2"/>
            <a:stretch>
              <a:fillRect/>
            </a:stretch>
          </p:blipFill>
          <p:spPr>
            <a:xfrm>
              <a:off x="6286500" y="2781300"/>
              <a:ext cx="6400800" cy="3600450"/>
            </a:xfrm>
            <a:prstGeom prst="roundRect">
              <a:avLst>
                <a:gd name="adj" fmla="val 3703"/>
              </a:avLst>
            </a:prstGeom>
          </p:spPr>
        </p:pic>
        <p:sp>
          <p:nvSpPr>
            <p:cNvPr id="11" name="Rectangle 11"/>
            <p:cNvSpPr/>
            <p:nvPr/>
          </p:nvSpPr>
          <p:spPr>
            <a:xfrm>
              <a:off x="6286500" y="2781300"/>
              <a:ext cx="6400800" cy="3600450"/>
            </a:xfrm>
            <a:prstGeom prst="roundRect">
              <a:avLst>
                <a:gd name="adj" fmla="val 3704"/>
              </a:avLst>
            </a:prstGeom>
            <a:noFill/>
            <a:ln w="19050">
              <a:solidFill>
                <a:schemeClr val="accent1"/>
              </a:solidFill>
            </a:ln>
          </p:spPr>
        </p:sp>
      </p:grpSp>
      <p:grpSp>
        <p:nvGrpSpPr>
          <p:cNvPr id="14" name="Group 14"/>
          <p:cNvGrpSpPr/>
          <p:nvPr/>
        </p:nvGrpSpPr>
        <p:grpSpPr>
          <a:xfrm>
            <a:off x="679704" y="6195060"/>
            <a:ext cx="2233422" cy="234696"/>
            <a:chOff x="679704" y="6195060"/>
            <a:chExt cx="2233422" cy="234696"/>
          </a:xfrm>
        </p:grpSpPr>
        <p:sp>
          <p:nvSpPr>
            <p:cNvPr id="13" name="TextBox 13"/>
            <p:cNvSpPr txBox="1"/>
            <p:nvPr/>
          </p:nvSpPr>
          <p:spPr>
            <a:xfrm>
              <a:off x="679704" y="6195060"/>
              <a:ext cx="2233422"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beta 1.0.0　／　2026-07-30</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792756" y="568642"/>
              <a:ext cx="586188"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第一部</a:t>
              </a:r>
            </a:p>
          </p:txBody>
        </p:sp>
        <p:sp>
          <p:nvSpPr>
            <p:cNvPr id="4" name="TextBox 4"/>
            <p:cNvSpPr txBox="1"/>
            <p:nvPr/>
          </p:nvSpPr>
          <p:spPr>
            <a:xfrm>
              <a:off x="1946148" y="479108"/>
              <a:ext cx="2725801" cy="616077"/>
            </a:xfrm>
            <a:prstGeom prst="rect">
              <a:avLst/>
            </a:prstGeom>
            <a:noFill/>
            <a:ln>
              <a:noFill/>
            </a:ln>
          </p:spPr>
          <p:txBody>
            <a:bodyPr wrap="none" lIns="0" tIns="0" rIns="0" bIns="0" anchor="t" anchorCtr="0">
              <a:spAutoFit/>
            </a:bodyPr>
            <a:lstStyle/>
            <a:p>
              <a:pPr algn="l"/>
              <a:r>
                <a:rPr lang="en-US" sz="3150" b="1" dirty="0">
                  <a:solidFill>
                    <a:schemeClr val="dk1"/>
                  </a:solidFill>
                  <a:latin typeface="+mn-lt"/>
                  <a:ea typeface="+mn-ea"/>
                  <a:cs typeface="+mn-cs"/>
                </a:rPr>
                <a:t>このアプリでできること</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1" name="Group 11"/>
          <p:cNvGrpSpPr/>
          <p:nvPr/>
        </p:nvGrpSpPr>
        <p:grpSpPr>
          <a:xfrm>
            <a:off x="381000" y="1714500"/>
            <a:ext cx="3657600" cy="2857500"/>
            <a:chOff x="381000" y="1714500"/>
            <a:chExt cx="3657600" cy="2857500"/>
          </a:xfrm>
        </p:grpSpPr>
        <p:sp>
          <p:nvSpPr>
            <p:cNvPr id="7" name="Rectangle 7"/>
            <p:cNvSpPr/>
            <p:nvPr/>
          </p:nvSpPr>
          <p:spPr>
            <a:xfrm>
              <a:off x="381000" y="1714500"/>
              <a:ext cx="3657600" cy="2857500"/>
            </a:xfrm>
            <a:prstGeom prst="roundRect">
              <a:avLst>
                <a:gd name="adj" fmla="val 5333"/>
              </a:avLst>
            </a:prstGeom>
            <a:solidFill>
              <a:schemeClr val="lt2"/>
            </a:solidFill>
            <a:ln>
              <a:noFill/>
            </a:ln>
          </p:spPr>
        </p:sp>
        <p:sp>
          <p:nvSpPr>
            <p:cNvPr id="8" name="Freeform 8"/>
            <p:cNvSpPr/>
            <p:nvPr/>
          </p:nvSpPr>
          <p:spPr>
            <a:xfrm>
              <a:off x="720725" y="2109787"/>
              <a:ext cx="349249" cy="332604"/>
            </a:xfrm>
            <a:custGeom>
              <a:avLst/>
              <a:gdLst/>
              <a:ahLst/>
              <a:cxnLst/>
              <a:rect l="l" t="t" r="r" b="b"/>
              <a:pathLst>
                <a:path w="349249" h="332604">
                  <a:moveTo>
                    <a:pt x="279399" y="0"/>
                  </a:moveTo>
                  <a:cubicBezTo>
                    <a:pt x="317977" y="0"/>
                    <a:pt x="349249" y="31273"/>
                    <a:pt x="349249" y="69850"/>
                  </a:cubicBezTo>
                  <a:lnTo>
                    <a:pt x="349249" y="209550"/>
                  </a:lnTo>
                  <a:cubicBezTo>
                    <a:pt x="349249" y="248127"/>
                    <a:pt x="317977" y="279399"/>
                    <a:pt x="279399" y="279399"/>
                  </a:cubicBezTo>
                  <a:lnTo>
                    <a:pt x="196907" y="279399"/>
                  </a:lnTo>
                  <a:lnTo>
                    <a:pt x="113751" y="329290"/>
                  </a:lnTo>
                  <a:cubicBezTo>
                    <a:pt x="108662" y="332344"/>
                    <a:pt x="102371" y="332604"/>
                    <a:pt x="97047" y="329981"/>
                  </a:cubicBezTo>
                  <a:cubicBezTo>
                    <a:pt x="91723" y="327358"/>
                    <a:pt x="88096" y="322211"/>
                    <a:pt x="87417" y="316315"/>
                  </a:cubicBezTo>
                  <a:lnTo>
                    <a:pt x="87312" y="314324"/>
                  </a:lnTo>
                  <a:lnTo>
                    <a:pt x="87312" y="279399"/>
                  </a:lnTo>
                  <a:lnTo>
                    <a:pt x="69850" y="279399"/>
                  </a:lnTo>
                  <a:cubicBezTo>
                    <a:pt x="32630" y="279400"/>
                    <a:pt x="1948" y="250215"/>
                    <a:pt x="87" y="213042"/>
                  </a:cubicBezTo>
                  <a:lnTo>
                    <a:pt x="0" y="209550"/>
                  </a:lnTo>
                  <a:lnTo>
                    <a:pt x="0" y="69850"/>
                  </a:lnTo>
                  <a:cubicBezTo>
                    <a:pt x="0" y="31273"/>
                    <a:pt x="31273" y="0"/>
                    <a:pt x="69850" y="0"/>
                  </a:cubicBezTo>
                  <a:close/>
                  <a:moveTo>
                    <a:pt x="230505" y="162156"/>
                  </a:moveTo>
                  <a:cubicBezTo>
                    <a:pt x="223618" y="155406"/>
                    <a:pt x="212564" y="155516"/>
                    <a:pt x="205813" y="162401"/>
                  </a:cubicBezTo>
                  <a:cubicBezTo>
                    <a:pt x="197601" y="170785"/>
                    <a:pt x="186360" y="175509"/>
                    <a:pt x="174625" y="175509"/>
                  </a:cubicBezTo>
                  <a:cubicBezTo>
                    <a:pt x="162889" y="175509"/>
                    <a:pt x="151648" y="170785"/>
                    <a:pt x="143437" y="162401"/>
                  </a:cubicBezTo>
                  <a:cubicBezTo>
                    <a:pt x="136656" y="155680"/>
                    <a:pt x="125735" y="155650"/>
                    <a:pt x="118918" y="162333"/>
                  </a:cubicBezTo>
                  <a:cubicBezTo>
                    <a:pt x="112101" y="169017"/>
                    <a:pt x="111915" y="179936"/>
                    <a:pt x="118500" y="186848"/>
                  </a:cubicBezTo>
                  <a:cubicBezTo>
                    <a:pt x="133280" y="201930"/>
                    <a:pt x="153508" y="210429"/>
                    <a:pt x="174625" y="210429"/>
                  </a:cubicBezTo>
                  <a:cubicBezTo>
                    <a:pt x="195741" y="210429"/>
                    <a:pt x="215969" y="201930"/>
                    <a:pt x="230749" y="186848"/>
                  </a:cubicBezTo>
                  <a:cubicBezTo>
                    <a:pt x="237499" y="179962"/>
                    <a:pt x="237390" y="168908"/>
                    <a:pt x="230505" y="162156"/>
                  </a:cubicBezTo>
                  <a:moveTo>
                    <a:pt x="131143" y="87312"/>
                  </a:moveTo>
                  <a:lnTo>
                    <a:pt x="130969" y="87312"/>
                  </a:lnTo>
                  <a:cubicBezTo>
                    <a:pt x="121324" y="87312"/>
                    <a:pt x="113506" y="95131"/>
                    <a:pt x="113506" y="104775"/>
                  </a:cubicBezTo>
                  <a:cubicBezTo>
                    <a:pt x="113506" y="114419"/>
                    <a:pt x="121324" y="122237"/>
                    <a:pt x="130969" y="122237"/>
                  </a:cubicBezTo>
                  <a:lnTo>
                    <a:pt x="131143" y="122237"/>
                  </a:lnTo>
                  <a:cubicBezTo>
                    <a:pt x="140787" y="122237"/>
                    <a:pt x="148606" y="114419"/>
                    <a:pt x="148606" y="104775"/>
                  </a:cubicBezTo>
                  <a:cubicBezTo>
                    <a:pt x="148606" y="95131"/>
                    <a:pt x="140787" y="87312"/>
                    <a:pt x="131143" y="87312"/>
                  </a:cubicBezTo>
                  <a:moveTo>
                    <a:pt x="218455" y="87312"/>
                  </a:moveTo>
                  <a:lnTo>
                    <a:pt x="218281" y="87312"/>
                  </a:lnTo>
                  <a:cubicBezTo>
                    <a:pt x="208637" y="87312"/>
                    <a:pt x="200818" y="95131"/>
                    <a:pt x="200818" y="104775"/>
                  </a:cubicBezTo>
                  <a:cubicBezTo>
                    <a:pt x="200818" y="114419"/>
                    <a:pt x="208637" y="122237"/>
                    <a:pt x="218281" y="122237"/>
                  </a:cubicBezTo>
                  <a:lnTo>
                    <a:pt x="218455" y="122237"/>
                  </a:lnTo>
                  <a:cubicBezTo>
                    <a:pt x="228100" y="122237"/>
                    <a:pt x="235918" y="114419"/>
                    <a:pt x="235918" y="104775"/>
                  </a:cubicBezTo>
                  <a:cubicBezTo>
                    <a:pt x="235918" y="95131"/>
                    <a:pt x="228100" y="87312"/>
                    <a:pt x="218455" y="87312"/>
                  </a:cubicBezTo>
                </a:path>
              </a:pathLst>
            </a:custGeom>
            <a:solidFill>
              <a:schemeClr val="accent1"/>
            </a:solidFill>
            <a:ln>
              <a:noFill/>
            </a:ln>
          </p:spPr>
        </p:sp>
        <p:sp>
          <p:nvSpPr>
            <p:cNvPr id="9" name="TextBox 9"/>
            <p:cNvSpPr txBox="1"/>
            <p:nvPr/>
          </p:nvSpPr>
          <p:spPr>
            <a:xfrm>
              <a:off x="673608" y="2750820"/>
              <a:ext cx="1278941"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AIに任せる</a:t>
              </a:r>
            </a:p>
          </p:txBody>
        </p:sp>
        <p:sp>
          <p:nvSpPr>
            <p:cNvPr id="10" name="TextBox 10"/>
            <p:cNvSpPr txBox="1"/>
            <p:nvPr/>
          </p:nvSpPr>
          <p:spPr>
            <a:xfrm>
              <a:off x="676656" y="3348990"/>
              <a:ext cx="1252728" cy="694944"/>
            </a:xfrm>
            <a:prstGeom prst="rect">
              <a:avLst/>
            </a:prstGeom>
            <a:noFill/>
            <a:ln>
              <a:noFill/>
            </a:ln>
          </p:spPr>
          <p:txBody>
            <a:bodyPr wrap="square" lIns="0" tIns="0" rIns="0" bIns="0" anchor="t" anchorCtr="0"/>
            <a:lstStyle/>
            <a:p>
              <a:pPr algn="l">
                <a:lnSpc>
                  <a:spcPts val="2700"/>
                </a:lnSpc>
              </a:pPr>
              <a:r>
                <a:rPr lang="zh-CN" sz="1800" dirty="0">
                  <a:solidFill>
                    <a:schemeClr val="dk1"/>
                  </a:solidFill>
                  <a:latin typeface="+mn-lt"/>
                  <a:ea typeface="+mn-ea"/>
                  <a:cs typeface="+mn-cs"/>
                </a:rPr>
                <a:t>どこをどう直すかは</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AIが決めます。</a:t>
              </a:r>
            </a:p>
          </p:txBody>
        </p:sp>
      </p:grpSp>
      <p:grpSp>
        <p:nvGrpSpPr>
          <p:cNvPr id="18" name="Group 18"/>
          <p:cNvGrpSpPr/>
          <p:nvPr/>
        </p:nvGrpSpPr>
        <p:grpSpPr>
          <a:xfrm>
            <a:off x="4267200" y="1714500"/>
            <a:ext cx="3657600" cy="2857500"/>
            <a:chOff x="4267200" y="1714500"/>
            <a:chExt cx="3657600" cy="2857500"/>
          </a:xfrm>
        </p:grpSpPr>
        <p:sp>
          <p:nvSpPr>
            <p:cNvPr id="12" name="Rectangle 12"/>
            <p:cNvSpPr/>
            <p:nvPr/>
          </p:nvSpPr>
          <p:spPr>
            <a:xfrm>
              <a:off x="4267200" y="1714500"/>
              <a:ext cx="3657600" cy="2857500"/>
            </a:xfrm>
            <a:prstGeom prst="roundRect">
              <a:avLst>
                <a:gd name="adj" fmla="val 5333"/>
              </a:avLst>
            </a:prstGeom>
            <a:solidFill>
              <a:schemeClr val="lt2"/>
            </a:solidFill>
            <a:ln>
              <a:noFill/>
            </a:ln>
          </p:spPr>
        </p:sp>
        <p:grpSp>
          <p:nvGrpSpPr>
            <p:cNvPr id="15" name="Group 15"/>
            <p:cNvGrpSpPr/>
            <p:nvPr/>
          </p:nvGrpSpPr>
          <p:grpSpPr>
            <a:xfrm>
              <a:off x="4641848" y="2092325"/>
              <a:ext cx="279403" cy="349251"/>
              <a:chOff x="4641848" y="2092325"/>
              <a:chExt cx="279403" cy="349251"/>
            </a:xfrm>
          </p:grpSpPr>
          <p:sp>
            <p:nvSpPr>
              <p:cNvPr id="13" name="Freeform 13"/>
              <p:cNvSpPr/>
              <p:nvPr/>
            </p:nvSpPr>
            <p:spPr>
              <a:xfrm>
                <a:off x="4641848" y="2092325"/>
                <a:ext cx="279403" cy="349251"/>
              </a:xfrm>
              <a:custGeom>
                <a:avLst/>
                <a:gdLst/>
                <a:ahLst/>
                <a:cxnLst/>
                <a:rect l="l" t="t" r="r" b="b"/>
                <a:pathLst>
                  <a:path w="279403" h="349251">
                    <a:moveTo>
                      <a:pt x="139701" y="0"/>
                    </a:moveTo>
                    <a:lnTo>
                      <a:pt x="141744" y="122"/>
                    </a:lnTo>
                    <a:cubicBezTo>
                      <a:pt x="149768" y="1068"/>
                      <a:pt x="156095" y="7396"/>
                      <a:pt x="157042" y="15419"/>
                    </a:cubicBezTo>
                    <a:lnTo>
                      <a:pt x="157164" y="17462"/>
                    </a:lnTo>
                    <a:lnTo>
                      <a:pt x="157164" y="87312"/>
                    </a:lnTo>
                    <a:lnTo>
                      <a:pt x="157251" y="89932"/>
                    </a:lnTo>
                    <a:cubicBezTo>
                      <a:pt x="158542" y="107113"/>
                      <a:pt x="172170" y="120785"/>
                      <a:pt x="189347" y="122133"/>
                    </a:cubicBezTo>
                    <a:lnTo>
                      <a:pt x="192089" y="122237"/>
                    </a:lnTo>
                    <a:lnTo>
                      <a:pt x="261939" y="122237"/>
                    </a:lnTo>
                    <a:lnTo>
                      <a:pt x="263982" y="122360"/>
                    </a:lnTo>
                    <a:cubicBezTo>
                      <a:pt x="272006" y="123306"/>
                      <a:pt x="278333" y="129633"/>
                      <a:pt x="279279" y="137657"/>
                    </a:cubicBezTo>
                    <a:lnTo>
                      <a:pt x="279401" y="139700"/>
                    </a:lnTo>
                    <a:lnTo>
                      <a:pt x="279401" y="296862"/>
                    </a:lnTo>
                    <a:cubicBezTo>
                      <a:pt x="279403" y="324602"/>
                      <a:pt x="257779" y="347535"/>
                      <a:pt x="230087" y="349162"/>
                    </a:cubicBezTo>
                    <a:lnTo>
                      <a:pt x="227014" y="349249"/>
                    </a:lnTo>
                    <a:lnTo>
                      <a:pt x="52389" y="349249"/>
                    </a:lnTo>
                    <a:cubicBezTo>
                      <a:pt x="24649" y="349251"/>
                      <a:pt x="1716" y="327628"/>
                      <a:pt x="89" y="299935"/>
                    </a:cubicBezTo>
                    <a:lnTo>
                      <a:pt x="2" y="296862"/>
                    </a:lnTo>
                    <a:lnTo>
                      <a:pt x="2" y="52387"/>
                    </a:lnTo>
                    <a:cubicBezTo>
                      <a:pt x="0" y="24647"/>
                      <a:pt x="21623" y="1715"/>
                      <a:pt x="49316" y="87"/>
                    </a:cubicBezTo>
                    <a:lnTo>
                      <a:pt x="52389" y="0"/>
                    </a:lnTo>
                    <a:close/>
                    <a:moveTo>
                      <a:pt x="112582" y="193938"/>
                    </a:moveTo>
                    <a:cubicBezTo>
                      <a:pt x="103960" y="189632"/>
                      <a:pt x="93479" y="193126"/>
                      <a:pt x="89165" y="201744"/>
                    </a:cubicBezTo>
                    <a:lnTo>
                      <a:pt x="71702" y="236669"/>
                    </a:lnTo>
                    <a:cubicBezTo>
                      <a:pt x="69247" y="241583"/>
                      <a:pt x="69247" y="247366"/>
                      <a:pt x="71702" y="252280"/>
                    </a:cubicBezTo>
                    <a:lnTo>
                      <a:pt x="89165" y="287205"/>
                    </a:lnTo>
                    <a:cubicBezTo>
                      <a:pt x="93479" y="295823"/>
                      <a:pt x="103960" y="299317"/>
                      <a:pt x="112582" y="295011"/>
                    </a:cubicBezTo>
                    <a:lnTo>
                      <a:pt x="114363" y="293998"/>
                    </a:lnTo>
                    <a:cubicBezTo>
                      <a:pt x="121759" y="289136"/>
                      <a:pt x="124348" y="279509"/>
                      <a:pt x="120388" y="271594"/>
                    </a:cubicBezTo>
                    <a:lnTo>
                      <a:pt x="106837" y="244475"/>
                    </a:lnTo>
                    <a:lnTo>
                      <a:pt x="120388" y="217355"/>
                    </a:lnTo>
                    <a:cubicBezTo>
                      <a:pt x="124694" y="208733"/>
                      <a:pt x="121200" y="198252"/>
                      <a:pt x="112582" y="193938"/>
                    </a:cubicBezTo>
                    <a:moveTo>
                      <a:pt x="190238" y="201744"/>
                    </a:moveTo>
                    <a:cubicBezTo>
                      <a:pt x="185923" y="193126"/>
                      <a:pt x="175443" y="189632"/>
                      <a:pt x="166821" y="193938"/>
                    </a:cubicBezTo>
                    <a:lnTo>
                      <a:pt x="165039" y="194951"/>
                    </a:lnTo>
                    <a:cubicBezTo>
                      <a:pt x="157643" y="199813"/>
                      <a:pt x="155055" y="209440"/>
                      <a:pt x="159015" y="217355"/>
                    </a:cubicBezTo>
                    <a:lnTo>
                      <a:pt x="172531" y="244475"/>
                    </a:lnTo>
                    <a:lnTo>
                      <a:pt x="158997" y="271594"/>
                    </a:lnTo>
                    <a:cubicBezTo>
                      <a:pt x="155041" y="280158"/>
                      <a:pt x="158602" y="290317"/>
                      <a:pt x="167041" y="294536"/>
                    </a:cubicBezTo>
                    <a:cubicBezTo>
                      <a:pt x="175479" y="298755"/>
                      <a:pt x="185742" y="295509"/>
                      <a:pt x="190220" y="287205"/>
                    </a:cubicBezTo>
                    <a:lnTo>
                      <a:pt x="207683" y="252280"/>
                    </a:lnTo>
                    <a:cubicBezTo>
                      <a:pt x="210138" y="247366"/>
                      <a:pt x="210138" y="241583"/>
                      <a:pt x="207683" y="236669"/>
                    </a:cubicBezTo>
                    <a:close/>
                  </a:path>
                </a:pathLst>
              </a:custGeom>
              <a:solidFill>
                <a:schemeClr val="accent1"/>
              </a:solidFill>
              <a:ln>
                <a:noFill/>
              </a:ln>
            </p:spPr>
          </p:sp>
          <p:sp>
            <p:nvSpPr>
              <p:cNvPr id="14" name="Freeform 14"/>
              <p:cNvSpPr/>
              <p:nvPr/>
            </p:nvSpPr>
            <p:spPr>
              <a:xfrm>
                <a:off x="4833920" y="2109770"/>
                <a:ext cx="69867" cy="69867"/>
              </a:xfrm>
              <a:custGeom>
                <a:avLst/>
                <a:gdLst/>
                <a:ahLst/>
                <a:cxnLst/>
                <a:rect l="l" t="t" r="r" b="b"/>
                <a:pathLst>
                  <a:path w="69867" h="69867">
                    <a:moveTo>
                      <a:pt x="69867" y="69867"/>
                    </a:moveTo>
                    <a:lnTo>
                      <a:pt x="17" y="69867"/>
                    </a:lnTo>
                    <a:lnTo>
                      <a:pt x="0" y="0"/>
                    </a:lnTo>
                    <a:close/>
                  </a:path>
                </a:pathLst>
              </a:custGeom>
              <a:solidFill>
                <a:schemeClr val="accent1"/>
              </a:solidFill>
              <a:ln>
                <a:noFill/>
              </a:ln>
            </p:spPr>
          </p:sp>
        </p:grpSp>
        <p:sp>
          <p:nvSpPr>
            <p:cNvPr id="16" name="TextBox 16"/>
            <p:cNvSpPr txBox="1"/>
            <p:nvPr/>
          </p:nvSpPr>
          <p:spPr>
            <a:xfrm>
              <a:off x="4559808" y="2750820"/>
              <a:ext cx="2466929"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開発画面は開かない</a:t>
              </a:r>
            </a:p>
          </p:txBody>
        </p:sp>
        <p:sp>
          <p:nvSpPr>
            <p:cNvPr id="17" name="TextBox 17"/>
            <p:cNvSpPr txBox="1"/>
            <p:nvPr/>
          </p:nvSpPr>
          <p:spPr>
            <a:xfrm>
              <a:off x="4562856" y="3348990"/>
              <a:ext cx="1995678" cy="694944"/>
            </a:xfrm>
            <a:prstGeom prst="rect">
              <a:avLst/>
            </a:prstGeom>
            <a:noFill/>
            <a:ln>
              <a:noFill/>
            </a:ln>
          </p:spPr>
          <p:txBody>
            <a:bodyPr wrap="square" lIns="0" tIns="0" rIns="0" bIns="0" anchor="t" anchorCtr="0"/>
            <a:lstStyle/>
            <a:p>
              <a:pPr algn="l">
                <a:lnSpc>
                  <a:spcPts val="2700"/>
                </a:lnSpc>
              </a:pPr>
              <a:r>
                <a:rPr lang="zh-CN" sz="1800" dirty="0">
                  <a:solidFill>
                    <a:schemeClr val="dk1"/>
                  </a:solidFill>
                  <a:latin typeface="+mn-lt"/>
                  <a:ea typeface="+mn-ea"/>
                  <a:cs typeface="+mn-cs"/>
                </a:rPr>
                <a:t>画面の選択肢を選び、［次へ］で進みます。</a:t>
              </a:r>
            </a:p>
          </p:txBody>
        </p:sp>
      </p:grpSp>
      <p:grpSp>
        <p:nvGrpSpPr>
          <p:cNvPr id="23" name="Group 23"/>
          <p:cNvGrpSpPr/>
          <p:nvPr/>
        </p:nvGrpSpPr>
        <p:grpSpPr>
          <a:xfrm>
            <a:off x="8153400" y="1714500"/>
            <a:ext cx="3657600" cy="2857500"/>
            <a:chOff x="8153400" y="1714500"/>
            <a:chExt cx="3657600" cy="2857500"/>
          </a:xfrm>
        </p:grpSpPr>
        <p:sp>
          <p:nvSpPr>
            <p:cNvPr id="19" name="Rectangle 19"/>
            <p:cNvSpPr/>
            <p:nvPr/>
          </p:nvSpPr>
          <p:spPr>
            <a:xfrm>
              <a:off x="8153400" y="1714500"/>
              <a:ext cx="3657600" cy="2857500"/>
            </a:xfrm>
            <a:prstGeom prst="roundRect">
              <a:avLst>
                <a:gd name="adj" fmla="val 5333"/>
              </a:avLst>
            </a:prstGeom>
            <a:solidFill>
              <a:schemeClr val="lt2"/>
            </a:solidFill>
            <a:ln>
              <a:noFill/>
            </a:ln>
          </p:spPr>
        </p:sp>
        <p:sp>
          <p:nvSpPr>
            <p:cNvPr id="20" name="Freeform 20"/>
            <p:cNvSpPr/>
            <p:nvPr/>
          </p:nvSpPr>
          <p:spPr>
            <a:xfrm>
              <a:off x="8485218" y="2092325"/>
              <a:ext cx="365046" cy="349436"/>
            </a:xfrm>
            <a:custGeom>
              <a:avLst/>
              <a:gdLst/>
              <a:ahLst/>
              <a:cxnLst/>
              <a:rect l="l" t="t" r="r" b="b"/>
              <a:pathLst>
                <a:path w="365046" h="349436">
                  <a:moveTo>
                    <a:pt x="182497" y="0"/>
                  </a:moveTo>
                  <a:lnTo>
                    <a:pt x="184557" y="122"/>
                  </a:lnTo>
                  <a:lnTo>
                    <a:pt x="185588" y="262"/>
                  </a:lnTo>
                  <a:lnTo>
                    <a:pt x="186653" y="489"/>
                  </a:lnTo>
                  <a:lnTo>
                    <a:pt x="188591" y="1083"/>
                  </a:lnTo>
                  <a:cubicBezTo>
                    <a:pt x="189930" y="1576"/>
                    <a:pt x="191203" y="2233"/>
                    <a:pt x="192380" y="3038"/>
                  </a:cubicBezTo>
                  <a:lnTo>
                    <a:pt x="194197" y="4470"/>
                  </a:lnTo>
                  <a:lnTo>
                    <a:pt x="198649" y="8277"/>
                  </a:lnTo>
                  <a:cubicBezTo>
                    <a:pt x="233877" y="37537"/>
                    <a:pt x="278398" y="53248"/>
                    <a:pt x="324187" y="52579"/>
                  </a:cubicBezTo>
                  <a:lnTo>
                    <a:pt x="330159" y="52405"/>
                  </a:lnTo>
                  <a:cubicBezTo>
                    <a:pt x="338195" y="52038"/>
                    <a:pt x="345441" y="57208"/>
                    <a:pt x="347709" y="64925"/>
                  </a:cubicBezTo>
                  <a:cubicBezTo>
                    <a:pt x="365046" y="123901"/>
                    <a:pt x="357725" y="187386"/>
                    <a:pt x="327420" y="240868"/>
                  </a:cubicBezTo>
                  <a:cubicBezTo>
                    <a:pt x="297115" y="294350"/>
                    <a:pt x="246416" y="333255"/>
                    <a:pt x="186915" y="348691"/>
                  </a:cubicBezTo>
                  <a:cubicBezTo>
                    <a:pt x="184040" y="349436"/>
                    <a:pt x="181023" y="349436"/>
                    <a:pt x="178149" y="348691"/>
                  </a:cubicBezTo>
                  <a:cubicBezTo>
                    <a:pt x="118644" y="333259"/>
                    <a:pt x="67941" y="294355"/>
                    <a:pt x="37632" y="240873"/>
                  </a:cubicBezTo>
                  <a:cubicBezTo>
                    <a:pt x="7323" y="187391"/>
                    <a:pt x="0" y="123903"/>
                    <a:pt x="17337" y="64925"/>
                  </a:cubicBezTo>
                  <a:cubicBezTo>
                    <a:pt x="19605" y="57208"/>
                    <a:pt x="26851" y="52038"/>
                    <a:pt x="34886" y="52405"/>
                  </a:cubicBezTo>
                  <a:cubicBezTo>
                    <a:pt x="82689" y="54590"/>
                    <a:pt x="129587" y="38854"/>
                    <a:pt x="166396" y="8277"/>
                  </a:cubicBezTo>
                  <a:lnTo>
                    <a:pt x="170989" y="4348"/>
                  </a:lnTo>
                  <a:lnTo>
                    <a:pt x="172665" y="3038"/>
                  </a:lnTo>
                  <a:cubicBezTo>
                    <a:pt x="173843" y="2233"/>
                    <a:pt x="175116" y="1576"/>
                    <a:pt x="176455" y="1083"/>
                  </a:cubicBezTo>
                  <a:lnTo>
                    <a:pt x="178410" y="489"/>
                  </a:lnTo>
                  <a:cubicBezTo>
                    <a:pt x="179095" y="324"/>
                    <a:pt x="179789" y="201"/>
                    <a:pt x="180488" y="122"/>
                  </a:cubicBezTo>
                  <a:lnTo>
                    <a:pt x="182497" y="0"/>
                  </a:lnTo>
                  <a:close/>
                  <a:moveTo>
                    <a:pt x="247282" y="127354"/>
                  </a:moveTo>
                  <a:cubicBezTo>
                    <a:pt x="244007" y="124075"/>
                    <a:pt x="239562" y="122232"/>
                    <a:pt x="234928" y="122232"/>
                  </a:cubicBezTo>
                  <a:cubicBezTo>
                    <a:pt x="230293" y="122232"/>
                    <a:pt x="225848" y="124075"/>
                    <a:pt x="222573" y="127354"/>
                  </a:cubicBezTo>
                  <a:lnTo>
                    <a:pt x="165069" y="184840"/>
                  </a:lnTo>
                  <a:lnTo>
                    <a:pt x="142490" y="162279"/>
                  </a:lnTo>
                  <a:lnTo>
                    <a:pt x="140849" y="160829"/>
                  </a:lnTo>
                  <a:cubicBezTo>
                    <a:pt x="133565" y="155197"/>
                    <a:pt x="123159" y="156188"/>
                    <a:pt x="117069" y="163095"/>
                  </a:cubicBezTo>
                  <a:cubicBezTo>
                    <a:pt x="110979" y="170001"/>
                    <a:pt x="111299" y="180449"/>
                    <a:pt x="117798" y="186971"/>
                  </a:cubicBezTo>
                  <a:lnTo>
                    <a:pt x="152723" y="221896"/>
                  </a:lnTo>
                  <a:lnTo>
                    <a:pt x="154365" y="223345"/>
                  </a:lnTo>
                  <a:cubicBezTo>
                    <a:pt x="161316" y="228737"/>
                    <a:pt x="171194" y="228116"/>
                    <a:pt x="177415" y="221896"/>
                  </a:cubicBezTo>
                  <a:lnTo>
                    <a:pt x="247265" y="152046"/>
                  </a:lnTo>
                  <a:lnTo>
                    <a:pt x="248714" y="150404"/>
                  </a:lnTo>
                  <a:cubicBezTo>
                    <a:pt x="254107" y="143453"/>
                    <a:pt x="253486" y="133575"/>
                    <a:pt x="247265" y="127354"/>
                  </a:cubicBezTo>
                  <a:close/>
                </a:path>
              </a:pathLst>
            </a:custGeom>
            <a:solidFill>
              <a:srgbClr val="2E7D5B"/>
            </a:solidFill>
            <a:ln>
              <a:noFill/>
            </a:ln>
          </p:spPr>
        </p:sp>
        <p:sp>
          <p:nvSpPr>
            <p:cNvPr id="21" name="TextBox 21"/>
            <p:cNvSpPr txBox="1"/>
            <p:nvPr/>
          </p:nvSpPr>
          <p:spPr>
            <a:xfrm>
              <a:off x="8446008" y="2750820"/>
              <a:ext cx="2042876" cy="469392"/>
            </a:xfrm>
            <a:prstGeom prst="rect">
              <a:avLst/>
            </a:prstGeom>
            <a:noFill/>
            <a:ln>
              <a:noFill/>
            </a:ln>
          </p:spPr>
          <p:txBody>
            <a:bodyPr wrap="none" lIns="0" tIns="0" rIns="0" bIns="0" anchor="t" anchorCtr="0">
              <a:spAutoFit/>
            </a:bodyPr>
            <a:lstStyle/>
            <a:p>
              <a:pPr algn="l"/>
              <a:r>
                <a:rPr lang="zh-CN" sz="2400" b="1" dirty="0">
                  <a:solidFill>
                    <a:srgbClr val="2E7D5B"/>
                  </a:solidFill>
                  <a:latin typeface="+mn-lt"/>
                  <a:ea typeface="+mn-ea"/>
                  <a:cs typeface="+mn-cs"/>
                </a:rPr>
                <a:t>元のブックはそのまま</a:t>
              </a:r>
            </a:p>
          </p:txBody>
        </p:sp>
        <p:sp>
          <p:nvSpPr>
            <p:cNvPr id="22" name="TextBox 22"/>
            <p:cNvSpPr txBox="1"/>
            <p:nvPr/>
          </p:nvSpPr>
          <p:spPr>
            <a:xfrm>
              <a:off x="8449056" y="3348990"/>
              <a:ext cx="1687068" cy="694944"/>
            </a:xfrm>
            <a:prstGeom prst="rect">
              <a:avLst/>
            </a:prstGeom>
            <a:noFill/>
            <a:ln>
              <a:noFill/>
            </a:ln>
          </p:spPr>
          <p:txBody>
            <a:bodyPr wrap="square" lIns="0" tIns="0" rIns="0" bIns="0" anchor="t" anchorCtr="0"/>
            <a:lstStyle/>
            <a:p>
              <a:pPr algn="l">
                <a:lnSpc>
                  <a:spcPts val="2700"/>
                </a:lnSpc>
              </a:pPr>
              <a:r>
                <a:rPr lang="zh-CN" sz="1800" dirty="0">
                  <a:solidFill>
                    <a:schemeClr val="dk1"/>
                  </a:solidFill>
                  <a:latin typeface="+mn-lt"/>
                  <a:ea typeface="+mn-ea"/>
                  <a:cs typeface="+mn-cs"/>
                </a:rPr>
                <a:t>改修済みブックは別の</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ファイルになります。</a:t>
              </a:r>
            </a:p>
          </p:txBody>
        </p:sp>
      </p:grpSp>
      <p:grpSp>
        <p:nvGrpSpPr>
          <p:cNvPr id="27" name="Group 27"/>
          <p:cNvGrpSpPr/>
          <p:nvPr/>
        </p:nvGrpSpPr>
        <p:grpSpPr>
          <a:xfrm>
            <a:off x="381000" y="4953000"/>
            <a:ext cx="11430000" cy="609600"/>
            <a:chOff x="381000" y="4953000"/>
            <a:chExt cx="11430000" cy="609600"/>
          </a:xfrm>
        </p:grpSpPr>
        <p:sp>
          <p:nvSpPr>
            <p:cNvPr id="24" name="Rectangle 24"/>
            <p:cNvSpPr/>
            <p:nvPr/>
          </p:nvSpPr>
          <p:spPr>
            <a:xfrm>
              <a:off x="381000" y="4953000"/>
              <a:ext cx="11430000" cy="609600"/>
            </a:xfrm>
            <a:prstGeom prst="roundRect">
              <a:avLst>
                <a:gd name="adj" fmla="val 25000"/>
              </a:avLst>
            </a:prstGeom>
            <a:solidFill>
              <a:schemeClr val="lt1"/>
            </a:solidFill>
            <a:ln w="19050">
              <a:solidFill>
                <a:schemeClr val="accent1"/>
              </a:solidFill>
            </a:ln>
          </p:spPr>
        </p:sp>
        <p:sp>
          <p:nvSpPr>
            <p:cNvPr id="25" name="Freeform 25"/>
            <p:cNvSpPr/>
            <p:nvPr/>
          </p:nvSpPr>
          <p:spPr>
            <a:xfrm>
              <a:off x="711200" y="5125111"/>
              <a:ext cx="267081" cy="267518"/>
            </a:xfrm>
            <a:custGeom>
              <a:avLst/>
              <a:gdLst/>
              <a:ahLst/>
              <a:cxnLst/>
              <a:rect l="l" t="t" r="r" b="b"/>
              <a:pathLst>
                <a:path w="267081" h="267518">
                  <a:moveTo>
                    <a:pt x="190500" y="22707"/>
                  </a:moveTo>
                  <a:cubicBezTo>
                    <a:pt x="243425" y="53266"/>
                    <a:pt x="267081" y="117187"/>
                    <a:pt x="246798" y="174837"/>
                  </a:cubicBezTo>
                  <a:cubicBezTo>
                    <a:pt x="226516" y="232488"/>
                    <a:pt x="168049" y="267518"/>
                    <a:pt x="107648" y="258207"/>
                  </a:cubicBezTo>
                  <a:cubicBezTo>
                    <a:pt x="47247" y="248896"/>
                    <a:pt x="2043" y="197886"/>
                    <a:pt x="63" y="136803"/>
                  </a:cubicBezTo>
                  <a:lnTo>
                    <a:pt x="0" y="132688"/>
                  </a:lnTo>
                  <a:lnTo>
                    <a:pt x="63" y="128574"/>
                  </a:lnTo>
                  <a:cubicBezTo>
                    <a:pt x="1510" y="83958"/>
                    <a:pt x="26274" y="43379"/>
                    <a:pt x="65289" y="21689"/>
                  </a:cubicBezTo>
                  <a:cubicBezTo>
                    <a:pt x="104304" y="0"/>
                    <a:pt x="151842" y="386"/>
                    <a:pt x="190500" y="22707"/>
                  </a:cubicBezTo>
                  <a:close/>
                  <a:moveTo>
                    <a:pt x="174078" y="98310"/>
                  </a:moveTo>
                  <a:cubicBezTo>
                    <a:pt x="169554" y="93786"/>
                    <a:pt x="162370" y="93334"/>
                    <a:pt x="157315" y="97256"/>
                  </a:cubicBezTo>
                  <a:lnTo>
                    <a:pt x="156121" y="98310"/>
                  </a:lnTo>
                  <a:lnTo>
                    <a:pt x="114300" y="140118"/>
                  </a:lnTo>
                  <a:lnTo>
                    <a:pt x="97879" y="123710"/>
                  </a:lnTo>
                  <a:lnTo>
                    <a:pt x="96685" y="122656"/>
                  </a:lnTo>
                  <a:cubicBezTo>
                    <a:pt x="91629" y="118737"/>
                    <a:pt x="84448" y="119190"/>
                    <a:pt x="79924" y="123713"/>
                  </a:cubicBezTo>
                  <a:cubicBezTo>
                    <a:pt x="75401" y="128236"/>
                    <a:pt x="74948" y="135418"/>
                    <a:pt x="78867" y="140474"/>
                  </a:cubicBezTo>
                  <a:lnTo>
                    <a:pt x="79921" y="141667"/>
                  </a:lnTo>
                  <a:lnTo>
                    <a:pt x="105321" y="167067"/>
                  </a:lnTo>
                  <a:lnTo>
                    <a:pt x="106515" y="168121"/>
                  </a:lnTo>
                  <a:cubicBezTo>
                    <a:pt x="111096" y="171676"/>
                    <a:pt x="117503" y="171676"/>
                    <a:pt x="122085" y="168121"/>
                  </a:cubicBezTo>
                  <a:lnTo>
                    <a:pt x="123279" y="167067"/>
                  </a:lnTo>
                  <a:lnTo>
                    <a:pt x="174078" y="116267"/>
                  </a:lnTo>
                  <a:lnTo>
                    <a:pt x="175133" y="115074"/>
                  </a:lnTo>
                  <a:cubicBezTo>
                    <a:pt x="179054" y="110018"/>
                    <a:pt x="178603" y="102834"/>
                    <a:pt x="174078" y="98310"/>
                  </a:cubicBezTo>
                  <a:close/>
                </a:path>
              </a:pathLst>
            </a:custGeom>
            <a:solidFill>
              <a:schemeClr val="accent1"/>
            </a:solidFill>
            <a:ln>
              <a:noFill/>
            </a:ln>
          </p:spPr>
        </p:sp>
        <p:sp>
          <p:nvSpPr>
            <p:cNvPr id="26" name="TextBox 26"/>
            <p:cNvSpPr txBox="1"/>
            <p:nvPr/>
          </p:nvSpPr>
          <p:spPr>
            <a:xfrm>
              <a:off x="1114806" y="5149215"/>
              <a:ext cx="5506745"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選んで押すだけで、改修済みのブックが別ファイルとして手に入ります。</a:t>
              </a:r>
            </a:p>
          </p:txBody>
        </p:sp>
      </p:grpSp>
      <p:grpSp>
        <p:nvGrpSpPr>
          <p:cNvPr id="30" name="Group 30"/>
          <p:cNvGrpSpPr/>
          <p:nvPr/>
        </p:nvGrpSpPr>
        <p:grpSpPr>
          <a:xfrm>
            <a:off x="374904" y="6461760"/>
            <a:ext cx="11442192" cy="234696"/>
            <a:chOff x="374904" y="6461760"/>
            <a:chExt cx="11442192" cy="234696"/>
          </a:xfrm>
        </p:grpSpPr>
        <p:sp>
          <p:nvSpPr>
            <p:cNvPr id="28" name="TextBox 28"/>
            <p:cNvSpPr txBox="1"/>
            <p:nvPr/>
          </p:nvSpPr>
          <p:spPr>
            <a:xfrm>
              <a:off x="374904" y="6461760"/>
              <a:ext cx="1223772"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第一部 サービス説明</a:t>
              </a:r>
            </a:p>
          </p:txBody>
        </p:sp>
        <p:sp>
          <p:nvSpPr>
            <p:cNvPr id="29" name="TextBox 29"/>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02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792756" y="568642"/>
              <a:ext cx="586188"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第一部</a:t>
              </a:r>
            </a:p>
          </p:txBody>
        </p:sp>
        <p:sp>
          <p:nvSpPr>
            <p:cNvPr id="4" name="TextBox 4"/>
            <p:cNvSpPr txBox="1"/>
            <p:nvPr/>
          </p:nvSpPr>
          <p:spPr>
            <a:xfrm>
              <a:off x="1946148" y="479108"/>
              <a:ext cx="1412297"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使う前に</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6" name="Group 16"/>
          <p:cNvGrpSpPr/>
          <p:nvPr/>
        </p:nvGrpSpPr>
        <p:grpSpPr>
          <a:xfrm>
            <a:off x="381000" y="1600200"/>
            <a:ext cx="5600700" cy="3238500"/>
            <a:chOff x="381000" y="1600200"/>
            <a:chExt cx="5600700" cy="3238500"/>
          </a:xfrm>
        </p:grpSpPr>
        <p:sp>
          <p:nvSpPr>
            <p:cNvPr id="7" name="Rectangle 7"/>
            <p:cNvSpPr/>
            <p:nvPr/>
          </p:nvSpPr>
          <p:spPr>
            <a:xfrm>
              <a:off x="381000" y="1600200"/>
              <a:ext cx="5600700" cy="3238500"/>
            </a:xfrm>
            <a:prstGeom prst="roundRect">
              <a:avLst>
                <a:gd name="adj" fmla="val 4706"/>
              </a:avLst>
            </a:prstGeom>
            <a:solidFill>
              <a:schemeClr val="lt2"/>
            </a:solidFill>
            <a:ln>
              <a:noFill/>
            </a:ln>
          </p:spPr>
        </p:sp>
        <p:sp>
          <p:nvSpPr>
            <p:cNvPr id="8" name="Freeform 8"/>
            <p:cNvSpPr/>
            <p:nvPr/>
          </p:nvSpPr>
          <p:spPr>
            <a:xfrm>
              <a:off x="771524" y="1947149"/>
              <a:ext cx="214321" cy="258602"/>
            </a:xfrm>
            <a:custGeom>
              <a:avLst/>
              <a:gdLst/>
              <a:ahLst/>
              <a:cxnLst/>
              <a:rect l="l" t="t" r="r" b="b"/>
              <a:pathLst>
                <a:path w="214321" h="258602">
                  <a:moveTo>
                    <a:pt x="1" y="15001"/>
                  </a:moveTo>
                  <a:lnTo>
                    <a:pt x="1" y="243601"/>
                  </a:lnTo>
                  <a:cubicBezTo>
                    <a:pt x="0" y="248778"/>
                    <a:pt x="2799" y="253550"/>
                    <a:pt x="7317" y="256076"/>
                  </a:cubicBezTo>
                  <a:cubicBezTo>
                    <a:pt x="11835" y="258602"/>
                    <a:pt x="17367" y="258486"/>
                    <a:pt x="21776" y="255774"/>
                  </a:cubicBezTo>
                  <a:lnTo>
                    <a:pt x="207513" y="141474"/>
                  </a:lnTo>
                  <a:cubicBezTo>
                    <a:pt x="211743" y="138875"/>
                    <a:pt x="214321" y="134266"/>
                    <a:pt x="214321" y="129301"/>
                  </a:cubicBezTo>
                  <a:cubicBezTo>
                    <a:pt x="214321" y="124336"/>
                    <a:pt x="211743" y="119727"/>
                    <a:pt x="207513" y="117128"/>
                  </a:cubicBezTo>
                  <a:lnTo>
                    <a:pt x="21776" y="2828"/>
                  </a:lnTo>
                  <a:cubicBezTo>
                    <a:pt x="17367" y="116"/>
                    <a:pt x="11835" y="0"/>
                    <a:pt x="7317" y="2526"/>
                  </a:cubicBezTo>
                  <a:cubicBezTo>
                    <a:pt x="2799" y="5052"/>
                    <a:pt x="0" y="9824"/>
                    <a:pt x="1" y="15001"/>
                  </a:cubicBezTo>
                  <a:close/>
                </a:path>
              </a:pathLst>
            </a:custGeom>
            <a:solidFill>
              <a:schemeClr val="accent1"/>
            </a:solidFill>
            <a:ln>
              <a:noFill/>
            </a:ln>
          </p:spPr>
        </p:sp>
        <p:sp>
          <p:nvSpPr>
            <p:cNvPr id="9" name="TextBox 9"/>
            <p:cNvSpPr txBox="1"/>
            <p:nvPr/>
          </p:nvSpPr>
          <p:spPr>
            <a:xfrm>
              <a:off x="1130808" y="1912620"/>
              <a:ext cx="144920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用意するもの</a:t>
              </a:r>
            </a:p>
          </p:txBody>
        </p:sp>
        <p:sp>
          <p:nvSpPr>
            <p:cNvPr id="10" name="Ellipse 10"/>
            <p:cNvSpPr/>
            <p:nvPr/>
          </p:nvSpPr>
          <p:spPr>
            <a:xfrm>
              <a:off x="742950" y="2686050"/>
              <a:ext cx="152400" cy="152400"/>
            </a:xfrm>
            <a:prstGeom prst="ellipse">
              <a:avLst/>
            </a:prstGeom>
            <a:solidFill>
              <a:schemeClr val="accent3"/>
            </a:solidFill>
            <a:ln>
              <a:noFill/>
            </a:ln>
          </p:spPr>
        </p:sp>
        <p:sp>
          <p:nvSpPr>
            <p:cNvPr id="11" name="TextBox 11"/>
            <p:cNvSpPr txBox="1"/>
            <p:nvPr/>
          </p:nvSpPr>
          <p:spPr>
            <a:xfrm>
              <a:off x="1057656" y="2644140"/>
              <a:ext cx="351586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改修したいブック（.xlsm / .xlam / .xlsb / .xls）</a:t>
              </a:r>
            </a:p>
          </p:txBody>
        </p:sp>
        <p:sp>
          <p:nvSpPr>
            <p:cNvPr id="12" name="Ellipse 12"/>
            <p:cNvSpPr/>
            <p:nvPr/>
          </p:nvSpPr>
          <p:spPr>
            <a:xfrm>
              <a:off x="742950" y="3562350"/>
              <a:ext cx="152400" cy="152400"/>
            </a:xfrm>
            <a:prstGeom prst="ellipse">
              <a:avLst/>
            </a:prstGeom>
            <a:solidFill>
              <a:schemeClr val="accent3"/>
            </a:solidFill>
            <a:ln>
              <a:noFill/>
            </a:ln>
          </p:spPr>
        </p:sp>
        <p:sp>
          <p:nvSpPr>
            <p:cNvPr id="13" name="TextBox 13"/>
            <p:cNvSpPr txBox="1"/>
            <p:nvPr/>
          </p:nvSpPr>
          <p:spPr>
            <a:xfrm>
              <a:off x="1057656" y="3520440"/>
              <a:ext cx="243779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ファイルを添付できるAIチャット</a:t>
              </a:r>
            </a:p>
          </p:txBody>
        </p:sp>
        <p:sp>
          <p:nvSpPr>
            <p:cNvPr id="14" name="Ellipse 14"/>
            <p:cNvSpPr/>
            <p:nvPr/>
          </p:nvSpPr>
          <p:spPr>
            <a:xfrm>
              <a:off x="742950" y="4114800"/>
              <a:ext cx="152400" cy="152400"/>
            </a:xfrm>
            <a:prstGeom prst="ellipse">
              <a:avLst/>
            </a:prstGeom>
            <a:solidFill>
              <a:schemeClr val="accent3"/>
            </a:solidFill>
            <a:ln>
              <a:noFill/>
            </a:ln>
          </p:spPr>
        </p:sp>
        <p:sp>
          <p:nvSpPr>
            <p:cNvPr id="15" name="TextBox 15"/>
            <p:cNvSpPr txBox="1"/>
            <p:nvPr/>
          </p:nvSpPr>
          <p:spPr>
            <a:xfrm>
              <a:off x="1057656" y="4072890"/>
              <a:ext cx="1812798" cy="675894"/>
            </a:xfrm>
            <a:prstGeom prst="rect">
              <a:avLst/>
            </a:prstGeom>
            <a:noFill/>
            <a:ln>
              <a:noFill/>
            </a:ln>
          </p:spPr>
          <p:txBody>
            <a:bodyPr wrap="square" lIns="0" tIns="0" rIns="0" bIns="0" anchor="t" anchorCtr="0"/>
            <a:lstStyle/>
            <a:p>
              <a:pPr algn="l">
                <a:lnSpc>
                  <a:spcPts val="2550"/>
                </a:lnSpc>
              </a:pPr>
              <a:r>
                <a:rPr lang="en-US" sz="1800" dirty="0">
                  <a:solidFill>
                    <a:schemeClr val="dk1"/>
                  </a:solidFill>
                  <a:latin typeface="+mn-lt"/>
                  <a:ea typeface="+mn-ea"/>
                  <a:cs typeface="+mn-cs"/>
                </a:rPr>
                <a:t>Windows 10・11</a:t>
              </a:r>
              <a:r>
                <a:rPr lang="zh-CN" sz="1800" dirty="0">
                  <a:solidFill>
                    <a:schemeClr val="dk1"/>
                  </a:solidFill>
                  <a:latin typeface="+mn-lt"/>
                  <a:ea typeface="+mn-ea"/>
                  <a:cs typeface="+mn-cs"/>
                </a:rPr>
                <a:t>（インストールは不要）</a:t>
              </a:r>
            </a:p>
          </p:txBody>
        </p:sp>
      </p:grpSp>
      <p:grpSp>
        <p:nvGrpSpPr>
          <p:cNvPr id="28" name="Group 28"/>
          <p:cNvGrpSpPr/>
          <p:nvPr/>
        </p:nvGrpSpPr>
        <p:grpSpPr>
          <a:xfrm>
            <a:off x="6210300" y="1600200"/>
            <a:ext cx="5600700" cy="3238500"/>
            <a:chOff x="6210300" y="1600200"/>
            <a:chExt cx="5600700" cy="3238500"/>
          </a:xfrm>
        </p:grpSpPr>
        <p:sp>
          <p:nvSpPr>
            <p:cNvPr id="17" name="Rectangle 17"/>
            <p:cNvSpPr/>
            <p:nvPr/>
          </p:nvSpPr>
          <p:spPr>
            <a:xfrm>
              <a:off x="6210300" y="1600200"/>
              <a:ext cx="5600700" cy="3238500"/>
            </a:xfrm>
            <a:prstGeom prst="roundRect">
              <a:avLst>
                <a:gd name="adj" fmla="val 4706"/>
              </a:avLst>
            </a:prstGeom>
            <a:solidFill>
              <a:schemeClr val="accent5"/>
            </a:solidFill>
            <a:ln w="9525">
              <a:solidFill>
                <a:srgbClr val="E2E8F0"/>
              </a:solidFill>
            </a:ln>
          </p:spPr>
        </p:sp>
        <p:grpSp>
          <p:nvGrpSpPr>
            <p:cNvPr id="20" name="Group 20"/>
            <p:cNvGrpSpPr/>
            <p:nvPr/>
          </p:nvGrpSpPr>
          <p:grpSpPr>
            <a:xfrm>
              <a:off x="6572249" y="1933575"/>
              <a:ext cx="228603" cy="285751"/>
              <a:chOff x="6572249" y="1933575"/>
              <a:chExt cx="228603" cy="285751"/>
            </a:xfrm>
          </p:grpSpPr>
          <p:sp>
            <p:nvSpPr>
              <p:cNvPr id="18" name="Freeform 18"/>
              <p:cNvSpPr/>
              <p:nvPr/>
            </p:nvSpPr>
            <p:spPr>
              <a:xfrm>
                <a:off x="6572249" y="1933575"/>
                <a:ext cx="228603" cy="285751"/>
              </a:xfrm>
              <a:custGeom>
                <a:avLst/>
                <a:gdLst/>
                <a:ahLst/>
                <a:cxnLst/>
                <a:rect l="l" t="t" r="r" b="b"/>
                <a:pathLst>
                  <a:path w="228603" h="285751">
                    <a:moveTo>
                      <a:pt x="114301" y="0"/>
                    </a:moveTo>
                    <a:lnTo>
                      <a:pt x="115973" y="100"/>
                    </a:lnTo>
                    <a:cubicBezTo>
                      <a:pt x="122538" y="874"/>
                      <a:pt x="127715" y="6051"/>
                      <a:pt x="128489" y="12616"/>
                    </a:cubicBezTo>
                    <a:lnTo>
                      <a:pt x="128589" y="14288"/>
                    </a:lnTo>
                    <a:lnTo>
                      <a:pt x="128589" y="71438"/>
                    </a:lnTo>
                    <a:lnTo>
                      <a:pt x="128660" y="73581"/>
                    </a:lnTo>
                    <a:cubicBezTo>
                      <a:pt x="129717" y="87638"/>
                      <a:pt x="140867" y="98825"/>
                      <a:pt x="154921" y="99927"/>
                    </a:cubicBezTo>
                    <a:lnTo>
                      <a:pt x="157164" y="100012"/>
                    </a:lnTo>
                    <a:lnTo>
                      <a:pt x="214314" y="100012"/>
                    </a:lnTo>
                    <a:lnTo>
                      <a:pt x="215985" y="100113"/>
                    </a:lnTo>
                    <a:cubicBezTo>
                      <a:pt x="222550" y="100887"/>
                      <a:pt x="227727" y="106063"/>
                      <a:pt x="228501" y="112628"/>
                    </a:cubicBezTo>
                    <a:lnTo>
                      <a:pt x="228601" y="114300"/>
                    </a:lnTo>
                    <a:lnTo>
                      <a:pt x="228601" y="242888"/>
                    </a:lnTo>
                    <a:cubicBezTo>
                      <a:pt x="228603" y="265584"/>
                      <a:pt x="210911" y="284347"/>
                      <a:pt x="188253" y="285679"/>
                    </a:cubicBezTo>
                    <a:lnTo>
                      <a:pt x="185739" y="285750"/>
                    </a:lnTo>
                    <a:lnTo>
                      <a:pt x="42864" y="285750"/>
                    </a:lnTo>
                    <a:cubicBezTo>
                      <a:pt x="20167" y="285751"/>
                      <a:pt x="1404" y="268060"/>
                      <a:pt x="73" y="245402"/>
                    </a:cubicBezTo>
                    <a:lnTo>
                      <a:pt x="1" y="242888"/>
                    </a:lnTo>
                    <a:lnTo>
                      <a:pt x="1" y="42862"/>
                    </a:lnTo>
                    <a:cubicBezTo>
                      <a:pt x="0" y="20166"/>
                      <a:pt x="17692" y="1403"/>
                      <a:pt x="40349" y="71"/>
                    </a:cubicBezTo>
                    <a:lnTo>
                      <a:pt x="42864" y="0"/>
                    </a:lnTo>
                    <a:close/>
                    <a:moveTo>
                      <a:pt x="92113" y="158677"/>
                    </a:moveTo>
                    <a:cubicBezTo>
                      <a:pt x="85058" y="155154"/>
                      <a:pt x="76483" y="158012"/>
                      <a:pt x="72953" y="165063"/>
                    </a:cubicBezTo>
                    <a:lnTo>
                      <a:pt x="58666" y="193638"/>
                    </a:lnTo>
                    <a:cubicBezTo>
                      <a:pt x="56657" y="197659"/>
                      <a:pt x="56657" y="202391"/>
                      <a:pt x="58666" y="206412"/>
                    </a:cubicBezTo>
                    <a:lnTo>
                      <a:pt x="72953" y="234987"/>
                    </a:lnTo>
                    <a:cubicBezTo>
                      <a:pt x="76483" y="242038"/>
                      <a:pt x="85058" y="244896"/>
                      <a:pt x="92113" y="241373"/>
                    </a:cubicBezTo>
                    <a:lnTo>
                      <a:pt x="93570" y="240544"/>
                    </a:lnTo>
                    <a:cubicBezTo>
                      <a:pt x="99621" y="236566"/>
                      <a:pt x="101739" y="228690"/>
                      <a:pt x="98499" y="222213"/>
                    </a:cubicBezTo>
                    <a:lnTo>
                      <a:pt x="87412" y="200025"/>
                    </a:lnTo>
                    <a:lnTo>
                      <a:pt x="98499" y="177837"/>
                    </a:lnTo>
                    <a:cubicBezTo>
                      <a:pt x="102022" y="170782"/>
                      <a:pt x="99164" y="162207"/>
                      <a:pt x="92113" y="158677"/>
                    </a:cubicBezTo>
                    <a:moveTo>
                      <a:pt x="155649" y="165063"/>
                    </a:moveTo>
                    <a:cubicBezTo>
                      <a:pt x="152119" y="158012"/>
                      <a:pt x="143544" y="155154"/>
                      <a:pt x="136490" y="158677"/>
                    </a:cubicBezTo>
                    <a:lnTo>
                      <a:pt x="135032" y="159506"/>
                    </a:lnTo>
                    <a:cubicBezTo>
                      <a:pt x="128981" y="163484"/>
                      <a:pt x="126863" y="171360"/>
                      <a:pt x="130103" y="177837"/>
                    </a:cubicBezTo>
                    <a:lnTo>
                      <a:pt x="141162" y="200025"/>
                    </a:lnTo>
                    <a:lnTo>
                      <a:pt x="130089" y="222213"/>
                    </a:lnTo>
                    <a:cubicBezTo>
                      <a:pt x="126852" y="229221"/>
                      <a:pt x="129766" y="237532"/>
                      <a:pt x="136670" y="240984"/>
                    </a:cubicBezTo>
                    <a:cubicBezTo>
                      <a:pt x="143574" y="244436"/>
                      <a:pt x="151971" y="241780"/>
                      <a:pt x="155635" y="234987"/>
                    </a:cubicBezTo>
                    <a:lnTo>
                      <a:pt x="169923" y="206412"/>
                    </a:lnTo>
                    <a:cubicBezTo>
                      <a:pt x="171932" y="202391"/>
                      <a:pt x="171932" y="197659"/>
                      <a:pt x="169923" y="193638"/>
                    </a:cubicBezTo>
                    <a:close/>
                  </a:path>
                </a:pathLst>
              </a:custGeom>
              <a:solidFill>
                <a:schemeClr val="accent1"/>
              </a:solidFill>
              <a:ln>
                <a:noFill/>
              </a:ln>
            </p:spPr>
          </p:sp>
          <p:sp>
            <p:nvSpPr>
              <p:cNvPr id="19" name="Freeform 19"/>
              <p:cNvSpPr/>
              <p:nvPr/>
            </p:nvSpPr>
            <p:spPr>
              <a:xfrm>
                <a:off x="6729398" y="1947848"/>
                <a:ext cx="57164" cy="57164"/>
              </a:xfrm>
              <a:custGeom>
                <a:avLst/>
                <a:gdLst/>
                <a:ahLst/>
                <a:cxnLst/>
                <a:rect l="l" t="t" r="r" b="b"/>
                <a:pathLst>
                  <a:path w="57164" h="57164">
                    <a:moveTo>
                      <a:pt x="57164" y="57164"/>
                    </a:moveTo>
                    <a:lnTo>
                      <a:pt x="14" y="57164"/>
                    </a:lnTo>
                    <a:lnTo>
                      <a:pt x="0" y="0"/>
                    </a:lnTo>
                    <a:close/>
                  </a:path>
                </a:pathLst>
              </a:custGeom>
              <a:solidFill>
                <a:schemeClr val="accent1"/>
              </a:solidFill>
              <a:ln>
                <a:noFill/>
              </a:ln>
            </p:spPr>
          </p:sp>
        </p:grpSp>
        <p:sp>
          <p:nvSpPr>
            <p:cNvPr id="21" name="TextBox 21"/>
            <p:cNvSpPr txBox="1"/>
            <p:nvPr/>
          </p:nvSpPr>
          <p:spPr>
            <a:xfrm>
              <a:off x="6960108" y="1912620"/>
              <a:ext cx="1669710"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向いているマクロ</a:t>
              </a:r>
            </a:p>
          </p:txBody>
        </p:sp>
        <p:sp>
          <p:nvSpPr>
            <p:cNvPr id="22" name="Ellipse 22"/>
            <p:cNvSpPr/>
            <p:nvPr/>
          </p:nvSpPr>
          <p:spPr>
            <a:xfrm>
              <a:off x="6572250" y="2686050"/>
              <a:ext cx="152400" cy="152400"/>
            </a:xfrm>
            <a:prstGeom prst="ellipse">
              <a:avLst/>
            </a:prstGeom>
            <a:solidFill>
              <a:schemeClr val="accent3"/>
            </a:solidFill>
            <a:ln>
              <a:noFill/>
            </a:ln>
          </p:spPr>
        </p:sp>
        <p:sp>
          <p:nvSpPr>
            <p:cNvPr id="23" name="TextBox 23"/>
            <p:cNvSpPr txBox="1"/>
            <p:nvPr/>
          </p:nvSpPr>
          <p:spPr>
            <a:xfrm>
              <a:off x="6886956" y="2644140"/>
              <a:ext cx="242933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部門で使っている独自のマクロ</a:t>
              </a:r>
            </a:p>
          </p:txBody>
        </p:sp>
        <p:sp>
          <p:nvSpPr>
            <p:cNvPr id="24" name="Ellipse 24"/>
            <p:cNvSpPr/>
            <p:nvPr/>
          </p:nvSpPr>
          <p:spPr>
            <a:xfrm>
              <a:off x="6572250" y="3238500"/>
              <a:ext cx="152400" cy="152400"/>
            </a:xfrm>
            <a:prstGeom prst="ellipse">
              <a:avLst/>
            </a:prstGeom>
            <a:solidFill>
              <a:schemeClr val="accent3"/>
            </a:solidFill>
            <a:ln>
              <a:noFill/>
            </a:ln>
          </p:spPr>
        </p:sp>
        <p:sp>
          <p:nvSpPr>
            <p:cNvPr id="25" name="TextBox 25"/>
            <p:cNvSpPr txBox="1"/>
            <p:nvPr/>
          </p:nvSpPr>
          <p:spPr>
            <a:xfrm>
              <a:off x="6886956" y="3196590"/>
              <a:ext cx="258683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新しい端末で動かなくなったマクロ</a:t>
              </a:r>
            </a:p>
          </p:txBody>
        </p:sp>
        <p:sp>
          <p:nvSpPr>
            <p:cNvPr id="26" name="Ellipse 26"/>
            <p:cNvSpPr/>
            <p:nvPr/>
          </p:nvSpPr>
          <p:spPr>
            <a:xfrm>
              <a:off x="6572250" y="3790950"/>
              <a:ext cx="152400" cy="152400"/>
            </a:xfrm>
            <a:prstGeom prst="ellipse">
              <a:avLst/>
            </a:prstGeom>
            <a:solidFill>
              <a:schemeClr val="accent3"/>
            </a:solidFill>
            <a:ln>
              <a:noFill/>
            </a:ln>
          </p:spPr>
        </p:sp>
        <p:sp>
          <p:nvSpPr>
            <p:cNvPr id="27" name="TextBox 27"/>
            <p:cNvSpPr txBox="1"/>
            <p:nvPr/>
          </p:nvSpPr>
          <p:spPr>
            <a:xfrm>
              <a:off x="6886956" y="3749040"/>
              <a:ext cx="210220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作った人がいなくなったマクロ</a:t>
              </a:r>
            </a:p>
          </p:txBody>
        </p:sp>
      </p:grpSp>
      <p:grpSp>
        <p:nvGrpSpPr>
          <p:cNvPr id="31" name="Group 31"/>
          <p:cNvGrpSpPr/>
          <p:nvPr/>
        </p:nvGrpSpPr>
        <p:grpSpPr>
          <a:xfrm>
            <a:off x="381000" y="5219700"/>
            <a:ext cx="11430000" cy="609600"/>
            <a:chOff x="381000" y="5219700"/>
            <a:chExt cx="11430000" cy="609600"/>
          </a:xfrm>
        </p:grpSpPr>
        <p:sp>
          <p:nvSpPr>
            <p:cNvPr id="29" name="Rectangle 29"/>
            <p:cNvSpPr/>
            <p:nvPr/>
          </p:nvSpPr>
          <p:spPr>
            <a:xfrm>
              <a:off x="381000" y="5219700"/>
              <a:ext cx="11430000" cy="609600"/>
            </a:xfrm>
            <a:prstGeom prst="roundRect">
              <a:avLst>
                <a:gd name="adj" fmla="val 25000"/>
              </a:avLst>
            </a:prstGeom>
            <a:solidFill>
              <a:schemeClr val="lt1"/>
            </a:solidFill>
            <a:ln w="19050">
              <a:solidFill>
                <a:schemeClr val="accent1"/>
              </a:solidFill>
            </a:ln>
          </p:spPr>
        </p:sp>
        <p:sp>
          <p:nvSpPr>
            <p:cNvPr id="30" name="TextBox 30"/>
            <p:cNvSpPr txBox="1"/>
            <p:nvPr/>
          </p:nvSpPr>
          <p:spPr>
            <a:xfrm>
              <a:off x="676656" y="5415915"/>
              <a:ext cx="376207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 xml:space="preserve">起動は </a:t>
              </a:r>
              <a:r>
                <a:rPr lang="en-US" sz="1800" dirty="0">
                  <a:solidFill>
                    <a:schemeClr val="dk1"/>
                  </a:solidFill>
                  <a:latin typeface="Consolas"/>
                  <a:ea typeface="Consolas"/>
                  <a:cs typeface="Consolas"/>
                </a:rPr>
                <a:t>launch.vbs</a:t>
              </a:r>
              <a:r>
                <a:rPr lang="zh-CN" sz="1800" dirty="0">
                  <a:solidFill>
                    <a:schemeClr val="dk1"/>
                  </a:solidFill>
                  <a:latin typeface="+mn-lt"/>
                  <a:ea typeface="+mn-ea"/>
                  <a:cs typeface="+mn-cs"/>
                </a:rPr>
                <a:t xml:space="preserve"> をダブルクリックします。</a:t>
              </a:r>
            </a:p>
          </p:txBody>
        </p:sp>
      </p:grpSp>
      <p:grpSp>
        <p:nvGrpSpPr>
          <p:cNvPr id="34" name="Group 34"/>
          <p:cNvGrpSpPr/>
          <p:nvPr/>
        </p:nvGrpSpPr>
        <p:grpSpPr>
          <a:xfrm>
            <a:off x="374904" y="6461760"/>
            <a:ext cx="11442192" cy="234696"/>
            <a:chOff x="374904" y="6461760"/>
            <a:chExt cx="11442192" cy="234696"/>
          </a:xfrm>
        </p:grpSpPr>
        <p:sp>
          <p:nvSpPr>
            <p:cNvPr id="32" name="TextBox 32"/>
            <p:cNvSpPr txBox="1"/>
            <p:nvPr/>
          </p:nvSpPr>
          <p:spPr>
            <a:xfrm>
              <a:off x="374904" y="6461760"/>
              <a:ext cx="1223772"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第一部 サービス説明</a:t>
              </a:r>
            </a:p>
          </p:txBody>
        </p:sp>
        <p:sp>
          <p:nvSpPr>
            <p:cNvPr id="33" name="TextBox 33"/>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03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792756" y="568642"/>
              <a:ext cx="586188"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第二部</a:t>
              </a:r>
            </a:p>
          </p:txBody>
        </p:sp>
        <p:sp>
          <p:nvSpPr>
            <p:cNvPr id="4" name="TextBox 4"/>
            <p:cNvSpPr txBox="1"/>
            <p:nvPr/>
          </p:nvSpPr>
          <p:spPr>
            <a:xfrm>
              <a:off x="1946148" y="479108"/>
              <a:ext cx="1857552"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全体の流れ</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1" name="Group 11"/>
          <p:cNvGrpSpPr/>
          <p:nvPr/>
        </p:nvGrpSpPr>
        <p:grpSpPr>
          <a:xfrm>
            <a:off x="381000" y="1714500"/>
            <a:ext cx="2514600" cy="1453134"/>
            <a:chOff x="381000" y="1714500"/>
            <a:chExt cx="2514600" cy="1453134"/>
          </a:xfrm>
        </p:grpSpPr>
        <p:sp>
          <p:nvSpPr>
            <p:cNvPr id="7" name="Rectangle 7"/>
            <p:cNvSpPr/>
            <p:nvPr/>
          </p:nvSpPr>
          <p:spPr>
            <a:xfrm>
              <a:off x="381000" y="1714500"/>
              <a:ext cx="2514600" cy="1333500"/>
            </a:xfrm>
            <a:prstGeom prst="roundRect">
              <a:avLst>
                <a:gd name="adj" fmla="val 11429"/>
              </a:avLst>
            </a:prstGeom>
            <a:solidFill>
              <a:schemeClr val="lt2"/>
            </a:solidFill>
            <a:ln>
              <a:noFill/>
            </a:ln>
          </p:spPr>
        </p:sp>
        <p:sp>
          <p:nvSpPr>
            <p:cNvPr id="8" name="Ellipse 8"/>
            <p:cNvSpPr/>
            <p:nvPr/>
          </p:nvSpPr>
          <p:spPr>
            <a:xfrm>
              <a:off x="571500" y="1905000"/>
              <a:ext cx="381000" cy="381000"/>
            </a:xfrm>
            <a:prstGeom prst="ellipse">
              <a:avLst/>
            </a:prstGeom>
            <a:solidFill>
              <a:schemeClr val="accent1"/>
            </a:solidFill>
            <a:ln>
              <a:noFill/>
            </a:ln>
          </p:spPr>
        </p:sp>
        <p:sp>
          <p:nvSpPr>
            <p:cNvPr id="9" name="TextBox 9"/>
            <p:cNvSpPr txBox="1"/>
            <p:nvPr/>
          </p:nvSpPr>
          <p:spPr>
            <a:xfrm>
              <a:off x="689480" y="1993582"/>
              <a:ext cx="145040"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mn-lt"/>
                  <a:ea typeface="+mn-ea"/>
                  <a:cs typeface="+mn-cs"/>
                </a:rPr>
                <a:t>1</a:t>
              </a:r>
            </a:p>
          </p:txBody>
        </p:sp>
        <p:sp>
          <p:nvSpPr>
            <p:cNvPr id="10" name="TextBox 10"/>
            <p:cNvSpPr txBox="1"/>
            <p:nvPr/>
          </p:nvSpPr>
          <p:spPr>
            <a:xfrm>
              <a:off x="676656" y="2510790"/>
              <a:ext cx="762381" cy="656844"/>
            </a:xfrm>
            <a:prstGeom prst="rect">
              <a:avLst/>
            </a:prstGeom>
            <a:noFill/>
            <a:ln>
              <a:noFill/>
            </a:ln>
          </p:spPr>
          <p:txBody>
            <a:bodyPr wrap="square" lIns="0" tIns="0" rIns="0" bIns="0" anchor="t" anchorCtr="0"/>
            <a:lstStyle/>
            <a:p>
              <a:pPr algn="l">
                <a:lnSpc>
                  <a:spcPts val="2400"/>
                </a:lnSpc>
              </a:pPr>
              <a:r>
                <a:rPr lang="en-US" sz="1800" b="1" dirty="0">
                  <a:solidFill>
                    <a:schemeClr val="dk1"/>
                  </a:solidFill>
                  <a:latin typeface="+mn-lt"/>
                  <a:ea typeface="+mn-ea"/>
                  <a:cs typeface="+mn-cs"/>
                </a:rPr>
                <a:t>ブックを</a:t>
              </a:r>
              <a:r>
                <a:rPr lang="zh-CN" sz="1800" b="1" dirty="0">
                  <a:solidFill>
                    <a:schemeClr val="dk1"/>
                  </a:solidFill>
                  <a:latin typeface="+mn-lt"/>
                  <a:ea typeface="+mn-ea"/>
                  <a:cs typeface="+mn-cs"/>
                </a:rPr>
                <a:t>読み込む</a:t>
              </a:r>
            </a:p>
          </p:txBody>
        </p:sp>
      </p:grpSp>
      <p:grpSp>
        <p:nvGrpSpPr>
          <p:cNvPr id="13" name="Group 13"/>
          <p:cNvGrpSpPr/>
          <p:nvPr/>
        </p:nvGrpSpPr>
        <p:grpSpPr>
          <a:xfrm>
            <a:off x="2895600" y="2190750"/>
            <a:ext cx="457200" cy="381000"/>
            <a:chOff x="2895600" y="2190750"/>
            <a:chExt cx="457200" cy="381000"/>
          </a:xfrm>
        </p:grpSpPr>
        <p:sp>
          <p:nvSpPr>
            <p:cNvPr id="12" name="Freeform 12"/>
            <p:cNvSpPr/>
            <p:nvPr/>
          </p:nvSpPr>
          <p:spPr>
            <a:xfrm>
              <a:off x="2895600" y="2190750"/>
              <a:ext cx="457200" cy="381000"/>
            </a:xfrm>
            <a:prstGeom prst="rightArrow">
              <a:avLst/>
            </a:prstGeom>
            <a:solidFill>
              <a:schemeClr val="accent3"/>
            </a:solidFill>
            <a:ln>
              <a:noFill/>
            </a:ln>
          </p:spPr>
        </p:sp>
      </p:grpSp>
      <p:grpSp>
        <p:nvGrpSpPr>
          <p:cNvPr id="18" name="Group 18"/>
          <p:cNvGrpSpPr/>
          <p:nvPr/>
        </p:nvGrpSpPr>
        <p:grpSpPr>
          <a:xfrm>
            <a:off x="3352800" y="1714500"/>
            <a:ext cx="2514600" cy="1453134"/>
            <a:chOff x="3352800" y="1714500"/>
            <a:chExt cx="2514600" cy="1453134"/>
          </a:xfrm>
        </p:grpSpPr>
        <p:sp>
          <p:nvSpPr>
            <p:cNvPr id="14" name="Rectangle 14"/>
            <p:cNvSpPr/>
            <p:nvPr/>
          </p:nvSpPr>
          <p:spPr>
            <a:xfrm>
              <a:off x="3352800" y="1714500"/>
              <a:ext cx="2514600" cy="1333500"/>
            </a:xfrm>
            <a:prstGeom prst="roundRect">
              <a:avLst>
                <a:gd name="adj" fmla="val 11429"/>
              </a:avLst>
            </a:prstGeom>
            <a:solidFill>
              <a:schemeClr val="lt2"/>
            </a:solidFill>
            <a:ln>
              <a:noFill/>
            </a:ln>
          </p:spPr>
        </p:sp>
        <p:sp>
          <p:nvSpPr>
            <p:cNvPr id="15" name="Ellipse 15"/>
            <p:cNvSpPr/>
            <p:nvPr/>
          </p:nvSpPr>
          <p:spPr>
            <a:xfrm>
              <a:off x="3543300" y="1905000"/>
              <a:ext cx="381000" cy="381000"/>
            </a:xfrm>
            <a:prstGeom prst="ellipse">
              <a:avLst/>
            </a:prstGeom>
            <a:solidFill>
              <a:schemeClr val="accent1"/>
            </a:solidFill>
            <a:ln>
              <a:noFill/>
            </a:ln>
          </p:spPr>
        </p:sp>
        <p:sp>
          <p:nvSpPr>
            <p:cNvPr id="16" name="TextBox 16"/>
            <p:cNvSpPr txBox="1"/>
            <p:nvPr/>
          </p:nvSpPr>
          <p:spPr>
            <a:xfrm>
              <a:off x="3661280" y="1993582"/>
              <a:ext cx="145040"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mn-lt"/>
                  <a:ea typeface="+mn-ea"/>
                  <a:cs typeface="+mn-cs"/>
                </a:rPr>
                <a:t>2</a:t>
              </a:r>
            </a:p>
          </p:txBody>
        </p:sp>
        <p:sp>
          <p:nvSpPr>
            <p:cNvPr id="17" name="TextBox 17"/>
            <p:cNvSpPr txBox="1"/>
            <p:nvPr/>
          </p:nvSpPr>
          <p:spPr>
            <a:xfrm>
              <a:off x="3648456" y="2510790"/>
              <a:ext cx="762381" cy="656844"/>
            </a:xfrm>
            <a:prstGeom prst="rect">
              <a:avLst/>
            </a:prstGeom>
            <a:noFill/>
            <a:ln>
              <a:noFill/>
            </a:ln>
          </p:spPr>
          <p:txBody>
            <a:bodyPr wrap="square" lIns="0" tIns="0" rIns="0" bIns="0" anchor="t" anchorCtr="0"/>
            <a:lstStyle/>
            <a:p>
              <a:pPr algn="l">
                <a:lnSpc>
                  <a:spcPts val="2400"/>
                </a:lnSpc>
              </a:pPr>
              <a:r>
                <a:rPr lang="en-US" sz="1800" b="1" dirty="0">
                  <a:solidFill>
                    <a:schemeClr val="dk1"/>
                  </a:solidFill>
                  <a:latin typeface="+mn-lt"/>
                  <a:ea typeface="+mn-ea"/>
                  <a:cs typeface="+mn-cs"/>
                </a:rPr>
                <a:t>AIへ</a:t>
              </a:r>
              <a:r>
                <a:rPr lang="zh-CN" sz="1800" b="1" dirty="0">
                  <a:solidFill>
                    <a:schemeClr val="dk1"/>
                  </a:solidFill>
                  <a:latin typeface="+mn-lt"/>
                  <a:ea typeface="+mn-ea"/>
                  <a:cs typeface="+mn-cs"/>
                </a:rPr>
                <a:t>依頼する</a:t>
              </a:r>
            </a:p>
          </p:txBody>
        </p:sp>
      </p:grpSp>
      <p:grpSp>
        <p:nvGrpSpPr>
          <p:cNvPr id="20" name="Group 20"/>
          <p:cNvGrpSpPr/>
          <p:nvPr/>
        </p:nvGrpSpPr>
        <p:grpSpPr>
          <a:xfrm>
            <a:off x="5867400" y="2190750"/>
            <a:ext cx="457200" cy="381000"/>
            <a:chOff x="5867400" y="2190750"/>
            <a:chExt cx="457200" cy="381000"/>
          </a:xfrm>
        </p:grpSpPr>
        <p:sp>
          <p:nvSpPr>
            <p:cNvPr id="19" name="Freeform 19"/>
            <p:cNvSpPr/>
            <p:nvPr/>
          </p:nvSpPr>
          <p:spPr>
            <a:xfrm>
              <a:off x="5867400" y="2190750"/>
              <a:ext cx="457200" cy="381000"/>
            </a:xfrm>
            <a:prstGeom prst="rightArrow">
              <a:avLst/>
            </a:prstGeom>
            <a:solidFill>
              <a:schemeClr val="accent3"/>
            </a:solidFill>
            <a:ln>
              <a:noFill/>
            </a:ln>
          </p:spPr>
        </p:sp>
      </p:grpSp>
      <p:grpSp>
        <p:nvGrpSpPr>
          <p:cNvPr id="25" name="Group 25"/>
          <p:cNvGrpSpPr/>
          <p:nvPr/>
        </p:nvGrpSpPr>
        <p:grpSpPr>
          <a:xfrm>
            <a:off x="6324600" y="1714500"/>
            <a:ext cx="2514600" cy="1453134"/>
            <a:chOff x="6324600" y="1714500"/>
            <a:chExt cx="2514600" cy="1453134"/>
          </a:xfrm>
        </p:grpSpPr>
        <p:sp>
          <p:nvSpPr>
            <p:cNvPr id="21" name="Rectangle 21"/>
            <p:cNvSpPr/>
            <p:nvPr/>
          </p:nvSpPr>
          <p:spPr>
            <a:xfrm>
              <a:off x="6324600" y="1714500"/>
              <a:ext cx="2514600" cy="1333500"/>
            </a:xfrm>
            <a:prstGeom prst="roundRect">
              <a:avLst>
                <a:gd name="adj" fmla="val 11429"/>
              </a:avLst>
            </a:prstGeom>
            <a:solidFill>
              <a:schemeClr val="lt2"/>
            </a:solidFill>
            <a:ln>
              <a:noFill/>
            </a:ln>
          </p:spPr>
        </p:sp>
        <p:sp>
          <p:nvSpPr>
            <p:cNvPr id="22" name="Ellipse 22"/>
            <p:cNvSpPr/>
            <p:nvPr/>
          </p:nvSpPr>
          <p:spPr>
            <a:xfrm>
              <a:off x="6515100" y="1905000"/>
              <a:ext cx="381000" cy="381000"/>
            </a:xfrm>
            <a:prstGeom prst="ellipse">
              <a:avLst/>
            </a:prstGeom>
            <a:solidFill>
              <a:schemeClr val="accent1"/>
            </a:solidFill>
            <a:ln>
              <a:noFill/>
            </a:ln>
          </p:spPr>
        </p:sp>
        <p:sp>
          <p:nvSpPr>
            <p:cNvPr id="23" name="TextBox 23"/>
            <p:cNvSpPr txBox="1"/>
            <p:nvPr/>
          </p:nvSpPr>
          <p:spPr>
            <a:xfrm>
              <a:off x="6633080" y="1993582"/>
              <a:ext cx="145040"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mn-lt"/>
                  <a:ea typeface="+mn-ea"/>
                  <a:cs typeface="+mn-cs"/>
                </a:rPr>
                <a:t>3</a:t>
              </a:r>
            </a:p>
          </p:txBody>
        </p:sp>
        <p:sp>
          <p:nvSpPr>
            <p:cNvPr id="24" name="TextBox 24"/>
            <p:cNvSpPr txBox="1"/>
            <p:nvPr/>
          </p:nvSpPr>
          <p:spPr>
            <a:xfrm>
              <a:off x="6620256" y="2510790"/>
              <a:ext cx="762381" cy="656844"/>
            </a:xfrm>
            <a:prstGeom prst="rect">
              <a:avLst/>
            </a:prstGeom>
            <a:noFill/>
            <a:ln>
              <a:noFill/>
            </a:ln>
          </p:spPr>
          <p:txBody>
            <a:bodyPr wrap="square" lIns="0" tIns="0" rIns="0" bIns="0" anchor="t" anchorCtr="0"/>
            <a:lstStyle/>
            <a:p>
              <a:pPr algn="l">
                <a:lnSpc>
                  <a:spcPts val="2400"/>
                </a:lnSpc>
              </a:pPr>
              <a:r>
                <a:rPr lang="zh-CN" sz="1800" b="1" dirty="0">
                  <a:solidFill>
                    <a:schemeClr val="dk1"/>
                  </a:solidFill>
                  <a:latin typeface="+mn-lt"/>
                  <a:ea typeface="+mn-ea"/>
                  <a:cs typeface="+mn-cs"/>
                </a:rPr>
                <a:t>返答を取り込む</a:t>
              </a:r>
            </a:p>
          </p:txBody>
        </p:sp>
      </p:grpSp>
      <p:grpSp>
        <p:nvGrpSpPr>
          <p:cNvPr id="27" name="Group 27"/>
          <p:cNvGrpSpPr/>
          <p:nvPr/>
        </p:nvGrpSpPr>
        <p:grpSpPr>
          <a:xfrm>
            <a:off x="8839200" y="2190750"/>
            <a:ext cx="457200" cy="381000"/>
            <a:chOff x="8839200" y="2190750"/>
            <a:chExt cx="457200" cy="381000"/>
          </a:xfrm>
        </p:grpSpPr>
        <p:sp>
          <p:nvSpPr>
            <p:cNvPr id="26" name="Freeform 26"/>
            <p:cNvSpPr/>
            <p:nvPr/>
          </p:nvSpPr>
          <p:spPr>
            <a:xfrm>
              <a:off x="8839200" y="2190750"/>
              <a:ext cx="457200" cy="381000"/>
            </a:xfrm>
            <a:prstGeom prst="rightArrow">
              <a:avLst/>
            </a:prstGeom>
            <a:solidFill>
              <a:schemeClr val="accent3"/>
            </a:solidFill>
            <a:ln>
              <a:noFill/>
            </a:ln>
          </p:spPr>
        </p:sp>
      </p:grpSp>
      <p:grpSp>
        <p:nvGrpSpPr>
          <p:cNvPr id="32" name="Group 32"/>
          <p:cNvGrpSpPr/>
          <p:nvPr/>
        </p:nvGrpSpPr>
        <p:grpSpPr>
          <a:xfrm>
            <a:off x="9296400" y="1714500"/>
            <a:ext cx="2514600" cy="1453134"/>
            <a:chOff x="9296400" y="1714500"/>
            <a:chExt cx="2514600" cy="1453134"/>
          </a:xfrm>
        </p:grpSpPr>
        <p:sp>
          <p:nvSpPr>
            <p:cNvPr id="28" name="Rectangle 28"/>
            <p:cNvSpPr/>
            <p:nvPr/>
          </p:nvSpPr>
          <p:spPr>
            <a:xfrm>
              <a:off x="9296400" y="1714500"/>
              <a:ext cx="2514600" cy="1333500"/>
            </a:xfrm>
            <a:prstGeom prst="roundRect">
              <a:avLst>
                <a:gd name="adj" fmla="val 11429"/>
              </a:avLst>
            </a:prstGeom>
            <a:solidFill>
              <a:schemeClr val="lt2"/>
            </a:solidFill>
            <a:ln>
              <a:noFill/>
            </a:ln>
          </p:spPr>
        </p:sp>
        <p:sp>
          <p:nvSpPr>
            <p:cNvPr id="29" name="Ellipse 29"/>
            <p:cNvSpPr/>
            <p:nvPr/>
          </p:nvSpPr>
          <p:spPr>
            <a:xfrm>
              <a:off x="9486900" y="1905000"/>
              <a:ext cx="381000" cy="381000"/>
            </a:xfrm>
            <a:prstGeom prst="ellipse">
              <a:avLst/>
            </a:prstGeom>
            <a:solidFill>
              <a:schemeClr val="accent1"/>
            </a:solidFill>
            <a:ln>
              <a:noFill/>
            </a:ln>
          </p:spPr>
        </p:sp>
        <p:sp>
          <p:nvSpPr>
            <p:cNvPr id="30" name="TextBox 30"/>
            <p:cNvSpPr txBox="1"/>
            <p:nvPr/>
          </p:nvSpPr>
          <p:spPr>
            <a:xfrm>
              <a:off x="9604880" y="1993582"/>
              <a:ext cx="145040"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mn-lt"/>
                  <a:ea typeface="+mn-ea"/>
                  <a:cs typeface="+mn-cs"/>
                </a:rPr>
                <a:t>4</a:t>
              </a:r>
            </a:p>
          </p:txBody>
        </p:sp>
        <p:sp>
          <p:nvSpPr>
            <p:cNvPr id="31" name="TextBox 31"/>
            <p:cNvSpPr txBox="1"/>
            <p:nvPr/>
          </p:nvSpPr>
          <p:spPr>
            <a:xfrm>
              <a:off x="9592056" y="2510790"/>
              <a:ext cx="546354" cy="656844"/>
            </a:xfrm>
            <a:prstGeom prst="rect">
              <a:avLst/>
            </a:prstGeom>
            <a:noFill/>
            <a:ln>
              <a:noFill/>
            </a:ln>
          </p:spPr>
          <p:txBody>
            <a:bodyPr wrap="square" lIns="0" tIns="0" rIns="0" bIns="0" anchor="t" anchorCtr="0"/>
            <a:lstStyle/>
            <a:p>
              <a:pPr algn="l">
                <a:lnSpc>
                  <a:spcPts val="2400"/>
                </a:lnSpc>
              </a:pPr>
              <a:r>
                <a:rPr lang="en-US" sz="1800" b="1" dirty="0">
                  <a:solidFill>
                    <a:schemeClr val="dk1"/>
                  </a:solidFill>
                  <a:latin typeface="+mn-lt"/>
                  <a:ea typeface="+mn-ea"/>
                  <a:cs typeface="+mn-cs"/>
                </a:rPr>
                <a:t>ブックを</a:t>
              </a:r>
              <a:r>
                <a:rPr lang="zh-CN" sz="1800" b="1" dirty="0">
                  <a:solidFill>
                    <a:schemeClr val="dk1"/>
                  </a:solidFill>
                  <a:latin typeface="+mn-lt"/>
                  <a:ea typeface="+mn-ea"/>
                  <a:cs typeface="+mn-cs"/>
                </a:rPr>
                <a:t>作る</a:t>
              </a:r>
            </a:p>
          </p:txBody>
        </p:sp>
      </p:grpSp>
      <p:grpSp>
        <p:nvGrpSpPr>
          <p:cNvPr id="36" name="Group 36"/>
          <p:cNvGrpSpPr/>
          <p:nvPr/>
        </p:nvGrpSpPr>
        <p:grpSpPr>
          <a:xfrm>
            <a:off x="381000" y="3619500"/>
            <a:ext cx="11430000" cy="609600"/>
            <a:chOff x="381000" y="3619500"/>
            <a:chExt cx="11430000" cy="609600"/>
          </a:xfrm>
        </p:grpSpPr>
        <p:sp>
          <p:nvSpPr>
            <p:cNvPr id="33" name="Rectangle 33"/>
            <p:cNvSpPr/>
            <p:nvPr/>
          </p:nvSpPr>
          <p:spPr>
            <a:xfrm>
              <a:off x="381000" y="3619500"/>
              <a:ext cx="11430000" cy="609600"/>
            </a:xfrm>
            <a:prstGeom prst="roundRect">
              <a:avLst>
                <a:gd name="adj" fmla="val 25000"/>
              </a:avLst>
            </a:prstGeom>
            <a:solidFill>
              <a:schemeClr val="lt1"/>
            </a:solidFill>
            <a:ln w="19050">
              <a:solidFill>
                <a:schemeClr val="accent1"/>
              </a:solidFill>
            </a:ln>
          </p:spPr>
        </p:sp>
        <p:sp>
          <p:nvSpPr>
            <p:cNvPr id="34" name="Freeform 34"/>
            <p:cNvSpPr/>
            <p:nvPr/>
          </p:nvSpPr>
          <p:spPr>
            <a:xfrm>
              <a:off x="710093" y="3797300"/>
              <a:ext cx="256213" cy="253996"/>
            </a:xfrm>
            <a:custGeom>
              <a:avLst/>
              <a:gdLst/>
              <a:ahLst/>
              <a:cxnLst/>
              <a:rect l="l" t="t" r="r" b="b"/>
              <a:pathLst>
                <a:path w="256213" h="253996">
                  <a:moveTo>
                    <a:pt x="128106" y="0"/>
                  </a:moveTo>
                  <a:lnTo>
                    <a:pt x="132221" y="63"/>
                  </a:lnTo>
                  <a:cubicBezTo>
                    <a:pt x="201523" y="2310"/>
                    <a:pt x="256213" y="59726"/>
                    <a:pt x="255089" y="129054"/>
                  </a:cubicBezTo>
                  <a:cubicBezTo>
                    <a:pt x="253966" y="198383"/>
                    <a:pt x="197444" y="253996"/>
                    <a:pt x="128106" y="253996"/>
                  </a:cubicBezTo>
                  <a:cubicBezTo>
                    <a:pt x="58769" y="253996"/>
                    <a:pt x="2247" y="198383"/>
                    <a:pt x="1123" y="129054"/>
                  </a:cubicBezTo>
                  <a:cubicBezTo>
                    <a:pt x="0" y="59726"/>
                    <a:pt x="54690" y="2310"/>
                    <a:pt x="123992" y="63"/>
                  </a:cubicBezTo>
                  <a:lnTo>
                    <a:pt x="128106" y="0"/>
                  </a:lnTo>
                  <a:close/>
                  <a:moveTo>
                    <a:pt x="135892" y="66167"/>
                  </a:moveTo>
                  <a:cubicBezTo>
                    <a:pt x="130594" y="62071"/>
                    <a:pt x="123026" y="62792"/>
                    <a:pt x="118597" y="67814"/>
                  </a:cubicBezTo>
                  <a:cubicBezTo>
                    <a:pt x="114168" y="72837"/>
                    <a:pt x="114400" y="80436"/>
                    <a:pt x="119128" y="85179"/>
                  </a:cubicBezTo>
                  <a:lnTo>
                    <a:pt x="148223" y="114300"/>
                  </a:lnTo>
                  <a:lnTo>
                    <a:pt x="77307" y="114300"/>
                  </a:lnTo>
                  <a:lnTo>
                    <a:pt x="75821" y="114389"/>
                  </a:lnTo>
                  <a:cubicBezTo>
                    <a:pt x="69148" y="115182"/>
                    <a:pt x="64249" y="121036"/>
                    <a:pt x="64643" y="127744"/>
                  </a:cubicBezTo>
                  <a:cubicBezTo>
                    <a:pt x="65036" y="134452"/>
                    <a:pt x="70587" y="139692"/>
                    <a:pt x="77307" y="139700"/>
                  </a:cubicBezTo>
                  <a:lnTo>
                    <a:pt x="148223" y="139700"/>
                  </a:lnTo>
                  <a:lnTo>
                    <a:pt x="119128" y="168821"/>
                  </a:lnTo>
                  <a:lnTo>
                    <a:pt x="118073" y="170014"/>
                  </a:lnTo>
                  <a:cubicBezTo>
                    <a:pt x="113977" y="175312"/>
                    <a:pt x="114698" y="182880"/>
                    <a:pt x="119721" y="187309"/>
                  </a:cubicBezTo>
                  <a:cubicBezTo>
                    <a:pt x="124744" y="191738"/>
                    <a:pt x="132342" y="191505"/>
                    <a:pt x="137085" y="186778"/>
                  </a:cubicBezTo>
                  <a:lnTo>
                    <a:pt x="187885" y="135979"/>
                  </a:lnTo>
                  <a:lnTo>
                    <a:pt x="188812" y="134937"/>
                  </a:lnTo>
                  <a:lnTo>
                    <a:pt x="189625" y="133807"/>
                  </a:lnTo>
                  <a:lnTo>
                    <a:pt x="190412" y="132372"/>
                  </a:lnTo>
                  <a:lnTo>
                    <a:pt x="190971" y="130975"/>
                  </a:lnTo>
                  <a:lnTo>
                    <a:pt x="191352" y="129552"/>
                  </a:lnTo>
                  <a:lnTo>
                    <a:pt x="191568" y="127952"/>
                  </a:lnTo>
                  <a:lnTo>
                    <a:pt x="191606" y="127000"/>
                  </a:lnTo>
                  <a:lnTo>
                    <a:pt x="191517" y="125501"/>
                  </a:lnTo>
                  <a:lnTo>
                    <a:pt x="191149" y="123621"/>
                  </a:lnTo>
                  <a:lnTo>
                    <a:pt x="190705" y="122288"/>
                  </a:lnTo>
                  <a:lnTo>
                    <a:pt x="190019" y="120853"/>
                  </a:lnTo>
                  <a:lnTo>
                    <a:pt x="189117" y="119443"/>
                  </a:lnTo>
                  <a:cubicBezTo>
                    <a:pt x="188742" y="118939"/>
                    <a:pt x="188330" y="118464"/>
                    <a:pt x="187885" y="118021"/>
                  </a:cubicBezTo>
                  <a:lnTo>
                    <a:pt x="137085" y="67221"/>
                  </a:lnTo>
                  <a:close/>
                </a:path>
              </a:pathLst>
            </a:custGeom>
            <a:solidFill>
              <a:schemeClr val="accent1"/>
            </a:solidFill>
            <a:ln>
              <a:noFill/>
            </a:ln>
          </p:spPr>
        </p:sp>
        <p:sp>
          <p:nvSpPr>
            <p:cNvPr id="35" name="TextBox 35"/>
            <p:cNvSpPr txBox="1"/>
            <p:nvPr/>
          </p:nvSpPr>
          <p:spPr>
            <a:xfrm>
              <a:off x="1114806" y="3815715"/>
              <a:ext cx="548251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右下の［次へ］が押せるようになったら、その画面は終わっています。</a:t>
              </a:r>
            </a:p>
          </p:txBody>
        </p:sp>
      </p:grpSp>
      <p:grpSp>
        <p:nvGrpSpPr>
          <p:cNvPr id="41" name="Group 41"/>
          <p:cNvGrpSpPr/>
          <p:nvPr/>
        </p:nvGrpSpPr>
        <p:grpSpPr>
          <a:xfrm>
            <a:off x="381000" y="4610100"/>
            <a:ext cx="11430000" cy="1219200"/>
            <a:chOff x="381000" y="4610100"/>
            <a:chExt cx="11430000" cy="1219200"/>
          </a:xfrm>
        </p:grpSpPr>
        <p:sp>
          <p:nvSpPr>
            <p:cNvPr id="37" name="Rectangle 37"/>
            <p:cNvSpPr/>
            <p:nvPr/>
          </p:nvSpPr>
          <p:spPr>
            <a:xfrm>
              <a:off x="381000" y="4610100"/>
              <a:ext cx="11430000" cy="1219200"/>
            </a:xfrm>
            <a:prstGeom prst="roundRect">
              <a:avLst>
                <a:gd name="adj" fmla="val 12500"/>
              </a:avLst>
            </a:prstGeom>
            <a:solidFill>
              <a:schemeClr val="accent5"/>
            </a:solidFill>
            <a:ln w="9525">
              <a:solidFill>
                <a:srgbClr val="E2E8F0"/>
              </a:solidFill>
            </a:ln>
          </p:spPr>
        </p:sp>
        <p:sp>
          <p:nvSpPr>
            <p:cNvPr id="38" name="Freeform 38"/>
            <p:cNvSpPr/>
            <p:nvPr/>
          </p:nvSpPr>
          <p:spPr>
            <a:xfrm>
              <a:off x="701084" y="4928379"/>
              <a:ext cx="265207" cy="267012"/>
            </a:xfrm>
            <a:custGeom>
              <a:avLst/>
              <a:gdLst/>
              <a:ahLst/>
              <a:cxnLst/>
              <a:rect l="l" t="t" r="r" b="b"/>
              <a:pathLst>
                <a:path w="265207" h="267012">
                  <a:moveTo>
                    <a:pt x="162515" y="25536"/>
                  </a:moveTo>
                  <a:cubicBezTo>
                    <a:pt x="187942" y="40213"/>
                    <a:pt x="205776" y="65171"/>
                    <a:pt x="211424" y="93981"/>
                  </a:cubicBezTo>
                  <a:cubicBezTo>
                    <a:pt x="217072" y="122791"/>
                    <a:pt x="209982" y="152636"/>
                    <a:pt x="191979" y="175827"/>
                  </a:cubicBezTo>
                  <a:lnTo>
                    <a:pt x="260394" y="244242"/>
                  </a:lnTo>
                  <a:cubicBezTo>
                    <a:pt x="265207" y="249225"/>
                    <a:pt x="265138" y="257146"/>
                    <a:pt x="260239" y="262045"/>
                  </a:cubicBezTo>
                  <a:cubicBezTo>
                    <a:pt x="255341" y="266944"/>
                    <a:pt x="247419" y="267012"/>
                    <a:pt x="242436" y="262199"/>
                  </a:cubicBezTo>
                  <a:lnTo>
                    <a:pt x="174009" y="193785"/>
                  </a:lnTo>
                  <a:cubicBezTo>
                    <a:pt x="133673" y="225083"/>
                    <a:pt x="76376" y="221588"/>
                    <a:pt x="40144" y="185618"/>
                  </a:cubicBezTo>
                  <a:cubicBezTo>
                    <a:pt x="3912" y="149649"/>
                    <a:pt x="0" y="92378"/>
                    <a:pt x="31004" y="51816"/>
                  </a:cubicBezTo>
                  <a:cubicBezTo>
                    <a:pt x="62009" y="11254"/>
                    <a:pt x="118299" y="0"/>
                    <a:pt x="162515" y="25523"/>
                  </a:cubicBezTo>
                </a:path>
              </a:pathLst>
            </a:custGeom>
            <a:solidFill>
              <a:schemeClr val="accent3"/>
            </a:solidFill>
            <a:ln>
              <a:noFill/>
            </a:ln>
          </p:spPr>
        </p:sp>
        <p:sp>
          <p:nvSpPr>
            <p:cNvPr id="39" name="TextBox 39"/>
            <p:cNvSpPr txBox="1"/>
            <p:nvPr/>
          </p:nvSpPr>
          <p:spPr>
            <a:xfrm>
              <a:off x="1111758" y="4893945"/>
              <a:ext cx="2161611" cy="469392"/>
            </a:xfrm>
            <a:prstGeom prst="rect">
              <a:avLst/>
            </a:prstGeom>
            <a:noFill/>
            <a:ln>
              <a:noFill/>
            </a:ln>
          </p:spPr>
          <p:txBody>
            <a:bodyPr wrap="none" lIns="0" tIns="0" rIns="0" bIns="0" anchor="t" anchorCtr="0">
              <a:spAutoFit/>
            </a:bodyPr>
            <a:lstStyle/>
            <a:p>
              <a:pPr algn="l"/>
              <a:r>
                <a:rPr lang="zh-CN" sz="2400" b="1" dirty="0">
                  <a:solidFill>
                    <a:schemeClr val="accent3"/>
                  </a:solidFill>
                  <a:latin typeface="+mn-lt"/>
                  <a:ea typeface="+mn-ea"/>
                  <a:cs typeface="+mn-cs"/>
                </a:rPr>
                <a:t>聞くだけで終わる道</a:t>
              </a:r>
            </a:p>
          </p:txBody>
        </p:sp>
        <p:sp>
          <p:nvSpPr>
            <p:cNvPr id="40" name="TextBox 40"/>
            <p:cNvSpPr txBox="1"/>
            <p:nvPr/>
          </p:nvSpPr>
          <p:spPr>
            <a:xfrm>
              <a:off x="676656" y="5444490"/>
              <a:ext cx="629107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手順1で「マクロについてAIに聞く」を選んだときは、手順2で終わります。</a:t>
              </a:r>
            </a:p>
          </p:txBody>
        </p:sp>
      </p:grpSp>
      <p:grpSp>
        <p:nvGrpSpPr>
          <p:cNvPr id="44" name="Group 44"/>
          <p:cNvGrpSpPr/>
          <p:nvPr/>
        </p:nvGrpSpPr>
        <p:grpSpPr>
          <a:xfrm>
            <a:off x="374904" y="6461760"/>
            <a:ext cx="11442192" cy="234696"/>
            <a:chOff x="374904" y="6461760"/>
            <a:chExt cx="11442192" cy="234696"/>
          </a:xfrm>
        </p:grpSpPr>
        <p:sp>
          <p:nvSpPr>
            <p:cNvPr id="42" name="TextBox 42"/>
            <p:cNvSpPr txBox="1"/>
            <p:nvPr/>
          </p:nvSpPr>
          <p:spPr>
            <a:xfrm>
              <a:off x="374904" y="646176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43" name="TextBox 43"/>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04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539915" y="568642"/>
              <a:ext cx="1091871"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手順 1 · 1/3</a:t>
              </a:r>
            </a:p>
          </p:txBody>
        </p:sp>
        <p:sp>
          <p:nvSpPr>
            <p:cNvPr id="4" name="TextBox 4"/>
            <p:cNvSpPr txBox="1"/>
            <p:nvPr/>
          </p:nvSpPr>
          <p:spPr>
            <a:xfrm>
              <a:off x="1946148" y="479108"/>
              <a:ext cx="4039641"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Excelブックを読み込みます</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0" name="Group 10"/>
          <p:cNvGrpSpPr/>
          <p:nvPr/>
        </p:nvGrpSpPr>
        <p:grpSpPr>
          <a:xfrm>
            <a:off x="342900" y="1371600"/>
            <a:ext cx="6477000" cy="3676650"/>
            <a:chOff x="342900" y="1371600"/>
            <a:chExt cx="6477000" cy="3676650"/>
          </a:xfrm>
        </p:grpSpPr>
        <p:sp>
          <p:nvSpPr>
            <p:cNvPr id="7" name="Rectangle 7"/>
            <p:cNvSpPr/>
            <p:nvPr/>
          </p:nvSpPr>
          <p:spPr>
            <a:xfrm>
              <a:off x="342900" y="1371600"/>
              <a:ext cx="6477000" cy="3676650"/>
            </a:xfrm>
            <a:prstGeom prst="roundRect">
              <a:avLst>
                <a:gd name="adj" fmla="val 3627"/>
              </a:avLst>
            </a:prstGeom>
            <a:solidFill>
              <a:schemeClr val="accent6"/>
            </a:solidFill>
            <a:ln>
              <a:noFill/>
            </a:ln>
          </p:spPr>
        </p:sp>
        <p:pic>
          <p:nvPicPr>
            <p:cNvPr id="8" name="Image 8"/>
            <p:cNvPicPr>
              <a:picLocks noChangeAspect="1"/>
            </p:cNvPicPr>
            <p:nvPr/>
          </p:nvPicPr>
          <p:blipFill>
            <a:blip r:embed="rId2"/>
            <a:stretch>
              <a:fillRect/>
            </a:stretch>
          </p:blipFill>
          <p:spPr>
            <a:xfrm>
              <a:off x="381000" y="1409700"/>
              <a:ext cx="6400800" cy="3600450"/>
            </a:xfrm>
            <a:prstGeom prst="roundRect">
              <a:avLst>
                <a:gd name="adj" fmla="val 2645"/>
              </a:avLst>
            </a:prstGeom>
          </p:spPr>
        </p:pic>
        <p:sp>
          <p:nvSpPr>
            <p:cNvPr id="9" name="Rectangle 9"/>
            <p:cNvSpPr/>
            <p:nvPr/>
          </p:nvSpPr>
          <p:spPr>
            <a:xfrm>
              <a:off x="381000" y="1409700"/>
              <a:ext cx="6400800" cy="3600450"/>
            </a:xfrm>
            <a:prstGeom prst="roundRect">
              <a:avLst>
                <a:gd name="adj" fmla="val 2646"/>
              </a:avLst>
            </a:prstGeom>
            <a:noFill/>
            <a:ln w="9525">
              <a:solidFill>
                <a:srgbClr val="E2E8F0"/>
              </a:solidFill>
            </a:ln>
          </p:spPr>
        </p:sp>
      </p:grpSp>
      <p:grpSp>
        <p:nvGrpSpPr>
          <p:cNvPr id="20" name="Group 20"/>
          <p:cNvGrpSpPr/>
          <p:nvPr/>
        </p:nvGrpSpPr>
        <p:grpSpPr>
          <a:xfrm>
            <a:off x="7058025" y="1457325"/>
            <a:ext cx="3053105" cy="4015359"/>
            <a:chOff x="7058025" y="1457325"/>
            <a:chExt cx="3053105" cy="4015359"/>
          </a:xfrm>
        </p:grpSpPr>
        <p:sp>
          <p:nvSpPr>
            <p:cNvPr id="11" name="Ellipse 11"/>
            <p:cNvSpPr/>
            <p:nvPr/>
          </p:nvSpPr>
          <p:spPr>
            <a:xfrm>
              <a:off x="7058025" y="1457325"/>
              <a:ext cx="361950" cy="361950"/>
            </a:xfrm>
            <a:prstGeom prst="ellipse">
              <a:avLst/>
            </a:prstGeom>
            <a:solidFill>
              <a:schemeClr val="accent1"/>
            </a:solidFill>
            <a:ln>
              <a:noFill/>
            </a:ln>
          </p:spPr>
        </p:sp>
        <p:sp>
          <p:nvSpPr>
            <p:cNvPr id="12" name="TextBox 12"/>
            <p:cNvSpPr txBox="1"/>
            <p:nvPr/>
          </p:nvSpPr>
          <p:spPr>
            <a:xfrm>
              <a:off x="7173073" y="15525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1</a:t>
              </a:r>
            </a:p>
          </p:txBody>
        </p:sp>
        <p:sp>
          <p:nvSpPr>
            <p:cNvPr id="13" name="TextBox 13"/>
            <p:cNvSpPr txBox="1"/>
            <p:nvPr/>
          </p:nvSpPr>
          <p:spPr>
            <a:xfrm>
              <a:off x="7572756" y="1520190"/>
              <a:ext cx="2167128" cy="13235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改修したいブックを、点線の枠へドラッグします。クリックして選んでも</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かまいません。</a:t>
              </a:r>
            </a:p>
          </p:txBody>
        </p:sp>
        <p:sp>
          <p:nvSpPr>
            <p:cNvPr id="14" name="Ellipse 14"/>
            <p:cNvSpPr/>
            <p:nvPr/>
          </p:nvSpPr>
          <p:spPr>
            <a:xfrm>
              <a:off x="7058025" y="3209925"/>
              <a:ext cx="361950" cy="361950"/>
            </a:xfrm>
            <a:prstGeom prst="ellipse">
              <a:avLst/>
            </a:prstGeom>
            <a:solidFill>
              <a:schemeClr val="accent1"/>
            </a:solidFill>
            <a:ln>
              <a:noFill/>
            </a:ln>
          </p:spPr>
        </p:sp>
        <p:sp>
          <p:nvSpPr>
            <p:cNvPr id="15" name="TextBox 15"/>
            <p:cNvSpPr txBox="1"/>
            <p:nvPr/>
          </p:nvSpPr>
          <p:spPr>
            <a:xfrm>
              <a:off x="7173073" y="33051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2</a:t>
              </a:r>
            </a:p>
          </p:txBody>
        </p:sp>
        <p:sp>
          <p:nvSpPr>
            <p:cNvPr id="16" name="TextBox 16"/>
            <p:cNvSpPr txBox="1"/>
            <p:nvPr/>
          </p:nvSpPr>
          <p:spPr>
            <a:xfrm>
              <a:off x="7572756" y="3272790"/>
              <a:ext cx="253837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ファイル名が出たら［次へ］。</a:t>
              </a:r>
            </a:p>
          </p:txBody>
        </p:sp>
        <p:sp>
          <p:nvSpPr>
            <p:cNvPr id="17" name="Ellipse 17"/>
            <p:cNvSpPr/>
            <p:nvPr/>
          </p:nvSpPr>
          <p:spPr>
            <a:xfrm>
              <a:off x="7058025" y="4410075"/>
              <a:ext cx="361950" cy="361950"/>
            </a:xfrm>
            <a:prstGeom prst="ellipse">
              <a:avLst/>
            </a:prstGeom>
            <a:solidFill>
              <a:schemeClr val="accent1"/>
            </a:solidFill>
            <a:ln>
              <a:noFill/>
            </a:ln>
          </p:spPr>
        </p:sp>
        <p:sp>
          <p:nvSpPr>
            <p:cNvPr id="18" name="TextBox 18"/>
            <p:cNvSpPr txBox="1"/>
            <p:nvPr/>
          </p:nvSpPr>
          <p:spPr>
            <a:xfrm>
              <a:off x="7173073" y="45053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3</a:t>
              </a:r>
            </a:p>
          </p:txBody>
        </p:sp>
        <p:sp>
          <p:nvSpPr>
            <p:cNvPr id="19" name="TextBox 19"/>
            <p:cNvSpPr txBox="1"/>
            <p:nvPr/>
          </p:nvSpPr>
          <p:spPr>
            <a:xfrm>
              <a:off x="7572756" y="4472940"/>
              <a:ext cx="1938528" cy="9997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次の画面にモジュール数と行数が出ます。そのまま［次へ］。</a:t>
              </a:r>
            </a:p>
          </p:txBody>
        </p:sp>
      </p:grpSp>
      <p:grpSp>
        <p:nvGrpSpPr>
          <p:cNvPr id="23" name="Group 23"/>
          <p:cNvGrpSpPr/>
          <p:nvPr/>
        </p:nvGrpSpPr>
        <p:grpSpPr>
          <a:xfrm>
            <a:off x="374904" y="6461760"/>
            <a:ext cx="11442192" cy="234696"/>
            <a:chOff x="374904" y="6461760"/>
            <a:chExt cx="11442192" cy="234696"/>
          </a:xfrm>
        </p:grpSpPr>
        <p:sp>
          <p:nvSpPr>
            <p:cNvPr id="21" name="TextBox 21"/>
            <p:cNvSpPr txBox="1"/>
            <p:nvPr/>
          </p:nvSpPr>
          <p:spPr>
            <a:xfrm>
              <a:off x="374904" y="646176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22" name="TextBox 22"/>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05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539915" y="568642"/>
              <a:ext cx="1091871"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手順 1 · 3/3</a:t>
              </a:r>
            </a:p>
          </p:txBody>
        </p:sp>
        <p:sp>
          <p:nvSpPr>
            <p:cNvPr id="4" name="TextBox 4"/>
            <p:cNvSpPr txBox="1"/>
            <p:nvPr/>
          </p:nvSpPr>
          <p:spPr>
            <a:xfrm>
              <a:off x="1946148" y="479108"/>
              <a:ext cx="4150619"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このマクロをどうしたいか選びます</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0" name="Group 10"/>
          <p:cNvGrpSpPr/>
          <p:nvPr/>
        </p:nvGrpSpPr>
        <p:grpSpPr>
          <a:xfrm>
            <a:off x="342900" y="1371600"/>
            <a:ext cx="6477000" cy="3676650"/>
            <a:chOff x="342900" y="1371600"/>
            <a:chExt cx="6477000" cy="3676650"/>
          </a:xfrm>
        </p:grpSpPr>
        <p:sp>
          <p:nvSpPr>
            <p:cNvPr id="7" name="Rectangle 7"/>
            <p:cNvSpPr/>
            <p:nvPr/>
          </p:nvSpPr>
          <p:spPr>
            <a:xfrm>
              <a:off x="342900" y="1371600"/>
              <a:ext cx="6477000" cy="3676650"/>
            </a:xfrm>
            <a:prstGeom prst="roundRect">
              <a:avLst>
                <a:gd name="adj" fmla="val 3627"/>
              </a:avLst>
            </a:prstGeom>
            <a:solidFill>
              <a:schemeClr val="accent6"/>
            </a:solidFill>
            <a:ln>
              <a:noFill/>
            </a:ln>
          </p:spPr>
        </p:sp>
        <p:pic>
          <p:nvPicPr>
            <p:cNvPr id="8" name="Image 8"/>
            <p:cNvPicPr>
              <a:picLocks noChangeAspect="1"/>
            </p:cNvPicPr>
            <p:nvPr/>
          </p:nvPicPr>
          <p:blipFill>
            <a:blip r:embed="rId2"/>
            <a:stretch>
              <a:fillRect/>
            </a:stretch>
          </p:blipFill>
          <p:spPr>
            <a:xfrm>
              <a:off x="381000" y="1409700"/>
              <a:ext cx="6400800" cy="3600450"/>
            </a:xfrm>
            <a:prstGeom prst="roundRect">
              <a:avLst>
                <a:gd name="adj" fmla="val 2645"/>
              </a:avLst>
            </a:prstGeom>
          </p:spPr>
        </p:pic>
        <p:sp>
          <p:nvSpPr>
            <p:cNvPr id="9" name="Rectangle 9"/>
            <p:cNvSpPr/>
            <p:nvPr/>
          </p:nvSpPr>
          <p:spPr>
            <a:xfrm>
              <a:off x="381000" y="1409700"/>
              <a:ext cx="6400800" cy="3600450"/>
            </a:xfrm>
            <a:prstGeom prst="roundRect">
              <a:avLst>
                <a:gd name="adj" fmla="val 2646"/>
              </a:avLst>
            </a:prstGeom>
            <a:noFill/>
            <a:ln w="9525">
              <a:solidFill>
                <a:srgbClr val="E2E8F0"/>
              </a:solidFill>
            </a:ln>
          </p:spPr>
        </p:sp>
      </p:grpSp>
      <p:grpSp>
        <p:nvGrpSpPr>
          <p:cNvPr id="14" name="Group 14"/>
          <p:cNvGrpSpPr/>
          <p:nvPr/>
        </p:nvGrpSpPr>
        <p:grpSpPr>
          <a:xfrm>
            <a:off x="7010400" y="1409700"/>
            <a:ext cx="4800600" cy="1714500"/>
            <a:chOff x="7010400" y="1409700"/>
            <a:chExt cx="4800600" cy="1714500"/>
          </a:xfrm>
        </p:grpSpPr>
        <p:sp>
          <p:nvSpPr>
            <p:cNvPr id="11" name="Rectangle 11"/>
            <p:cNvSpPr/>
            <p:nvPr/>
          </p:nvSpPr>
          <p:spPr>
            <a:xfrm>
              <a:off x="7010400" y="1409700"/>
              <a:ext cx="4800600" cy="1714500"/>
            </a:xfrm>
            <a:prstGeom prst="roundRect">
              <a:avLst>
                <a:gd name="adj" fmla="val 8889"/>
              </a:avLst>
            </a:prstGeom>
            <a:solidFill>
              <a:schemeClr val="lt2"/>
            </a:solidFill>
            <a:ln>
              <a:noFill/>
            </a:ln>
          </p:spPr>
        </p:sp>
        <p:sp>
          <p:nvSpPr>
            <p:cNvPr id="12" name="TextBox 12"/>
            <p:cNvSpPr txBox="1"/>
            <p:nvPr/>
          </p:nvSpPr>
          <p:spPr>
            <a:xfrm>
              <a:off x="7306056" y="1672590"/>
              <a:ext cx="136677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マクロを改修する</a:t>
              </a:r>
            </a:p>
          </p:txBody>
        </p:sp>
        <p:sp>
          <p:nvSpPr>
            <p:cNvPr id="13" name="TextBox 13"/>
            <p:cNvSpPr txBox="1"/>
            <p:nvPr/>
          </p:nvSpPr>
          <p:spPr>
            <a:xfrm>
              <a:off x="7306056" y="2110740"/>
              <a:ext cx="1984248" cy="9997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AIの返答を取り込んで、改修済みブックをこの</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アプリで作ります。</a:t>
              </a:r>
            </a:p>
          </p:txBody>
        </p:sp>
      </p:grpSp>
      <p:grpSp>
        <p:nvGrpSpPr>
          <p:cNvPr id="19" name="Group 19"/>
          <p:cNvGrpSpPr/>
          <p:nvPr/>
        </p:nvGrpSpPr>
        <p:grpSpPr>
          <a:xfrm>
            <a:off x="7010400" y="3314700"/>
            <a:ext cx="4800600" cy="1714500"/>
            <a:chOff x="7010400" y="3314700"/>
            <a:chExt cx="4800600" cy="1714500"/>
          </a:xfrm>
        </p:grpSpPr>
        <p:sp>
          <p:nvSpPr>
            <p:cNvPr id="15" name="Rectangle 15"/>
            <p:cNvSpPr/>
            <p:nvPr/>
          </p:nvSpPr>
          <p:spPr>
            <a:xfrm>
              <a:off x="7010400" y="3314700"/>
              <a:ext cx="4800600" cy="1714500"/>
            </a:xfrm>
            <a:prstGeom prst="roundRect">
              <a:avLst>
                <a:gd name="adj" fmla="val 8889"/>
              </a:avLst>
            </a:prstGeom>
            <a:solidFill>
              <a:schemeClr val="accent5"/>
            </a:solidFill>
            <a:ln w="9525">
              <a:solidFill>
                <a:srgbClr val="E2E8F0"/>
              </a:solidFill>
            </a:ln>
          </p:spPr>
        </p:sp>
        <p:sp>
          <p:nvSpPr>
            <p:cNvPr id="16" name="Freeform 16"/>
            <p:cNvSpPr/>
            <p:nvPr/>
          </p:nvSpPr>
          <p:spPr>
            <a:xfrm>
              <a:off x="7328574" y="3536044"/>
              <a:ext cx="232057" cy="233637"/>
            </a:xfrm>
            <a:custGeom>
              <a:avLst/>
              <a:gdLst/>
              <a:ahLst/>
              <a:cxnLst/>
              <a:rect l="l" t="t" r="r" b="b"/>
              <a:pathLst>
                <a:path w="232057" h="233637">
                  <a:moveTo>
                    <a:pt x="142202" y="22344"/>
                  </a:moveTo>
                  <a:cubicBezTo>
                    <a:pt x="164450" y="35186"/>
                    <a:pt x="180055" y="57025"/>
                    <a:pt x="184997" y="82234"/>
                  </a:cubicBezTo>
                  <a:cubicBezTo>
                    <a:pt x="189939" y="107443"/>
                    <a:pt x="183735" y="133557"/>
                    <a:pt x="167983" y="153849"/>
                  </a:cubicBezTo>
                  <a:lnTo>
                    <a:pt x="227846" y="213713"/>
                  </a:lnTo>
                  <a:cubicBezTo>
                    <a:pt x="232057" y="218073"/>
                    <a:pt x="231997" y="225004"/>
                    <a:pt x="227711" y="229290"/>
                  </a:cubicBezTo>
                  <a:cubicBezTo>
                    <a:pt x="223424" y="233577"/>
                    <a:pt x="216493" y="233637"/>
                    <a:pt x="212133" y="229426"/>
                  </a:cubicBezTo>
                  <a:lnTo>
                    <a:pt x="152259" y="169563"/>
                  </a:lnTo>
                  <a:cubicBezTo>
                    <a:pt x="116965" y="196949"/>
                    <a:pt x="66829" y="193890"/>
                    <a:pt x="35126" y="162417"/>
                  </a:cubicBezTo>
                  <a:cubicBezTo>
                    <a:pt x="3423" y="130944"/>
                    <a:pt x="0" y="80832"/>
                    <a:pt x="27129" y="45340"/>
                  </a:cubicBezTo>
                  <a:cubicBezTo>
                    <a:pt x="54258" y="9848"/>
                    <a:pt x="103512" y="0"/>
                    <a:pt x="142202" y="22333"/>
                  </a:cubicBezTo>
                </a:path>
              </a:pathLst>
            </a:custGeom>
            <a:solidFill>
              <a:schemeClr val="accent3"/>
            </a:solidFill>
            <a:ln>
              <a:noFill/>
            </a:ln>
          </p:spPr>
        </p:sp>
        <p:sp>
          <p:nvSpPr>
            <p:cNvPr id="17" name="TextBox 17"/>
            <p:cNvSpPr txBox="1"/>
            <p:nvPr/>
          </p:nvSpPr>
          <p:spPr>
            <a:xfrm>
              <a:off x="7668006" y="3539490"/>
              <a:ext cx="1846356" cy="352044"/>
            </a:xfrm>
            <a:prstGeom prst="rect">
              <a:avLst/>
            </a:prstGeom>
            <a:noFill/>
            <a:ln>
              <a:noFill/>
            </a:ln>
          </p:spPr>
          <p:txBody>
            <a:bodyPr wrap="none" lIns="0" tIns="0" rIns="0" bIns="0" anchor="t" anchorCtr="0">
              <a:spAutoFit/>
            </a:bodyPr>
            <a:lstStyle/>
            <a:p>
              <a:pPr algn="l"/>
              <a:r>
                <a:rPr lang="zh-CN" sz="1800" b="1" dirty="0">
                  <a:solidFill>
                    <a:schemeClr val="accent3"/>
                  </a:solidFill>
                  <a:latin typeface="+mn-lt"/>
                  <a:ea typeface="+mn-ea"/>
                  <a:cs typeface="+mn-cs"/>
                </a:rPr>
                <a:t>マクロについてAIに聞く</a:t>
              </a:r>
            </a:p>
          </p:txBody>
        </p:sp>
        <p:sp>
          <p:nvSpPr>
            <p:cNvPr id="18" name="TextBox 18"/>
            <p:cNvSpPr txBox="1"/>
            <p:nvPr/>
          </p:nvSpPr>
          <p:spPr>
            <a:xfrm>
              <a:off x="7306056" y="3996690"/>
              <a:ext cx="2007108" cy="9997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AIへ渡す依頼文とコードを作ります。手順2で終わります。</a:t>
              </a:r>
            </a:p>
          </p:txBody>
        </p:sp>
      </p:grpSp>
      <p:grpSp>
        <p:nvGrpSpPr>
          <p:cNvPr id="22" name="Group 22"/>
          <p:cNvGrpSpPr/>
          <p:nvPr/>
        </p:nvGrpSpPr>
        <p:grpSpPr>
          <a:xfrm>
            <a:off x="7010400" y="5295900"/>
            <a:ext cx="4800600" cy="609600"/>
            <a:chOff x="7010400" y="5295900"/>
            <a:chExt cx="4800600" cy="609600"/>
          </a:xfrm>
        </p:grpSpPr>
        <p:sp>
          <p:nvSpPr>
            <p:cNvPr id="20" name="Rectangle 20"/>
            <p:cNvSpPr/>
            <p:nvPr/>
          </p:nvSpPr>
          <p:spPr>
            <a:xfrm>
              <a:off x="7010400" y="5295900"/>
              <a:ext cx="4800600" cy="609600"/>
            </a:xfrm>
            <a:prstGeom prst="roundRect">
              <a:avLst>
                <a:gd name="adj" fmla="val 25000"/>
              </a:avLst>
            </a:prstGeom>
            <a:solidFill>
              <a:schemeClr val="lt1"/>
            </a:solidFill>
            <a:ln w="19050">
              <a:solidFill>
                <a:schemeClr val="accent1"/>
              </a:solidFill>
            </a:ln>
          </p:spPr>
        </p:sp>
        <p:sp>
          <p:nvSpPr>
            <p:cNvPr id="21" name="TextBox 21"/>
            <p:cNvSpPr txBox="1"/>
            <p:nvPr/>
          </p:nvSpPr>
          <p:spPr>
            <a:xfrm>
              <a:off x="7306056" y="5492115"/>
              <a:ext cx="280492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ひとつ選ぶと［次へ］が使えます。</a:t>
              </a:r>
            </a:p>
          </p:txBody>
        </p:sp>
      </p:grpSp>
      <p:grpSp>
        <p:nvGrpSpPr>
          <p:cNvPr id="25" name="Group 25"/>
          <p:cNvGrpSpPr/>
          <p:nvPr/>
        </p:nvGrpSpPr>
        <p:grpSpPr>
          <a:xfrm>
            <a:off x="374904" y="6461760"/>
            <a:ext cx="11442192" cy="234696"/>
            <a:chOff x="374904" y="6461760"/>
            <a:chExt cx="11442192" cy="234696"/>
          </a:xfrm>
        </p:grpSpPr>
        <p:sp>
          <p:nvSpPr>
            <p:cNvPr id="23" name="TextBox 23"/>
            <p:cNvSpPr txBox="1"/>
            <p:nvPr/>
          </p:nvSpPr>
          <p:spPr>
            <a:xfrm>
              <a:off x="374904" y="646176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24" name="TextBox 24"/>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06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539915" y="568642"/>
              <a:ext cx="1091871"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手順 2 · 1/3</a:t>
              </a:r>
            </a:p>
          </p:txBody>
        </p:sp>
        <p:sp>
          <p:nvSpPr>
            <p:cNvPr id="4" name="TextBox 4"/>
            <p:cNvSpPr txBox="1"/>
            <p:nvPr/>
          </p:nvSpPr>
          <p:spPr>
            <a:xfrm>
              <a:off x="1946148" y="479108"/>
              <a:ext cx="3816677"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どんな改修をするか選びます</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0" name="Group 10"/>
          <p:cNvGrpSpPr/>
          <p:nvPr/>
        </p:nvGrpSpPr>
        <p:grpSpPr>
          <a:xfrm>
            <a:off x="342900" y="1371600"/>
            <a:ext cx="6477000" cy="3676650"/>
            <a:chOff x="342900" y="1371600"/>
            <a:chExt cx="6477000" cy="3676650"/>
          </a:xfrm>
        </p:grpSpPr>
        <p:sp>
          <p:nvSpPr>
            <p:cNvPr id="7" name="Rectangle 7"/>
            <p:cNvSpPr/>
            <p:nvPr/>
          </p:nvSpPr>
          <p:spPr>
            <a:xfrm>
              <a:off x="342900" y="1371600"/>
              <a:ext cx="6477000" cy="3676650"/>
            </a:xfrm>
            <a:prstGeom prst="roundRect">
              <a:avLst>
                <a:gd name="adj" fmla="val 3627"/>
              </a:avLst>
            </a:prstGeom>
            <a:solidFill>
              <a:schemeClr val="accent6"/>
            </a:solidFill>
            <a:ln>
              <a:noFill/>
            </a:ln>
          </p:spPr>
        </p:sp>
        <p:pic>
          <p:nvPicPr>
            <p:cNvPr id="8" name="Image 8"/>
            <p:cNvPicPr>
              <a:picLocks noChangeAspect="1"/>
            </p:cNvPicPr>
            <p:nvPr/>
          </p:nvPicPr>
          <p:blipFill>
            <a:blip r:embed="rId2"/>
            <a:stretch>
              <a:fillRect/>
            </a:stretch>
          </p:blipFill>
          <p:spPr>
            <a:xfrm>
              <a:off x="381000" y="1409700"/>
              <a:ext cx="6400800" cy="3600450"/>
            </a:xfrm>
            <a:prstGeom prst="roundRect">
              <a:avLst>
                <a:gd name="adj" fmla="val 2645"/>
              </a:avLst>
            </a:prstGeom>
          </p:spPr>
        </p:pic>
        <p:sp>
          <p:nvSpPr>
            <p:cNvPr id="9" name="Rectangle 9"/>
            <p:cNvSpPr/>
            <p:nvPr/>
          </p:nvSpPr>
          <p:spPr>
            <a:xfrm>
              <a:off x="381000" y="1409700"/>
              <a:ext cx="6400800" cy="3600450"/>
            </a:xfrm>
            <a:prstGeom prst="roundRect">
              <a:avLst>
                <a:gd name="adj" fmla="val 2646"/>
              </a:avLst>
            </a:prstGeom>
            <a:noFill/>
            <a:ln w="9525">
              <a:solidFill>
                <a:srgbClr val="E2E8F0"/>
              </a:solidFill>
            </a:ln>
          </p:spPr>
        </p:sp>
      </p:grpSp>
      <p:grpSp>
        <p:nvGrpSpPr>
          <p:cNvPr id="27" name="Group 27"/>
          <p:cNvGrpSpPr/>
          <p:nvPr/>
        </p:nvGrpSpPr>
        <p:grpSpPr>
          <a:xfrm>
            <a:off x="7037226" y="1485612"/>
            <a:ext cx="3011268" cy="4482372"/>
            <a:chOff x="7037226" y="1485612"/>
            <a:chExt cx="3011268" cy="4482372"/>
          </a:xfrm>
        </p:grpSpPr>
        <p:grpSp>
          <p:nvGrpSpPr>
            <p:cNvPr id="17" name="Group 17"/>
            <p:cNvGrpSpPr/>
            <p:nvPr/>
          </p:nvGrpSpPr>
          <p:grpSpPr>
            <a:xfrm>
              <a:off x="7037226" y="1485612"/>
              <a:ext cx="206537" cy="185521"/>
              <a:chOff x="7037226" y="1485612"/>
              <a:chExt cx="206537" cy="185521"/>
            </a:xfrm>
          </p:grpSpPr>
          <p:sp>
            <p:nvSpPr>
              <p:cNvPr id="11" name="Freeform 11"/>
              <p:cNvSpPr/>
              <p:nvPr/>
            </p:nvSpPr>
            <p:spPr>
              <a:xfrm>
                <a:off x="7037226" y="1485612"/>
                <a:ext cx="68713" cy="52171"/>
              </a:xfrm>
              <a:custGeom>
                <a:avLst/>
                <a:gdLst/>
                <a:ahLst/>
                <a:cxnLst/>
                <a:rect l="l" t="t" r="r" b="b"/>
                <a:pathLst>
                  <a:path w="68713" h="52171">
                    <a:moveTo>
                      <a:pt x="64375" y="4338"/>
                    </a:moveTo>
                    <a:cubicBezTo>
                      <a:pt x="68713" y="8678"/>
                      <a:pt x="68713" y="15712"/>
                      <a:pt x="64375" y="20051"/>
                    </a:cubicBezTo>
                    <a:lnTo>
                      <a:pt x="36593" y="47833"/>
                    </a:lnTo>
                    <a:cubicBezTo>
                      <a:pt x="32254" y="52171"/>
                      <a:pt x="25220" y="52171"/>
                      <a:pt x="20880" y="47833"/>
                    </a:cubicBezTo>
                    <a:lnTo>
                      <a:pt x="4211" y="31164"/>
                    </a:lnTo>
                    <a:cubicBezTo>
                      <a:pt x="0" y="26803"/>
                      <a:pt x="60" y="19873"/>
                      <a:pt x="4347" y="15586"/>
                    </a:cubicBezTo>
                    <a:cubicBezTo>
                      <a:pt x="8633" y="11300"/>
                      <a:pt x="15564" y="11239"/>
                      <a:pt x="19924" y="15451"/>
                    </a:cubicBezTo>
                    <a:lnTo>
                      <a:pt x="28737" y="24263"/>
                    </a:lnTo>
                    <a:lnTo>
                      <a:pt x="48661" y="4338"/>
                    </a:lnTo>
                    <a:cubicBezTo>
                      <a:pt x="53001" y="0"/>
                      <a:pt x="60035" y="0"/>
                      <a:pt x="64375" y="4338"/>
                    </a:cubicBezTo>
                  </a:path>
                </a:pathLst>
              </a:custGeom>
              <a:solidFill>
                <a:schemeClr val="accent1"/>
              </a:solidFill>
              <a:ln>
                <a:noFill/>
              </a:ln>
            </p:spPr>
          </p:sp>
          <p:sp>
            <p:nvSpPr>
              <p:cNvPr id="12" name="Freeform 12"/>
              <p:cNvSpPr/>
              <p:nvPr/>
            </p:nvSpPr>
            <p:spPr>
              <a:xfrm>
                <a:off x="7037226" y="1552287"/>
                <a:ext cx="68713" cy="52171"/>
              </a:xfrm>
              <a:custGeom>
                <a:avLst/>
                <a:gdLst/>
                <a:ahLst/>
                <a:cxnLst/>
                <a:rect l="l" t="t" r="r" b="b"/>
                <a:pathLst>
                  <a:path w="68713" h="52171">
                    <a:moveTo>
                      <a:pt x="64375" y="4338"/>
                    </a:moveTo>
                    <a:cubicBezTo>
                      <a:pt x="68713" y="8678"/>
                      <a:pt x="68713" y="15712"/>
                      <a:pt x="64375" y="20051"/>
                    </a:cubicBezTo>
                    <a:lnTo>
                      <a:pt x="36593" y="47833"/>
                    </a:lnTo>
                    <a:cubicBezTo>
                      <a:pt x="32254" y="52171"/>
                      <a:pt x="25220" y="52171"/>
                      <a:pt x="20880" y="47833"/>
                    </a:cubicBezTo>
                    <a:lnTo>
                      <a:pt x="4211" y="31164"/>
                    </a:lnTo>
                    <a:cubicBezTo>
                      <a:pt x="0" y="26803"/>
                      <a:pt x="60" y="19873"/>
                      <a:pt x="4347" y="15586"/>
                    </a:cubicBezTo>
                    <a:cubicBezTo>
                      <a:pt x="8633" y="11300"/>
                      <a:pt x="15564" y="11239"/>
                      <a:pt x="19924" y="15451"/>
                    </a:cubicBezTo>
                    <a:lnTo>
                      <a:pt x="28737" y="24263"/>
                    </a:lnTo>
                    <a:lnTo>
                      <a:pt x="48661" y="4338"/>
                    </a:lnTo>
                    <a:cubicBezTo>
                      <a:pt x="53001" y="0"/>
                      <a:pt x="60035" y="0"/>
                      <a:pt x="64375" y="4338"/>
                    </a:cubicBezTo>
                  </a:path>
                </a:pathLst>
              </a:custGeom>
              <a:solidFill>
                <a:schemeClr val="accent1"/>
              </a:solidFill>
              <a:ln>
                <a:noFill/>
              </a:ln>
            </p:spPr>
          </p:sp>
          <p:sp>
            <p:nvSpPr>
              <p:cNvPr id="13" name="Freeform 13"/>
              <p:cNvSpPr/>
              <p:nvPr/>
            </p:nvSpPr>
            <p:spPr>
              <a:xfrm>
                <a:off x="7037226" y="1618962"/>
                <a:ext cx="68713" cy="52171"/>
              </a:xfrm>
              <a:custGeom>
                <a:avLst/>
                <a:gdLst/>
                <a:ahLst/>
                <a:cxnLst/>
                <a:rect l="l" t="t" r="r" b="b"/>
                <a:pathLst>
                  <a:path w="68713" h="52171">
                    <a:moveTo>
                      <a:pt x="64375" y="4338"/>
                    </a:moveTo>
                    <a:cubicBezTo>
                      <a:pt x="68713" y="8678"/>
                      <a:pt x="68713" y="15712"/>
                      <a:pt x="64375" y="20051"/>
                    </a:cubicBezTo>
                    <a:lnTo>
                      <a:pt x="36593" y="47833"/>
                    </a:lnTo>
                    <a:cubicBezTo>
                      <a:pt x="32254" y="52171"/>
                      <a:pt x="25220" y="52171"/>
                      <a:pt x="20880" y="47833"/>
                    </a:cubicBezTo>
                    <a:lnTo>
                      <a:pt x="4211" y="31164"/>
                    </a:lnTo>
                    <a:cubicBezTo>
                      <a:pt x="0" y="26803"/>
                      <a:pt x="60" y="19873"/>
                      <a:pt x="4347" y="15586"/>
                    </a:cubicBezTo>
                    <a:cubicBezTo>
                      <a:pt x="8633" y="11300"/>
                      <a:pt x="15564" y="11239"/>
                      <a:pt x="19924" y="15451"/>
                    </a:cubicBezTo>
                    <a:lnTo>
                      <a:pt x="28737" y="24263"/>
                    </a:lnTo>
                    <a:lnTo>
                      <a:pt x="48661" y="4338"/>
                    </a:lnTo>
                    <a:cubicBezTo>
                      <a:pt x="53001" y="0"/>
                      <a:pt x="60035" y="0"/>
                      <a:pt x="64375" y="4338"/>
                    </a:cubicBezTo>
                  </a:path>
                </a:pathLst>
              </a:custGeom>
              <a:solidFill>
                <a:schemeClr val="accent1"/>
              </a:solidFill>
              <a:ln>
                <a:noFill/>
              </a:ln>
            </p:spPr>
          </p:sp>
          <p:sp>
            <p:nvSpPr>
              <p:cNvPr id="14" name="Freeform 14"/>
              <p:cNvSpPr/>
              <p:nvPr/>
            </p:nvSpPr>
            <p:spPr>
              <a:xfrm>
                <a:off x="7121525" y="1503363"/>
                <a:ext cx="122238" cy="22225"/>
              </a:xfrm>
              <a:custGeom>
                <a:avLst/>
                <a:gdLst/>
                <a:ahLst/>
                <a:cxnLst/>
                <a:rect l="l" t="t" r="r" b="b"/>
                <a:pathLst>
                  <a:path w="122238" h="22225">
                    <a:moveTo>
                      <a:pt x="122238" y="11113"/>
                    </a:moveTo>
                    <a:cubicBezTo>
                      <a:pt x="122238" y="17250"/>
                      <a:pt x="117263" y="22225"/>
                      <a:pt x="111125" y="22225"/>
                    </a:cubicBezTo>
                    <a:lnTo>
                      <a:pt x="11113" y="22225"/>
                    </a:lnTo>
                    <a:cubicBezTo>
                      <a:pt x="4975" y="22225"/>
                      <a:pt x="0" y="17250"/>
                      <a:pt x="0" y="11113"/>
                    </a:cubicBezTo>
                    <a:cubicBezTo>
                      <a:pt x="0" y="4975"/>
                      <a:pt x="4975" y="0"/>
                      <a:pt x="11113" y="0"/>
                    </a:cubicBezTo>
                    <a:lnTo>
                      <a:pt x="111125" y="0"/>
                    </a:lnTo>
                    <a:cubicBezTo>
                      <a:pt x="117263" y="0"/>
                      <a:pt x="122238" y="4975"/>
                      <a:pt x="122238" y="11113"/>
                    </a:cubicBezTo>
                  </a:path>
                </a:pathLst>
              </a:custGeom>
              <a:solidFill>
                <a:schemeClr val="accent1"/>
              </a:solidFill>
              <a:ln>
                <a:noFill/>
              </a:ln>
            </p:spPr>
          </p:sp>
          <p:sp>
            <p:nvSpPr>
              <p:cNvPr id="15" name="Freeform 15"/>
              <p:cNvSpPr/>
              <p:nvPr/>
            </p:nvSpPr>
            <p:spPr>
              <a:xfrm>
                <a:off x="7121525" y="1570038"/>
                <a:ext cx="122238" cy="22225"/>
              </a:xfrm>
              <a:custGeom>
                <a:avLst/>
                <a:gdLst/>
                <a:ahLst/>
                <a:cxnLst/>
                <a:rect l="l" t="t" r="r" b="b"/>
                <a:pathLst>
                  <a:path w="122238" h="22225">
                    <a:moveTo>
                      <a:pt x="122238" y="11113"/>
                    </a:moveTo>
                    <a:cubicBezTo>
                      <a:pt x="122238" y="17250"/>
                      <a:pt x="117263" y="22225"/>
                      <a:pt x="111125" y="22225"/>
                    </a:cubicBezTo>
                    <a:lnTo>
                      <a:pt x="11113" y="22225"/>
                    </a:lnTo>
                    <a:cubicBezTo>
                      <a:pt x="4975" y="22225"/>
                      <a:pt x="0" y="17250"/>
                      <a:pt x="0" y="11113"/>
                    </a:cubicBezTo>
                    <a:cubicBezTo>
                      <a:pt x="0" y="4975"/>
                      <a:pt x="4975" y="0"/>
                      <a:pt x="11113" y="0"/>
                    </a:cubicBezTo>
                    <a:lnTo>
                      <a:pt x="111125" y="0"/>
                    </a:lnTo>
                    <a:cubicBezTo>
                      <a:pt x="117263" y="0"/>
                      <a:pt x="122238" y="4975"/>
                      <a:pt x="122238" y="11113"/>
                    </a:cubicBezTo>
                  </a:path>
                </a:pathLst>
              </a:custGeom>
              <a:solidFill>
                <a:schemeClr val="accent1"/>
              </a:solidFill>
              <a:ln>
                <a:noFill/>
              </a:ln>
            </p:spPr>
          </p:sp>
          <p:sp>
            <p:nvSpPr>
              <p:cNvPr id="16" name="Freeform 16"/>
              <p:cNvSpPr/>
              <p:nvPr/>
            </p:nvSpPr>
            <p:spPr>
              <a:xfrm>
                <a:off x="7121525" y="1636713"/>
                <a:ext cx="122238" cy="22225"/>
              </a:xfrm>
              <a:custGeom>
                <a:avLst/>
                <a:gdLst/>
                <a:ahLst/>
                <a:cxnLst/>
                <a:rect l="l" t="t" r="r" b="b"/>
                <a:pathLst>
                  <a:path w="122238" h="22225">
                    <a:moveTo>
                      <a:pt x="122238" y="11113"/>
                    </a:moveTo>
                    <a:cubicBezTo>
                      <a:pt x="122238" y="17250"/>
                      <a:pt x="117263" y="22225"/>
                      <a:pt x="111125" y="22225"/>
                    </a:cubicBezTo>
                    <a:lnTo>
                      <a:pt x="11113" y="22225"/>
                    </a:lnTo>
                    <a:cubicBezTo>
                      <a:pt x="4975" y="22225"/>
                      <a:pt x="0" y="17250"/>
                      <a:pt x="0" y="11113"/>
                    </a:cubicBezTo>
                    <a:cubicBezTo>
                      <a:pt x="0" y="4975"/>
                      <a:pt x="4975" y="0"/>
                      <a:pt x="11113" y="0"/>
                    </a:cubicBezTo>
                    <a:lnTo>
                      <a:pt x="111125" y="0"/>
                    </a:lnTo>
                    <a:cubicBezTo>
                      <a:pt x="117263" y="0"/>
                      <a:pt x="122238" y="4975"/>
                      <a:pt x="122238" y="11113"/>
                    </a:cubicBezTo>
                  </a:path>
                </a:pathLst>
              </a:custGeom>
              <a:solidFill>
                <a:schemeClr val="accent1"/>
              </a:solidFill>
              <a:ln>
                <a:noFill/>
              </a:ln>
            </p:spPr>
          </p:sp>
        </p:grpSp>
        <p:sp>
          <p:nvSpPr>
            <p:cNvPr id="18" name="Ellipse 18"/>
            <p:cNvSpPr/>
            <p:nvPr/>
          </p:nvSpPr>
          <p:spPr>
            <a:xfrm>
              <a:off x="7058025" y="1990725"/>
              <a:ext cx="361950" cy="361950"/>
            </a:xfrm>
            <a:prstGeom prst="ellipse">
              <a:avLst/>
            </a:prstGeom>
            <a:solidFill>
              <a:schemeClr val="accent1"/>
            </a:solidFill>
            <a:ln>
              <a:noFill/>
            </a:ln>
          </p:spPr>
        </p:sp>
        <p:sp>
          <p:nvSpPr>
            <p:cNvPr id="19" name="TextBox 19"/>
            <p:cNvSpPr txBox="1"/>
            <p:nvPr/>
          </p:nvSpPr>
          <p:spPr>
            <a:xfrm>
              <a:off x="7173073" y="20859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1</a:t>
              </a:r>
            </a:p>
          </p:txBody>
        </p:sp>
        <p:sp>
          <p:nvSpPr>
            <p:cNvPr id="20" name="TextBox 20"/>
            <p:cNvSpPr txBox="1"/>
            <p:nvPr/>
          </p:nvSpPr>
          <p:spPr>
            <a:xfrm>
              <a:off x="7572756" y="2053590"/>
              <a:ext cx="170992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したい改修に近いものを</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ひとつ選びます。</a:t>
              </a:r>
            </a:p>
          </p:txBody>
        </p:sp>
        <p:sp>
          <p:nvSpPr>
            <p:cNvPr id="21" name="Ellipse 21"/>
            <p:cNvSpPr/>
            <p:nvPr/>
          </p:nvSpPr>
          <p:spPr>
            <a:xfrm>
              <a:off x="7058025" y="3114675"/>
              <a:ext cx="361950" cy="361950"/>
            </a:xfrm>
            <a:prstGeom prst="ellipse">
              <a:avLst/>
            </a:prstGeom>
            <a:solidFill>
              <a:schemeClr val="accent1"/>
            </a:solidFill>
            <a:ln>
              <a:noFill/>
            </a:ln>
          </p:spPr>
        </p:sp>
        <p:sp>
          <p:nvSpPr>
            <p:cNvPr id="22" name="TextBox 22"/>
            <p:cNvSpPr txBox="1"/>
            <p:nvPr/>
          </p:nvSpPr>
          <p:spPr>
            <a:xfrm>
              <a:off x="7173073" y="32099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2</a:t>
              </a:r>
            </a:p>
          </p:txBody>
        </p:sp>
        <p:sp>
          <p:nvSpPr>
            <p:cNvPr id="23" name="TextBox 23"/>
            <p:cNvSpPr txBox="1"/>
            <p:nvPr/>
          </p:nvSpPr>
          <p:spPr>
            <a:xfrm>
              <a:off x="7572756" y="3177540"/>
              <a:ext cx="2475738" cy="9997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迷ったら「自分で改修内容を書く」を選び、次の画面に内容を書きます。</a:t>
              </a:r>
            </a:p>
          </p:txBody>
        </p:sp>
        <p:sp>
          <p:nvSpPr>
            <p:cNvPr id="24" name="Ellipse 24"/>
            <p:cNvSpPr/>
            <p:nvPr/>
          </p:nvSpPr>
          <p:spPr>
            <a:xfrm>
              <a:off x="7058025" y="4581525"/>
              <a:ext cx="361950" cy="361950"/>
            </a:xfrm>
            <a:prstGeom prst="ellipse">
              <a:avLst/>
            </a:prstGeom>
            <a:solidFill>
              <a:schemeClr val="accent1"/>
            </a:solidFill>
            <a:ln>
              <a:noFill/>
            </a:ln>
          </p:spPr>
        </p:sp>
        <p:sp>
          <p:nvSpPr>
            <p:cNvPr id="25" name="TextBox 25"/>
            <p:cNvSpPr txBox="1"/>
            <p:nvPr/>
          </p:nvSpPr>
          <p:spPr>
            <a:xfrm>
              <a:off x="7173073" y="46767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3</a:t>
              </a:r>
            </a:p>
          </p:txBody>
        </p:sp>
        <p:sp>
          <p:nvSpPr>
            <p:cNvPr id="26" name="TextBox 26"/>
            <p:cNvSpPr txBox="1"/>
            <p:nvPr/>
          </p:nvSpPr>
          <p:spPr>
            <a:xfrm>
              <a:off x="7572756" y="4644390"/>
              <a:ext cx="1812798" cy="13235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選んだものによっては、いくつか質問が出ます。分かるところだけ答えれば進めます。</a:t>
              </a:r>
            </a:p>
          </p:txBody>
        </p:sp>
      </p:grpSp>
      <p:grpSp>
        <p:nvGrpSpPr>
          <p:cNvPr id="30" name="Group 30"/>
          <p:cNvGrpSpPr/>
          <p:nvPr/>
        </p:nvGrpSpPr>
        <p:grpSpPr>
          <a:xfrm>
            <a:off x="374904" y="6461760"/>
            <a:ext cx="11442192" cy="234696"/>
            <a:chOff x="374904" y="6461760"/>
            <a:chExt cx="11442192" cy="234696"/>
          </a:xfrm>
        </p:grpSpPr>
        <p:sp>
          <p:nvSpPr>
            <p:cNvPr id="28" name="TextBox 28"/>
            <p:cNvSpPr txBox="1"/>
            <p:nvPr/>
          </p:nvSpPr>
          <p:spPr>
            <a:xfrm>
              <a:off x="374904" y="646176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29" name="TextBox 29"/>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07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539915" y="568642"/>
              <a:ext cx="1091871"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手順 2 · 2/3</a:t>
              </a:r>
            </a:p>
          </p:txBody>
        </p:sp>
        <p:sp>
          <p:nvSpPr>
            <p:cNvPr id="4" name="TextBox 4"/>
            <p:cNvSpPr txBox="1"/>
            <p:nvPr/>
          </p:nvSpPr>
          <p:spPr>
            <a:xfrm>
              <a:off x="1946148" y="479108"/>
              <a:ext cx="5065913"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AIへ送る依頼文を用意しました</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0" name="Group 10"/>
          <p:cNvGrpSpPr/>
          <p:nvPr/>
        </p:nvGrpSpPr>
        <p:grpSpPr>
          <a:xfrm>
            <a:off x="342900" y="1371600"/>
            <a:ext cx="6477000" cy="3676650"/>
            <a:chOff x="342900" y="1371600"/>
            <a:chExt cx="6477000" cy="3676650"/>
          </a:xfrm>
        </p:grpSpPr>
        <p:sp>
          <p:nvSpPr>
            <p:cNvPr id="7" name="Rectangle 7"/>
            <p:cNvSpPr/>
            <p:nvPr/>
          </p:nvSpPr>
          <p:spPr>
            <a:xfrm>
              <a:off x="342900" y="1371600"/>
              <a:ext cx="6477000" cy="3676650"/>
            </a:xfrm>
            <a:prstGeom prst="roundRect">
              <a:avLst>
                <a:gd name="adj" fmla="val 3627"/>
              </a:avLst>
            </a:prstGeom>
            <a:solidFill>
              <a:schemeClr val="accent6"/>
            </a:solidFill>
            <a:ln>
              <a:noFill/>
            </a:ln>
          </p:spPr>
        </p:sp>
        <p:pic>
          <p:nvPicPr>
            <p:cNvPr id="8" name="Image 8"/>
            <p:cNvPicPr>
              <a:picLocks noChangeAspect="1"/>
            </p:cNvPicPr>
            <p:nvPr/>
          </p:nvPicPr>
          <p:blipFill>
            <a:blip r:embed="rId2"/>
            <a:stretch>
              <a:fillRect/>
            </a:stretch>
          </p:blipFill>
          <p:spPr>
            <a:xfrm>
              <a:off x="381000" y="1409700"/>
              <a:ext cx="6400800" cy="3600450"/>
            </a:xfrm>
            <a:prstGeom prst="roundRect">
              <a:avLst>
                <a:gd name="adj" fmla="val 2645"/>
              </a:avLst>
            </a:prstGeom>
          </p:spPr>
        </p:pic>
        <p:sp>
          <p:nvSpPr>
            <p:cNvPr id="9" name="Rectangle 9"/>
            <p:cNvSpPr/>
            <p:nvPr/>
          </p:nvSpPr>
          <p:spPr>
            <a:xfrm>
              <a:off x="381000" y="1409700"/>
              <a:ext cx="6400800" cy="3600450"/>
            </a:xfrm>
            <a:prstGeom prst="roundRect">
              <a:avLst>
                <a:gd name="adj" fmla="val 2646"/>
              </a:avLst>
            </a:prstGeom>
            <a:noFill/>
            <a:ln w="9525">
              <a:solidFill>
                <a:srgbClr val="E2E8F0"/>
              </a:solidFill>
            </a:ln>
          </p:spPr>
        </p:sp>
      </p:grpSp>
      <p:grpSp>
        <p:nvGrpSpPr>
          <p:cNvPr id="16" name="Group 16"/>
          <p:cNvGrpSpPr/>
          <p:nvPr/>
        </p:nvGrpSpPr>
        <p:grpSpPr>
          <a:xfrm>
            <a:off x="342900" y="5238750"/>
            <a:ext cx="6477000" cy="971550"/>
            <a:chOff x="342900" y="5238750"/>
            <a:chExt cx="6477000" cy="971550"/>
          </a:xfrm>
        </p:grpSpPr>
        <p:sp>
          <p:nvSpPr>
            <p:cNvPr id="11" name="Rectangle 11"/>
            <p:cNvSpPr/>
            <p:nvPr/>
          </p:nvSpPr>
          <p:spPr>
            <a:xfrm>
              <a:off x="342900" y="5238750"/>
              <a:ext cx="6477000" cy="971550"/>
            </a:xfrm>
            <a:prstGeom prst="roundRect">
              <a:avLst>
                <a:gd name="adj" fmla="val 13725"/>
              </a:avLst>
            </a:prstGeom>
            <a:solidFill>
              <a:schemeClr val="lt1"/>
            </a:solidFill>
            <a:ln w="19050">
              <a:solidFill>
                <a:schemeClr val="accent1"/>
              </a:solidFill>
            </a:ln>
          </p:spPr>
        </p:sp>
        <p:grpSp>
          <p:nvGrpSpPr>
            <p:cNvPr id="14" name="Group 14"/>
            <p:cNvGrpSpPr/>
            <p:nvPr/>
          </p:nvGrpSpPr>
          <p:grpSpPr>
            <a:xfrm>
              <a:off x="634999" y="5470525"/>
              <a:ext cx="177802" cy="222252"/>
              <a:chOff x="634999" y="5470525"/>
              <a:chExt cx="177802" cy="222252"/>
            </a:xfrm>
          </p:grpSpPr>
          <p:sp>
            <p:nvSpPr>
              <p:cNvPr id="12" name="Freeform 12"/>
              <p:cNvSpPr/>
              <p:nvPr/>
            </p:nvSpPr>
            <p:spPr>
              <a:xfrm>
                <a:off x="634999" y="5470525"/>
                <a:ext cx="177802" cy="222252"/>
              </a:xfrm>
              <a:custGeom>
                <a:avLst/>
                <a:gdLst/>
                <a:ahLst/>
                <a:cxnLst/>
                <a:rect l="l" t="t" r="r" b="b"/>
                <a:pathLst>
                  <a:path w="177802" h="222252">
                    <a:moveTo>
                      <a:pt x="88901" y="0"/>
                    </a:moveTo>
                    <a:lnTo>
                      <a:pt x="90201" y="78"/>
                    </a:lnTo>
                    <a:cubicBezTo>
                      <a:pt x="95308" y="680"/>
                      <a:pt x="99334" y="4706"/>
                      <a:pt x="99936" y="9812"/>
                    </a:cubicBezTo>
                    <a:lnTo>
                      <a:pt x="100014" y="11113"/>
                    </a:lnTo>
                    <a:lnTo>
                      <a:pt x="100014" y="55563"/>
                    </a:lnTo>
                    <a:lnTo>
                      <a:pt x="100069" y="57230"/>
                    </a:lnTo>
                    <a:cubicBezTo>
                      <a:pt x="100891" y="68163"/>
                      <a:pt x="109563" y="76864"/>
                      <a:pt x="120494" y="77721"/>
                    </a:cubicBezTo>
                    <a:lnTo>
                      <a:pt x="122239" y="77788"/>
                    </a:lnTo>
                    <a:lnTo>
                      <a:pt x="166689" y="77788"/>
                    </a:lnTo>
                    <a:lnTo>
                      <a:pt x="167989" y="77866"/>
                    </a:lnTo>
                    <a:cubicBezTo>
                      <a:pt x="173095" y="78468"/>
                      <a:pt x="177122" y="82494"/>
                      <a:pt x="177724" y="87600"/>
                    </a:cubicBezTo>
                    <a:lnTo>
                      <a:pt x="177801" y="88900"/>
                    </a:lnTo>
                    <a:lnTo>
                      <a:pt x="177801" y="188913"/>
                    </a:lnTo>
                    <a:cubicBezTo>
                      <a:pt x="177802" y="206566"/>
                      <a:pt x="164042" y="221159"/>
                      <a:pt x="146420" y="222195"/>
                    </a:cubicBezTo>
                    <a:lnTo>
                      <a:pt x="144464" y="222251"/>
                    </a:lnTo>
                    <a:lnTo>
                      <a:pt x="33339" y="222251"/>
                    </a:lnTo>
                    <a:cubicBezTo>
                      <a:pt x="15686" y="222252"/>
                      <a:pt x="1092" y="208491"/>
                      <a:pt x="57" y="190869"/>
                    </a:cubicBezTo>
                    <a:lnTo>
                      <a:pt x="1" y="188913"/>
                    </a:lnTo>
                    <a:lnTo>
                      <a:pt x="1" y="33338"/>
                    </a:lnTo>
                    <a:cubicBezTo>
                      <a:pt x="0" y="15685"/>
                      <a:pt x="13760" y="1091"/>
                      <a:pt x="31383" y="56"/>
                    </a:cubicBezTo>
                    <a:lnTo>
                      <a:pt x="33339" y="0"/>
                    </a:lnTo>
                    <a:close/>
                    <a:moveTo>
                      <a:pt x="122239" y="155575"/>
                    </a:moveTo>
                    <a:lnTo>
                      <a:pt x="55564" y="155575"/>
                    </a:lnTo>
                    <a:cubicBezTo>
                      <a:pt x="49426" y="155575"/>
                      <a:pt x="44451" y="160551"/>
                      <a:pt x="44451" y="166688"/>
                    </a:cubicBezTo>
                    <a:cubicBezTo>
                      <a:pt x="44451" y="172825"/>
                      <a:pt x="49426" y="177801"/>
                      <a:pt x="55564" y="177801"/>
                    </a:cubicBezTo>
                    <a:lnTo>
                      <a:pt x="122239" y="177801"/>
                    </a:lnTo>
                    <a:cubicBezTo>
                      <a:pt x="128376" y="177801"/>
                      <a:pt x="133351" y="172825"/>
                      <a:pt x="133351" y="166688"/>
                    </a:cubicBezTo>
                    <a:cubicBezTo>
                      <a:pt x="133351" y="160551"/>
                      <a:pt x="128376" y="155575"/>
                      <a:pt x="122239" y="155575"/>
                    </a:cubicBezTo>
                    <a:moveTo>
                      <a:pt x="122239" y="111125"/>
                    </a:moveTo>
                    <a:lnTo>
                      <a:pt x="55564" y="111125"/>
                    </a:lnTo>
                    <a:cubicBezTo>
                      <a:pt x="49426" y="111125"/>
                      <a:pt x="44451" y="116101"/>
                      <a:pt x="44451" y="122238"/>
                    </a:cubicBezTo>
                    <a:cubicBezTo>
                      <a:pt x="44451" y="128375"/>
                      <a:pt x="49426" y="133350"/>
                      <a:pt x="55564" y="133350"/>
                    </a:cubicBezTo>
                    <a:lnTo>
                      <a:pt x="122239" y="133350"/>
                    </a:lnTo>
                    <a:cubicBezTo>
                      <a:pt x="128376" y="133350"/>
                      <a:pt x="133351" y="128375"/>
                      <a:pt x="133351" y="122238"/>
                    </a:cubicBezTo>
                    <a:cubicBezTo>
                      <a:pt x="133351" y="116101"/>
                      <a:pt x="128376" y="111125"/>
                      <a:pt x="122239" y="111125"/>
                    </a:cubicBezTo>
                    <a:moveTo>
                      <a:pt x="66676" y="66675"/>
                    </a:moveTo>
                    <a:lnTo>
                      <a:pt x="55564" y="66675"/>
                    </a:lnTo>
                    <a:cubicBezTo>
                      <a:pt x="49426" y="66675"/>
                      <a:pt x="44451" y="71650"/>
                      <a:pt x="44451" y="77788"/>
                    </a:cubicBezTo>
                    <a:cubicBezTo>
                      <a:pt x="44451" y="83925"/>
                      <a:pt x="49426" y="88900"/>
                      <a:pt x="55564" y="88900"/>
                    </a:cubicBezTo>
                    <a:lnTo>
                      <a:pt x="66676" y="88900"/>
                    </a:lnTo>
                    <a:cubicBezTo>
                      <a:pt x="72813" y="88900"/>
                      <a:pt x="77789" y="83925"/>
                      <a:pt x="77789" y="77788"/>
                    </a:cubicBezTo>
                    <a:cubicBezTo>
                      <a:pt x="77789" y="71650"/>
                      <a:pt x="72813" y="66675"/>
                      <a:pt x="66676" y="66675"/>
                    </a:cubicBezTo>
                  </a:path>
                </a:pathLst>
              </a:custGeom>
              <a:solidFill>
                <a:schemeClr val="accent1"/>
              </a:solidFill>
              <a:ln>
                <a:noFill/>
              </a:ln>
            </p:spPr>
          </p:sp>
          <p:sp>
            <p:nvSpPr>
              <p:cNvPr id="13" name="Freeform 13"/>
              <p:cNvSpPr/>
              <p:nvPr/>
            </p:nvSpPr>
            <p:spPr>
              <a:xfrm>
                <a:off x="757227" y="5481626"/>
                <a:ext cx="44461" cy="44461"/>
              </a:xfrm>
              <a:custGeom>
                <a:avLst/>
                <a:gdLst/>
                <a:ahLst/>
                <a:cxnLst/>
                <a:rect l="l" t="t" r="r" b="b"/>
                <a:pathLst>
                  <a:path w="44461" h="44461">
                    <a:moveTo>
                      <a:pt x="44461" y="44461"/>
                    </a:moveTo>
                    <a:lnTo>
                      <a:pt x="11" y="44461"/>
                    </a:lnTo>
                    <a:lnTo>
                      <a:pt x="0" y="0"/>
                    </a:lnTo>
                    <a:close/>
                  </a:path>
                </a:pathLst>
              </a:custGeom>
              <a:solidFill>
                <a:schemeClr val="accent1"/>
              </a:solidFill>
              <a:ln>
                <a:noFill/>
              </a:ln>
            </p:spPr>
          </p:sp>
        </p:grpSp>
        <p:sp>
          <p:nvSpPr>
            <p:cNvPr id="15" name="TextBox 15"/>
            <p:cNvSpPr txBox="1"/>
            <p:nvPr/>
          </p:nvSpPr>
          <p:spPr>
            <a:xfrm>
              <a:off x="943356" y="5463540"/>
              <a:ext cx="312724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直すところが無ければ、依頼文は開かずに</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そのまま進めます。</a:t>
              </a:r>
            </a:p>
          </p:txBody>
        </p:sp>
      </p:grpSp>
      <p:grpSp>
        <p:nvGrpSpPr>
          <p:cNvPr id="26" name="Group 26"/>
          <p:cNvGrpSpPr/>
          <p:nvPr/>
        </p:nvGrpSpPr>
        <p:grpSpPr>
          <a:xfrm>
            <a:off x="7058025" y="1724025"/>
            <a:ext cx="2990469" cy="3539109"/>
            <a:chOff x="7058025" y="1724025"/>
            <a:chExt cx="2990469" cy="3539109"/>
          </a:xfrm>
        </p:grpSpPr>
        <p:sp>
          <p:nvSpPr>
            <p:cNvPr id="17" name="Ellipse 17"/>
            <p:cNvSpPr/>
            <p:nvPr/>
          </p:nvSpPr>
          <p:spPr>
            <a:xfrm>
              <a:off x="7058025" y="1724025"/>
              <a:ext cx="361950" cy="361950"/>
            </a:xfrm>
            <a:prstGeom prst="ellipse">
              <a:avLst/>
            </a:prstGeom>
            <a:solidFill>
              <a:schemeClr val="accent1"/>
            </a:solidFill>
            <a:ln>
              <a:noFill/>
            </a:ln>
          </p:spPr>
        </p:sp>
        <p:sp>
          <p:nvSpPr>
            <p:cNvPr id="18" name="TextBox 18"/>
            <p:cNvSpPr txBox="1"/>
            <p:nvPr/>
          </p:nvSpPr>
          <p:spPr>
            <a:xfrm>
              <a:off x="7173073" y="18192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1</a:t>
              </a:r>
            </a:p>
          </p:txBody>
        </p:sp>
        <p:sp>
          <p:nvSpPr>
            <p:cNvPr id="19" name="TextBox 19"/>
            <p:cNvSpPr txBox="1"/>
            <p:nvPr/>
          </p:nvSpPr>
          <p:spPr>
            <a:xfrm>
              <a:off x="7572756" y="1786890"/>
              <a:ext cx="1149858" cy="675894"/>
            </a:xfrm>
            <a:prstGeom prst="rect">
              <a:avLst/>
            </a:prstGeom>
            <a:noFill/>
            <a:ln>
              <a:noFill/>
            </a:ln>
          </p:spPr>
          <p:txBody>
            <a:bodyPr wrap="square" lIns="0" tIns="0" rIns="0" bIns="0" anchor="t" anchorCtr="0"/>
            <a:lstStyle/>
            <a:p>
              <a:pPr algn="l">
                <a:lnSpc>
                  <a:spcPts val="2550"/>
                </a:lnSpc>
              </a:pPr>
              <a:r>
                <a:rPr lang="en-US" sz="1800" dirty="0">
                  <a:solidFill>
                    <a:schemeClr val="dk1"/>
                  </a:solidFill>
                  <a:latin typeface="+mn-lt"/>
                  <a:ea typeface="+mn-ea"/>
                  <a:cs typeface="+mn-cs"/>
                </a:rPr>
                <a:t>そのままでよければ</a:t>
              </a:r>
              <a:r>
                <a:rPr lang="zh-CN" sz="1800" dirty="0">
                  <a:solidFill>
                    <a:schemeClr val="dk1"/>
                  </a:solidFill>
                  <a:latin typeface="+mn-lt"/>
                  <a:ea typeface="+mn-ea"/>
                  <a:cs typeface="+mn-cs"/>
                </a:rPr>
                <a:t>［次へ］。</a:t>
              </a:r>
            </a:p>
          </p:txBody>
        </p:sp>
        <p:sp>
          <p:nvSpPr>
            <p:cNvPr id="20" name="Ellipse 20"/>
            <p:cNvSpPr/>
            <p:nvPr/>
          </p:nvSpPr>
          <p:spPr>
            <a:xfrm>
              <a:off x="7058025" y="2962275"/>
              <a:ext cx="361950" cy="361950"/>
            </a:xfrm>
            <a:prstGeom prst="ellipse">
              <a:avLst/>
            </a:prstGeom>
            <a:solidFill>
              <a:schemeClr val="accent1"/>
            </a:solidFill>
            <a:ln>
              <a:noFill/>
            </a:ln>
          </p:spPr>
        </p:sp>
        <p:sp>
          <p:nvSpPr>
            <p:cNvPr id="21" name="TextBox 21"/>
            <p:cNvSpPr txBox="1"/>
            <p:nvPr/>
          </p:nvSpPr>
          <p:spPr>
            <a:xfrm>
              <a:off x="7173073" y="30575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2</a:t>
              </a:r>
            </a:p>
          </p:txBody>
        </p:sp>
        <p:sp>
          <p:nvSpPr>
            <p:cNvPr id="22" name="TextBox 22"/>
            <p:cNvSpPr txBox="1"/>
            <p:nvPr/>
          </p:nvSpPr>
          <p:spPr>
            <a:xfrm>
              <a:off x="7572756" y="3025140"/>
              <a:ext cx="226999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書き換えるときは「依頼文を確認・編集」を開きます。</a:t>
              </a:r>
            </a:p>
          </p:txBody>
        </p:sp>
        <p:sp>
          <p:nvSpPr>
            <p:cNvPr id="23" name="Ellipse 23"/>
            <p:cNvSpPr/>
            <p:nvPr/>
          </p:nvSpPr>
          <p:spPr>
            <a:xfrm>
              <a:off x="7058025" y="4200525"/>
              <a:ext cx="361950" cy="361950"/>
            </a:xfrm>
            <a:prstGeom prst="ellipse">
              <a:avLst/>
            </a:prstGeom>
            <a:solidFill>
              <a:schemeClr val="accent1"/>
            </a:solidFill>
            <a:ln>
              <a:noFill/>
            </a:ln>
          </p:spPr>
        </p:sp>
        <p:sp>
          <p:nvSpPr>
            <p:cNvPr id="24" name="TextBox 24"/>
            <p:cNvSpPr txBox="1"/>
            <p:nvPr/>
          </p:nvSpPr>
          <p:spPr>
            <a:xfrm>
              <a:off x="7173073" y="42957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3</a:t>
              </a:r>
            </a:p>
          </p:txBody>
        </p:sp>
        <p:sp>
          <p:nvSpPr>
            <p:cNvPr id="25" name="TextBox 25"/>
            <p:cNvSpPr txBox="1"/>
            <p:nvPr/>
          </p:nvSpPr>
          <p:spPr>
            <a:xfrm>
              <a:off x="7572756" y="4263390"/>
              <a:ext cx="2475738" cy="9997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コードが長くて返答が途中で切れるときは「モジュール単位出力」に印を付けます。</a:t>
              </a:r>
            </a:p>
          </p:txBody>
        </p:sp>
      </p:grpSp>
      <p:grpSp>
        <p:nvGrpSpPr>
          <p:cNvPr id="29" name="Group 29"/>
          <p:cNvGrpSpPr/>
          <p:nvPr/>
        </p:nvGrpSpPr>
        <p:grpSpPr>
          <a:xfrm>
            <a:off x="374904" y="6461760"/>
            <a:ext cx="11442192" cy="234696"/>
            <a:chOff x="374904" y="6461760"/>
            <a:chExt cx="11442192" cy="234696"/>
          </a:xfrm>
        </p:grpSpPr>
        <p:sp>
          <p:nvSpPr>
            <p:cNvPr id="27" name="TextBox 27"/>
            <p:cNvSpPr txBox="1"/>
            <p:nvPr/>
          </p:nvSpPr>
          <p:spPr>
            <a:xfrm>
              <a:off x="374904" y="646176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28" name="TextBox 28"/>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08</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539915" y="568642"/>
              <a:ext cx="1091871"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手順 2 · 3/3</a:t>
              </a:r>
            </a:p>
          </p:txBody>
        </p:sp>
        <p:sp>
          <p:nvSpPr>
            <p:cNvPr id="4" name="TextBox 4"/>
            <p:cNvSpPr txBox="1"/>
            <p:nvPr/>
          </p:nvSpPr>
          <p:spPr>
            <a:xfrm>
              <a:off x="1946148" y="479108"/>
              <a:ext cx="4642500"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AIチャットへ改修を依頼します</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0" name="Group 10"/>
          <p:cNvGrpSpPr/>
          <p:nvPr/>
        </p:nvGrpSpPr>
        <p:grpSpPr>
          <a:xfrm>
            <a:off x="342900" y="1371600"/>
            <a:ext cx="6477000" cy="3676650"/>
            <a:chOff x="342900" y="1371600"/>
            <a:chExt cx="6477000" cy="3676650"/>
          </a:xfrm>
        </p:grpSpPr>
        <p:sp>
          <p:nvSpPr>
            <p:cNvPr id="7" name="Rectangle 7"/>
            <p:cNvSpPr/>
            <p:nvPr/>
          </p:nvSpPr>
          <p:spPr>
            <a:xfrm>
              <a:off x="342900" y="1371600"/>
              <a:ext cx="6477000" cy="3676650"/>
            </a:xfrm>
            <a:prstGeom prst="roundRect">
              <a:avLst>
                <a:gd name="adj" fmla="val 3627"/>
              </a:avLst>
            </a:prstGeom>
            <a:solidFill>
              <a:schemeClr val="accent6"/>
            </a:solidFill>
            <a:ln>
              <a:noFill/>
            </a:ln>
          </p:spPr>
        </p:sp>
        <p:pic>
          <p:nvPicPr>
            <p:cNvPr id="8" name="Image 8"/>
            <p:cNvPicPr>
              <a:picLocks noChangeAspect="1"/>
            </p:cNvPicPr>
            <p:nvPr/>
          </p:nvPicPr>
          <p:blipFill>
            <a:blip r:embed="rId2"/>
            <a:stretch>
              <a:fillRect/>
            </a:stretch>
          </p:blipFill>
          <p:spPr>
            <a:xfrm>
              <a:off x="381000" y="1409700"/>
              <a:ext cx="6400800" cy="3600450"/>
            </a:xfrm>
            <a:prstGeom prst="roundRect">
              <a:avLst>
                <a:gd name="adj" fmla="val 2645"/>
              </a:avLst>
            </a:prstGeom>
          </p:spPr>
        </p:pic>
        <p:sp>
          <p:nvSpPr>
            <p:cNvPr id="9" name="Rectangle 9"/>
            <p:cNvSpPr/>
            <p:nvPr/>
          </p:nvSpPr>
          <p:spPr>
            <a:xfrm>
              <a:off x="381000" y="1409700"/>
              <a:ext cx="6400800" cy="3600450"/>
            </a:xfrm>
            <a:prstGeom prst="roundRect">
              <a:avLst>
                <a:gd name="adj" fmla="val 2646"/>
              </a:avLst>
            </a:prstGeom>
            <a:noFill/>
            <a:ln w="9525">
              <a:solidFill>
                <a:srgbClr val="E2E8F0"/>
              </a:solidFill>
            </a:ln>
          </p:spPr>
        </p:sp>
      </p:grpSp>
      <p:grpSp>
        <p:nvGrpSpPr>
          <p:cNvPr id="13" name="Group 13"/>
          <p:cNvGrpSpPr/>
          <p:nvPr/>
        </p:nvGrpSpPr>
        <p:grpSpPr>
          <a:xfrm>
            <a:off x="342900" y="5238750"/>
            <a:ext cx="6477000" cy="971550"/>
            <a:chOff x="342900" y="5238750"/>
            <a:chExt cx="6477000" cy="971550"/>
          </a:xfrm>
        </p:grpSpPr>
        <p:sp>
          <p:nvSpPr>
            <p:cNvPr id="11" name="Rectangle 11"/>
            <p:cNvSpPr/>
            <p:nvPr/>
          </p:nvSpPr>
          <p:spPr>
            <a:xfrm>
              <a:off x="342900" y="5238750"/>
              <a:ext cx="6477000" cy="971550"/>
            </a:xfrm>
            <a:prstGeom prst="roundRect">
              <a:avLst>
                <a:gd name="adj" fmla="val 13725"/>
              </a:avLst>
            </a:prstGeom>
            <a:solidFill>
              <a:schemeClr val="accent5"/>
            </a:solidFill>
            <a:ln w="9525">
              <a:solidFill>
                <a:srgbClr val="E2E8F0"/>
              </a:solidFill>
            </a:ln>
          </p:spPr>
        </p:sp>
        <p:sp>
          <p:nvSpPr>
            <p:cNvPr id="12" name="TextBox 12"/>
            <p:cNvSpPr txBox="1"/>
            <p:nvPr/>
          </p:nvSpPr>
          <p:spPr>
            <a:xfrm>
              <a:off x="621030" y="5476875"/>
              <a:ext cx="3158490" cy="579120"/>
            </a:xfrm>
            <a:prstGeom prst="rect">
              <a:avLst/>
            </a:prstGeom>
            <a:noFill/>
            <a:ln>
              <a:noFill/>
            </a:ln>
          </p:spPr>
          <p:txBody>
            <a:bodyPr wrap="square" lIns="0" tIns="0" rIns="0" bIns="0" anchor="t" anchorCtr="0"/>
            <a:lstStyle/>
            <a:p>
              <a:pPr algn="l">
                <a:lnSpc>
                  <a:spcPts val="2250"/>
                </a:lnSpc>
              </a:pPr>
              <a:r>
                <a:rPr lang="zh-CN" sz="1500" dirty="0">
                  <a:solidFill>
                    <a:schemeClr val="dk1"/>
                  </a:solidFill>
                  <a:latin typeface="+mn-lt"/>
                  <a:ea typeface="+mn-ea"/>
                  <a:cs typeface="+mn-cs"/>
                </a:rPr>
                <a:t>マクロが読み書きするExcelシートやファイルがあれば、それも添付すると回答が正確になります。</a:t>
              </a:r>
            </a:p>
          </p:txBody>
        </p:sp>
      </p:grpSp>
      <p:grpSp>
        <p:nvGrpSpPr>
          <p:cNvPr id="24" name="Group 24"/>
          <p:cNvGrpSpPr/>
          <p:nvPr/>
        </p:nvGrpSpPr>
        <p:grpSpPr>
          <a:xfrm>
            <a:off x="7032625" y="1481138"/>
            <a:ext cx="3141599" cy="3877246"/>
            <a:chOff x="7032625" y="1481138"/>
            <a:chExt cx="3141599" cy="3877246"/>
          </a:xfrm>
        </p:grpSpPr>
        <p:sp>
          <p:nvSpPr>
            <p:cNvPr id="14" name="Freeform 14"/>
            <p:cNvSpPr/>
            <p:nvPr/>
          </p:nvSpPr>
          <p:spPr>
            <a:xfrm>
              <a:off x="7032625" y="1481138"/>
              <a:ext cx="222251" cy="211658"/>
            </a:xfrm>
            <a:custGeom>
              <a:avLst/>
              <a:gdLst/>
              <a:ahLst/>
              <a:cxnLst/>
              <a:rect l="l" t="t" r="r" b="b"/>
              <a:pathLst>
                <a:path w="222251" h="211658">
                  <a:moveTo>
                    <a:pt x="177801" y="0"/>
                  </a:moveTo>
                  <a:cubicBezTo>
                    <a:pt x="202350" y="0"/>
                    <a:pt x="222251" y="19901"/>
                    <a:pt x="222251" y="44450"/>
                  </a:cubicBezTo>
                  <a:lnTo>
                    <a:pt x="222251" y="133350"/>
                  </a:lnTo>
                  <a:cubicBezTo>
                    <a:pt x="222251" y="157900"/>
                    <a:pt x="202350" y="177801"/>
                    <a:pt x="177801" y="177801"/>
                  </a:cubicBezTo>
                  <a:lnTo>
                    <a:pt x="125305" y="177801"/>
                  </a:lnTo>
                  <a:lnTo>
                    <a:pt x="72387" y="209549"/>
                  </a:lnTo>
                  <a:cubicBezTo>
                    <a:pt x="69149" y="211492"/>
                    <a:pt x="65145" y="211658"/>
                    <a:pt x="61757" y="209989"/>
                  </a:cubicBezTo>
                  <a:cubicBezTo>
                    <a:pt x="58370" y="208320"/>
                    <a:pt x="56062" y="205044"/>
                    <a:pt x="55629" y="201292"/>
                  </a:cubicBezTo>
                  <a:lnTo>
                    <a:pt x="55563" y="200026"/>
                  </a:lnTo>
                  <a:lnTo>
                    <a:pt x="55563" y="177801"/>
                  </a:lnTo>
                  <a:lnTo>
                    <a:pt x="44450" y="177801"/>
                  </a:lnTo>
                  <a:cubicBezTo>
                    <a:pt x="20765" y="177801"/>
                    <a:pt x="1240" y="159229"/>
                    <a:pt x="56" y="135573"/>
                  </a:cubicBezTo>
                  <a:lnTo>
                    <a:pt x="0" y="133350"/>
                  </a:lnTo>
                  <a:lnTo>
                    <a:pt x="0" y="44450"/>
                  </a:lnTo>
                  <a:cubicBezTo>
                    <a:pt x="0" y="19901"/>
                    <a:pt x="19901" y="0"/>
                    <a:pt x="44450" y="0"/>
                  </a:cubicBezTo>
                  <a:close/>
                  <a:moveTo>
                    <a:pt x="146685" y="103191"/>
                  </a:moveTo>
                  <a:cubicBezTo>
                    <a:pt x="142303" y="98896"/>
                    <a:pt x="135269" y="98965"/>
                    <a:pt x="130972" y="103347"/>
                  </a:cubicBezTo>
                  <a:cubicBezTo>
                    <a:pt x="125747" y="108682"/>
                    <a:pt x="118593" y="111688"/>
                    <a:pt x="111125" y="111688"/>
                  </a:cubicBezTo>
                  <a:cubicBezTo>
                    <a:pt x="103657" y="111688"/>
                    <a:pt x="96504" y="108682"/>
                    <a:pt x="91278" y="103347"/>
                  </a:cubicBezTo>
                  <a:cubicBezTo>
                    <a:pt x="86964" y="99069"/>
                    <a:pt x="80014" y="99050"/>
                    <a:pt x="75676" y="103303"/>
                  </a:cubicBezTo>
                  <a:cubicBezTo>
                    <a:pt x="71337" y="107557"/>
                    <a:pt x="71219" y="114506"/>
                    <a:pt x="75410" y="118904"/>
                  </a:cubicBezTo>
                  <a:cubicBezTo>
                    <a:pt x="84815" y="128502"/>
                    <a:pt x="97687" y="133910"/>
                    <a:pt x="111125" y="133910"/>
                  </a:cubicBezTo>
                  <a:cubicBezTo>
                    <a:pt x="124563" y="133910"/>
                    <a:pt x="137436" y="128502"/>
                    <a:pt x="146841" y="118904"/>
                  </a:cubicBezTo>
                  <a:cubicBezTo>
                    <a:pt x="151136" y="114522"/>
                    <a:pt x="151067" y="107487"/>
                    <a:pt x="146685" y="103191"/>
                  </a:cubicBezTo>
                  <a:moveTo>
                    <a:pt x="83455" y="55563"/>
                  </a:moveTo>
                  <a:lnTo>
                    <a:pt x="83344" y="55563"/>
                  </a:lnTo>
                  <a:cubicBezTo>
                    <a:pt x="77207" y="55563"/>
                    <a:pt x="72231" y="60538"/>
                    <a:pt x="72231" y="66675"/>
                  </a:cubicBezTo>
                  <a:cubicBezTo>
                    <a:pt x="72231" y="72812"/>
                    <a:pt x="77207" y="77788"/>
                    <a:pt x="83344" y="77788"/>
                  </a:cubicBezTo>
                  <a:lnTo>
                    <a:pt x="83455" y="77788"/>
                  </a:lnTo>
                  <a:cubicBezTo>
                    <a:pt x="89592" y="77788"/>
                    <a:pt x="94568" y="72812"/>
                    <a:pt x="94568" y="66675"/>
                  </a:cubicBezTo>
                  <a:cubicBezTo>
                    <a:pt x="94568" y="60538"/>
                    <a:pt x="89592" y="55563"/>
                    <a:pt x="83455" y="55563"/>
                  </a:cubicBezTo>
                  <a:moveTo>
                    <a:pt x="139018" y="55563"/>
                  </a:moveTo>
                  <a:lnTo>
                    <a:pt x="138907" y="55563"/>
                  </a:lnTo>
                  <a:cubicBezTo>
                    <a:pt x="132769" y="55563"/>
                    <a:pt x="127794" y="60538"/>
                    <a:pt x="127794" y="66675"/>
                  </a:cubicBezTo>
                  <a:cubicBezTo>
                    <a:pt x="127794" y="72812"/>
                    <a:pt x="132769" y="77788"/>
                    <a:pt x="138907" y="77788"/>
                  </a:cubicBezTo>
                  <a:lnTo>
                    <a:pt x="139018" y="77788"/>
                  </a:lnTo>
                  <a:cubicBezTo>
                    <a:pt x="145155" y="77788"/>
                    <a:pt x="150130" y="72812"/>
                    <a:pt x="150130" y="66675"/>
                  </a:cubicBezTo>
                  <a:cubicBezTo>
                    <a:pt x="150130" y="60538"/>
                    <a:pt x="145155" y="55563"/>
                    <a:pt x="139018" y="55563"/>
                  </a:cubicBezTo>
                </a:path>
              </a:pathLst>
            </a:custGeom>
            <a:solidFill>
              <a:schemeClr val="accent1"/>
            </a:solidFill>
            <a:ln>
              <a:noFill/>
            </a:ln>
          </p:spPr>
        </p:sp>
        <p:sp>
          <p:nvSpPr>
            <p:cNvPr id="15" name="Ellipse 15"/>
            <p:cNvSpPr/>
            <p:nvPr/>
          </p:nvSpPr>
          <p:spPr>
            <a:xfrm>
              <a:off x="7058025" y="2009775"/>
              <a:ext cx="361950" cy="361950"/>
            </a:xfrm>
            <a:prstGeom prst="ellipse">
              <a:avLst/>
            </a:prstGeom>
            <a:solidFill>
              <a:schemeClr val="accent1"/>
            </a:solidFill>
            <a:ln>
              <a:noFill/>
            </a:ln>
          </p:spPr>
        </p:sp>
        <p:sp>
          <p:nvSpPr>
            <p:cNvPr id="16" name="TextBox 16"/>
            <p:cNvSpPr txBox="1"/>
            <p:nvPr/>
          </p:nvSpPr>
          <p:spPr>
            <a:xfrm>
              <a:off x="7173073" y="21050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1</a:t>
              </a:r>
            </a:p>
          </p:txBody>
        </p:sp>
        <p:sp>
          <p:nvSpPr>
            <p:cNvPr id="17" name="TextBox 17"/>
            <p:cNvSpPr txBox="1"/>
            <p:nvPr/>
          </p:nvSpPr>
          <p:spPr>
            <a:xfrm>
              <a:off x="7572756" y="2072640"/>
              <a:ext cx="2372868" cy="9997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［依頼文をコピー］を押し、チャットの入力欄に貼り付けます（Ctrl+V）。</a:t>
              </a:r>
            </a:p>
          </p:txBody>
        </p:sp>
        <p:sp>
          <p:nvSpPr>
            <p:cNvPr id="18" name="Ellipse 18"/>
            <p:cNvSpPr/>
            <p:nvPr/>
          </p:nvSpPr>
          <p:spPr>
            <a:xfrm>
              <a:off x="7058025" y="3476625"/>
              <a:ext cx="361950" cy="361950"/>
            </a:xfrm>
            <a:prstGeom prst="ellipse">
              <a:avLst/>
            </a:prstGeom>
            <a:solidFill>
              <a:schemeClr val="accent1"/>
            </a:solidFill>
            <a:ln>
              <a:noFill/>
            </a:ln>
          </p:spPr>
        </p:sp>
        <p:sp>
          <p:nvSpPr>
            <p:cNvPr id="19" name="TextBox 19"/>
            <p:cNvSpPr txBox="1"/>
            <p:nvPr/>
          </p:nvSpPr>
          <p:spPr>
            <a:xfrm>
              <a:off x="7173073" y="35718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2</a:t>
              </a:r>
            </a:p>
          </p:txBody>
        </p:sp>
        <p:sp>
          <p:nvSpPr>
            <p:cNvPr id="20" name="TextBox 20"/>
            <p:cNvSpPr txBox="1"/>
            <p:nvPr/>
          </p:nvSpPr>
          <p:spPr>
            <a:xfrm>
              <a:off x="7572756" y="3539490"/>
              <a:ext cx="2601468" cy="9997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［ファイルの場所を開く］を押し、source-code.md を</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チャットへ添付します。</a:t>
              </a:r>
            </a:p>
          </p:txBody>
        </p:sp>
        <p:sp>
          <p:nvSpPr>
            <p:cNvPr id="21" name="Ellipse 21"/>
            <p:cNvSpPr/>
            <p:nvPr/>
          </p:nvSpPr>
          <p:spPr>
            <a:xfrm>
              <a:off x="7058025" y="4943475"/>
              <a:ext cx="361950" cy="361950"/>
            </a:xfrm>
            <a:prstGeom prst="ellipse">
              <a:avLst/>
            </a:prstGeom>
            <a:solidFill>
              <a:schemeClr val="accent1"/>
            </a:solidFill>
            <a:ln>
              <a:noFill/>
            </a:ln>
          </p:spPr>
        </p:sp>
        <p:sp>
          <p:nvSpPr>
            <p:cNvPr id="22" name="TextBox 22"/>
            <p:cNvSpPr txBox="1"/>
            <p:nvPr/>
          </p:nvSpPr>
          <p:spPr>
            <a:xfrm>
              <a:off x="7173073" y="50387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3</a:t>
              </a:r>
            </a:p>
          </p:txBody>
        </p:sp>
        <p:sp>
          <p:nvSpPr>
            <p:cNvPr id="23" name="TextBox 23"/>
            <p:cNvSpPr txBox="1"/>
            <p:nvPr/>
          </p:nvSpPr>
          <p:spPr>
            <a:xfrm>
              <a:off x="7572756" y="5006340"/>
              <a:ext cx="2271827"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送信して返答を待ちます。</a:t>
              </a:r>
            </a:p>
          </p:txBody>
        </p:sp>
      </p:grpSp>
      <p:grpSp>
        <p:nvGrpSpPr>
          <p:cNvPr id="27" name="Group 27"/>
          <p:cNvGrpSpPr/>
          <p:nvPr/>
        </p:nvGrpSpPr>
        <p:grpSpPr>
          <a:xfrm>
            <a:off x="374904" y="6461760"/>
            <a:ext cx="11442192" cy="234696"/>
            <a:chOff x="374904" y="6461760"/>
            <a:chExt cx="11442192" cy="234696"/>
          </a:xfrm>
        </p:grpSpPr>
        <p:sp>
          <p:nvSpPr>
            <p:cNvPr id="25" name="TextBox 25"/>
            <p:cNvSpPr txBox="1"/>
            <p:nvPr/>
          </p:nvSpPr>
          <p:spPr>
            <a:xfrm>
              <a:off x="374904" y="646176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26" name="TextBox 26"/>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09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539915" y="568642"/>
              <a:ext cx="1091871"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手順 3 · 1/2</a:t>
              </a:r>
            </a:p>
          </p:txBody>
        </p:sp>
        <p:sp>
          <p:nvSpPr>
            <p:cNvPr id="4" name="TextBox 4"/>
            <p:cNvSpPr txBox="1"/>
            <p:nvPr/>
          </p:nvSpPr>
          <p:spPr>
            <a:xfrm>
              <a:off x="1946148" y="479108"/>
              <a:ext cx="4901253"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AIの返答をまとめて取り込みます</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0" name="Group 10"/>
          <p:cNvGrpSpPr/>
          <p:nvPr/>
        </p:nvGrpSpPr>
        <p:grpSpPr>
          <a:xfrm>
            <a:off x="342900" y="1371600"/>
            <a:ext cx="6477000" cy="3676650"/>
            <a:chOff x="342900" y="1371600"/>
            <a:chExt cx="6477000" cy="3676650"/>
          </a:xfrm>
        </p:grpSpPr>
        <p:sp>
          <p:nvSpPr>
            <p:cNvPr id="7" name="Rectangle 7"/>
            <p:cNvSpPr/>
            <p:nvPr/>
          </p:nvSpPr>
          <p:spPr>
            <a:xfrm>
              <a:off x="342900" y="1371600"/>
              <a:ext cx="6477000" cy="3676650"/>
            </a:xfrm>
            <a:prstGeom prst="roundRect">
              <a:avLst>
                <a:gd name="adj" fmla="val 3627"/>
              </a:avLst>
            </a:prstGeom>
            <a:solidFill>
              <a:schemeClr val="accent6"/>
            </a:solidFill>
            <a:ln>
              <a:noFill/>
            </a:ln>
          </p:spPr>
        </p:sp>
        <p:pic>
          <p:nvPicPr>
            <p:cNvPr id="8" name="Image 8"/>
            <p:cNvPicPr>
              <a:picLocks noChangeAspect="1"/>
            </p:cNvPicPr>
            <p:nvPr/>
          </p:nvPicPr>
          <p:blipFill>
            <a:blip r:embed="rId2"/>
            <a:stretch>
              <a:fillRect/>
            </a:stretch>
          </p:blipFill>
          <p:spPr>
            <a:xfrm>
              <a:off x="381000" y="1409700"/>
              <a:ext cx="6400800" cy="3600450"/>
            </a:xfrm>
            <a:prstGeom prst="roundRect">
              <a:avLst>
                <a:gd name="adj" fmla="val 2645"/>
              </a:avLst>
            </a:prstGeom>
          </p:spPr>
        </p:pic>
        <p:sp>
          <p:nvSpPr>
            <p:cNvPr id="9" name="Rectangle 9"/>
            <p:cNvSpPr/>
            <p:nvPr/>
          </p:nvSpPr>
          <p:spPr>
            <a:xfrm>
              <a:off x="381000" y="1409700"/>
              <a:ext cx="6400800" cy="3600450"/>
            </a:xfrm>
            <a:prstGeom prst="roundRect">
              <a:avLst>
                <a:gd name="adj" fmla="val 2646"/>
              </a:avLst>
            </a:prstGeom>
            <a:noFill/>
            <a:ln w="9525">
              <a:solidFill>
                <a:srgbClr val="E2E8F0"/>
              </a:solidFill>
            </a:ln>
          </p:spPr>
        </p:sp>
      </p:grpSp>
      <p:grpSp>
        <p:nvGrpSpPr>
          <p:cNvPr id="14" name="Group 14"/>
          <p:cNvGrpSpPr/>
          <p:nvPr/>
        </p:nvGrpSpPr>
        <p:grpSpPr>
          <a:xfrm>
            <a:off x="342900" y="5238750"/>
            <a:ext cx="6477000" cy="971550"/>
            <a:chOff x="342900" y="5238750"/>
            <a:chExt cx="6477000" cy="971550"/>
          </a:xfrm>
        </p:grpSpPr>
        <p:sp>
          <p:nvSpPr>
            <p:cNvPr id="11" name="Rectangle 11"/>
            <p:cNvSpPr/>
            <p:nvPr/>
          </p:nvSpPr>
          <p:spPr>
            <a:xfrm>
              <a:off x="342900" y="5238750"/>
              <a:ext cx="6477000" cy="971550"/>
            </a:xfrm>
            <a:prstGeom prst="roundRect">
              <a:avLst>
                <a:gd name="adj" fmla="val 13725"/>
              </a:avLst>
            </a:prstGeom>
            <a:solidFill>
              <a:schemeClr val="lt1"/>
            </a:solidFill>
            <a:ln w="19050">
              <a:solidFill>
                <a:schemeClr val="accent2"/>
              </a:solidFill>
            </a:ln>
          </p:spPr>
        </p:sp>
        <p:sp>
          <p:nvSpPr>
            <p:cNvPr id="12" name="Freeform 12"/>
            <p:cNvSpPr/>
            <p:nvPr/>
          </p:nvSpPr>
          <p:spPr>
            <a:xfrm>
              <a:off x="600088" y="5466858"/>
              <a:ext cx="247496" cy="214761"/>
            </a:xfrm>
            <a:custGeom>
              <a:avLst/>
              <a:gdLst/>
              <a:ahLst/>
              <a:cxnLst/>
              <a:rect l="l" t="t" r="r" b="b"/>
              <a:pathLst>
                <a:path w="247496" h="214761">
                  <a:moveTo>
                    <a:pt x="123812" y="0"/>
                  </a:moveTo>
                  <a:cubicBezTo>
                    <a:pt x="134425" y="0"/>
                    <a:pt x="144315" y="5190"/>
                    <a:pt x="150371" y="13857"/>
                  </a:cubicBezTo>
                  <a:lnTo>
                    <a:pt x="151538" y="15635"/>
                  </a:lnTo>
                  <a:lnTo>
                    <a:pt x="241705" y="166188"/>
                  </a:lnTo>
                  <a:cubicBezTo>
                    <a:pt x="247275" y="175835"/>
                    <a:pt x="247496" y="187668"/>
                    <a:pt x="242289" y="197516"/>
                  </a:cubicBezTo>
                  <a:cubicBezTo>
                    <a:pt x="237081" y="207364"/>
                    <a:pt x="227178" y="213844"/>
                    <a:pt x="216069" y="214672"/>
                  </a:cubicBezTo>
                  <a:lnTo>
                    <a:pt x="213902" y="214761"/>
                  </a:lnTo>
                  <a:lnTo>
                    <a:pt x="33601" y="214761"/>
                  </a:lnTo>
                  <a:cubicBezTo>
                    <a:pt x="22481" y="214636"/>
                    <a:pt x="12203" y="208813"/>
                    <a:pt x="6379" y="199340"/>
                  </a:cubicBezTo>
                  <a:cubicBezTo>
                    <a:pt x="555" y="189866"/>
                    <a:pt x="0" y="178067"/>
                    <a:pt x="4908" y="168088"/>
                  </a:cubicBezTo>
                  <a:lnTo>
                    <a:pt x="6009" y="166032"/>
                  </a:lnTo>
                  <a:lnTo>
                    <a:pt x="96131" y="15591"/>
                  </a:lnTo>
                  <a:cubicBezTo>
                    <a:pt x="102000" y="5914"/>
                    <a:pt x="112495" y="2"/>
                    <a:pt x="123812" y="0"/>
                  </a:cubicBezTo>
                  <a:close/>
                  <a:moveTo>
                    <a:pt x="123924" y="148130"/>
                  </a:moveTo>
                  <a:lnTo>
                    <a:pt x="122512" y="148208"/>
                  </a:lnTo>
                  <a:cubicBezTo>
                    <a:pt x="116922" y="148873"/>
                    <a:pt x="112712" y="153613"/>
                    <a:pt x="112712" y="159243"/>
                  </a:cubicBezTo>
                  <a:cubicBezTo>
                    <a:pt x="112712" y="164872"/>
                    <a:pt x="116922" y="169612"/>
                    <a:pt x="122512" y="170277"/>
                  </a:cubicBezTo>
                  <a:lnTo>
                    <a:pt x="123812" y="170355"/>
                  </a:lnTo>
                  <a:lnTo>
                    <a:pt x="125224" y="170277"/>
                  </a:lnTo>
                  <a:cubicBezTo>
                    <a:pt x="130814" y="169612"/>
                    <a:pt x="135024" y="164872"/>
                    <a:pt x="135024" y="159243"/>
                  </a:cubicBezTo>
                  <a:cubicBezTo>
                    <a:pt x="135024" y="153613"/>
                    <a:pt x="130814" y="148873"/>
                    <a:pt x="125224" y="148208"/>
                  </a:cubicBezTo>
                  <a:lnTo>
                    <a:pt x="123924" y="148130"/>
                  </a:lnTo>
                  <a:close/>
                  <a:moveTo>
                    <a:pt x="123812" y="70342"/>
                  </a:moveTo>
                  <a:cubicBezTo>
                    <a:pt x="118179" y="70343"/>
                    <a:pt x="113437" y="74560"/>
                    <a:pt x="112778" y="80155"/>
                  </a:cubicBezTo>
                  <a:lnTo>
                    <a:pt x="112700" y="81455"/>
                  </a:lnTo>
                  <a:lnTo>
                    <a:pt x="112700" y="125905"/>
                  </a:lnTo>
                  <a:lnTo>
                    <a:pt x="112778" y="127205"/>
                  </a:lnTo>
                  <a:cubicBezTo>
                    <a:pt x="113443" y="132795"/>
                    <a:pt x="118183" y="137005"/>
                    <a:pt x="123812" y="137005"/>
                  </a:cubicBezTo>
                  <a:cubicBezTo>
                    <a:pt x="129442" y="137005"/>
                    <a:pt x="134182" y="132795"/>
                    <a:pt x="134847" y="127205"/>
                  </a:cubicBezTo>
                  <a:lnTo>
                    <a:pt x="134925" y="125905"/>
                  </a:lnTo>
                  <a:lnTo>
                    <a:pt x="134925" y="81455"/>
                  </a:lnTo>
                  <a:lnTo>
                    <a:pt x="134847" y="80155"/>
                  </a:lnTo>
                  <a:cubicBezTo>
                    <a:pt x="134188" y="74560"/>
                    <a:pt x="129446" y="70343"/>
                    <a:pt x="123812" y="70342"/>
                  </a:cubicBezTo>
                  <a:close/>
                </a:path>
              </a:pathLst>
            </a:custGeom>
            <a:solidFill>
              <a:schemeClr val="accent2"/>
            </a:solidFill>
            <a:ln>
              <a:noFill/>
            </a:ln>
          </p:spPr>
        </p:sp>
        <p:sp>
          <p:nvSpPr>
            <p:cNvPr id="13" name="TextBox 13"/>
            <p:cNvSpPr txBox="1"/>
            <p:nvPr/>
          </p:nvSpPr>
          <p:spPr>
            <a:xfrm>
              <a:off x="943356" y="5463540"/>
              <a:ext cx="304723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取り込めないときは、コードブロック全体を</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もう一度コピーして押し直します。</a:t>
              </a:r>
            </a:p>
          </p:txBody>
        </p:sp>
      </p:grpSp>
      <p:grpSp>
        <p:nvGrpSpPr>
          <p:cNvPr id="25" name="Group 25"/>
          <p:cNvGrpSpPr/>
          <p:nvPr/>
        </p:nvGrpSpPr>
        <p:grpSpPr>
          <a:xfrm>
            <a:off x="7054848" y="1470025"/>
            <a:ext cx="2445006" cy="3888359"/>
            <a:chOff x="7054848" y="1470025"/>
            <a:chExt cx="2445006" cy="3888359"/>
          </a:xfrm>
        </p:grpSpPr>
        <p:sp>
          <p:nvSpPr>
            <p:cNvPr id="15" name="Freeform 15"/>
            <p:cNvSpPr/>
            <p:nvPr/>
          </p:nvSpPr>
          <p:spPr>
            <a:xfrm>
              <a:off x="7054848" y="1470025"/>
              <a:ext cx="177805" cy="222251"/>
            </a:xfrm>
            <a:custGeom>
              <a:avLst/>
              <a:gdLst/>
              <a:ahLst/>
              <a:cxnLst/>
              <a:rect l="l" t="t" r="r" b="b"/>
              <a:pathLst>
                <a:path w="177805" h="222251">
                  <a:moveTo>
                    <a:pt x="155545" y="24114"/>
                  </a:moveTo>
                  <a:cubicBezTo>
                    <a:pt x="168884" y="28814"/>
                    <a:pt x="177805" y="41420"/>
                    <a:pt x="177803" y="55563"/>
                  </a:cubicBezTo>
                  <a:lnTo>
                    <a:pt x="177803" y="188913"/>
                  </a:lnTo>
                  <a:cubicBezTo>
                    <a:pt x="177803" y="207325"/>
                    <a:pt x="162877" y="222251"/>
                    <a:pt x="144465" y="222251"/>
                  </a:cubicBezTo>
                  <a:lnTo>
                    <a:pt x="33340" y="222251"/>
                  </a:lnTo>
                  <a:cubicBezTo>
                    <a:pt x="14928" y="222251"/>
                    <a:pt x="2" y="207325"/>
                    <a:pt x="2" y="188913"/>
                  </a:cubicBezTo>
                  <a:lnTo>
                    <a:pt x="2" y="55563"/>
                  </a:lnTo>
                  <a:cubicBezTo>
                    <a:pt x="0" y="41420"/>
                    <a:pt x="8922" y="28814"/>
                    <a:pt x="22261" y="24114"/>
                  </a:cubicBezTo>
                  <a:cubicBezTo>
                    <a:pt x="23273" y="47910"/>
                    <a:pt x="42861" y="66679"/>
                    <a:pt x="66678" y="66675"/>
                  </a:cubicBezTo>
                  <a:lnTo>
                    <a:pt x="111128" y="66675"/>
                  </a:lnTo>
                  <a:cubicBezTo>
                    <a:pt x="133944" y="66677"/>
                    <a:pt x="153057" y="49404"/>
                    <a:pt x="155356" y="26703"/>
                  </a:cubicBezTo>
                  <a:close/>
                  <a:moveTo>
                    <a:pt x="114384" y="103269"/>
                  </a:moveTo>
                  <a:lnTo>
                    <a:pt x="77790" y="139851"/>
                  </a:lnTo>
                  <a:lnTo>
                    <a:pt x="63422" y="125494"/>
                  </a:lnTo>
                  <a:cubicBezTo>
                    <a:pt x="60632" y="122605"/>
                    <a:pt x="56500" y="121446"/>
                    <a:pt x="52615" y="122463"/>
                  </a:cubicBezTo>
                  <a:cubicBezTo>
                    <a:pt x="48729" y="123480"/>
                    <a:pt x="45695" y="126515"/>
                    <a:pt x="44678" y="130400"/>
                  </a:cubicBezTo>
                  <a:cubicBezTo>
                    <a:pt x="43661" y="134285"/>
                    <a:pt x="44820" y="138417"/>
                    <a:pt x="47709" y="141207"/>
                  </a:cubicBezTo>
                  <a:lnTo>
                    <a:pt x="69934" y="163432"/>
                  </a:lnTo>
                  <a:cubicBezTo>
                    <a:pt x="74273" y="167770"/>
                    <a:pt x="81307" y="167770"/>
                    <a:pt x="85647" y="163432"/>
                  </a:cubicBezTo>
                  <a:lnTo>
                    <a:pt x="130097" y="118982"/>
                  </a:lnTo>
                  <a:cubicBezTo>
                    <a:pt x="134308" y="114622"/>
                    <a:pt x="134248" y="107691"/>
                    <a:pt x="129961" y="103404"/>
                  </a:cubicBezTo>
                  <a:cubicBezTo>
                    <a:pt x="125675" y="99118"/>
                    <a:pt x="118744" y="99057"/>
                    <a:pt x="114384" y="103269"/>
                  </a:cubicBezTo>
                  <a:moveTo>
                    <a:pt x="111128" y="0"/>
                  </a:moveTo>
                  <a:cubicBezTo>
                    <a:pt x="123402" y="0"/>
                    <a:pt x="133353" y="9950"/>
                    <a:pt x="133353" y="22225"/>
                  </a:cubicBezTo>
                  <a:cubicBezTo>
                    <a:pt x="133353" y="34500"/>
                    <a:pt x="123402" y="44450"/>
                    <a:pt x="111128" y="44450"/>
                  </a:cubicBezTo>
                  <a:lnTo>
                    <a:pt x="66678" y="44450"/>
                  </a:lnTo>
                  <a:cubicBezTo>
                    <a:pt x="54403" y="44450"/>
                    <a:pt x="44453" y="34500"/>
                    <a:pt x="44453" y="22225"/>
                  </a:cubicBezTo>
                  <a:cubicBezTo>
                    <a:pt x="44453" y="9950"/>
                    <a:pt x="54403" y="0"/>
                    <a:pt x="66678" y="0"/>
                  </a:cubicBezTo>
                  <a:close/>
                </a:path>
              </a:pathLst>
            </a:custGeom>
            <a:solidFill>
              <a:schemeClr val="accent1"/>
            </a:solidFill>
            <a:ln>
              <a:noFill/>
            </a:ln>
          </p:spPr>
        </p:sp>
        <p:sp>
          <p:nvSpPr>
            <p:cNvPr id="16" name="Ellipse 16"/>
            <p:cNvSpPr/>
            <p:nvPr/>
          </p:nvSpPr>
          <p:spPr>
            <a:xfrm>
              <a:off x="7058025" y="2009775"/>
              <a:ext cx="361950" cy="361950"/>
            </a:xfrm>
            <a:prstGeom prst="ellipse">
              <a:avLst/>
            </a:prstGeom>
            <a:solidFill>
              <a:schemeClr val="accent1"/>
            </a:solidFill>
            <a:ln>
              <a:noFill/>
            </a:ln>
          </p:spPr>
        </p:sp>
        <p:sp>
          <p:nvSpPr>
            <p:cNvPr id="17" name="TextBox 17"/>
            <p:cNvSpPr txBox="1"/>
            <p:nvPr/>
          </p:nvSpPr>
          <p:spPr>
            <a:xfrm>
              <a:off x="7173073" y="21050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1</a:t>
              </a:r>
            </a:p>
          </p:txBody>
        </p:sp>
        <p:sp>
          <p:nvSpPr>
            <p:cNvPr id="18" name="TextBox 18"/>
            <p:cNvSpPr txBox="1"/>
            <p:nvPr/>
          </p:nvSpPr>
          <p:spPr>
            <a:xfrm>
              <a:off x="7572756" y="2072640"/>
              <a:ext cx="1927098" cy="9997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AIの返答のコードブロックを先頭から末尾まで全文コピーします。</a:t>
              </a:r>
            </a:p>
          </p:txBody>
        </p:sp>
        <p:sp>
          <p:nvSpPr>
            <p:cNvPr id="19" name="Ellipse 19"/>
            <p:cNvSpPr/>
            <p:nvPr/>
          </p:nvSpPr>
          <p:spPr>
            <a:xfrm>
              <a:off x="7058025" y="3476625"/>
              <a:ext cx="361950" cy="361950"/>
            </a:xfrm>
            <a:prstGeom prst="ellipse">
              <a:avLst/>
            </a:prstGeom>
            <a:solidFill>
              <a:schemeClr val="accent1"/>
            </a:solidFill>
            <a:ln>
              <a:noFill/>
            </a:ln>
          </p:spPr>
        </p:sp>
        <p:sp>
          <p:nvSpPr>
            <p:cNvPr id="20" name="TextBox 20"/>
            <p:cNvSpPr txBox="1"/>
            <p:nvPr/>
          </p:nvSpPr>
          <p:spPr>
            <a:xfrm>
              <a:off x="7173073" y="35718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2</a:t>
              </a:r>
            </a:p>
          </p:txBody>
        </p:sp>
        <p:sp>
          <p:nvSpPr>
            <p:cNvPr id="21" name="TextBox 21"/>
            <p:cNvSpPr txBox="1"/>
            <p:nvPr/>
          </p:nvSpPr>
          <p:spPr>
            <a:xfrm>
              <a:off x="7572756" y="3539490"/>
              <a:ext cx="191566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［クリップボードから取り込む］を押します。</a:t>
              </a:r>
            </a:p>
          </p:txBody>
        </p:sp>
        <p:sp>
          <p:nvSpPr>
            <p:cNvPr id="22" name="Ellipse 22"/>
            <p:cNvSpPr/>
            <p:nvPr/>
          </p:nvSpPr>
          <p:spPr>
            <a:xfrm>
              <a:off x="7058025" y="4619625"/>
              <a:ext cx="361950" cy="361950"/>
            </a:xfrm>
            <a:prstGeom prst="ellipse">
              <a:avLst/>
            </a:prstGeom>
            <a:solidFill>
              <a:schemeClr val="accent1"/>
            </a:solidFill>
            <a:ln>
              <a:noFill/>
            </a:ln>
          </p:spPr>
        </p:sp>
        <p:sp>
          <p:nvSpPr>
            <p:cNvPr id="23" name="TextBox 23"/>
            <p:cNvSpPr txBox="1"/>
            <p:nvPr/>
          </p:nvSpPr>
          <p:spPr>
            <a:xfrm>
              <a:off x="7173073" y="47148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3</a:t>
              </a:r>
            </a:p>
          </p:txBody>
        </p:sp>
        <p:sp>
          <p:nvSpPr>
            <p:cNvPr id="24" name="TextBox 24"/>
            <p:cNvSpPr txBox="1"/>
            <p:nvPr/>
          </p:nvSpPr>
          <p:spPr>
            <a:xfrm>
              <a:off x="7572756" y="4682490"/>
              <a:ext cx="191566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取り込めた件数が出たら［次へ］。</a:t>
              </a:r>
            </a:p>
          </p:txBody>
        </p:sp>
      </p:grpSp>
      <p:grpSp>
        <p:nvGrpSpPr>
          <p:cNvPr id="28" name="Group 28"/>
          <p:cNvGrpSpPr/>
          <p:nvPr/>
        </p:nvGrpSpPr>
        <p:grpSpPr>
          <a:xfrm>
            <a:off x="374904" y="6461760"/>
            <a:ext cx="11442192" cy="234696"/>
            <a:chOff x="374904" y="6461760"/>
            <a:chExt cx="11442192" cy="234696"/>
          </a:xfrm>
        </p:grpSpPr>
        <p:sp>
          <p:nvSpPr>
            <p:cNvPr id="26" name="TextBox 26"/>
            <p:cNvSpPr txBox="1"/>
            <p:nvPr/>
          </p:nvSpPr>
          <p:spPr>
            <a:xfrm>
              <a:off x="374904" y="646176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27" name="TextBox 27"/>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10</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539915" y="568642"/>
              <a:ext cx="1091871"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手順 3 · 2/2</a:t>
              </a:r>
            </a:p>
          </p:txBody>
        </p:sp>
        <p:sp>
          <p:nvSpPr>
            <p:cNvPr id="4" name="TextBox 4"/>
            <p:cNvSpPr txBox="1"/>
            <p:nvPr/>
          </p:nvSpPr>
          <p:spPr>
            <a:xfrm>
              <a:off x="1946148" y="479108"/>
              <a:ext cx="4417772"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取り込んだ変更を確認します</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6" name="Group 16"/>
          <p:cNvGrpSpPr/>
          <p:nvPr/>
        </p:nvGrpSpPr>
        <p:grpSpPr>
          <a:xfrm>
            <a:off x="342900" y="1371600"/>
            <a:ext cx="6477000" cy="3676650"/>
            <a:chOff x="342900" y="1371600"/>
            <a:chExt cx="6477000" cy="3676650"/>
          </a:xfrm>
        </p:grpSpPr>
        <p:sp>
          <p:nvSpPr>
            <p:cNvPr id="7" name="Rectangle 7"/>
            <p:cNvSpPr/>
            <p:nvPr/>
          </p:nvSpPr>
          <p:spPr>
            <a:xfrm>
              <a:off x="342900" y="1371600"/>
              <a:ext cx="6477000" cy="3676650"/>
            </a:xfrm>
            <a:prstGeom prst="roundRect">
              <a:avLst>
                <a:gd name="adj" fmla="val 3627"/>
              </a:avLst>
            </a:prstGeom>
            <a:solidFill>
              <a:schemeClr val="accent6"/>
            </a:solidFill>
            <a:ln>
              <a:noFill/>
            </a:ln>
          </p:spPr>
        </p:sp>
        <p:pic>
          <p:nvPicPr>
            <p:cNvPr id="8" name="Image 8"/>
            <p:cNvPicPr>
              <a:picLocks noChangeAspect="1"/>
            </p:cNvPicPr>
            <p:nvPr/>
          </p:nvPicPr>
          <p:blipFill>
            <a:blip r:embed="rId2"/>
            <a:stretch>
              <a:fillRect/>
            </a:stretch>
          </p:blipFill>
          <p:spPr>
            <a:xfrm>
              <a:off x="381000" y="1409700"/>
              <a:ext cx="6400800" cy="3600450"/>
            </a:xfrm>
            <a:prstGeom prst="roundRect">
              <a:avLst>
                <a:gd name="adj" fmla="val 2645"/>
              </a:avLst>
            </a:prstGeom>
          </p:spPr>
        </p:pic>
        <p:sp>
          <p:nvSpPr>
            <p:cNvPr id="9" name="Rectangle 9"/>
            <p:cNvSpPr/>
            <p:nvPr/>
          </p:nvSpPr>
          <p:spPr>
            <a:xfrm>
              <a:off x="381000" y="1409700"/>
              <a:ext cx="6400800" cy="3600450"/>
            </a:xfrm>
            <a:prstGeom prst="roundRect">
              <a:avLst>
                <a:gd name="adj" fmla="val 2646"/>
              </a:avLst>
            </a:prstGeom>
            <a:noFill/>
            <a:ln w="9525">
              <a:solidFill>
                <a:srgbClr val="E2E8F0"/>
              </a:solidFill>
            </a:ln>
          </p:spPr>
        </p:sp>
        <p:sp>
          <p:nvSpPr>
            <p:cNvPr id="10" name="Ellipse 10"/>
            <p:cNvSpPr/>
            <p:nvPr/>
          </p:nvSpPr>
          <p:spPr>
            <a:xfrm>
              <a:off x="733425" y="2581275"/>
              <a:ext cx="323850" cy="323850"/>
            </a:xfrm>
            <a:prstGeom prst="ellipse">
              <a:avLst/>
            </a:prstGeom>
            <a:solidFill>
              <a:schemeClr val="accent1"/>
            </a:solidFill>
            <a:ln w="28575">
              <a:solidFill>
                <a:srgbClr val="FFFFFF"/>
              </a:solidFill>
            </a:ln>
          </p:spPr>
        </p:sp>
        <p:sp>
          <p:nvSpPr>
            <p:cNvPr id="11" name="TextBox 11"/>
            <p:cNvSpPr txBox="1"/>
            <p:nvPr/>
          </p:nvSpPr>
          <p:spPr>
            <a:xfrm>
              <a:off x="836015" y="26641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1</a:t>
              </a:r>
            </a:p>
          </p:txBody>
        </p:sp>
        <p:sp>
          <p:nvSpPr>
            <p:cNvPr id="12" name="Ellipse 12"/>
            <p:cNvSpPr/>
            <p:nvPr/>
          </p:nvSpPr>
          <p:spPr>
            <a:xfrm>
              <a:off x="981075" y="4029075"/>
              <a:ext cx="323850" cy="323850"/>
            </a:xfrm>
            <a:prstGeom prst="ellipse">
              <a:avLst/>
            </a:prstGeom>
            <a:solidFill>
              <a:schemeClr val="accent1"/>
            </a:solidFill>
            <a:ln w="28575">
              <a:solidFill>
                <a:srgbClr val="FFFFFF"/>
              </a:solidFill>
            </a:ln>
          </p:spPr>
        </p:sp>
        <p:sp>
          <p:nvSpPr>
            <p:cNvPr id="13" name="TextBox 13"/>
            <p:cNvSpPr txBox="1"/>
            <p:nvPr/>
          </p:nvSpPr>
          <p:spPr>
            <a:xfrm>
              <a:off x="1083665" y="41119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2</a:t>
              </a:r>
            </a:p>
          </p:txBody>
        </p:sp>
        <p:sp>
          <p:nvSpPr>
            <p:cNvPr id="14" name="Ellipse 14"/>
            <p:cNvSpPr/>
            <p:nvPr/>
          </p:nvSpPr>
          <p:spPr>
            <a:xfrm>
              <a:off x="2981325" y="3781425"/>
              <a:ext cx="323850" cy="323850"/>
            </a:xfrm>
            <a:prstGeom prst="ellipse">
              <a:avLst/>
            </a:prstGeom>
            <a:solidFill>
              <a:schemeClr val="accent1"/>
            </a:solidFill>
            <a:ln w="28575">
              <a:solidFill>
                <a:srgbClr val="FFFFFF"/>
              </a:solidFill>
            </a:ln>
          </p:spPr>
        </p:sp>
        <p:sp>
          <p:nvSpPr>
            <p:cNvPr id="15" name="TextBox 15"/>
            <p:cNvSpPr txBox="1"/>
            <p:nvPr/>
          </p:nvSpPr>
          <p:spPr>
            <a:xfrm>
              <a:off x="3083915" y="38642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3</a:t>
              </a:r>
            </a:p>
          </p:txBody>
        </p:sp>
      </p:grpSp>
      <p:grpSp>
        <p:nvGrpSpPr>
          <p:cNvPr id="24" name="Group 24"/>
          <p:cNvGrpSpPr/>
          <p:nvPr/>
        </p:nvGrpSpPr>
        <p:grpSpPr>
          <a:xfrm>
            <a:off x="342900" y="5238750"/>
            <a:ext cx="6477000" cy="971550"/>
            <a:chOff x="342900" y="5238750"/>
            <a:chExt cx="6477000" cy="971550"/>
          </a:xfrm>
        </p:grpSpPr>
        <p:sp>
          <p:nvSpPr>
            <p:cNvPr id="17" name="Rectangle 17"/>
            <p:cNvSpPr/>
            <p:nvPr/>
          </p:nvSpPr>
          <p:spPr>
            <a:xfrm>
              <a:off x="342900" y="5238750"/>
              <a:ext cx="6477000" cy="971550"/>
            </a:xfrm>
            <a:prstGeom prst="roundRect">
              <a:avLst>
                <a:gd name="adj" fmla="val 13725"/>
              </a:avLst>
            </a:prstGeom>
            <a:solidFill>
              <a:schemeClr val="lt1"/>
            </a:solidFill>
            <a:ln w="9525">
              <a:solidFill>
                <a:srgbClr val="E2E8F0"/>
              </a:solidFill>
            </a:ln>
          </p:spPr>
        </p:sp>
        <p:sp>
          <p:nvSpPr>
            <p:cNvPr id="18" name="Rectangle 18"/>
            <p:cNvSpPr/>
            <p:nvPr/>
          </p:nvSpPr>
          <p:spPr>
            <a:xfrm>
              <a:off x="628650" y="5486400"/>
              <a:ext cx="95250" cy="228600"/>
            </a:xfrm>
            <a:prstGeom prst="roundRect">
              <a:avLst>
                <a:gd name="adj" fmla="val 50000"/>
              </a:avLst>
            </a:prstGeom>
            <a:solidFill>
              <a:srgbClr val="C25560"/>
            </a:solidFill>
            <a:ln>
              <a:noFill/>
            </a:ln>
          </p:spPr>
        </p:sp>
        <p:sp>
          <p:nvSpPr>
            <p:cNvPr id="19" name="TextBox 19"/>
            <p:cNvSpPr txBox="1"/>
            <p:nvPr/>
          </p:nvSpPr>
          <p:spPr>
            <a:xfrm>
              <a:off x="867156" y="5482590"/>
              <a:ext cx="139948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赤 ＝ 消える行</a:t>
              </a:r>
            </a:p>
          </p:txBody>
        </p:sp>
        <p:sp>
          <p:nvSpPr>
            <p:cNvPr id="20" name="Rectangle 20"/>
            <p:cNvSpPr/>
            <p:nvPr/>
          </p:nvSpPr>
          <p:spPr>
            <a:xfrm>
              <a:off x="628650" y="5848350"/>
              <a:ext cx="95250" cy="228600"/>
            </a:xfrm>
            <a:prstGeom prst="roundRect">
              <a:avLst>
                <a:gd name="adj" fmla="val 50000"/>
              </a:avLst>
            </a:prstGeom>
            <a:solidFill>
              <a:srgbClr val="4C9155"/>
            </a:solidFill>
            <a:ln>
              <a:noFill/>
            </a:ln>
          </p:spPr>
        </p:sp>
        <p:sp>
          <p:nvSpPr>
            <p:cNvPr id="21" name="TextBox 21"/>
            <p:cNvSpPr txBox="1"/>
            <p:nvPr/>
          </p:nvSpPr>
          <p:spPr>
            <a:xfrm>
              <a:off x="867156" y="5844540"/>
              <a:ext cx="139948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緑 ＝ 増える行</a:t>
              </a:r>
            </a:p>
          </p:txBody>
        </p:sp>
        <p:sp>
          <p:nvSpPr>
            <p:cNvPr id="22" name="Line 22"/>
            <p:cNvSpPr/>
            <p:nvPr/>
          </p:nvSpPr>
          <p:spPr>
            <a:xfrm>
              <a:off x="3143250" y="5448300"/>
              <a:ext cx="9525" cy="571500"/>
            </a:xfrm>
            <a:custGeom>
              <a:avLst/>
              <a:gdLst/>
              <a:ahLst/>
              <a:cxnLst/>
              <a:rect l="l" t="t" r="r" b="b"/>
              <a:pathLst>
                <a:path w="9525" h="571500">
                  <a:moveTo>
                    <a:pt x="0" y="0"/>
                  </a:moveTo>
                  <a:lnTo>
                    <a:pt x="0" y="571500"/>
                  </a:lnTo>
                </a:path>
              </a:pathLst>
            </a:custGeom>
            <a:noFill/>
            <a:ln w="9525">
              <a:solidFill>
                <a:srgbClr val="E2E8F0"/>
              </a:solidFill>
            </a:ln>
          </p:spPr>
        </p:sp>
        <p:sp>
          <p:nvSpPr>
            <p:cNvPr id="23" name="TextBox 23"/>
            <p:cNvSpPr txBox="1"/>
            <p:nvPr/>
          </p:nvSpPr>
          <p:spPr>
            <a:xfrm>
              <a:off x="3421380" y="5514975"/>
              <a:ext cx="1491615" cy="560070"/>
            </a:xfrm>
            <a:prstGeom prst="rect">
              <a:avLst/>
            </a:prstGeom>
            <a:noFill/>
            <a:ln>
              <a:noFill/>
            </a:ln>
          </p:spPr>
          <p:txBody>
            <a:bodyPr wrap="square" lIns="0" tIns="0" rIns="0" bIns="0" anchor="t" anchorCtr="0"/>
            <a:lstStyle/>
            <a:p>
              <a:pPr algn="l">
                <a:lnSpc>
                  <a:spcPts val="2100"/>
                </a:lnSpc>
              </a:pPr>
              <a:r>
                <a:rPr lang="zh-CN" sz="1500" dirty="0">
                  <a:solidFill>
                    <a:srgbClr val="5B6B7C"/>
                  </a:solidFill>
                  <a:latin typeface="+mn-lt"/>
                  <a:ea typeface="+mn-ea"/>
                  <a:cs typeface="+mn-cs"/>
                </a:rPr>
                <a:t>確かめたら、右下の［次へ］へ進みます。</a:t>
              </a:r>
            </a:p>
          </p:txBody>
        </p:sp>
      </p:grpSp>
      <p:grpSp>
        <p:nvGrpSpPr>
          <p:cNvPr id="35" name="Group 35"/>
          <p:cNvGrpSpPr/>
          <p:nvPr/>
        </p:nvGrpSpPr>
        <p:grpSpPr>
          <a:xfrm>
            <a:off x="7021028" y="1492250"/>
            <a:ext cx="2547406" cy="3732784"/>
            <a:chOff x="7021028" y="1492250"/>
            <a:chExt cx="2547406" cy="3732784"/>
          </a:xfrm>
        </p:grpSpPr>
        <p:sp>
          <p:nvSpPr>
            <p:cNvPr id="25" name="Freeform 25"/>
            <p:cNvSpPr/>
            <p:nvPr/>
          </p:nvSpPr>
          <p:spPr>
            <a:xfrm>
              <a:off x="7021028" y="1492250"/>
              <a:ext cx="244949" cy="177801"/>
            </a:xfrm>
            <a:custGeom>
              <a:avLst/>
              <a:gdLst/>
              <a:ahLst/>
              <a:cxnLst/>
              <a:rect l="l" t="t" r="r" b="b"/>
              <a:pathLst>
                <a:path w="244949" h="177801">
                  <a:moveTo>
                    <a:pt x="122722" y="0"/>
                  </a:moveTo>
                  <a:cubicBezTo>
                    <a:pt x="170395" y="0"/>
                    <a:pt x="210100" y="26992"/>
                    <a:pt x="241237" y="79499"/>
                  </a:cubicBezTo>
                  <a:lnTo>
                    <a:pt x="243682" y="83711"/>
                  </a:lnTo>
                  <a:lnTo>
                    <a:pt x="244182" y="84822"/>
                  </a:lnTo>
                  <a:lnTo>
                    <a:pt x="244515" y="85744"/>
                  </a:lnTo>
                  <a:lnTo>
                    <a:pt x="244671" y="86355"/>
                  </a:lnTo>
                  <a:lnTo>
                    <a:pt x="244827" y="87267"/>
                  </a:lnTo>
                  <a:lnTo>
                    <a:pt x="244949" y="88378"/>
                  </a:lnTo>
                  <a:lnTo>
                    <a:pt x="244949" y="89600"/>
                  </a:lnTo>
                  <a:lnTo>
                    <a:pt x="244793" y="90834"/>
                  </a:lnTo>
                  <a:cubicBezTo>
                    <a:pt x="244720" y="91246"/>
                    <a:pt x="244624" y="91655"/>
                    <a:pt x="244504" y="92056"/>
                  </a:cubicBezTo>
                  <a:lnTo>
                    <a:pt x="244071" y="93256"/>
                  </a:lnTo>
                  <a:lnTo>
                    <a:pt x="243671" y="94090"/>
                  </a:lnTo>
                  <a:lnTo>
                    <a:pt x="243493" y="94423"/>
                  </a:lnTo>
                  <a:cubicBezTo>
                    <a:pt x="212778" y="148163"/>
                    <a:pt x="173484" y="176434"/>
                    <a:pt x="126200" y="177756"/>
                  </a:cubicBezTo>
                  <a:lnTo>
                    <a:pt x="122722" y="177801"/>
                  </a:lnTo>
                  <a:cubicBezTo>
                    <a:pt x="73871" y="177801"/>
                    <a:pt x="33411" y="149475"/>
                    <a:pt x="1951" y="94412"/>
                  </a:cubicBezTo>
                  <a:cubicBezTo>
                    <a:pt x="0" y="90997"/>
                    <a:pt x="0" y="86804"/>
                    <a:pt x="1951" y="83388"/>
                  </a:cubicBezTo>
                  <a:cubicBezTo>
                    <a:pt x="33411" y="28326"/>
                    <a:pt x="73871" y="0"/>
                    <a:pt x="122722" y="0"/>
                  </a:cubicBezTo>
                  <a:close/>
                  <a:moveTo>
                    <a:pt x="122722" y="55563"/>
                  </a:moveTo>
                  <a:cubicBezTo>
                    <a:pt x="104310" y="55563"/>
                    <a:pt x="89384" y="70488"/>
                    <a:pt x="89384" y="88900"/>
                  </a:cubicBezTo>
                  <a:cubicBezTo>
                    <a:pt x="89384" y="107312"/>
                    <a:pt x="104310" y="122238"/>
                    <a:pt x="122722" y="122238"/>
                  </a:cubicBezTo>
                  <a:cubicBezTo>
                    <a:pt x="141134" y="122238"/>
                    <a:pt x="156060" y="107312"/>
                    <a:pt x="156060" y="88900"/>
                  </a:cubicBezTo>
                  <a:cubicBezTo>
                    <a:pt x="156060" y="70488"/>
                    <a:pt x="141134" y="55563"/>
                    <a:pt x="122722" y="55563"/>
                  </a:cubicBezTo>
                </a:path>
              </a:pathLst>
            </a:custGeom>
            <a:solidFill>
              <a:schemeClr val="accent1"/>
            </a:solidFill>
            <a:ln>
              <a:noFill/>
            </a:ln>
          </p:spPr>
        </p:sp>
        <p:sp>
          <p:nvSpPr>
            <p:cNvPr id="26" name="Ellipse 26"/>
            <p:cNvSpPr/>
            <p:nvPr/>
          </p:nvSpPr>
          <p:spPr>
            <a:xfrm>
              <a:off x="7058025" y="2009775"/>
              <a:ext cx="361950" cy="361950"/>
            </a:xfrm>
            <a:prstGeom prst="ellipse">
              <a:avLst/>
            </a:prstGeom>
            <a:solidFill>
              <a:schemeClr val="accent1"/>
            </a:solidFill>
            <a:ln>
              <a:noFill/>
            </a:ln>
          </p:spPr>
        </p:sp>
        <p:sp>
          <p:nvSpPr>
            <p:cNvPr id="27" name="TextBox 27"/>
            <p:cNvSpPr txBox="1"/>
            <p:nvPr/>
          </p:nvSpPr>
          <p:spPr>
            <a:xfrm>
              <a:off x="7173073" y="21050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1</a:t>
              </a:r>
            </a:p>
          </p:txBody>
        </p:sp>
        <p:sp>
          <p:nvSpPr>
            <p:cNvPr id="28" name="TextBox 28"/>
            <p:cNvSpPr txBox="1"/>
            <p:nvPr/>
          </p:nvSpPr>
          <p:spPr>
            <a:xfrm>
              <a:off x="7572756" y="2072640"/>
              <a:ext cx="199567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「変更内容を見る」を開きます。</a:t>
              </a:r>
            </a:p>
          </p:txBody>
        </p:sp>
        <p:sp>
          <p:nvSpPr>
            <p:cNvPr id="29" name="Ellipse 29"/>
            <p:cNvSpPr/>
            <p:nvPr/>
          </p:nvSpPr>
          <p:spPr>
            <a:xfrm>
              <a:off x="7058025" y="3248025"/>
              <a:ext cx="361950" cy="361950"/>
            </a:xfrm>
            <a:prstGeom prst="ellipse">
              <a:avLst/>
            </a:prstGeom>
            <a:solidFill>
              <a:schemeClr val="accent1"/>
            </a:solidFill>
            <a:ln>
              <a:noFill/>
            </a:ln>
          </p:spPr>
        </p:sp>
        <p:sp>
          <p:nvSpPr>
            <p:cNvPr id="30" name="TextBox 30"/>
            <p:cNvSpPr txBox="1"/>
            <p:nvPr/>
          </p:nvSpPr>
          <p:spPr>
            <a:xfrm>
              <a:off x="7173073" y="33432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2</a:t>
              </a:r>
            </a:p>
          </p:txBody>
        </p:sp>
        <p:sp>
          <p:nvSpPr>
            <p:cNvPr id="31" name="TextBox 31"/>
            <p:cNvSpPr txBox="1"/>
            <p:nvPr/>
          </p:nvSpPr>
          <p:spPr>
            <a:xfrm>
              <a:off x="7572756" y="3310890"/>
              <a:ext cx="181279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左の一覧に、モジュール</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ごとの増減が出ます。</a:t>
              </a:r>
            </a:p>
          </p:txBody>
        </p:sp>
        <p:sp>
          <p:nvSpPr>
            <p:cNvPr id="32" name="Ellipse 32"/>
            <p:cNvSpPr/>
            <p:nvPr/>
          </p:nvSpPr>
          <p:spPr>
            <a:xfrm>
              <a:off x="7058025" y="4486275"/>
              <a:ext cx="361950" cy="361950"/>
            </a:xfrm>
            <a:prstGeom prst="ellipse">
              <a:avLst/>
            </a:prstGeom>
            <a:solidFill>
              <a:schemeClr val="accent1"/>
            </a:solidFill>
            <a:ln>
              <a:noFill/>
            </a:ln>
          </p:spPr>
        </p:sp>
        <p:sp>
          <p:nvSpPr>
            <p:cNvPr id="33" name="TextBox 33"/>
            <p:cNvSpPr txBox="1"/>
            <p:nvPr/>
          </p:nvSpPr>
          <p:spPr>
            <a:xfrm>
              <a:off x="7173073" y="45815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3</a:t>
              </a:r>
            </a:p>
          </p:txBody>
        </p:sp>
        <p:sp>
          <p:nvSpPr>
            <p:cNvPr id="34" name="TextBox 34"/>
            <p:cNvSpPr txBox="1"/>
            <p:nvPr/>
          </p:nvSpPr>
          <p:spPr>
            <a:xfrm>
              <a:off x="7572756" y="4549140"/>
              <a:ext cx="168706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右に、消える行と増える行が並びます。</a:t>
              </a:r>
            </a:p>
          </p:txBody>
        </p:sp>
      </p:grpSp>
      <p:grpSp>
        <p:nvGrpSpPr>
          <p:cNvPr id="38" name="Group 38"/>
          <p:cNvGrpSpPr/>
          <p:nvPr/>
        </p:nvGrpSpPr>
        <p:grpSpPr>
          <a:xfrm>
            <a:off x="374904" y="6461760"/>
            <a:ext cx="11442192" cy="234696"/>
            <a:chOff x="374904" y="6461760"/>
            <a:chExt cx="11442192" cy="234696"/>
          </a:xfrm>
        </p:grpSpPr>
        <p:sp>
          <p:nvSpPr>
            <p:cNvPr id="36" name="TextBox 36"/>
            <p:cNvSpPr txBox="1"/>
            <p:nvPr/>
          </p:nvSpPr>
          <p:spPr>
            <a:xfrm>
              <a:off x="374904" y="646176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37" name="TextBox 37"/>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11</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807068" y="568642"/>
              <a:ext cx="5575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手順 4</a:t>
              </a:r>
            </a:p>
          </p:txBody>
        </p:sp>
        <p:sp>
          <p:nvSpPr>
            <p:cNvPr id="4" name="TextBox 4"/>
            <p:cNvSpPr txBox="1"/>
            <p:nvPr/>
          </p:nvSpPr>
          <p:spPr>
            <a:xfrm>
              <a:off x="1946148" y="479108"/>
              <a:ext cx="3772151"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改修済みブックを作ります</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9" name="Group 9"/>
          <p:cNvGrpSpPr/>
          <p:nvPr/>
        </p:nvGrpSpPr>
        <p:grpSpPr>
          <a:xfrm>
            <a:off x="381000" y="1409700"/>
            <a:ext cx="5524500" cy="3105150"/>
            <a:chOff x="381000" y="1409700"/>
            <a:chExt cx="5524500" cy="3105150"/>
          </a:xfrm>
        </p:grpSpPr>
        <p:pic>
          <p:nvPicPr>
            <p:cNvPr id="7" name="Image 7"/>
            <p:cNvPicPr>
              <a:picLocks noChangeAspect="1"/>
            </p:cNvPicPr>
            <p:nvPr/>
          </p:nvPicPr>
          <p:blipFill>
            <a:blip r:embed="rId2"/>
            <a:stretch>
              <a:fillRect/>
            </a:stretch>
          </p:blipFill>
          <p:spPr>
            <a:xfrm>
              <a:off x="381000" y="1409700"/>
              <a:ext cx="5524500" cy="3105150"/>
            </a:xfrm>
            <a:prstGeom prst="roundRect">
              <a:avLst>
                <a:gd name="adj" fmla="val 3067"/>
              </a:avLst>
            </a:prstGeom>
          </p:spPr>
        </p:pic>
        <p:sp>
          <p:nvSpPr>
            <p:cNvPr id="8" name="Rectangle 8"/>
            <p:cNvSpPr/>
            <p:nvPr/>
          </p:nvSpPr>
          <p:spPr>
            <a:xfrm>
              <a:off x="381000" y="1409700"/>
              <a:ext cx="5524500" cy="3105150"/>
            </a:xfrm>
            <a:prstGeom prst="roundRect">
              <a:avLst>
                <a:gd name="adj" fmla="val 3067"/>
              </a:avLst>
            </a:prstGeom>
            <a:noFill/>
            <a:ln w="9525">
              <a:solidFill>
                <a:srgbClr val="E2E8F0"/>
              </a:solidFill>
            </a:ln>
          </p:spPr>
        </p:sp>
      </p:grpSp>
      <p:grpSp>
        <p:nvGrpSpPr>
          <p:cNvPr id="12" name="Group 12"/>
          <p:cNvGrpSpPr/>
          <p:nvPr/>
        </p:nvGrpSpPr>
        <p:grpSpPr>
          <a:xfrm>
            <a:off x="6286500" y="1409700"/>
            <a:ext cx="5524500" cy="3105150"/>
            <a:chOff x="6286500" y="1409700"/>
            <a:chExt cx="5524500" cy="3105150"/>
          </a:xfrm>
        </p:grpSpPr>
        <p:pic>
          <p:nvPicPr>
            <p:cNvPr id="10" name="Image 10"/>
            <p:cNvPicPr>
              <a:picLocks noChangeAspect="1"/>
            </p:cNvPicPr>
            <p:nvPr/>
          </p:nvPicPr>
          <p:blipFill>
            <a:blip r:embed="rId3"/>
            <a:stretch>
              <a:fillRect/>
            </a:stretch>
          </p:blipFill>
          <p:spPr>
            <a:xfrm>
              <a:off x="6286500" y="1409700"/>
              <a:ext cx="5524500" cy="3105150"/>
            </a:xfrm>
            <a:prstGeom prst="roundRect">
              <a:avLst>
                <a:gd name="adj" fmla="val 3067"/>
              </a:avLst>
            </a:prstGeom>
          </p:spPr>
        </p:pic>
        <p:sp>
          <p:nvSpPr>
            <p:cNvPr id="11" name="Rectangle 11"/>
            <p:cNvSpPr/>
            <p:nvPr/>
          </p:nvSpPr>
          <p:spPr>
            <a:xfrm>
              <a:off x="6286500" y="1409700"/>
              <a:ext cx="5524500" cy="3105150"/>
            </a:xfrm>
            <a:prstGeom prst="roundRect">
              <a:avLst>
                <a:gd name="adj" fmla="val 3067"/>
              </a:avLst>
            </a:prstGeom>
            <a:noFill/>
            <a:ln w="19050">
              <a:solidFill>
                <a:srgbClr val="2E7D5B"/>
              </a:solidFill>
            </a:ln>
          </p:spPr>
        </p:sp>
      </p:grpSp>
      <p:grpSp>
        <p:nvGrpSpPr>
          <p:cNvPr id="22" name="Group 22"/>
          <p:cNvGrpSpPr/>
          <p:nvPr/>
        </p:nvGrpSpPr>
        <p:grpSpPr>
          <a:xfrm>
            <a:off x="419100" y="4629150"/>
            <a:ext cx="4060576" cy="1548384"/>
            <a:chOff x="419100" y="4629150"/>
            <a:chExt cx="4060576" cy="1548384"/>
          </a:xfrm>
        </p:grpSpPr>
        <p:sp>
          <p:nvSpPr>
            <p:cNvPr id="13" name="Ellipse 13"/>
            <p:cNvSpPr/>
            <p:nvPr/>
          </p:nvSpPr>
          <p:spPr>
            <a:xfrm>
              <a:off x="419100" y="4629150"/>
              <a:ext cx="266700" cy="266700"/>
            </a:xfrm>
            <a:prstGeom prst="ellipse">
              <a:avLst/>
            </a:prstGeom>
            <a:solidFill>
              <a:schemeClr val="accent1"/>
            </a:solidFill>
            <a:ln>
              <a:noFill/>
            </a:ln>
          </p:spPr>
        </p:sp>
        <p:sp>
          <p:nvSpPr>
            <p:cNvPr id="14" name="TextBox 14"/>
            <p:cNvSpPr txBox="1"/>
            <p:nvPr/>
          </p:nvSpPr>
          <p:spPr>
            <a:xfrm>
              <a:off x="499708" y="46901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1</a:t>
              </a:r>
            </a:p>
          </p:txBody>
        </p:sp>
        <p:sp>
          <p:nvSpPr>
            <p:cNvPr id="15" name="TextBox 15"/>
            <p:cNvSpPr txBox="1"/>
            <p:nvPr/>
          </p:nvSpPr>
          <p:spPr>
            <a:xfrm>
              <a:off x="810006" y="4644390"/>
              <a:ext cx="3081528" cy="637794"/>
            </a:xfrm>
            <a:prstGeom prst="rect">
              <a:avLst/>
            </a:prstGeom>
            <a:noFill/>
            <a:ln>
              <a:noFill/>
            </a:ln>
          </p:spPr>
          <p:txBody>
            <a:bodyPr wrap="square" lIns="0" tIns="0" rIns="0" bIns="0" anchor="t" anchorCtr="0"/>
            <a:lstStyle/>
            <a:p>
              <a:pPr algn="l">
                <a:lnSpc>
                  <a:spcPts val="2250"/>
                </a:lnSpc>
              </a:pPr>
              <a:r>
                <a:rPr lang="zh-CN" sz="1800" dirty="0">
                  <a:solidFill>
                    <a:schemeClr val="dk1"/>
                  </a:solidFill>
                  <a:latin typeface="+mn-lt"/>
                  <a:ea typeface="+mn-ea"/>
                  <a:cs typeface="+mn-cs"/>
                </a:rPr>
                <a:t>出力ファイル名を確認して［次へ］。数秒で作成が終わります。</a:t>
              </a:r>
            </a:p>
          </p:txBody>
        </p:sp>
        <p:sp>
          <p:nvSpPr>
            <p:cNvPr id="16" name="Ellipse 16"/>
            <p:cNvSpPr/>
            <p:nvPr/>
          </p:nvSpPr>
          <p:spPr>
            <a:xfrm>
              <a:off x="419100" y="5219700"/>
              <a:ext cx="266700" cy="266700"/>
            </a:xfrm>
            <a:prstGeom prst="ellipse">
              <a:avLst/>
            </a:prstGeom>
            <a:solidFill>
              <a:schemeClr val="accent1"/>
            </a:solidFill>
            <a:ln>
              <a:noFill/>
            </a:ln>
          </p:spPr>
        </p:sp>
        <p:sp>
          <p:nvSpPr>
            <p:cNvPr id="17" name="TextBox 17"/>
            <p:cNvSpPr txBox="1"/>
            <p:nvPr/>
          </p:nvSpPr>
          <p:spPr>
            <a:xfrm>
              <a:off x="499708" y="528066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2</a:t>
              </a:r>
            </a:p>
          </p:txBody>
        </p:sp>
        <p:sp>
          <p:nvSpPr>
            <p:cNvPr id="18" name="TextBox 18"/>
            <p:cNvSpPr txBox="1"/>
            <p:nvPr/>
          </p:nvSpPr>
          <p:spPr>
            <a:xfrm>
              <a:off x="810006" y="5234940"/>
              <a:ext cx="3047238" cy="637794"/>
            </a:xfrm>
            <a:prstGeom prst="rect">
              <a:avLst/>
            </a:prstGeom>
            <a:noFill/>
            <a:ln>
              <a:noFill/>
            </a:ln>
          </p:spPr>
          <p:txBody>
            <a:bodyPr wrap="square" lIns="0" tIns="0" rIns="0" bIns="0" anchor="t" anchorCtr="0"/>
            <a:lstStyle/>
            <a:p>
              <a:pPr algn="l">
                <a:lnSpc>
                  <a:spcPts val="2250"/>
                </a:lnSpc>
              </a:pPr>
              <a:r>
                <a:rPr lang="zh-CN" sz="1800" dirty="0">
                  <a:solidFill>
                    <a:schemeClr val="dk1"/>
                  </a:solidFill>
                  <a:latin typeface="+mn-lt"/>
                  <a:ea typeface="+mn-ea"/>
                  <a:cs typeface="+mn-cs"/>
                </a:rPr>
                <a:t>［出力フォルダをエクスプローラーで開く］で場所を開きます。</a:t>
              </a:r>
            </a:p>
          </p:txBody>
        </p:sp>
        <p:sp>
          <p:nvSpPr>
            <p:cNvPr id="19" name="Ellipse 19"/>
            <p:cNvSpPr/>
            <p:nvPr/>
          </p:nvSpPr>
          <p:spPr>
            <a:xfrm>
              <a:off x="419100" y="5810250"/>
              <a:ext cx="266700" cy="266700"/>
            </a:xfrm>
            <a:prstGeom prst="ellipse">
              <a:avLst/>
            </a:prstGeom>
            <a:solidFill>
              <a:schemeClr val="accent1"/>
            </a:solidFill>
            <a:ln>
              <a:noFill/>
            </a:ln>
          </p:spPr>
        </p:sp>
        <p:sp>
          <p:nvSpPr>
            <p:cNvPr id="20" name="TextBox 20"/>
            <p:cNvSpPr txBox="1"/>
            <p:nvPr/>
          </p:nvSpPr>
          <p:spPr>
            <a:xfrm>
              <a:off x="499708" y="58712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3</a:t>
              </a:r>
            </a:p>
          </p:txBody>
        </p:sp>
        <p:sp>
          <p:nvSpPr>
            <p:cNvPr id="21" name="TextBox 21"/>
            <p:cNvSpPr txBox="1"/>
            <p:nvPr/>
          </p:nvSpPr>
          <p:spPr>
            <a:xfrm>
              <a:off x="810006" y="5825490"/>
              <a:ext cx="366967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最後にExcelで開いて動作を確認します。</a:t>
              </a:r>
            </a:p>
          </p:txBody>
        </p:sp>
      </p:grpSp>
      <p:grpSp>
        <p:nvGrpSpPr>
          <p:cNvPr id="34" name="Group 34"/>
          <p:cNvGrpSpPr/>
          <p:nvPr/>
        </p:nvGrpSpPr>
        <p:grpSpPr>
          <a:xfrm>
            <a:off x="6286500" y="4629150"/>
            <a:ext cx="5524500" cy="1581150"/>
            <a:chOff x="6286500" y="4629150"/>
            <a:chExt cx="5524500" cy="1581150"/>
          </a:xfrm>
        </p:grpSpPr>
        <p:sp>
          <p:nvSpPr>
            <p:cNvPr id="23" name="Rectangle 23"/>
            <p:cNvSpPr/>
            <p:nvPr/>
          </p:nvSpPr>
          <p:spPr>
            <a:xfrm>
              <a:off x="6286500" y="4629150"/>
              <a:ext cx="5524500" cy="1581150"/>
            </a:xfrm>
            <a:prstGeom prst="roundRect">
              <a:avLst>
                <a:gd name="adj" fmla="val 9639"/>
              </a:avLst>
            </a:prstGeom>
            <a:solidFill>
              <a:schemeClr val="lt2"/>
            </a:solidFill>
            <a:ln>
              <a:noFill/>
            </a:ln>
          </p:spPr>
        </p:sp>
        <p:sp>
          <p:nvSpPr>
            <p:cNvPr id="24" name="Freeform 24"/>
            <p:cNvSpPr/>
            <p:nvPr/>
          </p:nvSpPr>
          <p:spPr>
            <a:xfrm>
              <a:off x="6535737" y="4831556"/>
              <a:ext cx="216899" cy="175418"/>
            </a:xfrm>
            <a:custGeom>
              <a:avLst/>
              <a:gdLst/>
              <a:ahLst/>
              <a:cxnLst/>
              <a:rect l="l" t="t" r="r" b="b"/>
              <a:pathLst>
                <a:path w="216899" h="175418">
                  <a:moveTo>
                    <a:pt x="0" y="30956"/>
                  </a:moveTo>
                  <a:cubicBezTo>
                    <a:pt x="0" y="22742"/>
                    <a:pt x="3261" y="14880"/>
                    <a:pt x="9070" y="9070"/>
                  </a:cubicBezTo>
                  <a:cubicBezTo>
                    <a:pt x="14880" y="3261"/>
                    <a:pt x="22742" y="0"/>
                    <a:pt x="30956" y="0"/>
                  </a:cubicBezTo>
                  <a:lnTo>
                    <a:pt x="72231" y="0"/>
                  </a:lnTo>
                  <a:lnTo>
                    <a:pt x="73253" y="52"/>
                  </a:lnTo>
                  <a:cubicBezTo>
                    <a:pt x="75616" y="289"/>
                    <a:pt x="77834" y="1331"/>
                    <a:pt x="79526" y="3023"/>
                  </a:cubicBezTo>
                  <a:lnTo>
                    <a:pt x="107459" y="30956"/>
                  </a:lnTo>
                  <a:lnTo>
                    <a:pt x="175418" y="30956"/>
                  </a:lnTo>
                  <a:cubicBezTo>
                    <a:pt x="183632" y="30956"/>
                    <a:pt x="191495" y="34217"/>
                    <a:pt x="197304" y="40026"/>
                  </a:cubicBezTo>
                  <a:cubicBezTo>
                    <a:pt x="200596" y="43318"/>
                    <a:pt x="203072" y="47280"/>
                    <a:pt x="204600" y="51594"/>
                  </a:cubicBezTo>
                  <a:lnTo>
                    <a:pt x="54741" y="51594"/>
                  </a:lnTo>
                  <a:cubicBezTo>
                    <a:pt x="50541" y="51594"/>
                    <a:pt x="46434" y="52883"/>
                    <a:pt x="42977" y="55267"/>
                  </a:cubicBezTo>
                  <a:cubicBezTo>
                    <a:pt x="39964" y="57362"/>
                    <a:pt x="37560" y="60220"/>
                    <a:pt x="36023" y="63532"/>
                  </a:cubicBezTo>
                  <a:lnTo>
                    <a:pt x="35424" y="64987"/>
                  </a:lnTo>
                  <a:lnTo>
                    <a:pt x="21195" y="102919"/>
                  </a:lnTo>
                  <a:cubicBezTo>
                    <a:pt x="19193" y="108254"/>
                    <a:pt x="21896" y="114197"/>
                    <a:pt x="27231" y="116199"/>
                  </a:cubicBezTo>
                  <a:cubicBezTo>
                    <a:pt x="32566" y="118201"/>
                    <a:pt x="38520" y="115497"/>
                    <a:pt x="40522" y="110163"/>
                  </a:cubicBezTo>
                  <a:lnTo>
                    <a:pt x="52223" y="78928"/>
                  </a:lnTo>
                  <a:cubicBezTo>
                    <a:pt x="53730" y="74904"/>
                    <a:pt x="57578" y="72231"/>
                    <a:pt x="61892" y="72231"/>
                  </a:cubicBezTo>
                  <a:lnTo>
                    <a:pt x="196056" y="72231"/>
                  </a:lnTo>
                  <a:lnTo>
                    <a:pt x="198295" y="72355"/>
                  </a:lnTo>
                  <a:cubicBezTo>
                    <a:pt x="200524" y="72603"/>
                    <a:pt x="202691" y="73201"/>
                    <a:pt x="204734" y="74140"/>
                  </a:cubicBezTo>
                  <a:cubicBezTo>
                    <a:pt x="205291" y="74398"/>
                    <a:pt x="205838" y="74687"/>
                    <a:pt x="206374" y="74996"/>
                  </a:cubicBezTo>
                  <a:cubicBezTo>
                    <a:pt x="208428" y="76183"/>
                    <a:pt x="210265" y="77710"/>
                    <a:pt x="211792" y="79526"/>
                  </a:cubicBezTo>
                  <a:cubicBezTo>
                    <a:pt x="213732" y="81817"/>
                    <a:pt x="215145" y="84500"/>
                    <a:pt x="215950" y="87389"/>
                  </a:cubicBezTo>
                  <a:cubicBezTo>
                    <a:pt x="216745" y="90278"/>
                    <a:pt x="216899" y="93302"/>
                    <a:pt x="216414" y="96253"/>
                  </a:cubicBezTo>
                  <a:cubicBezTo>
                    <a:pt x="216404" y="96336"/>
                    <a:pt x="216384" y="96418"/>
                    <a:pt x="216363" y="96501"/>
                  </a:cubicBezTo>
                  <a:lnTo>
                    <a:pt x="206096" y="150261"/>
                  </a:lnTo>
                  <a:cubicBezTo>
                    <a:pt x="204744" y="157340"/>
                    <a:pt x="200967" y="163717"/>
                    <a:pt x="195406" y="168309"/>
                  </a:cubicBezTo>
                  <a:cubicBezTo>
                    <a:pt x="190556" y="172323"/>
                    <a:pt x="184612" y="174747"/>
                    <a:pt x="178380" y="175294"/>
                  </a:cubicBezTo>
                  <a:lnTo>
                    <a:pt x="175686" y="175418"/>
                  </a:lnTo>
                  <a:lnTo>
                    <a:pt x="30956" y="175418"/>
                  </a:lnTo>
                  <a:cubicBezTo>
                    <a:pt x="22742" y="175418"/>
                    <a:pt x="14880" y="172157"/>
                    <a:pt x="9070" y="166348"/>
                  </a:cubicBezTo>
                  <a:cubicBezTo>
                    <a:pt x="3261" y="160539"/>
                    <a:pt x="0" y="152676"/>
                    <a:pt x="0" y="144462"/>
                  </a:cubicBezTo>
                  <a:lnTo>
                    <a:pt x="0" y="30956"/>
                  </a:lnTo>
                  <a:close/>
                </a:path>
              </a:pathLst>
            </a:custGeom>
            <a:solidFill>
              <a:schemeClr val="accent1"/>
            </a:solidFill>
            <a:ln>
              <a:noFill/>
            </a:ln>
          </p:spPr>
        </p:sp>
        <p:sp>
          <p:nvSpPr>
            <p:cNvPr id="25" name="TextBox 25"/>
            <p:cNvSpPr txBox="1"/>
            <p:nvPr/>
          </p:nvSpPr>
          <p:spPr>
            <a:xfrm>
              <a:off x="6848856" y="4739640"/>
              <a:ext cx="997850"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できるファイル</a:t>
              </a:r>
            </a:p>
          </p:txBody>
        </p:sp>
        <p:sp>
          <p:nvSpPr>
            <p:cNvPr id="26" name="TextBox 26"/>
            <p:cNvSpPr txBox="1"/>
            <p:nvPr/>
          </p:nvSpPr>
          <p:spPr>
            <a:xfrm>
              <a:off x="6507480" y="5095875"/>
              <a:ext cx="1166241" cy="293370"/>
            </a:xfrm>
            <a:prstGeom prst="rect">
              <a:avLst/>
            </a:prstGeom>
            <a:noFill/>
            <a:ln>
              <a:noFill/>
            </a:ln>
          </p:spPr>
          <p:txBody>
            <a:bodyPr wrap="none" lIns="0" tIns="0" rIns="0" bIns="0" anchor="t" anchorCtr="0">
              <a:spAutoFit/>
            </a:bodyPr>
            <a:lstStyle/>
            <a:p>
              <a:pPr algn="l"/>
              <a:r>
                <a:rPr lang="en-US" sz="1500" dirty="0">
                  <a:solidFill>
                    <a:schemeClr val="dk1"/>
                  </a:solidFill>
                  <a:latin typeface="Consolas"/>
                  <a:ea typeface="Consolas"/>
                  <a:cs typeface="Consolas"/>
                </a:rPr>
                <a:t>request.md</a:t>
              </a:r>
            </a:p>
          </p:txBody>
        </p:sp>
        <p:sp>
          <p:nvSpPr>
            <p:cNvPr id="27" name="TextBox 27"/>
            <p:cNvSpPr txBox="1"/>
            <p:nvPr/>
          </p:nvSpPr>
          <p:spPr>
            <a:xfrm>
              <a:off x="8565642" y="5112068"/>
              <a:ext cx="1261872"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AIへ渡した依頼文</a:t>
              </a:r>
            </a:p>
          </p:txBody>
        </p:sp>
        <p:sp>
          <p:nvSpPr>
            <p:cNvPr id="28" name="TextBox 28"/>
            <p:cNvSpPr txBox="1"/>
            <p:nvPr/>
          </p:nvSpPr>
          <p:spPr>
            <a:xfrm>
              <a:off x="6507480" y="5362575"/>
              <a:ext cx="1610487" cy="293370"/>
            </a:xfrm>
            <a:prstGeom prst="rect">
              <a:avLst/>
            </a:prstGeom>
            <a:noFill/>
            <a:ln>
              <a:noFill/>
            </a:ln>
          </p:spPr>
          <p:txBody>
            <a:bodyPr wrap="none" lIns="0" tIns="0" rIns="0" bIns="0" anchor="t" anchorCtr="0">
              <a:spAutoFit/>
            </a:bodyPr>
            <a:lstStyle/>
            <a:p>
              <a:pPr algn="l"/>
              <a:r>
                <a:rPr lang="en-US" sz="1500" dirty="0">
                  <a:solidFill>
                    <a:schemeClr val="dk1"/>
                  </a:solidFill>
                  <a:latin typeface="Consolas"/>
                  <a:ea typeface="Consolas"/>
                  <a:cs typeface="Consolas"/>
                </a:rPr>
                <a:t>source-code.md</a:t>
              </a:r>
            </a:p>
          </p:txBody>
        </p:sp>
        <p:sp>
          <p:nvSpPr>
            <p:cNvPr id="29" name="TextBox 29"/>
            <p:cNvSpPr txBox="1"/>
            <p:nvPr/>
          </p:nvSpPr>
          <p:spPr>
            <a:xfrm>
              <a:off x="8565642" y="5378768"/>
              <a:ext cx="1258614"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元マクロのコード全文</a:t>
              </a:r>
            </a:p>
          </p:txBody>
        </p:sp>
        <p:sp>
          <p:nvSpPr>
            <p:cNvPr id="30" name="TextBox 30"/>
            <p:cNvSpPr txBox="1"/>
            <p:nvPr/>
          </p:nvSpPr>
          <p:spPr>
            <a:xfrm>
              <a:off x="6507480" y="5629275"/>
              <a:ext cx="1065276"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改修済みブック</a:t>
              </a:r>
            </a:p>
          </p:txBody>
        </p:sp>
        <p:sp>
          <p:nvSpPr>
            <p:cNvPr id="31" name="TextBox 31"/>
            <p:cNvSpPr txBox="1"/>
            <p:nvPr/>
          </p:nvSpPr>
          <p:spPr>
            <a:xfrm>
              <a:off x="8565642" y="5645468"/>
              <a:ext cx="1327846"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Excelで開いて確認</a:t>
              </a:r>
            </a:p>
          </p:txBody>
        </p:sp>
        <p:sp>
          <p:nvSpPr>
            <p:cNvPr id="32" name="TextBox 32"/>
            <p:cNvSpPr txBox="1"/>
            <p:nvPr/>
          </p:nvSpPr>
          <p:spPr>
            <a:xfrm>
              <a:off x="6507480" y="5895975"/>
              <a:ext cx="1731645" cy="293370"/>
            </a:xfrm>
            <a:prstGeom prst="rect">
              <a:avLst/>
            </a:prstGeom>
            <a:noFill/>
            <a:ln>
              <a:noFill/>
            </a:ln>
          </p:spPr>
          <p:txBody>
            <a:bodyPr wrap="none" lIns="0" tIns="0" rIns="0" bIns="0" anchor="t" anchorCtr="0">
              <a:spAutoFit/>
            </a:bodyPr>
            <a:lstStyle/>
            <a:p>
              <a:pPr algn="l"/>
              <a:r>
                <a:rPr lang="en-US" sz="1500" dirty="0">
                  <a:solidFill>
                    <a:schemeClr val="dk1"/>
                  </a:solidFill>
                  <a:latin typeface="Consolas"/>
                  <a:ea typeface="Consolas"/>
                  <a:cs typeface="Consolas"/>
                </a:rPr>
                <a:t>diff-report.html</a:t>
              </a:r>
            </a:p>
          </p:txBody>
        </p:sp>
        <p:sp>
          <p:nvSpPr>
            <p:cNvPr id="33" name="TextBox 33"/>
            <p:cNvSpPr txBox="1"/>
            <p:nvPr/>
          </p:nvSpPr>
          <p:spPr>
            <a:xfrm>
              <a:off x="8565642" y="5912168"/>
              <a:ext cx="1603915"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変更内容の確認レポート</a:t>
              </a:r>
            </a:p>
          </p:txBody>
        </p:sp>
      </p:grpSp>
      <p:grpSp>
        <p:nvGrpSpPr>
          <p:cNvPr id="37" name="Group 37"/>
          <p:cNvGrpSpPr/>
          <p:nvPr/>
        </p:nvGrpSpPr>
        <p:grpSpPr>
          <a:xfrm>
            <a:off x="374904" y="6461760"/>
            <a:ext cx="11442192" cy="234696"/>
            <a:chOff x="374904" y="6461760"/>
            <a:chExt cx="11442192" cy="234696"/>
          </a:xfrm>
        </p:grpSpPr>
        <p:sp>
          <p:nvSpPr>
            <p:cNvPr id="35" name="TextBox 35"/>
            <p:cNvSpPr txBox="1"/>
            <p:nvPr/>
          </p:nvSpPr>
          <p:spPr>
            <a:xfrm>
              <a:off x="374904" y="646176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36" name="TextBox 36"/>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12</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381000" y="476250"/>
            <a:ext cx="11430000" cy="657225"/>
            <a:chOff x="381000" y="476250"/>
            <a:chExt cx="11430000" cy="657225"/>
          </a:xfrm>
        </p:grpSpPr>
        <p:sp>
          <p:nvSpPr>
            <p:cNvPr id="2" name="Rectangle 2"/>
            <p:cNvSpPr/>
            <p:nvPr/>
          </p:nvSpPr>
          <p:spPr>
            <a:xfrm>
              <a:off x="381000" y="476250"/>
              <a:ext cx="1409700" cy="342900"/>
            </a:xfrm>
            <a:prstGeom prst="roundRect">
              <a:avLst>
                <a:gd name="adj" fmla="val 50000"/>
              </a:avLst>
            </a:prstGeom>
            <a:solidFill>
              <a:schemeClr val="accent1"/>
            </a:solidFill>
            <a:ln>
              <a:noFill/>
            </a:ln>
          </p:spPr>
        </p:sp>
        <p:sp>
          <p:nvSpPr>
            <p:cNvPr id="3" name="TextBox 3"/>
            <p:cNvSpPr txBox="1"/>
            <p:nvPr/>
          </p:nvSpPr>
          <p:spPr>
            <a:xfrm>
              <a:off x="792756" y="568642"/>
              <a:ext cx="586188"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第二部</a:t>
              </a:r>
            </a:p>
          </p:txBody>
        </p:sp>
        <p:sp>
          <p:nvSpPr>
            <p:cNvPr id="4" name="TextBox 4"/>
            <p:cNvSpPr txBox="1"/>
            <p:nvPr/>
          </p:nvSpPr>
          <p:spPr>
            <a:xfrm>
              <a:off x="1946148" y="479108"/>
              <a:ext cx="1946603"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覚えておくこと</a:t>
              </a:r>
            </a:p>
          </p:txBody>
        </p:sp>
        <p:sp>
          <p:nvSpPr>
            <p:cNvPr id="5" name="Line 5"/>
            <p:cNvSpPr/>
            <p:nvPr/>
          </p:nvSpPr>
          <p:spPr>
            <a:xfrm>
              <a:off x="381000" y="1123950"/>
              <a:ext cx="11430000" cy="9525"/>
            </a:xfrm>
            <a:custGeom>
              <a:avLst/>
              <a:gdLst/>
              <a:ahLst/>
              <a:cxnLst/>
              <a:rect l="l" t="t" r="r" b="b"/>
              <a:pathLst>
                <a:path w="11430000" h="9525">
                  <a:moveTo>
                    <a:pt x="0" y="0"/>
                  </a:moveTo>
                  <a:lnTo>
                    <a:pt x="11430000" y="0"/>
                  </a:lnTo>
                </a:path>
              </a:pathLst>
            </a:custGeom>
            <a:noFill/>
            <a:ln w="9525">
              <a:solidFill>
                <a:srgbClr val="E2E8F0"/>
              </a:solidFill>
            </a:ln>
          </p:spPr>
        </p:sp>
      </p:grpSp>
      <p:grpSp>
        <p:nvGrpSpPr>
          <p:cNvPr id="11" name="Group 11"/>
          <p:cNvGrpSpPr/>
          <p:nvPr/>
        </p:nvGrpSpPr>
        <p:grpSpPr>
          <a:xfrm>
            <a:off x="381000" y="1485900"/>
            <a:ext cx="5600700" cy="1809750"/>
            <a:chOff x="381000" y="1485900"/>
            <a:chExt cx="5600700" cy="1809750"/>
          </a:xfrm>
        </p:grpSpPr>
        <p:sp>
          <p:nvSpPr>
            <p:cNvPr id="7" name="Rectangle 7"/>
            <p:cNvSpPr/>
            <p:nvPr/>
          </p:nvSpPr>
          <p:spPr>
            <a:xfrm>
              <a:off x="381000" y="1485900"/>
              <a:ext cx="5600700" cy="1809750"/>
            </a:xfrm>
            <a:prstGeom prst="roundRect">
              <a:avLst>
                <a:gd name="adj" fmla="val 8421"/>
              </a:avLst>
            </a:prstGeom>
            <a:solidFill>
              <a:schemeClr val="lt2"/>
            </a:solidFill>
            <a:ln>
              <a:noFill/>
            </a:ln>
          </p:spPr>
        </p:sp>
        <p:sp>
          <p:nvSpPr>
            <p:cNvPr id="8" name="Freeform 8"/>
            <p:cNvSpPr/>
            <p:nvPr/>
          </p:nvSpPr>
          <p:spPr>
            <a:xfrm>
              <a:off x="696019" y="1772483"/>
              <a:ext cx="265173" cy="230100"/>
            </a:xfrm>
            <a:custGeom>
              <a:avLst/>
              <a:gdLst/>
              <a:ahLst/>
              <a:cxnLst/>
              <a:rect l="l" t="t" r="r" b="b"/>
              <a:pathLst>
                <a:path w="265173" h="230100">
                  <a:moveTo>
                    <a:pt x="132656" y="0"/>
                  </a:moveTo>
                  <a:cubicBezTo>
                    <a:pt x="144026" y="0"/>
                    <a:pt x="154623" y="5560"/>
                    <a:pt x="161112" y="14847"/>
                  </a:cubicBezTo>
                  <a:lnTo>
                    <a:pt x="162362" y="16752"/>
                  </a:lnTo>
                  <a:lnTo>
                    <a:pt x="258969" y="178058"/>
                  </a:lnTo>
                  <a:cubicBezTo>
                    <a:pt x="264937" y="188394"/>
                    <a:pt x="265173" y="201073"/>
                    <a:pt x="259594" y="211624"/>
                  </a:cubicBezTo>
                  <a:cubicBezTo>
                    <a:pt x="254015" y="222175"/>
                    <a:pt x="243404" y="229118"/>
                    <a:pt x="231502" y="230005"/>
                  </a:cubicBezTo>
                  <a:lnTo>
                    <a:pt x="229180" y="230100"/>
                  </a:lnTo>
                  <a:lnTo>
                    <a:pt x="36001" y="230100"/>
                  </a:lnTo>
                  <a:cubicBezTo>
                    <a:pt x="24087" y="229966"/>
                    <a:pt x="13075" y="223728"/>
                    <a:pt x="6835" y="213578"/>
                  </a:cubicBezTo>
                  <a:cubicBezTo>
                    <a:pt x="595" y="203427"/>
                    <a:pt x="0" y="190785"/>
                    <a:pt x="5259" y="180094"/>
                  </a:cubicBezTo>
                  <a:lnTo>
                    <a:pt x="6438" y="177891"/>
                  </a:lnTo>
                  <a:lnTo>
                    <a:pt x="102997" y="16704"/>
                  </a:lnTo>
                  <a:cubicBezTo>
                    <a:pt x="109285" y="6336"/>
                    <a:pt x="120530" y="3"/>
                    <a:pt x="132656" y="0"/>
                  </a:cubicBezTo>
                  <a:close/>
                  <a:moveTo>
                    <a:pt x="132775" y="158710"/>
                  </a:moveTo>
                  <a:lnTo>
                    <a:pt x="131263" y="158794"/>
                  </a:lnTo>
                  <a:cubicBezTo>
                    <a:pt x="125273" y="159506"/>
                    <a:pt x="120763" y="164585"/>
                    <a:pt x="120763" y="170617"/>
                  </a:cubicBezTo>
                  <a:cubicBezTo>
                    <a:pt x="120763" y="176648"/>
                    <a:pt x="125273" y="181727"/>
                    <a:pt x="131263" y="182439"/>
                  </a:cubicBezTo>
                  <a:lnTo>
                    <a:pt x="132656" y="182523"/>
                  </a:lnTo>
                  <a:lnTo>
                    <a:pt x="134168" y="182439"/>
                  </a:lnTo>
                  <a:cubicBezTo>
                    <a:pt x="140157" y="181727"/>
                    <a:pt x="144668" y="176648"/>
                    <a:pt x="144668" y="170617"/>
                  </a:cubicBezTo>
                  <a:cubicBezTo>
                    <a:pt x="144668" y="164585"/>
                    <a:pt x="140157" y="159506"/>
                    <a:pt x="134168" y="158794"/>
                  </a:cubicBezTo>
                  <a:lnTo>
                    <a:pt x="132775" y="158710"/>
                  </a:lnTo>
                  <a:close/>
                  <a:moveTo>
                    <a:pt x="132656" y="75367"/>
                  </a:moveTo>
                  <a:cubicBezTo>
                    <a:pt x="126620" y="75367"/>
                    <a:pt x="121539" y="79885"/>
                    <a:pt x="120833" y="85880"/>
                  </a:cubicBezTo>
                  <a:lnTo>
                    <a:pt x="120750" y="87273"/>
                  </a:lnTo>
                  <a:lnTo>
                    <a:pt x="120750" y="134898"/>
                  </a:lnTo>
                  <a:lnTo>
                    <a:pt x="120833" y="136291"/>
                  </a:lnTo>
                  <a:cubicBezTo>
                    <a:pt x="121545" y="142280"/>
                    <a:pt x="126624" y="146791"/>
                    <a:pt x="132656" y="146791"/>
                  </a:cubicBezTo>
                  <a:cubicBezTo>
                    <a:pt x="138688" y="146791"/>
                    <a:pt x="143766" y="142280"/>
                    <a:pt x="144479" y="136291"/>
                  </a:cubicBezTo>
                  <a:lnTo>
                    <a:pt x="144562" y="134898"/>
                  </a:lnTo>
                  <a:lnTo>
                    <a:pt x="144562" y="87273"/>
                  </a:lnTo>
                  <a:lnTo>
                    <a:pt x="144479" y="85880"/>
                  </a:lnTo>
                  <a:cubicBezTo>
                    <a:pt x="143773" y="79885"/>
                    <a:pt x="138692" y="75367"/>
                    <a:pt x="132656" y="75367"/>
                  </a:cubicBezTo>
                  <a:close/>
                </a:path>
              </a:pathLst>
            </a:custGeom>
            <a:solidFill>
              <a:schemeClr val="accent2"/>
            </a:solidFill>
            <a:ln>
              <a:noFill/>
            </a:ln>
          </p:spPr>
        </p:sp>
        <p:sp>
          <p:nvSpPr>
            <p:cNvPr id="9" name="TextBox 9"/>
            <p:cNvSpPr txBox="1"/>
            <p:nvPr/>
          </p:nvSpPr>
          <p:spPr>
            <a:xfrm>
              <a:off x="1073658" y="1722120"/>
              <a:ext cx="3111490"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依頼文と返答は 1 対 1</a:t>
              </a:r>
            </a:p>
          </p:txBody>
        </p:sp>
        <p:sp>
          <p:nvSpPr>
            <p:cNvPr id="10" name="TextBox 10"/>
            <p:cNvSpPr txBox="1"/>
            <p:nvPr/>
          </p:nvSpPr>
          <p:spPr>
            <a:xfrm>
              <a:off x="676656" y="2320290"/>
              <a:ext cx="260146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依頼文を作り直したら、返答も取り直します。</a:t>
              </a:r>
            </a:p>
          </p:txBody>
        </p:sp>
      </p:grpSp>
      <p:grpSp>
        <p:nvGrpSpPr>
          <p:cNvPr id="16" name="Group 16"/>
          <p:cNvGrpSpPr/>
          <p:nvPr/>
        </p:nvGrpSpPr>
        <p:grpSpPr>
          <a:xfrm>
            <a:off x="6210300" y="1485900"/>
            <a:ext cx="5600700" cy="1809750"/>
            <a:chOff x="6210300" y="1485900"/>
            <a:chExt cx="5600700" cy="1809750"/>
          </a:xfrm>
        </p:grpSpPr>
        <p:sp>
          <p:nvSpPr>
            <p:cNvPr id="12" name="Rectangle 12"/>
            <p:cNvSpPr/>
            <p:nvPr/>
          </p:nvSpPr>
          <p:spPr>
            <a:xfrm>
              <a:off x="6210300" y="1485900"/>
              <a:ext cx="5600700" cy="1809750"/>
            </a:xfrm>
            <a:prstGeom prst="roundRect">
              <a:avLst>
                <a:gd name="adj" fmla="val 8421"/>
              </a:avLst>
            </a:prstGeom>
            <a:solidFill>
              <a:schemeClr val="lt2"/>
            </a:solidFill>
            <a:ln>
              <a:noFill/>
            </a:ln>
          </p:spPr>
        </p:sp>
        <p:sp>
          <p:nvSpPr>
            <p:cNvPr id="13" name="Freeform 13"/>
            <p:cNvSpPr/>
            <p:nvPr/>
          </p:nvSpPr>
          <p:spPr>
            <a:xfrm>
              <a:off x="6533521" y="1776412"/>
              <a:ext cx="248896" cy="238252"/>
            </a:xfrm>
            <a:custGeom>
              <a:avLst/>
              <a:gdLst/>
              <a:ahLst/>
              <a:cxnLst/>
              <a:rect l="l" t="t" r="r" b="b"/>
              <a:pathLst>
                <a:path w="248896" h="238252">
                  <a:moveTo>
                    <a:pt x="124430" y="0"/>
                  </a:moveTo>
                  <a:lnTo>
                    <a:pt x="125835" y="83"/>
                  </a:lnTo>
                  <a:lnTo>
                    <a:pt x="126537" y="179"/>
                  </a:lnTo>
                  <a:lnTo>
                    <a:pt x="127263" y="333"/>
                  </a:lnTo>
                  <a:lnTo>
                    <a:pt x="128585" y="738"/>
                  </a:lnTo>
                  <a:cubicBezTo>
                    <a:pt x="129498" y="1075"/>
                    <a:pt x="130366" y="1523"/>
                    <a:pt x="131169" y="2072"/>
                  </a:cubicBezTo>
                  <a:lnTo>
                    <a:pt x="132407" y="3048"/>
                  </a:lnTo>
                  <a:lnTo>
                    <a:pt x="135443" y="5644"/>
                  </a:lnTo>
                  <a:cubicBezTo>
                    <a:pt x="159462" y="25593"/>
                    <a:pt x="189817" y="36306"/>
                    <a:pt x="221037" y="35850"/>
                  </a:cubicBezTo>
                  <a:lnTo>
                    <a:pt x="225109" y="35731"/>
                  </a:lnTo>
                  <a:cubicBezTo>
                    <a:pt x="230588" y="35481"/>
                    <a:pt x="235528" y="39006"/>
                    <a:pt x="237075" y="44267"/>
                  </a:cubicBezTo>
                  <a:cubicBezTo>
                    <a:pt x="248896" y="84478"/>
                    <a:pt x="243904" y="127764"/>
                    <a:pt x="223241" y="164229"/>
                  </a:cubicBezTo>
                  <a:cubicBezTo>
                    <a:pt x="202579" y="200693"/>
                    <a:pt x="168012" y="227220"/>
                    <a:pt x="127442" y="237744"/>
                  </a:cubicBezTo>
                  <a:cubicBezTo>
                    <a:pt x="125482" y="238252"/>
                    <a:pt x="123425" y="238252"/>
                    <a:pt x="121465" y="237744"/>
                  </a:cubicBezTo>
                  <a:cubicBezTo>
                    <a:pt x="80893" y="227223"/>
                    <a:pt x="46323" y="200697"/>
                    <a:pt x="25658" y="164232"/>
                  </a:cubicBezTo>
                  <a:cubicBezTo>
                    <a:pt x="4993" y="127767"/>
                    <a:pt x="0" y="84480"/>
                    <a:pt x="11820" y="44267"/>
                  </a:cubicBezTo>
                  <a:cubicBezTo>
                    <a:pt x="13367" y="39006"/>
                    <a:pt x="18308" y="35481"/>
                    <a:pt x="23786" y="35731"/>
                  </a:cubicBezTo>
                  <a:cubicBezTo>
                    <a:pt x="56379" y="37221"/>
                    <a:pt x="88355" y="26491"/>
                    <a:pt x="113452" y="5644"/>
                  </a:cubicBezTo>
                  <a:lnTo>
                    <a:pt x="116584" y="2965"/>
                  </a:lnTo>
                  <a:lnTo>
                    <a:pt x="117727" y="2072"/>
                  </a:lnTo>
                  <a:cubicBezTo>
                    <a:pt x="118530" y="1523"/>
                    <a:pt x="119397" y="1075"/>
                    <a:pt x="120310" y="738"/>
                  </a:cubicBezTo>
                  <a:lnTo>
                    <a:pt x="121644" y="333"/>
                  </a:lnTo>
                  <a:cubicBezTo>
                    <a:pt x="122110" y="221"/>
                    <a:pt x="122584" y="137"/>
                    <a:pt x="123061" y="83"/>
                  </a:cubicBezTo>
                  <a:lnTo>
                    <a:pt x="124430" y="0"/>
                  </a:lnTo>
                  <a:close/>
                  <a:moveTo>
                    <a:pt x="168602" y="86832"/>
                  </a:moveTo>
                  <a:cubicBezTo>
                    <a:pt x="166369" y="84597"/>
                    <a:pt x="163338" y="83340"/>
                    <a:pt x="160178" y="83340"/>
                  </a:cubicBezTo>
                  <a:cubicBezTo>
                    <a:pt x="157018" y="83340"/>
                    <a:pt x="153988" y="84597"/>
                    <a:pt x="151755" y="86832"/>
                  </a:cubicBezTo>
                  <a:lnTo>
                    <a:pt x="112547" y="126028"/>
                  </a:lnTo>
                  <a:lnTo>
                    <a:pt x="97153" y="110645"/>
                  </a:lnTo>
                  <a:lnTo>
                    <a:pt x="96033" y="109657"/>
                  </a:lnTo>
                  <a:cubicBezTo>
                    <a:pt x="91067" y="105816"/>
                    <a:pt x="83972" y="106492"/>
                    <a:pt x="79820" y="111201"/>
                  </a:cubicBezTo>
                  <a:cubicBezTo>
                    <a:pt x="75668" y="115910"/>
                    <a:pt x="75885" y="123034"/>
                    <a:pt x="80317" y="127480"/>
                  </a:cubicBezTo>
                  <a:lnTo>
                    <a:pt x="104130" y="151293"/>
                  </a:lnTo>
                  <a:lnTo>
                    <a:pt x="105249" y="152281"/>
                  </a:lnTo>
                  <a:cubicBezTo>
                    <a:pt x="109989" y="155958"/>
                    <a:pt x="116723" y="155534"/>
                    <a:pt x="120965" y="151293"/>
                  </a:cubicBezTo>
                  <a:lnTo>
                    <a:pt x="168590" y="103668"/>
                  </a:lnTo>
                  <a:lnTo>
                    <a:pt x="169578" y="102549"/>
                  </a:lnTo>
                  <a:cubicBezTo>
                    <a:pt x="173255" y="97809"/>
                    <a:pt x="172831" y="91074"/>
                    <a:pt x="168590" y="86832"/>
                  </a:cubicBezTo>
                  <a:close/>
                </a:path>
              </a:pathLst>
            </a:custGeom>
            <a:solidFill>
              <a:srgbClr val="2E7D5B"/>
            </a:solidFill>
            <a:ln>
              <a:noFill/>
            </a:ln>
          </p:spPr>
        </p:sp>
        <p:sp>
          <p:nvSpPr>
            <p:cNvPr id="14" name="TextBox 14"/>
            <p:cNvSpPr txBox="1"/>
            <p:nvPr/>
          </p:nvSpPr>
          <p:spPr>
            <a:xfrm>
              <a:off x="6902958" y="1722120"/>
              <a:ext cx="1822369" cy="469392"/>
            </a:xfrm>
            <a:prstGeom prst="rect">
              <a:avLst/>
            </a:prstGeom>
            <a:noFill/>
            <a:ln>
              <a:noFill/>
            </a:ln>
          </p:spPr>
          <p:txBody>
            <a:bodyPr wrap="none" lIns="0" tIns="0" rIns="0" bIns="0" anchor="t" anchorCtr="0">
              <a:spAutoFit/>
            </a:bodyPr>
            <a:lstStyle/>
            <a:p>
              <a:pPr algn="l"/>
              <a:r>
                <a:rPr lang="zh-CN" sz="2400" b="1" dirty="0">
                  <a:solidFill>
                    <a:srgbClr val="2E7D5B"/>
                  </a:solidFill>
                  <a:latin typeface="+mn-lt"/>
                  <a:ea typeface="+mn-ea"/>
                  <a:cs typeface="+mn-cs"/>
                </a:rPr>
                <a:t>途中でやめてよい</a:t>
              </a:r>
            </a:p>
          </p:txBody>
        </p:sp>
        <p:sp>
          <p:nvSpPr>
            <p:cNvPr id="15" name="TextBox 15"/>
            <p:cNvSpPr txBox="1"/>
            <p:nvPr/>
          </p:nvSpPr>
          <p:spPr>
            <a:xfrm>
              <a:off x="6505956" y="2320290"/>
              <a:ext cx="208711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どこで止めても、元のブックは変わりません。</a:t>
              </a:r>
            </a:p>
          </p:txBody>
        </p:sp>
      </p:grpSp>
      <p:grpSp>
        <p:nvGrpSpPr>
          <p:cNvPr id="21" name="Group 21"/>
          <p:cNvGrpSpPr/>
          <p:nvPr/>
        </p:nvGrpSpPr>
        <p:grpSpPr>
          <a:xfrm>
            <a:off x="381000" y="3524250"/>
            <a:ext cx="5600700" cy="1809750"/>
            <a:chOff x="381000" y="3524250"/>
            <a:chExt cx="5600700" cy="1809750"/>
          </a:xfrm>
        </p:grpSpPr>
        <p:sp>
          <p:nvSpPr>
            <p:cNvPr id="17" name="Rectangle 17"/>
            <p:cNvSpPr/>
            <p:nvPr/>
          </p:nvSpPr>
          <p:spPr>
            <a:xfrm>
              <a:off x="381000" y="3524250"/>
              <a:ext cx="5600700" cy="1809750"/>
            </a:xfrm>
            <a:prstGeom prst="roundRect">
              <a:avLst>
                <a:gd name="adj" fmla="val 8421"/>
              </a:avLst>
            </a:prstGeom>
            <a:solidFill>
              <a:schemeClr val="accent5"/>
            </a:solidFill>
            <a:ln w="9525">
              <a:solidFill>
                <a:srgbClr val="E2E8F0"/>
              </a:solidFill>
            </a:ln>
          </p:spPr>
        </p:sp>
        <p:sp>
          <p:nvSpPr>
            <p:cNvPr id="18" name="Freeform 18"/>
            <p:cNvSpPr/>
            <p:nvPr/>
          </p:nvSpPr>
          <p:spPr>
            <a:xfrm>
              <a:off x="709612" y="3826669"/>
              <a:ext cx="250269" cy="202406"/>
            </a:xfrm>
            <a:custGeom>
              <a:avLst/>
              <a:gdLst/>
              <a:ahLst/>
              <a:cxnLst/>
              <a:rect l="l" t="t" r="r" b="b"/>
              <a:pathLst>
                <a:path w="250269" h="202406">
                  <a:moveTo>
                    <a:pt x="0" y="35719"/>
                  </a:moveTo>
                  <a:cubicBezTo>
                    <a:pt x="0" y="26241"/>
                    <a:pt x="3762" y="17169"/>
                    <a:pt x="10466" y="10466"/>
                  </a:cubicBezTo>
                  <a:cubicBezTo>
                    <a:pt x="17169" y="3762"/>
                    <a:pt x="26241" y="0"/>
                    <a:pt x="35719" y="0"/>
                  </a:cubicBezTo>
                  <a:lnTo>
                    <a:pt x="83344" y="0"/>
                  </a:lnTo>
                  <a:lnTo>
                    <a:pt x="84522" y="60"/>
                  </a:lnTo>
                  <a:cubicBezTo>
                    <a:pt x="87249" y="333"/>
                    <a:pt x="89809" y="1536"/>
                    <a:pt x="91761" y="3489"/>
                  </a:cubicBezTo>
                  <a:lnTo>
                    <a:pt x="123992" y="35719"/>
                  </a:lnTo>
                  <a:lnTo>
                    <a:pt x="202406" y="35719"/>
                  </a:lnTo>
                  <a:cubicBezTo>
                    <a:pt x="211884" y="35719"/>
                    <a:pt x="220956" y="39481"/>
                    <a:pt x="227659" y="46184"/>
                  </a:cubicBezTo>
                  <a:cubicBezTo>
                    <a:pt x="231457" y="49982"/>
                    <a:pt x="234315" y="54554"/>
                    <a:pt x="236077" y="59531"/>
                  </a:cubicBezTo>
                  <a:lnTo>
                    <a:pt x="63163" y="59531"/>
                  </a:lnTo>
                  <a:cubicBezTo>
                    <a:pt x="58317" y="59531"/>
                    <a:pt x="53578" y="61020"/>
                    <a:pt x="49590" y="63770"/>
                  </a:cubicBezTo>
                  <a:cubicBezTo>
                    <a:pt x="46113" y="66187"/>
                    <a:pt x="43339" y="69485"/>
                    <a:pt x="41565" y="73307"/>
                  </a:cubicBezTo>
                  <a:lnTo>
                    <a:pt x="40874" y="74986"/>
                  </a:lnTo>
                  <a:lnTo>
                    <a:pt x="24455" y="118753"/>
                  </a:lnTo>
                  <a:cubicBezTo>
                    <a:pt x="22146" y="124908"/>
                    <a:pt x="25265" y="131766"/>
                    <a:pt x="31421" y="134076"/>
                  </a:cubicBezTo>
                  <a:cubicBezTo>
                    <a:pt x="37576" y="136386"/>
                    <a:pt x="44446" y="133267"/>
                    <a:pt x="46756" y="127111"/>
                  </a:cubicBezTo>
                  <a:lnTo>
                    <a:pt x="60258" y="91071"/>
                  </a:lnTo>
                  <a:cubicBezTo>
                    <a:pt x="61996" y="86427"/>
                    <a:pt x="66437" y="83344"/>
                    <a:pt x="71414" y="83344"/>
                  </a:cubicBezTo>
                  <a:lnTo>
                    <a:pt x="226219" y="83344"/>
                  </a:lnTo>
                  <a:lnTo>
                    <a:pt x="228802" y="83487"/>
                  </a:lnTo>
                  <a:cubicBezTo>
                    <a:pt x="231374" y="83772"/>
                    <a:pt x="233874" y="84463"/>
                    <a:pt x="236232" y="85546"/>
                  </a:cubicBezTo>
                  <a:cubicBezTo>
                    <a:pt x="236875" y="85844"/>
                    <a:pt x="237506" y="86177"/>
                    <a:pt x="238125" y="86535"/>
                  </a:cubicBezTo>
                  <a:cubicBezTo>
                    <a:pt x="240494" y="87904"/>
                    <a:pt x="242614" y="89666"/>
                    <a:pt x="244376" y="91761"/>
                  </a:cubicBezTo>
                  <a:cubicBezTo>
                    <a:pt x="246614" y="94405"/>
                    <a:pt x="248245" y="97500"/>
                    <a:pt x="249174" y="100834"/>
                  </a:cubicBezTo>
                  <a:cubicBezTo>
                    <a:pt x="250091" y="104168"/>
                    <a:pt x="250269" y="107656"/>
                    <a:pt x="249710" y="111061"/>
                  </a:cubicBezTo>
                  <a:cubicBezTo>
                    <a:pt x="249698" y="111157"/>
                    <a:pt x="249674" y="111252"/>
                    <a:pt x="249650" y="111347"/>
                  </a:cubicBezTo>
                  <a:lnTo>
                    <a:pt x="237804" y="173379"/>
                  </a:lnTo>
                  <a:cubicBezTo>
                    <a:pt x="236244" y="181547"/>
                    <a:pt x="231886" y="188905"/>
                    <a:pt x="225469" y="194203"/>
                  </a:cubicBezTo>
                  <a:cubicBezTo>
                    <a:pt x="219873" y="198834"/>
                    <a:pt x="213015" y="201632"/>
                    <a:pt x="205823" y="202263"/>
                  </a:cubicBezTo>
                  <a:lnTo>
                    <a:pt x="202716" y="202406"/>
                  </a:lnTo>
                  <a:lnTo>
                    <a:pt x="35719" y="202406"/>
                  </a:lnTo>
                  <a:cubicBezTo>
                    <a:pt x="26241" y="202406"/>
                    <a:pt x="17169" y="198644"/>
                    <a:pt x="10466" y="191941"/>
                  </a:cubicBezTo>
                  <a:cubicBezTo>
                    <a:pt x="3762" y="185237"/>
                    <a:pt x="0" y="176165"/>
                    <a:pt x="0" y="166688"/>
                  </a:cubicBezTo>
                  <a:lnTo>
                    <a:pt x="0" y="35719"/>
                  </a:lnTo>
                  <a:close/>
                </a:path>
              </a:pathLst>
            </a:custGeom>
            <a:solidFill>
              <a:schemeClr val="accent1"/>
            </a:solidFill>
            <a:ln>
              <a:noFill/>
            </a:ln>
          </p:spPr>
        </p:sp>
        <p:sp>
          <p:nvSpPr>
            <p:cNvPr id="19" name="TextBox 19"/>
            <p:cNvSpPr txBox="1"/>
            <p:nvPr/>
          </p:nvSpPr>
          <p:spPr>
            <a:xfrm>
              <a:off x="1073658" y="3760470"/>
              <a:ext cx="200895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あとから読み返せる</a:t>
              </a:r>
            </a:p>
          </p:txBody>
        </p:sp>
        <p:sp>
          <p:nvSpPr>
            <p:cNvPr id="20" name="TextBox 20"/>
            <p:cNvSpPr txBox="1"/>
            <p:nvPr/>
          </p:nvSpPr>
          <p:spPr>
            <a:xfrm>
              <a:off x="676656" y="4358640"/>
              <a:ext cx="311581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 xml:space="preserve">出力フォルダの </a:t>
              </a:r>
              <a:r>
                <a:rPr lang="en-US" sz="1800" dirty="0">
                  <a:solidFill>
                    <a:schemeClr val="dk1"/>
                  </a:solidFill>
                  <a:latin typeface="Consolas"/>
                  <a:ea typeface="Consolas"/>
                  <a:cs typeface="Consolas"/>
                </a:rPr>
                <a:t xml:space="preserve">diff-report.html </a:t>
              </a:r>
              <a:r>
                <a:rPr lang="zh-CN" sz="1800" dirty="0">
                  <a:solidFill>
                    <a:schemeClr val="dk1"/>
                  </a:solidFill>
                  <a:latin typeface="+mn-lt"/>
                  <a:ea typeface="+mn-ea"/>
                  <a:cs typeface="+mn-cs"/>
                </a:rPr>
                <a:t>をブラウザで開きます。</a:t>
              </a:r>
            </a:p>
          </p:txBody>
        </p:sp>
      </p:grpSp>
      <p:grpSp>
        <p:nvGrpSpPr>
          <p:cNvPr id="26" name="Group 26"/>
          <p:cNvGrpSpPr/>
          <p:nvPr/>
        </p:nvGrpSpPr>
        <p:grpSpPr>
          <a:xfrm>
            <a:off x="6210300" y="3524250"/>
            <a:ext cx="5600700" cy="1809750"/>
            <a:chOff x="6210300" y="3524250"/>
            <a:chExt cx="5600700" cy="1809750"/>
          </a:xfrm>
        </p:grpSpPr>
        <p:sp>
          <p:nvSpPr>
            <p:cNvPr id="22" name="Rectangle 22"/>
            <p:cNvSpPr/>
            <p:nvPr/>
          </p:nvSpPr>
          <p:spPr>
            <a:xfrm>
              <a:off x="6210300" y="3524250"/>
              <a:ext cx="5600700" cy="1809750"/>
            </a:xfrm>
            <a:prstGeom prst="roundRect">
              <a:avLst>
                <a:gd name="adj" fmla="val 8421"/>
              </a:avLst>
            </a:prstGeom>
            <a:solidFill>
              <a:schemeClr val="accent5"/>
            </a:solidFill>
            <a:ln w="9525">
              <a:solidFill>
                <a:srgbClr val="E2E8F0"/>
              </a:solidFill>
            </a:ln>
          </p:spPr>
        </p:sp>
        <p:sp>
          <p:nvSpPr>
            <p:cNvPr id="23" name="Freeform 23"/>
            <p:cNvSpPr/>
            <p:nvPr/>
          </p:nvSpPr>
          <p:spPr>
            <a:xfrm>
              <a:off x="6538912" y="3814762"/>
              <a:ext cx="238176" cy="239257"/>
            </a:xfrm>
            <a:custGeom>
              <a:avLst/>
              <a:gdLst/>
              <a:ahLst/>
              <a:cxnLst/>
              <a:rect l="l" t="t" r="r" b="b"/>
              <a:pathLst>
                <a:path w="238176" h="239257">
                  <a:moveTo>
                    <a:pt x="119062" y="0"/>
                  </a:moveTo>
                  <a:cubicBezTo>
                    <a:pt x="184821" y="0"/>
                    <a:pt x="238125" y="53304"/>
                    <a:pt x="238125" y="119062"/>
                  </a:cubicBezTo>
                  <a:cubicBezTo>
                    <a:pt x="238176" y="184103"/>
                    <a:pt x="186024" y="237150"/>
                    <a:pt x="120992" y="238204"/>
                  </a:cubicBezTo>
                  <a:cubicBezTo>
                    <a:pt x="55959" y="239257"/>
                    <a:pt x="2115" y="187929"/>
                    <a:pt x="60" y="122920"/>
                  </a:cubicBezTo>
                  <a:lnTo>
                    <a:pt x="0" y="119062"/>
                  </a:lnTo>
                  <a:lnTo>
                    <a:pt x="48" y="115729"/>
                  </a:lnTo>
                  <a:cubicBezTo>
                    <a:pt x="1810" y="51518"/>
                    <a:pt x="54412" y="0"/>
                    <a:pt x="119062" y="0"/>
                  </a:cubicBezTo>
                  <a:close/>
                  <a:moveTo>
                    <a:pt x="119062" y="154781"/>
                  </a:moveTo>
                  <a:cubicBezTo>
                    <a:pt x="113026" y="154782"/>
                    <a:pt x="107946" y="159300"/>
                    <a:pt x="107240" y="165294"/>
                  </a:cubicBezTo>
                  <a:lnTo>
                    <a:pt x="107156" y="166688"/>
                  </a:lnTo>
                  <a:lnTo>
                    <a:pt x="107240" y="168200"/>
                  </a:lnTo>
                  <a:cubicBezTo>
                    <a:pt x="107952" y="174189"/>
                    <a:pt x="113031" y="178700"/>
                    <a:pt x="119062" y="178700"/>
                  </a:cubicBezTo>
                  <a:cubicBezTo>
                    <a:pt x="125094" y="178700"/>
                    <a:pt x="130173" y="174189"/>
                    <a:pt x="130885" y="168200"/>
                  </a:cubicBezTo>
                  <a:lnTo>
                    <a:pt x="130969" y="166807"/>
                  </a:lnTo>
                  <a:lnTo>
                    <a:pt x="130885" y="165294"/>
                  </a:lnTo>
                  <a:cubicBezTo>
                    <a:pt x="130179" y="159300"/>
                    <a:pt x="125099" y="154782"/>
                    <a:pt x="119062" y="154781"/>
                  </a:cubicBezTo>
                  <a:close/>
                  <a:moveTo>
                    <a:pt x="135350" y="75331"/>
                  </a:moveTo>
                  <a:cubicBezTo>
                    <a:pt x="120676" y="67829"/>
                    <a:pt x="102767" y="71419"/>
                    <a:pt x="92119" y="83999"/>
                  </a:cubicBezTo>
                  <a:cubicBezTo>
                    <a:pt x="88025" y="88794"/>
                    <a:pt x="88379" y="95949"/>
                    <a:pt x="92927" y="100316"/>
                  </a:cubicBezTo>
                  <a:cubicBezTo>
                    <a:pt x="97474" y="104684"/>
                    <a:pt x="104638" y="104749"/>
                    <a:pt x="109264" y="100465"/>
                  </a:cubicBezTo>
                  <a:lnTo>
                    <a:pt x="111300" y="98322"/>
                  </a:lnTo>
                  <a:cubicBezTo>
                    <a:pt x="114897" y="95020"/>
                    <a:pt x="120171" y="94307"/>
                    <a:pt x="124516" y="96536"/>
                  </a:cubicBezTo>
                  <a:cubicBezTo>
                    <a:pt x="129212" y="98913"/>
                    <a:pt x="131790" y="104091"/>
                    <a:pt x="130857" y="109271"/>
                  </a:cubicBezTo>
                  <a:cubicBezTo>
                    <a:pt x="129923" y="114452"/>
                    <a:pt x="125698" y="118404"/>
                    <a:pt x="120467" y="118991"/>
                  </a:cubicBezTo>
                  <a:lnTo>
                    <a:pt x="117705" y="119134"/>
                  </a:lnTo>
                  <a:cubicBezTo>
                    <a:pt x="111417" y="119826"/>
                    <a:pt x="106768" y="125314"/>
                    <a:pt x="107120" y="131631"/>
                  </a:cubicBezTo>
                  <a:cubicBezTo>
                    <a:pt x="107471" y="137947"/>
                    <a:pt x="112701" y="142885"/>
                    <a:pt x="119027" y="142875"/>
                  </a:cubicBezTo>
                  <a:cubicBezTo>
                    <a:pt x="135562" y="142925"/>
                    <a:pt x="149969" y="131619"/>
                    <a:pt x="153853" y="115547"/>
                  </a:cubicBezTo>
                  <a:cubicBezTo>
                    <a:pt x="157738" y="99475"/>
                    <a:pt x="150083" y="82838"/>
                    <a:pt x="135350" y="75331"/>
                  </a:cubicBezTo>
                  <a:close/>
                </a:path>
              </a:pathLst>
            </a:custGeom>
            <a:solidFill>
              <a:schemeClr val="accent1"/>
            </a:solidFill>
            <a:ln>
              <a:noFill/>
            </a:ln>
          </p:spPr>
        </p:sp>
        <p:sp>
          <p:nvSpPr>
            <p:cNvPr id="24" name="TextBox 24"/>
            <p:cNvSpPr txBox="1"/>
            <p:nvPr/>
          </p:nvSpPr>
          <p:spPr>
            <a:xfrm>
              <a:off x="6902958" y="3760470"/>
              <a:ext cx="2466929"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迷ったら画面の左下</a:t>
              </a:r>
            </a:p>
          </p:txBody>
        </p:sp>
        <p:sp>
          <p:nvSpPr>
            <p:cNvPr id="25" name="TextBox 25"/>
            <p:cNvSpPr txBox="1"/>
            <p:nvPr/>
          </p:nvSpPr>
          <p:spPr>
            <a:xfrm>
              <a:off x="6505956" y="4358640"/>
              <a:ext cx="218998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次にすることが、そこに一行で出ています。</a:t>
              </a:r>
            </a:p>
          </p:txBody>
        </p:sp>
      </p:grpSp>
      <p:grpSp>
        <p:nvGrpSpPr>
          <p:cNvPr id="29" name="Group 29"/>
          <p:cNvGrpSpPr/>
          <p:nvPr/>
        </p:nvGrpSpPr>
        <p:grpSpPr>
          <a:xfrm>
            <a:off x="381000" y="5600700"/>
            <a:ext cx="11430000" cy="609600"/>
            <a:chOff x="381000" y="5600700"/>
            <a:chExt cx="11430000" cy="609600"/>
          </a:xfrm>
        </p:grpSpPr>
        <p:sp>
          <p:nvSpPr>
            <p:cNvPr id="27" name="Rectangle 27"/>
            <p:cNvSpPr/>
            <p:nvPr/>
          </p:nvSpPr>
          <p:spPr>
            <a:xfrm>
              <a:off x="381000" y="5600700"/>
              <a:ext cx="11430000" cy="609600"/>
            </a:xfrm>
            <a:prstGeom prst="roundRect">
              <a:avLst>
                <a:gd name="adj" fmla="val 25000"/>
              </a:avLst>
            </a:prstGeom>
            <a:solidFill>
              <a:schemeClr val="accent1"/>
            </a:solidFill>
            <a:ln>
              <a:noFill/>
            </a:ln>
          </p:spPr>
        </p:sp>
        <p:sp>
          <p:nvSpPr>
            <p:cNvPr id="28" name="TextBox 28"/>
            <p:cNvSpPr txBox="1"/>
            <p:nvPr/>
          </p:nvSpPr>
          <p:spPr>
            <a:xfrm>
              <a:off x="3269024" y="5796915"/>
              <a:ext cx="5653952"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画面右上の［最初から］で、いつでも最初の画面に戻れます。</a:t>
              </a:r>
            </a:p>
          </p:txBody>
        </p:sp>
      </p:grpSp>
      <p:grpSp>
        <p:nvGrpSpPr>
          <p:cNvPr id="32" name="Group 32"/>
          <p:cNvGrpSpPr/>
          <p:nvPr/>
        </p:nvGrpSpPr>
        <p:grpSpPr>
          <a:xfrm>
            <a:off x="374904" y="6461760"/>
            <a:ext cx="11442192" cy="234696"/>
            <a:chOff x="374904" y="6461760"/>
            <a:chExt cx="11442192" cy="234696"/>
          </a:xfrm>
        </p:grpSpPr>
        <p:sp>
          <p:nvSpPr>
            <p:cNvPr id="30" name="TextBox 30"/>
            <p:cNvSpPr txBox="1"/>
            <p:nvPr/>
          </p:nvSpPr>
          <p:spPr>
            <a:xfrm>
              <a:off x="374904" y="646176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31" name="TextBox 31"/>
            <p:cNvSpPr txBox="1"/>
            <p:nvPr/>
          </p:nvSpPr>
          <p:spPr>
            <a:xfrm>
              <a:off x="11627206" y="646176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13</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manual-macrostudio-beta1">
  <a:themeElements>
    <a:clrScheme name="manual-macrostudio-beta1">
      <a:dk1>
        <a:srgbClr val="1F2933"/>
      </a:dk1>
      <a:lt1>
        <a:srgbClr val="FFFFFF"/>
      </a:lt1>
      <a:dk2>
        <a:srgbClr val="1F2933"/>
      </a:dk2>
      <a:lt2>
        <a:srgbClr val="F1F5F9"/>
      </a:lt2>
      <a:accent1>
        <a:srgbClr val="1F4E79"/>
      </a:accent1>
      <a:accent2>
        <a:srgbClr val="E07B39"/>
      </a:accent2>
      <a:accent3>
        <a:srgbClr val="4A87C4"/>
      </a:accent3>
      <a:accent4>
        <a:srgbClr val="1F4E79"/>
      </a:accent4>
      <a:accent5>
        <a:srgbClr val="F8FAFC"/>
      </a:accent5>
      <a:accent6>
        <a:srgbClr val="F4F6F8"/>
      </a:accent6>
      <a:hlink>
        <a:srgbClr val="E07B39"/>
      </a:hlink>
      <a:folHlink>
        <a:srgbClr val="4A87C4"/>
      </a:folHlink>
    </a:clrScheme>
    <a:fontScheme name="manual-macrostudio-beta1">
      <a:majorFont>
        <a:latin typeface="Segoe UI"/>
        <a:ea typeface="Yu Gothic UI"/>
        <a:cs typeface="Segoe UI"/>
        <a:font script="Jpan" typeface="Yu Gothic UI"/>
        <a:font script="Hang" typeface="Yu Gothic UI"/>
        <a:font script="Hans" typeface="Yu Gothic UI"/>
        <a:font script="Hant" typeface="Yu Gothic U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Yu Gothic UI"/>
        <a:cs typeface="Segoe UI"/>
        <a:font script="Jpan" typeface="Yu Gothic UI"/>
        <a:font script="Hang" typeface="Yu Gothic UI"/>
        <a:font script="Hans" typeface="Yu Gothic UI"/>
        <a:font script="Hant" typeface="Yu Gothic U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nual-macrostudio-beta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manual-macrostudio-beta1">
  <a:themeElements>
    <a:clrScheme name="manual-macrostudio-beta1">
      <a:dk1>
        <a:srgbClr val="1F2933"/>
      </a:dk1>
      <a:lt1>
        <a:srgbClr val="FFFFFF"/>
      </a:lt1>
      <a:dk2>
        <a:srgbClr val="1F2933"/>
      </a:dk2>
      <a:lt2>
        <a:srgbClr val="F1F5F9"/>
      </a:lt2>
      <a:accent1>
        <a:srgbClr val="1F4E79"/>
      </a:accent1>
      <a:accent2>
        <a:srgbClr val="E07B39"/>
      </a:accent2>
      <a:accent3>
        <a:srgbClr val="4A87C4"/>
      </a:accent3>
      <a:accent4>
        <a:srgbClr val="1F4E79"/>
      </a:accent4>
      <a:accent5>
        <a:srgbClr val="F8FAFC"/>
      </a:accent5>
      <a:accent6>
        <a:srgbClr val="F4F6F8"/>
      </a:accent6>
      <a:hlink>
        <a:srgbClr val="E07B39"/>
      </a:hlink>
      <a:folHlink>
        <a:srgbClr val="4A87C4"/>
      </a:folHlink>
    </a:clrScheme>
    <a:fontScheme name="manual-macrostudio-beta1">
      <a:majorFont>
        <a:latin typeface="Segoe UI"/>
        <a:ea typeface="Yu Gothic UI"/>
        <a:cs typeface="Segoe UI"/>
        <a:font script="Jpan" typeface="Yu Gothic UI"/>
        <a:font script="Hang" typeface="Yu Gothic UI"/>
        <a:font script="Hans" typeface="Yu Gothic UI"/>
        <a:font script="Hant" typeface="Yu Gothic U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Yu Gothic UI"/>
        <a:cs typeface="Segoe UI"/>
        <a:font script="Jpan" typeface="Yu Gothic UI"/>
        <a:font script="Hang" typeface="Yu Gothic UI"/>
        <a:font script="Hans" typeface="Yu Gothic UI"/>
        <a:font script="Hant" typeface="Yu Gothic U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nual-macrostudio-beta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13</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2026-07-30T05:30:11Z</dcterms:created>
  <dcterms:modified xsi:type="dcterms:W3CDTF">2026-07-30T05:30:11Z</dcterms:modified>
  <cp:category/>
  <cp:contentStatus/>
</cp:coreProperties>
</file>