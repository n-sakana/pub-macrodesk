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  <Relationship Id="rId2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これから、Macro Studio 仮称の使い方をひととおりご案内します。この道具の約束はひとつだけで、VBE を一度も開かずに、Excel マクロの改修を終わらせることです。画面に写っているのは実際のアプリの最初の画面で、ここにブックを落とすところから始まります。なお、いま画面に出ている名前は開発中のため MacroDesk のままです。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始める前に、二つだけお伝えします。ひとつめは、この資料が初回の試作だということです。製品名は仮称で、画面写真もアプリに入っているデモ用のデータを表示したものですから、ブック名や行数や日時は実在の業務データではありません。ふたつめは、この資料はアプリを起動して、手元の画面と見比べながら読むように作ってあるということです。一ページが一画面に対応していま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この道具でいちばん大事な考え方が、この一枚です。どこをどう直すかを決めるのは、あなたでも、この道具でもなく、チャット AI です。Macro Studio 仮称は判断をせず、マクロのコードを取り出して渡せる形にし、あなたが採用すると決めた変更だけを新しいブックへ書き戻します。ですから、途中で何が起きても、元のブックが変わることはありません。</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作業は四つの手順に分かれていて、その中がさらに小さな画面に分かれ、全部で十二画面あります。ブックを読み込む、AI へ依頼する、返答を取り込む、ブックを作る、という順です。迷いにくくするために、一画面で決めることはひとつだけにしてあります。右下の次へは、その画面ですべきことが終わるまで押せませんので、押せるようになったこと自体が、次に進んでよいという合図になり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手元に用意していただくのは二つだけです。改修したい Excel ブックと、ファイルを添付できるチャット AI が使えるブラウザです。ブックの形式は、拡張子ではなくファイルの中身で判定しますので、拡張子が違っていても中にマクロがあれば読み込めます。インストールは要りません。フォルダをコピーして、launch.vbs をダブルクリックすれば起動します。黒い画面は出ませんので、驚かないでください。</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は、実際に始めましょう。最初の画面には点線の枠が出ていますので、そこへ改修したいブックをドラッグアンドドロップします。枠をクリックして、いつものファイル選択の画面から選んでもかまいません。読み込めると枠がファイル名の表示に変わって、右下の次へが押せるようになります。画面にも書いてあるとおり、この時点で読み取っているのはマクロのコードだけで、元のブックには何も書き込んでいません。</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次の画面では、いま読み込んだものが意図したとおりか確認します。見るところは四つで、ファイル名とパス、モジュールの数、合計の行数、そして読み取り警告です。読み取り警告があると出ていても、読める範囲で処理は続きますので、そのまま進んでかまいません。なお、画面に出ている受注管理という名前や行数は、説明用のデモの値です。もし違うブックだったら、別のブックを選ぶでやり直せます。</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ここからが、AI への依頼づくりです。作り方は二つあって、用意された改修依頼から選ぶか、内容を自分で書くかを決めます。迷ったら、ひとつめを選んでください。ひな形を選ぶと、返答のしかたを AI に伝える文まで自動で付きますし、文章は次の画面で自由に書き換えられます。自分で書くほうを選んだ場合は、ひな形を選ぶ画面を飛ばして、そのまま依頼文の画面へ進みます。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ひな形の一覧から、目的に近いものをひとつ選びます。それぞれに、ひな形の名前と、改修指示の一行目が要約として出ていますので、それを見比べて選んでください。選ぶと右端にチェックが付いて、次へが押せるようになります。もし出てくるはずのひな形が見当たらないときは、画面の下に読み込めないひな形として、ファイル名と理由が出ていますので、そこを直せばそのまま使えるようになり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選んだひな形の改修指示が、そのまま入力欄に入った状態で出てきます。ここに書かれている文章が、そのまま AI へ渡ります。ですから、そのまま使っていただいても、自分の言葉を足していただいても、要らないところを消していただいてもかまいません。入力欄の下にある出力指示は、返答のしかたを AI に伝えるための文で、クリックすると中身が読めます。この文は依頼文の末尾に自動で付いて送られます。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ここで、AI に渡すものが二つできます。依頼文はボタンひとつでクリップボードに入り、マクロのコード全文は source-code.md というファイルになります。この二つを分けているのには理由があって、添付ファイルの中で指示の文章とコードが混ざっていると、チャット AI がコードを全文取得できないと誤って判断することが実際にありました。ですから、依頼文はチャットの本文に貼り、コードはファイルとして添付してください。両方が緑のチェックになれば、次へ進めます。</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ここから先は、ブラウザのチャット AI での作業になります。この道具の管轄の外なので、画面写真は載せていません。やることは三つで、依頼文を貼り付け、source-code.md を添付し、送信して待つ、それだけです。返ってくる形は決まっていて、まず改修サマリーという見出しで、どのモジュールをどう変えたかが箇条書きで書かれ、そのあとにモジュールごとの改修後コードが続きます。この改修サマリーが、このあとの取り込み作業の指示書になりますので、まずここを読んでくださ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返答が返ってきたら、モジュールをひとつずつ取り込んでいきます。改修サマリーで変更されたモジュール名を確認したら、左の一覧からそのモジュールを選びます。モジュールを選ぶ場所は、この左の一覧だけです。あとは返答のコードブロックを先頭から末尾まで全文コピーして、クリップボードから取り込むを押すだけです。Ctrl プラス V でも貼れます。コードフェンスや、先頭の Attribute で始まる行は自動で取り除かれますので、多少余計なものが混ざっていても心配は要りません。</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貼り付けた瞬間に、元のコードとの違いが色分けで表示されます。赤い行が消える行、緑の行が増える行です。左側にある番号は二列あって、左が元のコード、右が新しいコードの行番号です。変更が多いときは、前の変更と次の変更のボタンで順に送っていくと追いやすくなります。行数の多いモジュールでは、変更箇所のみを使うと、変わっていない行を隠して見比べられま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がこの手順でいちばん大事なところです。コードを貼っただけでは、まだ何も書き戻されません。内容を確認して、この変更を採用するを押して初めて、ビルドの対象になります。採用すると、左の一覧のそのモジュールが緑の採用済みに変わりますので、そこで確認できます。もし内容がおかしければ、この変更を使わないを押して取り消し、AI に依頼し直すこともできます。</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みの途中で困りやすい二つの場面に、それぞれ逃げ道が用意されています。ひとつは、コピーのときに余計な行が混ざったり、行が欠けたりした場合です。これは手動修正を押せば、その場で直して差分を見直せますので、AI に戻る必要はありません。もうひとつは、AI が新しいモジュールを作ってきた場合で、左の一覧の下にあるボタンから、名前を入力して取り込めます。ただし追加できるのは標準モジュールだけで、モジュールの削除や名前の変更はできません。</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対象をひととおり取り込み終えたら、この画面で全体を見渡します。書き戻しの件数が、これから新しいブックに書き込まれるモジュールの数です。未処理が残っていれば、まだ決めていないものがあるということですので、別のモジュールを取り込むで戻れます。画面に出ている数字は説明用のデモの値ですが、実際の作業でもこの四つを見れば、書き戻す対象が意図どおりかを確認できます。</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いよいよ最後の手順です。まず出力するファイル名を確認します。既定では、元のブック名のうしろにアンダースコアと macrodesk が付いた名前になります。変えていただいてもかまいませんが、拡張子は元のままにしてください。次へを押すとビルドが始まり、たいてい一秒から二秒で終わります。書き戻したあと、ツールが自動でブックを読み直して、意図どおりに書き込まれたかを検証しま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できあがると、この改修専用のフォルダに四つのファイルがまとまります。AI へ渡した依頼文、添付したコード全文、改修済みのブック、そして変更内容の確認レポートです。最後のレポートはそのままブラウザで開けますので、あとから見返したり、ほかの方に共有したりするのに使えます。最後に、できたブックを Excel で開いて、マクロが思ったとおりに動くか確認してください。もしビルドに失敗しても、出力ファイルは残らず、元のブックも無傷ですので、何度でもやり直せます。</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つまずきやすいところを、症状ごとにまとめました。起動しない、白い画面のままというときは、WebView2 ランタイムが入っていない可能性が高いので、起動時の案内に従ってください。ひな形のボタンが出ないときは、ひな形を選ぶ画面に理由が出ています。AI の返答が思っていたものと違うときは、依頼文の画面まで戻って言い直せますし、貼ったコードに余計な行が混ざったときは手動修正で直せます。どの段階でも元のブックは無傷ですので、安心してやり直してください。</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最後に、この試作で確定していないところを六つ、正直にお伝えします。製品名は仮称のままで、アプリの画面やログの保存先は今も MacroDesk です。画面写真はデモ用のデータを表示した現行の画面ですし、チャット AI 側の画面と、手動修正や新規モジュールの一時的な画面は、正確な素材を用意できていないため模式図で代替しています。出力ファイル名は実装のほうを正としましたが、仕様書には古い案が残っていて食い違っています。ひな形も今は一件だけです。ここが確定すれば、この試作をそのまま配布用のマニュアルの下敷きとして使えます。</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nual-prototype-macro-studi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nual-prototype-macro-studi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48cbf42c8389e8.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48cbf42c8389e8.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2ba6b30334a655c.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025f2957b1f9b53.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fd7ed194393b4e2.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a6b73a4ff6f18e1.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9eebb946e7ebdf3.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ec3f2084a1b165d.jpg"/>
  <Relationship Id="rId3" Type="http://schemas.openxmlformats.org/officeDocument/2006/relationships/image" Target="../media/image_53239bb9b5ee2bc7.jpg"/>
  <Relationship Id="rId4"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edf538ab1fb2d07.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9c7ecb270158fcf.jp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fd095fee89436b9.jp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f6047aad106be40.jpg"/>
  <Relationship Id="rId3" Type="http://schemas.openxmlformats.org/officeDocument/2006/relationships/image" Target="../media/image_687a090c2ceedb68.jpg"/>
  <Relationship Id="rId4"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2f9c300bd2ae97f.jp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781800" y="1809750"/>
            <a:ext cx="8343900" cy="8343900"/>
            <a:chOff x="6781800" y="1809750"/>
            <a:chExt cx="8343900" cy="8343900"/>
          </a:xfrm>
        </p:grpSpPr>
        <p:sp>
          <p:nvSpPr>
            <p:cNvPr id="2" name="Ellipse 2"/>
            <p:cNvSpPr/>
            <p:nvPr/>
          </p:nvSpPr>
          <p:spPr>
            <a:xfrm>
              <a:off x="6781800" y="1809750"/>
              <a:ext cx="8343900" cy="8343900"/>
            </a:xfrm>
            <a:prstGeom prst="ellipse">
              <a:avLst/>
            </a:prstGeom>
            <a:solidFill>
              <a:schemeClr val="lt2"/>
            </a:solidFill>
            <a:ln>
              <a:noFill/>
            </a:ln>
          </p:spPr>
        </p:sp>
      </p:grpSp>
      <p:grpSp>
        <p:nvGrpSpPr>
          <p:cNvPr id="7" name="Group 7"/>
          <p:cNvGrpSpPr/>
          <p:nvPr/>
        </p:nvGrpSpPr>
        <p:grpSpPr>
          <a:xfrm>
            <a:off x="666750" y="1028700"/>
            <a:ext cx="4250626" cy="2484120"/>
            <a:chOff x="666750" y="1028700"/>
            <a:chExt cx="4250626" cy="2484120"/>
          </a:xfrm>
        </p:grpSpPr>
        <p:sp>
          <p:nvSpPr>
            <p:cNvPr id="4" name="Rectangle 4"/>
            <p:cNvSpPr/>
            <p:nvPr/>
          </p:nvSpPr>
          <p:spPr>
            <a:xfrm>
              <a:off x="685800" y="1028700"/>
              <a:ext cx="1790700" cy="361950"/>
            </a:xfrm>
            <a:prstGeom prst="roundRect">
              <a:avLst>
                <a:gd name="adj" fmla="val 50000"/>
              </a:avLst>
            </a:prstGeom>
            <a:solidFill>
              <a:srgbClr val="A2701C"/>
            </a:solidFill>
            <a:ln>
              <a:noFill/>
            </a:ln>
          </p:spPr>
        </p:sp>
        <p:sp>
          <p:nvSpPr>
            <p:cNvPr id="5" name="TextBox 5"/>
            <p:cNvSpPr txBox="1"/>
            <p:nvPr/>
          </p:nvSpPr>
          <p:spPr>
            <a:xfrm>
              <a:off x="702263" y="1130618"/>
              <a:ext cx="175777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試作版 PROTOTYPE</a:t>
              </a:r>
            </a:p>
          </p:txBody>
        </p:sp>
        <p:sp>
          <p:nvSpPr>
            <p:cNvPr id="6" name="TextBox 6"/>
            <p:cNvSpPr txBox="1"/>
            <p:nvPr/>
          </p:nvSpPr>
          <p:spPr>
            <a:xfrm>
              <a:off x="666750" y="1626870"/>
              <a:ext cx="4250626" cy="1885950"/>
            </a:xfrm>
            <a:prstGeom prst="rect">
              <a:avLst/>
            </a:prstGeom>
            <a:noFill/>
            <a:ln>
              <a:noFill/>
            </a:ln>
          </p:spPr>
          <p:txBody>
            <a:bodyPr wrap="square" lIns="0" tIns="0" rIns="0" bIns="0" anchor="t" anchorCtr="0"/>
            <a:lstStyle/>
            <a:p>
              <a:pPr algn="l">
                <a:lnSpc>
                  <a:spcPts val="6600"/>
                </a:lnSpc>
              </a:pPr>
              <a:r>
                <a:rPr lang="zh-CN" sz="5400" b="1" dirty="0">
                  <a:solidFill>
                    <a:schemeClr val="dk1"/>
                  </a:solidFill>
                  <a:latin typeface="+mj-lt"/>
                  <a:ea typeface="+mj-ea"/>
                  <a:cs typeface="+mj-cs"/>
                </a:rPr>
                <a:t>VBEを開かずに、マクロを直す。</a:t>
              </a:r>
            </a:p>
          </p:txBody>
        </p:sp>
      </p:grpSp>
      <p:grpSp>
        <p:nvGrpSpPr>
          <p:cNvPr id="11" name="Group 11"/>
          <p:cNvGrpSpPr/>
          <p:nvPr/>
        </p:nvGrpSpPr>
        <p:grpSpPr>
          <a:xfrm>
            <a:off x="674370" y="3390900"/>
            <a:ext cx="5429415" cy="1968817"/>
            <a:chOff x="674370" y="3390900"/>
            <a:chExt cx="5429415" cy="1968817"/>
          </a:xfrm>
        </p:grpSpPr>
        <p:sp>
          <p:nvSpPr>
            <p:cNvPr id="8" name="Rectangle 8"/>
            <p:cNvSpPr/>
            <p:nvPr/>
          </p:nvSpPr>
          <p:spPr>
            <a:xfrm>
              <a:off x="685800" y="3390900"/>
              <a:ext cx="66675" cy="400050"/>
            </a:xfrm>
            <a:prstGeom prst="roundRect">
              <a:avLst>
                <a:gd name="adj" fmla="val 50000"/>
              </a:avLst>
            </a:prstGeom>
            <a:solidFill>
              <a:schemeClr val="accent1"/>
            </a:solidFill>
            <a:ln>
              <a:noFill/>
            </a:ln>
          </p:spPr>
        </p:sp>
        <p:sp>
          <p:nvSpPr>
            <p:cNvPr id="9" name="TextBox 9"/>
            <p:cNvSpPr txBox="1"/>
            <p:nvPr/>
          </p:nvSpPr>
          <p:spPr>
            <a:xfrm>
              <a:off x="921258" y="3436620"/>
              <a:ext cx="518252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Macro Studio（仮称）操作マニュアル</a:t>
              </a:r>
            </a:p>
          </p:txBody>
        </p:sp>
        <p:sp>
          <p:nvSpPr>
            <p:cNvPr id="10" name="TextBox 10"/>
            <p:cNvSpPr txBox="1"/>
            <p:nvPr/>
          </p:nvSpPr>
          <p:spPr>
            <a:xfrm>
              <a:off x="674370" y="4043362"/>
              <a:ext cx="4123372" cy="1316355"/>
            </a:xfrm>
            <a:prstGeom prst="rect">
              <a:avLst/>
            </a:prstGeom>
            <a:noFill/>
            <a:ln>
              <a:noFill/>
            </a:ln>
          </p:spPr>
          <p:txBody>
            <a:bodyPr wrap="square" lIns="0" tIns="0" rIns="0" bIns="0" anchor="t" anchorCtr="0"/>
            <a:lstStyle/>
            <a:p>
              <a:pPr algn="l">
                <a:lnSpc>
                  <a:spcPts val="3450"/>
                </a:lnSpc>
              </a:pPr>
              <a:r>
                <a:rPr lang="zh-CN" sz="2250" dirty="0">
                  <a:solidFill>
                    <a:schemeClr val="dk1"/>
                  </a:solidFill>
                  <a:latin typeface="+mn-lt"/>
                  <a:ea typeface="+mn-ea"/>
                  <a:cs typeface="+mn-cs"/>
                </a:rPr>
                <a:t>ブックの取り込みから、AIへの改修依頼、返答の取り込みと差分確認、改修済みブックの出力まで。</a:t>
              </a:r>
            </a:p>
          </p:txBody>
        </p:sp>
      </p:grpSp>
      <p:grpSp>
        <p:nvGrpSpPr>
          <p:cNvPr id="16" name="Group 16"/>
          <p:cNvGrpSpPr/>
          <p:nvPr/>
        </p:nvGrpSpPr>
        <p:grpSpPr>
          <a:xfrm>
            <a:off x="6286500" y="2362200"/>
            <a:ext cx="6400800" cy="4019550"/>
            <a:chOff x="6286500" y="2362200"/>
            <a:chExt cx="6400800" cy="4019550"/>
          </a:xfrm>
        </p:grpSpPr>
        <p:pic>
          <p:nvPicPr>
            <p:cNvPr id="12" name="Image 12"/>
            <p:cNvPicPr>
              <a:picLocks noChangeAspect="1"/>
            </p:cNvPicPr>
            <p:nvPr/>
          </p:nvPicPr>
          <p:blipFill>
            <a:blip r:embed="rId2"/>
            <a:stretch>
              <a:fillRect/>
            </a:stretch>
          </p:blipFill>
          <p:spPr>
            <a:xfrm>
              <a:off x="6286500" y="2781300"/>
              <a:ext cx="6400800" cy="3600450"/>
            </a:xfrm>
            <a:prstGeom prst="roundRect">
              <a:avLst>
                <a:gd name="adj" fmla="val 3703"/>
              </a:avLst>
            </a:prstGeom>
          </p:spPr>
        </p:pic>
        <p:sp>
          <p:nvSpPr>
            <p:cNvPr id="13" name="Rectangle 13"/>
            <p:cNvSpPr/>
            <p:nvPr/>
          </p:nvSpPr>
          <p:spPr>
            <a:xfrm>
              <a:off x="6286500" y="2781300"/>
              <a:ext cx="6400800" cy="3600450"/>
            </a:xfrm>
            <a:prstGeom prst="roundRect">
              <a:avLst>
                <a:gd name="adj" fmla="val 3704"/>
              </a:avLst>
            </a:prstGeom>
            <a:noFill/>
            <a:ln w="19050">
              <a:solidFill>
                <a:schemeClr val="accent1"/>
              </a:solidFill>
            </a:ln>
          </p:spPr>
        </p:sp>
        <p:sp>
          <p:nvSpPr>
            <p:cNvPr id="14" name="Rectangle 14"/>
            <p:cNvSpPr/>
            <p:nvPr/>
          </p:nvSpPr>
          <p:spPr>
            <a:xfrm>
              <a:off x="6515100" y="2362200"/>
              <a:ext cx="2114550" cy="323850"/>
            </a:xfrm>
            <a:prstGeom prst="roundRect">
              <a:avLst>
                <a:gd name="adj" fmla="val 50000"/>
              </a:avLst>
            </a:prstGeom>
            <a:solidFill>
              <a:schemeClr val="lt1"/>
            </a:solidFill>
            <a:ln w="9525">
              <a:solidFill>
                <a:schemeClr val="accent6"/>
              </a:solidFill>
            </a:ln>
          </p:spPr>
        </p:sp>
        <p:sp>
          <p:nvSpPr>
            <p:cNvPr id="15" name="TextBox 15"/>
            <p:cNvSpPr txBox="1"/>
            <p:nvPr/>
          </p:nvSpPr>
          <p:spPr>
            <a:xfrm>
              <a:off x="6893090" y="2435542"/>
              <a:ext cx="1358570" cy="264033"/>
            </a:xfrm>
            <a:prstGeom prst="rect">
              <a:avLst/>
            </a:prstGeom>
            <a:noFill/>
            <a:ln>
              <a:noFill/>
            </a:ln>
          </p:spPr>
          <p:txBody>
            <a:bodyPr wrap="none" lIns="0" tIns="0" rIns="0" bIns="0" anchor="t" anchorCtr="0">
              <a:spAutoFit/>
            </a:bodyPr>
            <a:lstStyle/>
            <a:p>
              <a:pPr algn="ctr"/>
              <a:r>
                <a:rPr lang="zh-CN" sz="1350" dirty="0">
                  <a:solidFill>
                    <a:srgbClr val="5D6B7A"/>
                  </a:solidFill>
                  <a:latin typeface="+mn-lt"/>
                  <a:ea typeface="+mn-ea"/>
                  <a:cs typeface="+mn-cs"/>
                </a:rPr>
                <a:t>画面はデモ用データです</a:t>
              </a:r>
            </a:p>
          </p:txBody>
        </p:sp>
      </p:grpSp>
      <p:grpSp>
        <p:nvGrpSpPr>
          <p:cNvPr id="18" name="Group 18"/>
          <p:cNvGrpSpPr/>
          <p:nvPr/>
        </p:nvGrpSpPr>
        <p:grpSpPr>
          <a:xfrm>
            <a:off x="679704" y="6042660"/>
            <a:ext cx="2945892" cy="482346"/>
            <a:chOff x="679704" y="6042660"/>
            <a:chExt cx="2945892" cy="482346"/>
          </a:xfrm>
        </p:grpSpPr>
        <p:sp>
          <p:nvSpPr>
            <p:cNvPr id="17" name="TextBox 17"/>
            <p:cNvSpPr txBox="1"/>
            <p:nvPr/>
          </p:nvSpPr>
          <p:spPr>
            <a:xfrm>
              <a:off x="679704" y="6042660"/>
              <a:ext cx="2945892" cy="482346"/>
            </a:xfrm>
            <a:prstGeom prst="rect">
              <a:avLst/>
            </a:prstGeom>
            <a:noFill/>
            <a:ln>
              <a:noFill/>
            </a:ln>
          </p:spPr>
          <p:txBody>
            <a:bodyPr wrap="square" lIns="0" tIns="0" rIns="0" bIns="0" anchor="t" anchorCtr="0"/>
            <a:lstStyle/>
            <a:p>
              <a:pPr algn="l">
                <a:lnSpc>
                  <a:spcPts val="1950"/>
                </a:lnSpc>
              </a:pPr>
              <a:r>
                <a:rPr lang="zh-CN" sz="1200" dirty="0">
                  <a:solidFill>
                    <a:srgbClr val="5D6B7A"/>
                  </a:solidFill>
                  <a:latin typeface="+mn-lt"/>
                  <a:ea typeface="+mn-ea"/>
                  <a:cs typeface="+mn-cs"/>
                </a:rPr>
                <a:t>2026-07-29　初回試作画面上の表示は開発中のため MacroDesk のままです</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869086" y="568642"/>
              <a:ext cx="4335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はじめに</a:t>
              </a:r>
            </a:p>
          </p:txBody>
        </p:sp>
        <p:sp>
          <p:nvSpPr>
            <p:cNvPr id="4" name="TextBox 4"/>
            <p:cNvSpPr txBox="1"/>
            <p:nvPr/>
          </p:nvSpPr>
          <p:spPr>
            <a:xfrm>
              <a:off x="1946148" y="479108"/>
              <a:ext cx="2725801"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j-lt"/>
                  <a:ea typeface="+mj-ea"/>
                  <a:cs typeface="+mj-cs"/>
                </a:rPr>
                <a:t>このマニュアルについて</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1" name="Group 11"/>
          <p:cNvGrpSpPr/>
          <p:nvPr/>
        </p:nvGrpSpPr>
        <p:grpSpPr>
          <a:xfrm>
            <a:off x="381000" y="1447800"/>
            <a:ext cx="5600700" cy="2095500"/>
            <a:chOff x="381000" y="1447800"/>
            <a:chExt cx="5600700" cy="2095500"/>
          </a:xfrm>
        </p:grpSpPr>
        <p:sp>
          <p:nvSpPr>
            <p:cNvPr id="7" name="Rectangle 7"/>
            <p:cNvSpPr/>
            <p:nvPr/>
          </p:nvSpPr>
          <p:spPr>
            <a:xfrm>
              <a:off x="381000" y="1447800"/>
              <a:ext cx="5600700" cy="2095500"/>
            </a:xfrm>
            <a:prstGeom prst="roundRect">
              <a:avLst>
                <a:gd name="adj" fmla="val 7273"/>
              </a:avLst>
            </a:prstGeom>
            <a:solidFill>
              <a:schemeClr val="lt1"/>
            </a:solidFill>
            <a:ln w="9525">
              <a:solidFill>
                <a:schemeClr val="accent6"/>
              </a:solidFill>
            </a:ln>
          </p:spPr>
        </p:sp>
        <p:sp>
          <p:nvSpPr>
            <p:cNvPr id="8" name="Freeform 8"/>
            <p:cNvSpPr/>
            <p:nvPr/>
          </p:nvSpPr>
          <p:spPr>
            <a:xfrm>
              <a:off x="674688" y="1741488"/>
              <a:ext cx="269934" cy="271159"/>
            </a:xfrm>
            <a:custGeom>
              <a:avLst/>
              <a:gdLst/>
              <a:ahLst/>
              <a:cxnLst/>
              <a:rect l="l" t="t" r="r" b="b"/>
              <a:pathLst>
                <a:path w="269934" h="271159">
                  <a:moveTo>
                    <a:pt x="134938" y="0"/>
                  </a:moveTo>
                  <a:cubicBezTo>
                    <a:pt x="209464" y="0"/>
                    <a:pt x="269876" y="60412"/>
                    <a:pt x="269876" y="134938"/>
                  </a:cubicBezTo>
                  <a:cubicBezTo>
                    <a:pt x="269934" y="208651"/>
                    <a:pt x="210828" y="268770"/>
                    <a:pt x="137124" y="269965"/>
                  </a:cubicBezTo>
                  <a:cubicBezTo>
                    <a:pt x="63421" y="271159"/>
                    <a:pt x="2397" y="212986"/>
                    <a:pt x="67" y="139310"/>
                  </a:cubicBezTo>
                  <a:lnTo>
                    <a:pt x="0" y="134938"/>
                  </a:lnTo>
                  <a:lnTo>
                    <a:pt x="54" y="131160"/>
                  </a:lnTo>
                  <a:cubicBezTo>
                    <a:pt x="2051" y="58388"/>
                    <a:pt x="61667" y="0"/>
                    <a:pt x="134938" y="0"/>
                  </a:cubicBezTo>
                  <a:close/>
                  <a:moveTo>
                    <a:pt x="134938" y="121444"/>
                  </a:moveTo>
                  <a:lnTo>
                    <a:pt x="121444" y="121444"/>
                  </a:lnTo>
                  <a:lnTo>
                    <a:pt x="119865" y="121538"/>
                  </a:lnTo>
                  <a:cubicBezTo>
                    <a:pt x="113077" y="122346"/>
                    <a:pt x="107965" y="128102"/>
                    <a:pt x="107965" y="134938"/>
                  </a:cubicBezTo>
                  <a:cubicBezTo>
                    <a:pt x="107965" y="141774"/>
                    <a:pt x="113077" y="147530"/>
                    <a:pt x="119865" y="148337"/>
                  </a:cubicBezTo>
                  <a:lnTo>
                    <a:pt x="121444" y="148432"/>
                  </a:lnTo>
                  <a:lnTo>
                    <a:pt x="121444" y="188913"/>
                  </a:lnTo>
                  <a:lnTo>
                    <a:pt x="121538" y="190492"/>
                  </a:lnTo>
                  <a:cubicBezTo>
                    <a:pt x="122270" y="196692"/>
                    <a:pt x="127159" y="201581"/>
                    <a:pt x="133359" y="202312"/>
                  </a:cubicBezTo>
                  <a:lnTo>
                    <a:pt x="134938" y="202407"/>
                  </a:lnTo>
                  <a:lnTo>
                    <a:pt x="148432" y="202407"/>
                  </a:lnTo>
                  <a:lnTo>
                    <a:pt x="150010" y="202312"/>
                  </a:lnTo>
                  <a:cubicBezTo>
                    <a:pt x="156211" y="201581"/>
                    <a:pt x="161100" y="196692"/>
                    <a:pt x="161831" y="190492"/>
                  </a:cubicBezTo>
                  <a:lnTo>
                    <a:pt x="161925" y="188913"/>
                  </a:lnTo>
                  <a:lnTo>
                    <a:pt x="161831" y="187334"/>
                  </a:lnTo>
                  <a:cubicBezTo>
                    <a:pt x="161170" y="181694"/>
                    <a:pt x="157049" y="177072"/>
                    <a:pt x="151522" y="175770"/>
                  </a:cubicBezTo>
                  <a:lnTo>
                    <a:pt x="150010" y="175500"/>
                  </a:lnTo>
                  <a:lnTo>
                    <a:pt x="148432" y="175419"/>
                  </a:lnTo>
                  <a:lnTo>
                    <a:pt x="148432" y="134938"/>
                  </a:lnTo>
                  <a:lnTo>
                    <a:pt x="148337" y="133359"/>
                  </a:lnTo>
                  <a:cubicBezTo>
                    <a:pt x="147606" y="127159"/>
                    <a:pt x="142717" y="122270"/>
                    <a:pt x="136517" y="121538"/>
                  </a:cubicBezTo>
                  <a:lnTo>
                    <a:pt x="134938" y="121444"/>
                  </a:lnTo>
                  <a:close/>
                  <a:moveTo>
                    <a:pt x="135073" y="80963"/>
                  </a:moveTo>
                  <a:lnTo>
                    <a:pt x="133359" y="81057"/>
                  </a:lnTo>
                  <a:cubicBezTo>
                    <a:pt x="126571" y="81865"/>
                    <a:pt x="121459" y="87621"/>
                    <a:pt x="121459" y="94456"/>
                  </a:cubicBezTo>
                  <a:cubicBezTo>
                    <a:pt x="121459" y="101292"/>
                    <a:pt x="126571" y="107048"/>
                    <a:pt x="133359" y="107856"/>
                  </a:cubicBezTo>
                  <a:lnTo>
                    <a:pt x="134938" y="107950"/>
                  </a:lnTo>
                  <a:lnTo>
                    <a:pt x="136652" y="107856"/>
                  </a:lnTo>
                  <a:cubicBezTo>
                    <a:pt x="143440" y="107048"/>
                    <a:pt x="148552" y="101292"/>
                    <a:pt x="148552" y="94456"/>
                  </a:cubicBezTo>
                  <a:cubicBezTo>
                    <a:pt x="148552" y="87621"/>
                    <a:pt x="143440" y="81865"/>
                    <a:pt x="136652" y="81057"/>
                  </a:cubicBezTo>
                  <a:lnTo>
                    <a:pt x="135073" y="80963"/>
                  </a:lnTo>
                  <a:close/>
                </a:path>
              </a:pathLst>
            </a:custGeom>
            <a:solidFill>
              <a:schemeClr val="accent1"/>
            </a:solidFill>
            <a:ln>
              <a:noFill/>
            </a:ln>
          </p:spPr>
        </p:sp>
        <p:sp>
          <p:nvSpPr>
            <p:cNvPr id="9" name="TextBox 9"/>
            <p:cNvSpPr txBox="1"/>
            <p:nvPr/>
          </p:nvSpPr>
          <p:spPr>
            <a:xfrm>
              <a:off x="1073658" y="172212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対象読者</a:t>
              </a:r>
            </a:p>
          </p:txBody>
        </p:sp>
        <p:sp>
          <p:nvSpPr>
            <p:cNvPr id="10" name="TextBox 10"/>
            <p:cNvSpPr txBox="1"/>
            <p:nvPr/>
          </p:nvSpPr>
          <p:spPr>
            <a:xfrm>
              <a:off x="638556" y="2339340"/>
              <a:ext cx="2361438" cy="10378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VBA や開発に詳しくない方。VBE を開いたことがなくて</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かまいません。</a:t>
              </a:r>
            </a:p>
          </p:txBody>
        </p:sp>
      </p:grpSp>
      <p:grpSp>
        <p:nvGrpSpPr>
          <p:cNvPr id="16" name="Group 16"/>
          <p:cNvGrpSpPr/>
          <p:nvPr/>
        </p:nvGrpSpPr>
        <p:grpSpPr>
          <a:xfrm>
            <a:off x="6210300" y="1447800"/>
            <a:ext cx="5600700" cy="2095500"/>
            <a:chOff x="6210300" y="1447800"/>
            <a:chExt cx="5600700" cy="2095500"/>
          </a:xfrm>
        </p:grpSpPr>
        <p:sp>
          <p:nvSpPr>
            <p:cNvPr id="12" name="Rectangle 12"/>
            <p:cNvSpPr/>
            <p:nvPr/>
          </p:nvSpPr>
          <p:spPr>
            <a:xfrm>
              <a:off x="6210300" y="1447800"/>
              <a:ext cx="5600700" cy="2095500"/>
            </a:xfrm>
            <a:prstGeom prst="roundRect">
              <a:avLst>
                <a:gd name="adj" fmla="val 7273"/>
              </a:avLst>
            </a:prstGeom>
            <a:solidFill>
              <a:schemeClr val="lt1"/>
            </a:solidFill>
            <a:ln w="9525">
              <a:solidFill>
                <a:schemeClr val="accent6"/>
              </a:solidFill>
            </a:ln>
          </p:spPr>
        </p:sp>
        <p:sp>
          <p:nvSpPr>
            <p:cNvPr id="13" name="Freeform 13"/>
            <p:cNvSpPr/>
            <p:nvPr/>
          </p:nvSpPr>
          <p:spPr>
            <a:xfrm>
              <a:off x="6489906" y="1768475"/>
              <a:ext cx="297438" cy="215901"/>
            </a:xfrm>
            <a:custGeom>
              <a:avLst/>
              <a:gdLst/>
              <a:ahLst/>
              <a:cxnLst/>
              <a:rect l="l" t="t" r="r" b="b"/>
              <a:pathLst>
                <a:path w="297438" h="215901">
                  <a:moveTo>
                    <a:pt x="149020" y="0"/>
                  </a:moveTo>
                  <a:cubicBezTo>
                    <a:pt x="206908" y="0"/>
                    <a:pt x="255121" y="32776"/>
                    <a:pt x="292931" y="96535"/>
                  </a:cubicBezTo>
                  <a:lnTo>
                    <a:pt x="295899" y="101649"/>
                  </a:lnTo>
                  <a:lnTo>
                    <a:pt x="296507" y="102998"/>
                  </a:lnTo>
                  <a:lnTo>
                    <a:pt x="296911" y="104118"/>
                  </a:lnTo>
                  <a:lnTo>
                    <a:pt x="297100" y="104860"/>
                  </a:lnTo>
                  <a:lnTo>
                    <a:pt x="297289" y="105967"/>
                  </a:lnTo>
                  <a:lnTo>
                    <a:pt x="297438" y="107316"/>
                  </a:lnTo>
                  <a:lnTo>
                    <a:pt x="297438" y="108800"/>
                  </a:lnTo>
                  <a:lnTo>
                    <a:pt x="297249" y="110298"/>
                  </a:lnTo>
                  <a:cubicBezTo>
                    <a:pt x="297160" y="110799"/>
                    <a:pt x="297043" y="111295"/>
                    <a:pt x="296898" y="111782"/>
                  </a:cubicBezTo>
                  <a:lnTo>
                    <a:pt x="296372" y="113240"/>
                  </a:lnTo>
                  <a:lnTo>
                    <a:pt x="295886" y="114252"/>
                  </a:lnTo>
                  <a:lnTo>
                    <a:pt x="295670" y="114657"/>
                  </a:lnTo>
                  <a:cubicBezTo>
                    <a:pt x="258373" y="179913"/>
                    <a:pt x="210659" y="214241"/>
                    <a:pt x="153243" y="215847"/>
                  </a:cubicBezTo>
                  <a:lnTo>
                    <a:pt x="149020" y="215901"/>
                  </a:lnTo>
                  <a:cubicBezTo>
                    <a:pt x="89701" y="215901"/>
                    <a:pt x="40570" y="181505"/>
                    <a:pt x="2369" y="114643"/>
                  </a:cubicBezTo>
                  <a:cubicBezTo>
                    <a:pt x="0" y="110496"/>
                    <a:pt x="0" y="105405"/>
                    <a:pt x="2369" y="101257"/>
                  </a:cubicBezTo>
                  <a:cubicBezTo>
                    <a:pt x="40570" y="34396"/>
                    <a:pt x="89701" y="0"/>
                    <a:pt x="149020" y="0"/>
                  </a:cubicBezTo>
                  <a:close/>
                  <a:moveTo>
                    <a:pt x="149020" y="67469"/>
                  </a:moveTo>
                  <a:cubicBezTo>
                    <a:pt x="126662" y="67469"/>
                    <a:pt x="108538" y="85593"/>
                    <a:pt x="108538" y="107950"/>
                  </a:cubicBezTo>
                  <a:cubicBezTo>
                    <a:pt x="108538" y="130307"/>
                    <a:pt x="126662" y="148432"/>
                    <a:pt x="149020" y="148432"/>
                  </a:cubicBezTo>
                  <a:cubicBezTo>
                    <a:pt x="171377" y="148432"/>
                    <a:pt x="189501" y="130307"/>
                    <a:pt x="189501" y="107950"/>
                  </a:cubicBezTo>
                  <a:cubicBezTo>
                    <a:pt x="189501" y="85593"/>
                    <a:pt x="171377" y="67469"/>
                    <a:pt x="149020" y="67469"/>
                  </a:cubicBezTo>
                </a:path>
              </a:pathLst>
            </a:custGeom>
            <a:solidFill>
              <a:schemeClr val="accent1"/>
            </a:solidFill>
            <a:ln>
              <a:noFill/>
            </a:ln>
          </p:spPr>
        </p:sp>
        <p:sp>
          <p:nvSpPr>
            <p:cNvPr id="14" name="TextBox 14"/>
            <p:cNvSpPr txBox="1"/>
            <p:nvPr/>
          </p:nvSpPr>
          <p:spPr>
            <a:xfrm>
              <a:off x="6902958" y="1722120"/>
              <a:ext cx="88945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読み方</a:t>
              </a:r>
            </a:p>
          </p:txBody>
        </p:sp>
        <p:sp>
          <p:nvSpPr>
            <p:cNvPr id="15" name="TextBox 15"/>
            <p:cNvSpPr txBox="1"/>
            <p:nvPr/>
          </p:nvSpPr>
          <p:spPr>
            <a:xfrm>
              <a:off x="6467856" y="2339340"/>
              <a:ext cx="2647188" cy="10378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アプリを起動し、手元の画面と見比べながら 1 ページずつ進めて</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ください。1 ページが 1 画面です。</a:t>
              </a:r>
            </a:p>
          </p:txBody>
        </p:sp>
      </p:grpSp>
      <p:grpSp>
        <p:nvGrpSpPr>
          <p:cNvPr id="23" name="Group 23"/>
          <p:cNvGrpSpPr/>
          <p:nvPr/>
        </p:nvGrpSpPr>
        <p:grpSpPr>
          <a:xfrm>
            <a:off x="381000" y="3771900"/>
            <a:ext cx="11430000" cy="2438400"/>
            <a:chOff x="381000" y="3771900"/>
            <a:chExt cx="11430000" cy="2438400"/>
          </a:xfrm>
        </p:grpSpPr>
        <p:sp>
          <p:nvSpPr>
            <p:cNvPr id="17" name="Rectangle 17"/>
            <p:cNvSpPr/>
            <p:nvPr/>
          </p:nvSpPr>
          <p:spPr>
            <a:xfrm>
              <a:off x="381000" y="3771900"/>
              <a:ext cx="11430000" cy="2438400"/>
            </a:xfrm>
            <a:prstGeom prst="roundRect">
              <a:avLst>
                <a:gd name="adj" fmla="val 6250"/>
              </a:avLst>
            </a:prstGeom>
            <a:solidFill>
              <a:schemeClr val="lt2"/>
            </a:solidFill>
            <a:ln>
              <a:noFill/>
            </a:ln>
          </p:spPr>
        </p:sp>
        <p:sp>
          <p:nvSpPr>
            <p:cNvPr id="18" name="Rectangle 18"/>
            <p:cNvSpPr/>
            <p:nvPr/>
          </p:nvSpPr>
          <p:spPr>
            <a:xfrm>
              <a:off x="381000" y="3771900"/>
              <a:ext cx="76200" cy="2438400"/>
            </a:xfrm>
            <a:prstGeom prst="roundRect">
              <a:avLst>
                <a:gd name="adj" fmla="val 50000"/>
              </a:avLst>
            </a:prstGeom>
            <a:solidFill>
              <a:srgbClr val="A2701C"/>
            </a:solidFill>
            <a:ln>
              <a:noFill/>
            </a:ln>
          </p:spPr>
        </p:sp>
        <p:sp>
          <p:nvSpPr>
            <p:cNvPr id="19" name="Freeform 19"/>
            <p:cNvSpPr/>
            <p:nvPr/>
          </p:nvSpPr>
          <p:spPr>
            <a:xfrm>
              <a:off x="735482" y="4061135"/>
              <a:ext cx="300530" cy="260781"/>
            </a:xfrm>
            <a:custGeom>
              <a:avLst/>
              <a:gdLst/>
              <a:ahLst/>
              <a:cxnLst/>
              <a:rect l="l" t="t" r="r" b="b"/>
              <a:pathLst>
                <a:path w="300530" h="260781">
                  <a:moveTo>
                    <a:pt x="150344" y="0"/>
                  </a:moveTo>
                  <a:cubicBezTo>
                    <a:pt x="163230" y="0"/>
                    <a:pt x="175240" y="6302"/>
                    <a:pt x="182594" y="16827"/>
                  </a:cubicBezTo>
                  <a:lnTo>
                    <a:pt x="184011" y="18986"/>
                  </a:lnTo>
                  <a:lnTo>
                    <a:pt x="293499" y="201800"/>
                  </a:lnTo>
                  <a:cubicBezTo>
                    <a:pt x="300263" y="213514"/>
                    <a:pt x="300530" y="227883"/>
                    <a:pt x="294207" y="239841"/>
                  </a:cubicBezTo>
                  <a:cubicBezTo>
                    <a:pt x="287884" y="251799"/>
                    <a:pt x="275859" y="259668"/>
                    <a:pt x="262369" y="260673"/>
                  </a:cubicBezTo>
                  <a:lnTo>
                    <a:pt x="259738" y="260781"/>
                  </a:lnTo>
                  <a:lnTo>
                    <a:pt x="40801" y="260781"/>
                  </a:lnTo>
                  <a:cubicBezTo>
                    <a:pt x="27298" y="260629"/>
                    <a:pt x="14818" y="253559"/>
                    <a:pt x="7746" y="242055"/>
                  </a:cubicBezTo>
                  <a:cubicBezTo>
                    <a:pt x="674" y="230552"/>
                    <a:pt x="0" y="216224"/>
                    <a:pt x="5960" y="204107"/>
                  </a:cubicBezTo>
                  <a:lnTo>
                    <a:pt x="7296" y="201611"/>
                  </a:lnTo>
                  <a:lnTo>
                    <a:pt x="116731" y="18932"/>
                  </a:lnTo>
                  <a:cubicBezTo>
                    <a:pt x="123857" y="7181"/>
                    <a:pt x="136601" y="3"/>
                    <a:pt x="150344" y="0"/>
                  </a:cubicBezTo>
                  <a:close/>
                  <a:moveTo>
                    <a:pt x="150479" y="179872"/>
                  </a:moveTo>
                  <a:lnTo>
                    <a:pt x="148765" y="179967"/>
                  </a:lnTo>
                  <a:cubicBezTo>
                    <a:pt x="141977" y="180774"/>
                    <a:pt x="136865" y="186530"/>
                    <a:pt x="136865" y="193366"/>
                  </a:cubicBezTo>
                  <a:cubicBezTo>
                    <a:pt x="136865" y="200202"/>
                    <a:pt x="141977" y="205958"/>
                    <a:pt x="148765" y="206765"/>
                  </a:cubicBezTo>
                  <a:lnTo>
                    <a:pt x="150344" y="206860"/>
                  </a:lnTo>
                  <a:lnTo>
                    <a:pt x="152057" y="206765"/>
                  </a:lnTo>
                  <a:cubicBezTo>
                    <a:pt x="158845" y="205958"/>
                    <a:pt x="163957" y="200202"/>
                    <a:pt x="163957" y="193366"/>
                  </a:cubicBezTo>
                  <a:cubicBezTo>
                    <a:pt x="163957" y="186530"/>
                    <a:pt x="158845" y="180774"/>
                    <a:pt x="152057" y="179967"/>
                  </a:cubicBezTo>
                  <a:lnTo>
                    <a:pt x="150479" y="179872"/>
                  </a:lnTo>
                  <a:close/>
                  <a:moveTo>
                    <a:pt x="150344" y="85416"/>
                  </a:moveTo>
                  <a:cubicBezTo>
                    <a:pt x="143503" y="85417"/>
                    <a:pt x="137745" y="90537"/>
                    <a:pt x="136944" y="97331"/>
                  </a:cubicBezTo>
                  <a:lnTo>
                    <a:pt x="136850" y="98909"/>
                  </a:lnTo>
                  <a:lnTo>
                    <a:pt x="136850" y="152885"/>
                  </a:lnTo>
                  <a:lnTo>
                    <a:pt x="136944" y="154463"/>
                  </a:lnTo>
                  <a:cubicBezTo>
                    <a:pt x="137752" y="161251"/>
                    <a:pt x="143508" y="166363"/>
                    <a:pt x="150344" y="166363"/>
                  </a:cubicBezTo>
                  <a:cubicBezTo>
                    <a:pt x="157180" y="166363"/>
                    <a:pt x="162936" y="161251"/>
                    <a:pt x="163743" y="154463"/>
                  </a:cubicBezTo>
                  <a:lnTo>
                    <a:pt x="163837" y="152885"/>
                  </a:lnTo>
                  <a:lnTo>
                    <a:pt x="163837" y="98909"/>
                  </a:lnTo>
                  <a:lnTo>
                    <a:pt x="163743" y="97331"/>
                  </a:lnTo>
                  <a:cubicBezTo>
                    <a:pt x="162943" y="90537"/>
                    <a:pt x="157185" y="85417"/>
                    <a:pt x="150344" y="85416"/>
                  </a:cubicBezTo>
                  <a:close/>
                </a:path>
              </a:pathLst>
            </a:custGeom>
            <a:solidFill>
              <a:srgbClr val="A2701C"/>
            </a:solidFill>
            <a:ln>
              <a:noFill/>
            </a:ln>
          </p:spPr>
        </p:sp>
        <p:sp>
          <p:nvSpPr>
            <p:cNvPr id="20" name="TextBox 20"/>
            <p:cNvSpPr txBox="1"/>
            <p:nvPr/>
          </p:nvSpPr>
          <p:spPr>
            <a:xfrm>
              <a:off x="1149858" y="4046220"/>
              <a:ext cx="1635785" cy="469392"/>
            </a:xfrm>
            <a:prstGeom prst="rect">
              <a:avLst/>
            </a:prstGeom>
            <a:noFill/>
            <a:ln>
              <a:noFill/>
            </a:ln>
          </p:spPr>
          <p:txBody>
            <a:bodyPr wrap="none" lIns="0" tIns="0" rIns="0" bIns="0" anchor="t" anchorCtr="0">
              <a:spAutoFit/>
            </a:bodyPr>
            <a:lstStyle/>
            <a:p>
              <a:pPr algn="l"/>
              <a:r>
                <a:rPr lang="zh-CN" sz="2400" b="1" dirty="0">
                  <a:solidFill>
                    <a:srgbClr val="A2701C"/>
                  </a:solidFill>
                  <a:latin typeface="+mj-lt"/>
                  <a:ea typeface="+mj-ea"/>
                  <a:cs typeface="+mj-cs"/>
                </a:rPr>
                <a:t>これは試作です</a:t>
              </a:r>
            </a:p>
          </p:txBody>
        </p:sp>
        <p:sp>
          <p:nvSpPr>
            <p:cNvPr id="21" name="TextBox 21"/>
            <p:cNvSpPr txBox="1"/>
            <p:nvPr/>
          </p:nvSpPr>
          <p:spPr>
            <a:xfrm>
              <a:off x="714756" y="4663440"/>
              <a:ext cx="771067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製品名は「Macro Studio（仮称）」です。アプリ画面・ロゴ・ログの保存先は開発中のため</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MacroDesk のままで、これから出てくる画面写真にもそのまま写ります。</a:t>
              </a:r>
            </a:p>
          </p:txBody>
        </p:sp>
        <p:sp>
          <p:nvSpPr>
            <p:cNvPr id="22" name="TextBox 22"/>
            <p:cNvSpPr txBox="1"/>
            <p:nvPr/>
          </p:nvSpPr>
          <p:spPr>
            <a:xfrm>
              <a:off x="714756" y="5444490"/>
              <a:ext cx="633907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画面写真はアプリ同梱のデモ用データを表示したものです。ブック名・行数・日時は実在の業務データではありません。</a:t>
              </a:r>
            </a:p>
          </p:txBody>
        </p:sp>
      </p:grpSp>
      <p:grpSp>
        <p:nvGrpSpPr>
          <p:cNvPr id="26" name="Group 26"/>
          <p:cNvGrpSpPr/>
          <p:nvPr/>
        </p:nvGrpSpPr>
        <p:grpSpPr>
          <a:xfrm>
            <a:off x="374904" y="6461760"/>
            <a:ext cx="11442192" cy="234696"/>
            <a:chOff x="374904" y="6461760"/>
            <a:chExt cx="11442192" cy="234696"/>
          </a:xfrm>
        </p:grpSpPr>
        <p:sp>
          <p:nvSpPr>
            <p:cNvPr id="24" name="TextBox 24"/>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25" name="TextBox 25"/>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869086" y="568642"/>
              <a:ext cx="4335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はじめに</a:t>
              </a:r>
            </a:p>
          </p:txBody>
        </p:sp>
        <p:sp>
          <p:nvSpPr>
            <p:cNvPr id="4" name="TextBox 4"/>
            <p:cNvSpPr txBox="1"/>
            <p:nvPr/>
          </p:nvSpPr>
          <p:spPr>
            <a:xfrm>
              <a:off x="1946148" y="479108"/>
              <a:ext cx="631262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判断するのはAI。この道具は運ぶだけ。</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1" name="Group 11"/>
          <p:cNvGrpSpPr/>
          <p:nvPr/>
        </p:nvGrpSpPr>
        <p:grpSpPr>
          <a:xfrm>
            <a:off x="381000" y="1409700"/>
            <a:ext cx="11430000" cy="1257300"/>
            <a:chOff x="381000" y="1409700"/>
            <a:chExt cx="11430000" cy="1257300"/>
          </a:xfrm>
        </p:grpSpPr>
        <p:sp>
          <p:nvSpPr>
            <p:cNvPr id="7" name="Rectangle 7"/>
            <p:cNvSpPr/>
            <p:nvPr/>
          </p:nvSpPr>
          <p:spPr>
            <a:xfrm>
              <a:off x="381000" y="1409700"/>
              <a:ext cx="11430000" cy="1257300"/>
            </a:xfrm>
            <a:prstGeom prst="roundRect">
              <a:avLst>
                <a:gd name="adj" fmla="val 12121"/>
              </a:avLst>
            </a:prstGeom>
            <a:solidFill>
              <a:schemeClr val="accent5"/>
            </a:solidFill>
            <a:ln>
              <a:noFill/>
            </a:ln>
          </p:spPr>
        </p:sp>
        <p:sp>
          <p:nvSpPr>
            <p:cNvPr id="8" name="Rectangle 8"/>
            <p:cNvSpPr/>
            <p:nvPr/>
          </p:nvSpPr>
          <p:spPr>
            <a:xfrm>
              <a:off x="609600" y="1809750"/>
              <a:ext cx="2667000" cy="457200"/>
            </a:xfrm>
            <a:prstGeom prst="roundRect">
              <a:avLst>
                <a:gd name="adj" fmla="val 50000"/>
              </a:avLst>
            </a:prstGeom>
            <a:solidFill>
              <a:schemeClr val="dk1"/>
            </a:solidFill>
            <a:ln>
              <a:noFill/>
            </a:ln>
          </p:spPr>
        </p:sp>
        <p:sp>
          <p:nvSpPr>
            <p:cNvPr id="9" name="TextBox 9"/>
            <p:cNvSpPr txBox="1"/>
            <p:nvPr/>
          </p:nvSpPr>
          <p:spPr>
            <a:xfrm>
              <a:off x="1724050" y="1910715"/>
              <a:ext cx="438100"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j-lt"/>
                  <a:ea typeface="+mj-ea"/>
                  <a:cs typeface="+mj-cs"/>
                </a:rPr>
                <a:t>あなた</a:t>
              </a:r>
            </a:p>
          </p:txBody>
        </p:sp>
        <p:sp>
          <p:nvSpPr>
            <p:cNvPr id="10" name="TextBox 10"/>
            <p:cNvSpPr txBox="1"/>
            <p:nvPr/>
          </p:nvSpPr>
          <p:spPr>
            <a:xfrm>
              <a:off x="3572256" y="1767840"/>
              <a:ext cx="423595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どのブックを直すか決める。何を直したいかを言葉にする。AIの変更を採用するかどうかを決める。</a:t>
              </a:r>
            </a:p>
          </p:txBody>
        </p:sp>
      </p:grpSp>
      <p:grpSp>
        <p:nvGrpSpPr>
          <p:cNvPr id="16" name="Group 16"/>
          <p:cNvGrpSpPr/>
          <p:nvPr/>
        </p:nvGrpSpPr>
        <p:grpSpPr>
          <a:xfrm>
            <a:off x="381000" y="2819400"/>
            <a:ext cx="11430000" cy="1257300"/>
            <a:chOff x="381000" y="2819400"/>
            <a:chExt cx="11430000" cy="1257300"/>
          </a:xfrm>
        </p:grpSpPr>
        <p:sp>
          <p:nvSpPr>
            <p:cNvPr id="12" name="Rectangle 12"/>
            <p:cNvSpPr/>
            <p:nvPr/>
          </p:nvSpPr>
          <p:spPr>
            <a:xfrm>
              <a:off x="381000" y="2819400"/>
              <a:ext cx="11430000" cy="1257300"/>
            </a:xfrm>
            <a:prstGeom prst="roundRect">
              <a:avLst>
                <a:gd name="adj" fmla="val 12121"/>
              </a:avLst>
            </a:prstGeom>
            <a:solidFill>
              <a:schemeClr val="lt2"/>
            </a:solidFill>
            <a:ln>
              <a:noFill/>
            </a:ln>
          </p:spPr>
        </p:sp>
        <p:sp>
          <p:nvSpPr>
            <p:cNvPr id="13" name="Rectangle 13"/>
            <p:cNvSpPr/>
            <p:nvPr/>
          </p:nvSpPr>
          <p:spPr>
            <a:xfrm>
              <a:off x="609600" y="3219450"/>
              <a:ext cx="2667000" cy="457200"/>
            </a:xfrm>
            <a:prstGeom prst="roundRect">
              <a:avLst>
                <a:gd name="adj" fmla="val 50000"/>
              </a:avLst>
            </a:prstGeom>
            <a:solidFill>
              <a:schemeClr val="accent1"/>
            </a:solidFill>
            <a:ln>
              <a:noFill/>
            </a:ln>
          </p:spPr>
        </p:sp>
        <p:sp>
          <p:nvSpPr>
            <p:cNvPr id="14" name="TextBox 14"/>
            <p:cNvSpPr txBox="1"/>
            <p:nvPr/>
          </p:nvSpPr>
          <p:spPr>
            <a:xfrm>
              <a:off x="610147" y="3320415"/>
              <a:ext cx="2665906"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j-lt"/>
                  <a:ea typeface="+mj-ea"/>
                  <a:cs typeface="+mj-cs"/>
                </a:rPr>
                <a:t>Macro Studio（仮称）</a:t>
              </a:r>
            </a:p>
          </p:txBody>
        </p:sp>
        <p:sp>
          <p:nvSpPr>
            <p:cNvPr id="15" name="TextBox 15"/>
            <p:cNvSpPr txBox="1"/>
            <p:nvPr/>
          </p:nvSpPr>
          <p:spPr>
            <a:xfrm>
              <a:off x="3572256" y="3177540"/>
              <a:ext cx="459028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マクロのコードを取り出す。依頼文とコードを渡せる形にする。採用した変更だけを、新しいブックへ書き戻す。</a:t>
              </a:r>
            </a:p>
          </p:txBody>
        </p:sp>
      </p:grpSp>
      <p:grpSp>
        <p:nvGrpSpPr>
          <p:cNvPr id="22" name="Group 22"/>
          <p:cNvGrpSpPr/>
          <p:nvPr/>
        </p:nvGrpSpPr>
        <p:grpSpPr>
          <a:xfrm>
            <a:off x="381000" y="4229100"/>
            <a:ext cx="11430000" cy="1257300"/>
            <a:chOff x="381000" y="4229100"/>
            <a:chExt cx="11430000" cy="1257300"/>
          </a:xfrm>
        </p:grpSpPr>
        <p:sp>
          <p:nvSpPr>
            <p:cNvPr id="17" name="Rectangle 17"/>
            <p:cNvSpPr/>
            <p:nvPr/>
          </p:nvSpPr>
          <p:spPr>
            <a:xfrm>
              <a:off x="381000" y="4229100"/>
              <a:ext cx="11430000" cy="1257300"/>
            </a:xfrm>
            <a:prstGeom prst="roundRect">
              <a:avLst>
                <a:gd name="adj" fmla="val 12121"/>
              </a:avLst>
            </a:prstGeom>
            <a:solidFill>
              <a:schemeClr val="accent5"/>
            </a:solidFill>
            <a:ln>
              <a:noFill/>
            </a:ln>
          </p:spPr>
        </p:sp>
        <p:sp>
          <p:nvSpPr>
            <p:cNvPr id="18" name="Rectangle 18"/>
            <p:cNvSpPr/>
            <p:nvPr/>
          </p:nvSpPr>
          <p:spPr>
            <a:xfrm>
              <a:off x="609600" y="4629150"/>
              <a:ext cx="2667000" cy="457200"/>
            </a:xfrm>
            <a:prstGeom prst="roundRect">
              <a:avLst>
                <a:gd name="adj" fmla="val 50000"/>
              </a:avLst>
            </a:prstGeom>
            <a:solidFill>
              <a:schemeClr val="accent2"/>
            </a:solidFill>
            <a:ln>
              <a:noFill/>
            </a:ln>
          </p:spPr>
        </p:sp>
        <p:sp>
          <p:nvSpPr>
            <p:cNvPr id="19" name="TextBox 19"/>
            <p:cNvSpPr txBox="1"/>
            <p:nvPr/>
          </p:nvSpPr>
          <p:spPr>
            <a:xfrm>
              <a:off x="1483660" y="4730115"/>
              <a:ext cx="918881"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j-lt"/>
                  <a:ea typeface="+mj-ea"/>
                  <a:cs typeface="+mj-cs"/>
                </a:rPr>
                <a:t>AI チャット</a:t>
              </a:r>
            </a:p>
          </p:txBody>
        </p:sp>
        <p:sp>
          <p:nvSpPr>
            <p:cNvPr id="20" name="Freeform 20"/>
            <p:cNvSpPr/>
            <p:nvPr/>
          </p:nvSpPr>
          <p:spPr>
            <a:xfrm>
              <a:off x="3455988" y="4726781"/>
              <a:ext cx="269876" cy="257013"/>
            </a:xfrm>
            <a:custGeom>
              <a:avLst/>
              <a:gdLst/>
              <a:ahLst/>
              <a:cxnLst/>
              <a:rect l="l" t="t" r="r" b="b"/>
              <a:pathLst>
                <a:path w="269876" h="257013">
                  <a:moveTo>
                    <a:pt x="215901" y="0"/>
                  </a:moveTo>
                  <a:cubicBezTo>
                    <a:pt x="245710" y="0"/>
                    <a:pt x="269876" y="24165"/>
                    <a:pt x="269876" y="53975"/>
                  </a:cubicBezTo>
                  <a:lnTo>
                    <a:pt x="269876" y="161925"/>
                  </a:lnTo>
                  <a:cubicBezTo>
                    <a:pt x="269876" y="191735"/>
                    <a:pt x="245710" y="215901"/>
                    <a:pt x="215901" y="215901"/>
                  </a:cubicBezTo>
                  <a:lnTo>
                    <a:pt x="152156" y="215901"/>
                  </a:lnTo>
                  <a:lnTo>
                    <a:pt x="87898" y="254452"/>
                  </a:lnTo>
                  <a:cubicBezTo>
                    <a:pt x="83966" y="256812"/>
                    <a:pt x="79105" y="257013"/>
                    <a:pt x="74991" y="254986"/>
                  </a:cubicBezTo>
                  <a:cubicBezTo>
                    <a:pt x="70877" y="252960"/>
                    <a:pt x="68075" y="248982"/>
                    <a:pt x="67550" y="244426"/>
                  </a:cubicBezTo>
                  <a:lnTo>
                    <a:pt x="67469" y="242888"/>
                  </a:lnTo>
                  <a:lnTo>
                    <a:pt x="67469" y="215901"/>
                  </a:lnTo>
                  <a:lnTo>
                    <a:pt x="53975" y="215901"/>
                  </a:lnTo>
                  <a:cubicBezTo>
                    <a:pt x="25214" y="215901"/>
                    <a:pt x="1506" y="193349"/>
                    <a:pt x="67" y="164624"/>
                  </a:cubicBezTo>
                  <a:lnTo>
                    <a:pt x="0" y="161925"/>
                  </a:lnTo>
                  <a:lnTo>
                    <a:pt x="0" y="53975"/>
                  </a:lnTo>
                  <a:cubicBezTo>
                    <a:pt x="0" y="24165"/>
                    <a:pt x="24165" y="0"/>
                    <a:pt x="53975" y="0"/>
                  </a:cubicBezTo>
                  <a:close/>
                  <a:moveTo>
                    <a:pt x="178118" y="125303"/>
                  </a:moveTo>
                  <a:cubicBezTo>
                    <a:pt x="172797" y="120087"/>
                    <a:pt x="164255" y="120172"/>
                    <a:pt x="159038" y="125492"/>
                  </a:cubicBezTo>
                  <a:cubicBezTo>
                    <a:pt x="152692" y="131970"/>
                    <a:pt x="144006" y="135621"/>
                    <a:pt x="134938" y="135621"/>
                  </a:cubicBezTo>
                  <a:cubicBezTo>
                    <a:pt x="125870" y="135621"/>
                    <a:pt x="117183" y="131970"/>
                    <a:pt x="110838" y="125492"/>
                  </a:cubicBezTo>
                  <a:cubicBezTo>
                    <a:pt x="105599" y="120299"/>
                    <a:pt x="97160" y="120275"/>
                    <a:pt x="91892" y="125440"/>
                  </a:cubicBezTo>
                  <a:cubicBezTo>
                    <a:pt x="86624" y="130605"/>
                    <a:pt x="86480" y="139042"/>
                    <a:pt x="91569" y="144383"/>
                  </a:cubicBezTo>
                  <a:cubicBezTo>
                    <a:pt x="102990" y="156038"/>
                    <a:pt x="118620" y="162605"/>
                    <a:pt x="134938" y="162605"/>
                  </a:cubicBezTo>
                  <a:cubicBezTo>
                    <a:pt x="151255" y="162605"/>
                    <a:pt x="166886" y="156038"/>
                    <a:pt x="178307" y="144383"/>
                  </a:cubicBezTo>
                  <a:cubicBezTo>
                    <a:pt x="183523" y="139062"/>
                    <a:pt x="183438" y="130520"/>
                    <a:pt x="178118" y="125303"/>
                  </a:cubicBezTo>
                  <a:moveTo>
                    <a:pt x="101338" y="67469"/>
                  </a:moveTo>
                  <a:lnTo>
                    <a:pt x="101203" y="67469"/>
                  </a:lnTo>
                  <a:cubicBezTo>
                    <a:pt x="93751" y="67469"/>
                    <a:pt x="87710" y="73510"/>
                    <a:pt x="87710" y="80963"/>
                  </a:cubicBezTo>
                  <a:cubicBezTo>
                    <a:pt x="87710" y="88415"/>
                    <a:pt x="93751" y="94456"/>
                    <a:pt x="101203" y="94456"/>
                  </a:cubicBezTo>
                  <a:lnTo>
                    <a:pt x="101338" y="94456"/>
                  </a:lnTo>
                  <a:cubicBezTo>
                    <a:pt x="108791" y="94456"/>
                    <a:pt x="114832" y="88415"/>
                    <a:pt x="114832" y="80963"/>
                  </a:cubicBezTo>
                  <a:cubicBezTo>
                    <a:pt x="114832" y="73510"/>
                    <a:pt x="108791" y="67469"/>
                    <a:pt x="101338" y="67469"/>
                  </a:cubicBezTo>
                  <a:moveTo>
                    <a:pt x="168807" y="67469"/>
                  </a:moveTo>
                  <a:lnTo>
                    <a:pt x="168672" y="67469"/>
                  </a:lnTo>
                  <a:cubicBezTo>
                    <a:pt x="161220" y="67469"/>
                    <a:pt x="155178" y="73510"/>
                    <a:pt x="155178" y="80963"/>
                  </a:cubicBezTo>
                  <a:cubicBezTo>
                    <a:pt x="155178" y="88415"/>
                    <a:pt x="161220" y="94456"/>
                    <a:pt x="168672" y="94456"/>
                  </a:cubicBezTo>
                  <a:lnTo>
                    <a:pt x="168807" y="94456"/>
                  </a:lnTo>
                  <a:cubicBezTo>
                    <a:pt x="176260" y="94456"/>
                    <a:pt x="182301" y="88415"/>
                    <a:pt x="182301" y="80963"/>
                  </a:cubicBezTo>
                  <a:cubicBezTo>
                    <a:pt x="182301" y="73510"/>
                    <a:pt x="176260" y="67469"/>
                    <a:pt x="168807" y="67469"/>
                  </a:cubicBezTo>
                </a:path>
              </a:pathLst>
            </a:custGeom>
            <a:solidFill>
              <a:schemeClr val="accent2"/>
            </a:solidFill>
            <a:ln>
              <a:noFill/>
            </a:ln>
          </p:spPr>
        </p:sp>
        <p:sp>
          <p:nvSpPr>
            <p:cNvPr id="21" name="TextBox 21"/>
            <p:cNvSpPr txBox="1"/>
            <p:nvPr/>
          </p:nvSpPr>
          <p:spPr>
            <a:xfrm>
              <a:off x="3896106" y="4587240"/>
              <a:ext cx="279577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どこをどう直すかを判断する。直したコードをチャットの本文で返す。</a:t>
              </a:r>
            </a:p>
          </p:txBody>
        </p:sp>
      </p:grpSp>
      <p:grpSp>
        <p:nvGrpSpPr>
          <p:cNvPr id="26" name="Group 26"/>
          <p:cNvGrpSpPr/>
          <p:nvPr/>
        </p:nvGrpSpPr>
        <p:grpSpPr>
          <a:xfrm>
            <a:off x="381000" y="5676900"/>
            <a:ext cx="11430000" cy="533400"/>
            <a:chOff x="381000" y="5676900"/>
            <a:chExt cx="11430000" cy="533400"/>
          </a:xfrm>
        </p:grpSpPr>
        <p:sp>
          <p:nvSpPr>
            <p:cNvPr id="23" name="Rectangle 23"/>
            <p:cNvSpPr/>
            <p:nvPr/>
          </p:nvSpPr>
          <p:spPr>
            <a:xfrm>
              <a:off x="381000" y="5676900"/>
              <a:ext cx="11430000" cy="533400"/>
            </a:xfrm>
            <a:prstGeom prst="roundRect">
              <a:avLst>
                <a:gd name="adj" fmla="val 28571"/>
              </a:avLst>
            </a:prstGeom>
            <a:solidFill>
              <a:schemeClr val="lt1"/>
            </a:solidFill>
            <a:ln w="19050">
              <a:solidFill>
                <a:schemeClr val="accent2"/>
              </a:solidFill>
            </a:ln>
          </p:spPr>
        </p:sp>
        <p:sp>
          <p:nvSpPr>
            <p:cNvPr id="24" name="Freeform 24"/>
            <p:cNvSpPr/>
            <p:nvPr/>
          </p:nvSpPr>
          <p:spPr>
            <a:xfrm>
              <a:off x="669925" y="582749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2"/>
            </a:solidFill>
            <a:ln>
              <a:noFill/>
            </a:ln>
          </p:spPr>
        </p:sp>
        <p:sp>
          <p:nvSpPr>
            <p:cNvPr id="25" name="TextBox 25"/>
            <p:cNvSpPr txBox="1"/>
            <p:nvPr/>
          </p:nvSpPr>
          <p:spPr>
            <a:xfrm>
              <a:off x="1038606" y="5825490"/>
              <a:ext cx="68273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ツールは完全ローカル動作。元のブックは、最初から最後まで一切変更されません。</a:t>
              </a:r>
            </a:p>
          </p:txBody>
        </p:sp>
      </p:grpSp>
      <p:grpSp>
        <p:nvGrpSpPr>
          <p:cNvPr id="29" name="Group 29"/>
          <p:cNvGrpSpPr/>
          <p:nvPr/>
        </p:nvGrpSpPr>
        <p:grpSpPr>
          <a:xfrm>
            <a:off x="374904" y="6461760"/>
            <a:ext cx="11442192" cy="234696"/>
            <a:chOff x="374904" y="6461760"/>
            <a:chExt cx="11442192" cy="234696"/>
          </a:xfrm>
        </p:grpSpPr>
        <p:sp>
          <p:nvSpPr>
            <p:cNvPr id="27" name="TextBox 27"/>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28" name="TextBox 28"/>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869086" y="568642"/>
              <a:ext cx="4335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はじめに</a:t>
              </a:r>
            </a:p>
          </p:txBody>
        </p:sp>
        <p:sp>
          <p:nvSpPr>
            <p:cNvPr id="4" name="TextBox 4"/>
            <p:cNvSpPr txBox="1"/>
            <p:nvPr/>
          </p:nvSpPr>
          <p:spPr>
            <a:xfrm>
              <a:off x="1946148" y="479108"/>
              <a:ext cx="561996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全体の流れ — 4つの手順・12画面</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6" name="Group 16"/>
          <p:cNvGrpSpPr/>
          <p:nvPr/>
        </p:nvGrpSpPr>
        <p:grpSpPr>
          <a:xfrm>
            <a:off x="381000" y="1352550"/>
            <a:ext cx="11430000" cy="952500"/>
            <a:chOff x="381000" y="1352550"/>
            <a:chExt cx="11430000" cy="952500"/>
          </a:xfrm>
        </p:grpSpPr>
        <p:sp>
          <p:nvSpPr>
            <p:cNvPr id="7" name="Rectangle 7"/>
            <p:cNvSpPr/>
            <p:nvPr/>
          </p:nvSpPr>
          <p:spPr>
            <a:xfrm>
              <a:off x="381000" y="1352550"/>
              <a:ext cx="11430000" cy="952500"/>
            </a:xfrm>
            <a:prstGeom prst="roundRect">
              <a:avLst>
                <a:gd name="adj" fmla="val 16000"/>
              </a:avLst>
            </a:prstGeom>
            <a:solidFill>
              <a:schemeClr val="lt2"/>
            </a:solidFill>
            <a:ln>
              <a:noFill/>
            </a:ln>
          </p:spPr>
        </p:sp>
        <p:sp>
          <p:nvSpPr>
            <p:cNvPr id="8" name="Freeform 8"/>
            <p:cNvSpPr/>
            <p:nvPr/>
          </p:nvSpPr>
          <p:spPr>
            <a:xfrm>
              <a:off x="685800" y="1638300"/>
              <a:ext cx="381000" cy="381000"/>
            </a:xfrm>
            <a:custGeom>
              <a:avLst/>
              <a:gdLst/>
              <a:ahLst/>
              <a:cxnLst/>
              <a:rect l="l" t="t" r="r" b="b"/>
              <a:pathLst>
                <a:path w="381000" h="381000">
                  <a:moveTo>
                    <a:pt x="190500" y="0"/>
                  </a:moveTo>
                  <a:cubicBezTo>
                    <a:pt x="295713" y="0"/>
                    <a:pt x="381000" y="85287"/>
                    <a:pt x="381000" y="190500"/>
                  </a:cubicBezTo>
                  <a:cubicBezTo>
                    <a:pt x="381000" y="295713"/>
                    <a:pt x="295713" y="381000"/>
                    <a:pt x="190500" y="381000"/>
                  </a:cubicBezTo>
                  <a:cubicBezTo>
                    <a:pt x="85287" y="381000"/>
                    <a:pt x="0" y="295713"/>
                    <a:pt x="0" y="190500"/>
                  </a:cubicBezTo>
                  <a:cubicBezTo>
                    <a:pt x="0" y="85287"/>
                    <a:pt x="85287" y="0"/>
                    <a:pt x="190500" y="0"/>
                  </a:cubicBezTo>
                  <a:close/>
                  <a:moveTo>
                    <a:pt x="209436" y="112128"/>
                  </a:moveTo>
                  <a:cubicBezTo>
                    <a:pt x="207855" y="97326"/>
                    <a:pt x="190233" y="90030"/>
                    <a:pt x="178632" y="99365"/>
                  </a:cubicBezTo>
                  <a:lnTo>
                    <a:pt x="177032" y="100832"/>
                  </a:lnTo>
                  <a:lnTo>
                    <a:pt x="138932" y="138932"/>
                  </a:lnTo>
                  <a:lnTo>
                    <a:pt x="137351" y="140722"/>
                  </a:lnTo>
                  <a:cubicBezTo>
                    <a:pt x="132019" y="147595"/>
                    <a:pt x="132019" y="157205"/>
                    <a:pt x="137351" y="164078"/>
                  </a:cubicBezTo>
                  <a:lnTo>
                    <a:pt x="138932" y="165868"/>
                  </a:lnTo>
                  <a:lnTo>
                    <a:pt x="140722" y="167449"/>
                  </a:lnTo>
                  <a:cubicBezTo>
                    <a:pt x="147595" y="172781"/>
                    <a:pt x="157205" y="172781"/>
                    <a:pt x="164078" y="167449"/>
                  </a:cubicBezTo>
                  <a:lnTo>
                    <a:pt x="165868" y="165868"/>
                  </a:lnTo>
                  <a:lnTo>
                    <a:pt x="171450" y="160287"/>
                  </a:lnTo>
                  <a:lnTo>
                    <a:pt x="171450" y="266700"/>
                  </a:lnTo>
                  <a:lnTo>
                    <a:pt x="171583" y="268929"/>
                  </a:lnTo>
                  <a:cubicBezTo>
                    <a:pt x="172723" y="278512"/>
                    <a:pt x="180849" y="285729"/>
                    <a:pt x="190500" y="285729"/>
                  </a:cubicBezTo>
                  <a:cubicBezTo>
                    <a:pt x="200151" y="285729"/>
                    <a:pt x="208277" y="278512"/>
                    <a:pt x="209417" y="268929"/>
                  </a:cubicBezTo>
                  <a:lnTo>
                    <a:pt x="209550" y="266700"/>
                  </a:lnTo>
                  <a:lnTo>
                    <a:pt x="209550" y="114300"/>
                  </a:lnTo>
                  <a:lnTo>
                    <a:pt x="209436" y="112128"/>
                  </a:lnTo>
                  <a:close/>
                </a:path>
              </a:pathLst>
            </a:custGeom>
            <a:solidFill>
              <a:schemeClr val="accent1"/>
            </a:solidFill>
            <a:ln>
              <a:noFill/>
            </a:ln>
          </p:spPr>
        </p:sp>
        <p:grpSp>
          <p:nvGrpSpPr>
            <p:cNvPr id="11" name="Group 11"/>
            <p:cNvGrpSpPr/>
            <p:nvPr/>
          </p:nvGrpSpPr>
          <p:grpSpPr>
            <a:xfrm>
              <a:off x="1346199" y="1701800"/>
              <a:ext cx="203202" cy="254000"/>
              <a:chOff x="1346199" y="1701800"/>
              <a:chExt cx="203202" cy="254000"/>
            </a:xfrm>
          </p:grpSpPr>
          <p:sp>
            <p:nvSpPr>
              <p:cNvPr id="9" name="Freeform 9"/>
              <p:cNvSpPr/>
              <p:nvPr/>
            </p:nvSpPr>
            <p:spPr>
              <a:xfrm>
                <a:off x="1346199" y="1701800"/>
                <a:ext cx="203202" cy="254000"/>
              </a:xfrm>
              <a:custGeom>
                <a:avLst/>
                <a:gdLst/>
                <a:ahLst/>
                <a:cxnLst/>
                <a:rect l="l" t="t" r="r" b="b"/>
                <a:pathLst>
                  <a:path w="203202" h="254000">
                    <a:moveTo>
                      <a:pt x="101601" y="0"/>
                    </a:moveTo>
                    <a:lnTo>
                      <a:pt x="103087" y="89"/>
                    </a:lnTo>
                    <a:cubicBezTo>
                      <a:pt x="108922" y="777"/>
                      <a:pt x="113524" y="5379"/>
                      <a:pt x="114212" y="11214"/>
                    </a:cubicBezTo>
                    <a:lnTo>
                      <a:pt x="114301" y="12700"/>
                    </a:lnTo>
                    <a:lnTo>
                      <a:pt x="114301" y="63500"/>
                    </a:lnTo>
                    <a:lnTo>
                      <a:pt x="114364" y="65405"/>
                    </a:lnTo>
                    <a:cubicBezTo>
                      <a:pt x="115303" y="77900"/>
                      <a:pt x="125215" y="87844"/>
                      <a:pt x="137707" y="88824"/>
                    </a:cubicBezTo>
                    <a:lnTo>
                      <a:pt x="139701" y="88900"/>
                    </a:lnTo>
                    <a:lnTo>
                      <a:pt x="190501" y="88900"/>
                    </a:lnTo>
                    <a:lnTo>
                      <a:pt x="191987" y="88989"/>
                    </a:lnTo>
                    <a:cubicBezTo>
                      <a:pt x="197822" y="89677"/>
                      <a:pt x="202424" y="94278"/>
                      <a:pt x="203112" y="100114"/>
                    </a:cubicBezTo>
                    <a:lnTo>
                      <a:pt x="203201" y="101600"/>
                    </a:lnTo>
                    <a:lnTo>
                      <a:pt x="203201" y="215899"/>
                    </a:lnTo>
                    <a:cubicBezTo>
                      <a:pt x="203202" y="236074"/>
                      <a:pt x="187476" y="252752"/>
                      <a:pt x="167336" y="253936"/>
                    </a:cubicBezTo>
                    <a:lnTo>
                      <a:pt x="165101" y="253999"/>
                    </a:lnTo>
                    <a:lnTo>
                      <a:pt x="38101" y="253999"/>
                    </a:lnTo>
                    <a:cubicBezTo>
                      <a:pt x="17926" y="254000"/>
                      <a:pt x="1248" y="238275"/>
                      <a:pt x="65" y="218135"/>
                    </a:cubicBezTo>
                    <a:lnTo>
                      <a:pt x="1" y="215899"/>
                    </a:lnTo>
                    <a:lnTo>
                      <a:pt x="1" y="38100"/>
                    </a:lnTo>
                    <a:cubicBezTo>
                      <a:pt x="0" y="17925"/>
                      <a:pt x="15726" y="1247"/>
                      <a:pt x="35866" y="63"/>
                    </a:cubicBezTo>
                    <a:lnTo>
                      <a:pt x="38101" y="0"/>
                    </a:lnTo>
                    <a:close/>
                    <a:moveTo>
                      <a:pt x="101601" y="114300"/>
                    </a:moveTo>
                    <a:lnTo>
                      <a:pt x="100458" y="114351"/>
                    </a:lnTo>
                    <a:lnTo>
                      <a:pt x="99721" y="114439"/>
                    </a:lnTo>
                    <a:lnTo>
                      <a:pt x="98223" y="114757"/>
                    </a:lnTo>
                    <a:lnTo>
                      <a:pt x="96889" y="115201"/>
                    </a:lnTo>
                    <a:lnTo>
                      <a:pt x="95454" y="115887"/>
                    </a:lnTo>
                    <a:lnTo>
                      <a:pt x="94044" y="116789"/>
                    </a:lnTo>
                    <a:cubicBezTo>
                      <a:pt x="93540" y="117164"/>
                      <a:pt x="93065" y="117576"/>
                      <a:pt x="92622" y="118021"/>
                    </a:cubicBezTo>
                    <a:lnTo>
                      <a:pt x="60872" y="149771"/>
                    </a:lnTo>
                    <a:cubicBezTo>
                      <a:pt x="55914" y="154730"/>
                      <a:pt x="55914" y="162769"/>
                      <a:pt x="60872" y="167728"/>
                    </a:cubicBezTo>
                    <a:lnTo>
                      <a:pt x="62066" y="168783"/>
                    </a:lnTo>
                    <a:cubicBezTo>
                      <a:pt x="67122" y="172704"/>
                      <a:pt x="74305" y="172253"/>
                      <a:pt x="78830" y="167728"/>
                    </a:cubicBezTo>
                    <a:lnTo>
                      <a:pt x="88901" y="157657"/>
                    </a:lnTo>
                    <a:lnTo>
                      <a:pt x="88901" y="203199"/>
                    </a:lnTo>
                    <a:cubicBezTo>
                      <a:pt x="88901" y="210213"/>
                      <a:pt x="94587" y="215899"/>
                      <a:pt x="101601" y="215899"/>
                    </a:cubicBezTo>
                    <a:cubicBezTo>
                      <a:pt x="108615" y="215899"/>
                      <a:pt x="114301" y="210213"/>
                      <a:pt x="114301" y="203199"/>
                    </a:cubicBezTo>
                    <a:lnTo>
                      <a:pt x="114301" y="157670"/>
                    </a:lnTo>
                    <a:lnTo>
                      <a:pt x="124372" y="167728"/>
                    </a:lnTo>
                    <a:cubicBezTo>
                      <a:pt x="129355" y="172541"/>
                      <a:pt x="137276" y="172473"/>
                      <a:pt x="142175" y="167574"/>
                    </a:cubicBezTo>
                    <a:cubicBezTo>
                      <a:pt x="147074" y="162675"/>
                      <a:pt x="147143" y="154754"/>
                      <a:pt x="142330" y="149771"/>
                    </a:cubicBezTo>
                    <a:lnTo>
                      <a:pt x="110580" y="118021"/>
                    </a:lnTo>
                    <a:lnTo>
                      <a:pt x="109538" y="117094"/>
                    </a:lnTo>
                    <a:lnTo>
                      <a:pt x="108218" y="116154"/>
                    </a:lnTo>
                    <a:lnTo>
                      <a:pt x="106973" y="115494"/>
                    </a:lnTo>
                    <a:lnTo>
                      <a:pt x="105576" y="114935"/>
                    </a:lnTo>
                    <a:lnTo>
                      <a:pt x="104154" y="114554"/>
                    </a:lnTo>
                    <a:lnTo>
                      <a:pt x="102553" y="114338"/>
                    </a:lnTo>
                    <a:close/>
                  </a:path>
                </a:pathLst>
              </a:custGeom>
              <a:solidFill>
                <a:schemeClr val="accent1"/>
              </a:solidFill>
              <a:ln>
                <a:noFill/>
              </a:ln>
            </p:spPr>
          </p:sp>
          <p:sp>
            <p:nvSpPr>
              <p:cNvPr id="10" name="Freeform 10"/>
              <p:cNvSpPr/>
              <p:nvPr/>
            </p:nvSpPr>
            <p:spPr>
              <a:xfrm>
                <a:off x="1485887" y="1714487"/>
                <a:ext cx="50813" cy="50813"/>
              </a:xfrm>
              <a:custGeom>
                <a:avLst/>
                <a:gdLst/>
                <a:ahLst/>
                <a:cxnLst/>
                <a:rect l="l" t="t" r="r" b="b"/>
                <a:pathLst>
                  <a:path w="50813" h="50813">
                    <a:moveTo>
                      <a:pt x="50813" y="50813"/>
                    </a:moveTo>
                    <a:lnTo>
                      <a:pt x="13" y="50813"/>
                    </a:lnTo>
                    <a:lnTo>
                      <a:pt x="0" y="0"/>
                    </a:lnTo>
                    <a:close/>
                  </a:path>
                </a:pathLst>
              </a:custGeom>
              <a:solidFill>
                <a:schemeClr val="accent1"/>
              </a:solidFill>
              <a:ln>
                <a:noFill/>
              </a:ln>
            </p:spPr>
          </p:sp>
        </p:grpSp>
        <p:sp>
          <p:nvSpPr>
            <p:cNvPr id="12" name="TextBox 12"/>
            <p:cNvSpPr txBox="1"/>
            <p:nvPr/>
          </p:nvSpPr>
          <p:spPr>
            <a:xfrm>
              <a:off x="1721358" y="1512570"/>
              <a:ext cx="1822369"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j-lt"/>
                  <a:ea typeface="+mj-ea"/>
                  <a:cs typeface="+mj-cs"/>
                </a:rPr>
                <a:t>ブックを読み込む</a:t>
              </a:r>
            </a:p>
          </p:txBody>
        </p:sp>
        <p:sp>
          <p:nvSpPr>
            <p:cNvPr id="13" name="TextBox 13"/>
            <p:cNvSpPr txBox="1"/>
            <p:nvPr/>
          </p:nvSpPr>
          <p:spPr>
            <a:xfrm>
              <a:off x="1726692" y="1949768"/>
              <a:ext cx="531666"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2 画面</a:t>
              </a:r>
            </a:p>
          </p:txBody>
        </p:sp>
        <p:sp>
          <p:nvSpPr>
            <p:cNvPr id="14" name="Line 14"/>
            <p:cNvSpPr/>
            <p:nvPr/>
          </p:nvSpPr>
          <p:spPr>
            <a:xfrm>
              <a:off x="4762500" y="1581150"/>
              <a:ext cx="9525" cy="495300"/>
            </a:xfrm>
            <a:custGeom>
              <a:avLst/>
              <a:gdLst/>
              <a:ahLst/>
              <a:cxnLst/>
              <a:rect l="l" t="t" r="r" b="b"/>
              <a:pathLst>
                <a:path w="9525" h="495300">
                  <a:moveTo>
                    <a:pt x="0" y="0"/>
                  </a:moveTo>
                  <a:lnTo>
                    <a:pt x="0" y="495300"/>
                  </a:lnTo>
                </a:path>
              </a:pathLst>
            </a:custGeom>
            <a:noFill/>
            <a:ln w="9525">
              <a:solidFill>
                <a:schemeClr val="accent6"/>
              </a:solidFill>
            </a:ln>
          </p:spPr>
        </p:sp>
        <p:sp>
          <p:nvSpPr>
            <p:cNvPr id="15" name="TextBox 15"/>
            <p:cNvSpPr txBox="1"/>
            <p:nvPr/>
          </p:nvSpPr>
          <p:spPr>
            <a:xfrm>
              <a:off x="5058156" y="1710690"/>
              <a:ext cx="247779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どのブックを改修するかを決めます</a:t>
              </a:r>
            </a:p>
          </p:txBody>
        </p:sp>
      </p:grpSp>
      <p:grpSp>
        <p:nvGrpSpPr>
          <p:cNvPr id="24" name="Group 24"/>
          <p:cNvGrpSpPr/>
          <p:nvPr/>
        </p:nvGrpSpPr>
        <p:grpSpPr>
          <a:xfrm>
            <a:off x="381000" y="2419350"/>
            <a:ext cx="11430000" cy="952500"/>
            <a:chOff x="381000" y="2419350"/>
            <a:chExt cx="11430000" cy="952500"/>
          </a:xfrm>
        </p:grpSpPr>
        <p:sp>
          <p:nvSpPr>
            <p:cNvPr id="17" name="Rectangle 17"/>
            <p:cNvSpPr/>
            <p:nvPr/>
          </p:nvSpPr>
          <p:spPr>
            <a:xfrm>
              <a:off x="381000" y="2419350"/>
              <a:ext cx="11430000" cy="952500"/>
            </a:xfrm>
            <a:prstGeom prst="roundRect">
              <a:avLst>
                <a:gd name="adj" fmla="val 16000"/>
              </a:avLst>
            </a:prstGeom>
            <a:solidFill>
              <a:schemeClr val="accent5"/>
            </a:solidFill>
            <a:ln>
              <a:noFill/>
            </a:ln>
          </p:spPr>
        </p:sp>
        <p:sp>
          <p:nvSpPr>
            <p:cNvPr id="18" name="Freeform 18"/>
            <p:cNvSpPr/>
            <p:nvPr/>
          </p:nvSpPr>
          <p:spPr>
            <a:xfrm>
              <a:off x="685800" y="2705100"/>
              <a:ext cx="381000" cy="381000"/>
            </a:xfrm>
            <a:custGeom>
              <a:avLst/>
              <a:gdLst/>
              <a:ahLst/>
              <a:cxnLst/>
              <a:rect l="l" t="t" r="r" b="b"/>
              <a:pathLst>
                <a:path w="381000" h="381000">
                  <a:moveTo>
                    <a:pt x="190500" y="0"/>
                  </a:moveTo>
                  <a:cubicBezTo>
                    <a:pt x="295713" y="0"/>
                    <a:pt x="381000" y="85287"/>
                    <a:pt x="381000" y="190500"/>
                  </a:cubicBezTo>
                  <a:cubicBezTo>
                    <a:pt x="381000" y="295713"/>
                    <a:pt x="295713" y="381000"/>
                    <a:pt x="190500" y="381000"/>
                  </a:cubicBezTo>
                  <a:cubicBezTo>
                    <a:pt x="85287" y="381000"/>
                    <a:pt x="0" y="295713"/>
                    <a:pt x="0" y="190500"/>
                  </a:cubicBezTo>
                  <a:cubicBezTo>
                    <a:pt x="0" y="85287"/>
                    <a:pt x="85287" y="0"/>
                    <a:pt x="190500" y="0"/>
                  </a:cubicBezTo>
                  <a:close/>
                  <a:moveTo>
                    <a:pt x="209550" y="95250"/>
                  </a:moveTo>
                  <a:lnTo>
                    <a:pt x="152400" y="95250"/>
                  </a:lnTo>
                  <a:lnTo>
                    <a:pt x="150171" y="95383"/>
                  </a:lnTo>
                  <a:cubicBezTo>
                    <a:pt x="140588" y="96523"/>
                    <a:pt x="133371" y="104649"/>
                    <a:pt x="133371" y="114300"/>
                  </a:cubicBezTo>
                  <a:cubicBezTo>
                    <a:pt x="133371" y="123951"/>
                    <a:pt x="140588" y="132077"/>
                    <a:pt x="150171" y="133217"/>
                  </a:cubicBezTo>
                  <a:lnTo>
                    <a:pt x="152400" y="133350"/>
                  </a:lnTo>
                  <a:lnTo>
                    <a:pt x="209550" y="133350"/>
                  </a:lnTo>
                  <a:lnTo>
                    <a:pt x="209550" y="171450"/>
                  </a:lnTo>
                  <a:lnTo>
                    <a:pt x="171450" y="171450"/>
                  </a:lnTo>
                  <a:lnTo>
                    <a:pt x="168593" y="171545"/>
                  </a:lnTo>
                  <a:cubicBezTo>
                    <a:pt x="149849" y="172954"/>
                    <a:pt x="134934" y="187821"/>
                    <a:pt x="133464" y="206559"/>
                  </a:cubicBezTo>
                  <a:lnTo>
                    <a:pt x="133350" y="209550"/>
                  </a:lnTo>
                  <a:lnTo>
                    <a:pt x="133350" y="247650"/>
                  </a:lnTo>
                  <a:lnTo>
                    <a:pt x="133445" y="250508"/>
                  </a:lnTo>
                  <a:cubicBezTo>
                    <a:pt x="134854" y="269251"/>
                    <a:pt x="149721" y="284166"/>
                    <a:pt x="168459" y="285636"/>
                  </a:cubicBezTo>
                  <a:lnTo>
                    <a:pt x="171450" y="285750"/>
                  </a:lnTo>
                  <a:lnTo>
                    <a:pt x="228600" y="285750"/>
                  </a:lnTo>
                  <a:lnTo>
                    <a:pt x="230829" y="285617"/>
                  </a:lnTo>
                  <a:cubicBezTo>
                    <a:pt x="240412" y="284477"/>
                    <a:pt x="247629" y="276351"/>
                    <a:pt x="247629" y="266700"/>
                  </a:cubicBezTo>
                  <a:cubicBezTo>
                    <a:pt x="247629" y="257049"/>
                    <a:pt x="240412" y="248923"/>
                    <a:pt x="230829" y="247783"/>
                  </a:cubicBezTo>
                  <a:lnTo>
                    <a:pt x="228600" y="247650"/>
                  </a:lnTo>
                  <a:lnTo>
                    <a:pt x="171450" y="247650"/>
                  </a:lnTo>
                  <a:lnTo>
                    <a:pt x="171450" y="209550"/>
                  </a:lnTo>
                  <a:lnTo>
                    <a:pt x="209550" y="209550"/>
                  </a:lnTo>
                  <a:lnTo>
                    <a:pt x="212407" y="209455"/>
                  </a:lnTo>
                  <a:cubicBezTo>
                    <a:pt x="231151" y="208046"/>
                    <a:pt x="246066" y="193179"/>
                    <a:pt x="247536" y="174441"/>
                  </a:cubicBezTo>
                  <a:lnTo>
                    <a:pt x="247650" y="171450"/>
                  </a:lnTo>
                  <a:lnTo>
                    <a:pt x="247650" y="133350"/>
                  </a:lnTo>
                  <a:lnTo>
                    <a:pt x="247555" y="130492"/>
                  </a:lnTo>
                  <a:cubicBezTo>
                    <a:pt x="246146" y="111749"/>
                    <a:pt x="231279" y="96834"/>
                    <a:pt x="212541" y="95364"/>
                  </a:cubicBezTo>
                  <a:lnTo>
                    <a:pt x="209550" y="95250"/>
                  </a:lnTo>
                  <a:close/>
                </a:path>
              </a:pathLst>
            </a:custGeom>
            <a:solidFill>
              <a:schemeClr val="accent1"/>
            </a:solidFill>
            <a:ln>
              <a:noFill/>
            </a:ln>
          </p:spPr>
        </p:sp>
        <p:sp>
          <p:nvSpPr>
            <p:cNvPr id="19" name="Freeform 19"/>
            <p:cNvSpPr/>
            <p:nvPr/>
          </p:nvSpPr>
          <p:spPr>
            <a:xfrm>
              <a:off x="1320800" y="2781300"/>
              <a:ext cx="253999" cy="241894"/>
            </a:xfrm>
            <a:custGeom>
              <a:avLst/>
              <a:gdLst/>
              <a:ahLst/>
              <a:cxnLst/>
              <a:rect l="l" t="t" r="r" b="b"/>
              <a:pathLst>
                <a:path w="253999" h="241894">
                  <a:moveTo>
                    <a:pt x="203199" y="0"/>
                  </a:moveTo>
                  <a:cubicBezTo>
                    <a:pt x="231255" y="0"/>
                    <a:pt x="253999" y="22744"/>
                    <a:pt x="253999" y="50800"/>
                  </a:cubicBezTo>
                  <a:lnTo>
                    <a:pt x="253999" y="152400"/>
                  </a:lnTo>
                  <a:cubicBezTo>
                    <a:pt x="253999" y="180456"/>
                    <a:pt x="231255" y="203199"/>
                    <a:pt x="203199" y="203199"/>
                  </a:cubicBezTo>
                  <a:lnTo>
                    <a:pt x="143205" y="203199"/>
                  </a:lnTo>
                  <a:lnTo>
                    <a:pt x="82728" y="239483"/>
                  </a:lnTo>
                  <a:cubicBezTo>
                    <a:pt x="79027" y="241704"/>
                    <a:pt x="74451" y="241894"/>
                    <a:pt x="70580" y="239986"/>
                  </a:cubicBezTo>
                  <a:cubicBezTo>
                    <a:pt x="66708" y="238078"/>
                    <a:pt x="64070" y="234335"/>
                    <a:pt x="63576" y="230047"/>
                  </a:cubicBezTo>
                  <a:lnTo>
                    <a:pt x="63500" y="228599"/>
                  </a:lnTo>
                  <a:lnTo>
                    <a:pt x="63500" y="203199"/>
                  </a:lnTo>
                  <a:lnTo>
                    <a:pt x="50800" y="203199"/>
                  </a:lnTo>
                  <a:cubicBezTo>
                    <a:pt x="23731" y="203200"/>
                    <a:pt x="1417" y="181974"/>
                    <a:pt x="63" y="154940"/>
                  </a:cubicBezTo>
                  <a:lnTo>
                    <a:pt x="0" y="152400"/>
                  </a:lnTo>
                  <a:lnTo>
                    <a:pt x="0" y="50800"/>
                  </a:lnTo>
                  <a:cubicBezTo>
                    <a:pt x="0" y="22744"/>
                    <a:pt x="22744" y="0"/>
                    <a:pt x="50800" y="0"/>
                  </a:cubicBezTo>
                  <a:close/>
                  <a:moveTo>
                    <a:pt x="167640" y="117932"/>
                  </a:moveTo>
                  <a:cubicBezTo>
                    <a:pt x="162631" y="113023"/>
                    <a:pt x="154592" y="113102"/>
                    <a:pt x="149682" y="118110"/>
                  </a:cubicBezTo>
                  <a:cubicBezTo>
                    <a:pt x="143710" y="124207"/>
                    <a:pt x="135534" y="127643"/>
                    <a:pt x="127000" y="127643"/>
                  </a:cubicBezTo>
                  <a:cubicBezTo>
                    <a:pt x="118465" y="127643"/>
                    <a:pt x="110290" y="124207"/>
                    <a:pt x="104318" y="118110"/>
                  </a:cubicBezTo>
                  <a:cubicBezTo>
                    <a:pt x="99386" y="113222"/>
                    <a:pt x="91444" y="113200"/>
                    <a:pt x="86486" y="118061"/>
                  </a:cubicBezTo>
                  <a:cubicBezTo>
                    <a:pt x="81528" y="122921"/>
                    <a:pt x="81393" y="130863"/>
                    <a:pt x="86182" y="135890"/>
                  </a:cubicBezTo>
                  <a:cubicBezTo>
                    <a:pt x="96931" y="146858"/>
                    <a:pt x="111642" y="153039"/>
                    <a:pt x="127000" y="153039"/>
                  </a:cubicBezTo>
                  <a:cubicBezTo>
                    <a:pt x="142357" y="153039"/>
                    <a:pt x="157068" y="146858"/>
                    <a:pt x="167817" y="135890"/>
                  </a:cubicBezTo>
                  <a:cubicBezTo>
                    <a:pt x="172726" y="130881"/>
                    <a:pt x="172647" y="122842"/>
                    <a:pt x="167640" y="117932"/>
                  </a:cubicBezTo>
                  <a:moveTo>
                    <a:pt x="95377" y="63500"/>
                  </a:moveTo>
                  <a:lnTo>
                    <a:pt x="95250" y="63500"/>
                  </a:lnTo>
                  <a:cubicBezTo>
                    <a:pt x="88236" y="63500"/>
                    <a:pt x="82550" y="69186"/>
                    <a:pt x="82550" y="76200"/>
                  </a:cubicBezTo>
                  <a:cubicBezTo>
                    <a:pt x="82550" y="83214"/>
                    <a:pt x="88236" y="88900"/>
                    <a:pt x="95250" y="88900"/>
                  </a:cubicBezTo>
                  <a:lnTo>
                    <a:pt x="95377" y="88900"/>
                  </a:lnTo>
                  <a:cubicBezTo>
                    <a:pt x="102391" y="88900"/>
                    <a:pt x="108077" y="83214"/>
                    <a:pt x="108077" y="76200"/>
                  </a:cubicBezTo>
                  <a:cubicBezTo>
                    <a:pt x="108077" y="69186"/>
                    <a:pt x="102391" y="63500"/>
                    <a:pt x="95377" y="63500"/>
                  </a:cubicBezTo>
                  <a:moveTo>
                    <a:pt x="158877" y="63500"/>
                  </a:moveTo>
                  <a:lnTo>
                    <a:pt x="158750" y="63500"/>
                  </a:lnTo>
                  <a:cubicBezTo>
                    <a:pt x="151736" y="63500"/>
                    <a:pt x="146050" y="69186"/>
                    <a:pt x="146050" y="76200"/>
                  </a:cubicBezTo>
                  <a:cubicBezTo>
                    <a:pt x="146050" y="83214"/>
                    <a:pt x="151736" y="88900"/>
                    <a:pt x="158750" y="88900"/>
                  </a:cubicBezTo>
                  <a:lnTo>
                    <a:pt x="158877" y="88900"/>
                  </a:lnTo>
                  <a:cubicBezTo>
                    <a:pt x="165891" y="88900"/>
                    <a:pt x="171577" y="83214"/>
                    <a:pt x="171577" y="76200"/>
                  </a:cubicBezTo>
                  <a:cubicBezTo>
                    <a:pt x="171577" y="69186"/>
                    <a:pt x="165891" y="63500"/>
                    <a:pt x="158877" y="63500"/>
                  </a:cubicBezTo>
                </a:path>
              </a:pathLst>
            </a:custGeom>
            <a:solidFill>
              <a:schemeClr val="accent1"/>
            </a:solidFill>
            <a:ln>
              <a:noFill/>
            </a:ln>
          </p:spPr>
        </p:sp>
        <p:sp>
          <p:nvSpPr>
            <p:cNvPr id="20" name="TextBox 20"/>
            <p:cNvSpPr txBox="1"/>
            <p:nvPr/>
          </p:nvSpPr>
          <p:spPr>
            <a:xfrm>
              <a:off x="1721358" y="2579370"/>
              <a:ext cx="163738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j-lt"/>
                  <a:ea typeface="+mj-ea"/>
                  <a:cs typeface="+mj-cs"/>
                </a:rPr>
                <a:t>AIへ依頼する</a:t>
              </a:r>
            </a:p>
          </p:txBody>
        </p:sp>
        <p:sp>
          <p:nvSpPr>
            <p:cNvPr id="21" name="TextBox 21"/>
            <p:cNvSpPr txBox="1"/>
            <p:nvPr/>
          </p:nvSpPr>
          <p:spPr>
            <a:xfrm>
              <a:off x="1726692" y="3016568"/>
              <a:ext cx="531666"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4 画面</a:t>
              </a:r>
            </a:p>
          </p:txBody>
        </p:sp>
        <p:sp>
          <p:nvSpPr>
            <p:cNvPr id="22" name="Line 22"/>
            <p:cNvSpPr/>
            <p:nvPr/>
          </p:nvSpPr>
          <p:spPr>
            <a:xfrm>
              <a:off x="4762500" y="2647950"/>
              <a:ext cx="9525" cy="495300"/>
            </a:xfrm>
            <a:custGeom>
              <a:avLst/>
              <a:gdLst/>
              <a:ahLst/>
              <a:cxnLst/>
              <a:rect l="l" t="t" r="r" b="b"/>
              <a:pathLst>
                <a:path w="9525" h="495300">
                  <a:moveTo>
                    <a:pt x="0" y="0"/>
                  </a:moveTo>
                  <a:lnTo>
                    <a:pt x="0" y="495300"/>
                  </a:lnTo>
                </a:path>
              </a:pathLst>
            </a:custGeom>
            <a:noFill/>
            <a:ln w="9525">
              <a:solidFill>
                <a:schemeClr val="accent6"/>
              </a:solidFill>
            </a:ln>
          </p:spPr>
        </p:sp>
        <p:sp>
          <p:nvSpPr>
            <p:cNvPr id="23" name="TextBox 23"/>
            <p:cNvSpPr txBox="1"/>
            <p:nvPr/>
          </p:nvSpPr>
          <p:spPr>
            <a:xfrm>
              <a:off x="5058156" y="2777490"/>
              <a:ext cx="260421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AI に何を依頼するかを決めます</a:t>
              </a:r>
            </a:p>
          </p:txBody>
        </p:sp>
      </p:grpSp>
      <p:grpSp>
        <p:nvGrpSpPr>
          <p:cNvPr id="32" name="Group 32"/>
          <p:cNvGrpSpPr/>
          <p:nvPr/>
        </p:nvGrpSpPr>
        <p:grpSpPr>
          <a:xfrm>
            <a:off x="381000" y="3486150"/>
            <a:ext cx="11430000" cy="952500"/>
            <a:chOff x="381000" y="3486150"/>
            <a:chExt cx="11430000" cy="952500"/>
          </a:xfrm>
        </p:grpSpPr>
        <p:sp>
          <p:nvSpPr>
            <p:cNvPr id="25" name="Rectangle 25"/>
            <p:cNvSpPr/>
            <p:nvPr/>
          </p:nvSpPr>
          <p:spPr>
            <a:xfrm>
              <a:off x="381000" y="3486150"/>
              <a:ext cx="11430000" cy="952500"/>
            </a:xfrm>
            <a:prstGeom prst="roundRect">
              <a:avLst>
                <a:gd name="adj" fmla="val 16000"/>
              </a:avLst>
            </a:prstGeom>
            <a:solidFill>
              <a:schemeClr val="lt2"/>
            </a:solidFill>
            <a:ln>
              <a:noFill/>
            </a:ln>
          </p:spPr>
        </p:sp>
        <p:sp>
          <p:nvSpPr>
            <p:cNvPr id="26" name="Freeform 26"/>
            <p:cNvSpPr/>
            <p:nvPr/>
          </p:nvSpPr>
          <p:spPr>
            <a:xfrm>
              <a:off x="685800" y="3771900"/>
              <a:ext cx="381000" cy="381000"/>
            </a:xfrm>
            <a:custGeom>
              <a:avLst/>
              <a:gdLst/>
              <a:ahLst/>
              <a:cxnLst/>
              <a:rect l="l" t="t" r="r" b="b"/>
              <a:pathLst>
                <a:path w="381000" h="381000">
                  <a:moveTo>
                    <a:pt x="190500" y="0"/>
                  </a:moveTo>
                  <a:cubicBezTo>
                    <a:pt x="295713" y="0"/>
                    <a:pt x="381000" y="85287"/>
                    <a:pt x="381000" y="190500"/>
                  </a:cubicBezTo>
                  <a:cubicBezTo>
                    <a:pt x="381000" y="295713"/>
                    <a:pt x="295713" y="381000"/>
                    <a:pt x="190500" y="381000"/>
                  </a:cubicBezTo>
                  <a:cubicBezTo>
                    <a:pt x="85287" y="381000"/>
                    <a:pt x="0" y="295713"/>
                    <a:pt x="0" y="190500"/>
                  </a:cubicBezTo>
                  <a:cubicBezTo>
                    <a:pt x="0" y="85287"/>
                    <a:pt x="85287" y="0"/>
                    <a:pt x="190500" y="0"/>
                  </a:cubicBezTo>
                  <a:close/>
                  <a:moveTo>
                    <a:pt x="209550" y="95250"/>
                  </a:moveTo>
                  <a:lnTo>
                    <a:pt x="171450" y="95250"/>
                  </a:lnTo>
                  <a:lnTo>
                    <a:pt x="168593" y="95345"/>
                  </a:lnTo>
                  <a:cubicBezTo>
                    <a:pt x="148710" y="96841"/>
                    <a:pt x="133344" y="113412"/>
                    <a:pt x="133350" y="133350"/>
                  </a:cubicBezTo>
                  <a:cubicBezTo>
                    <a:pt x="133316" y="143043"/>
                    <a:pt x="140567" y="151216"/>
                    <a:pt x="150195" y="152338"/>
                  </a:cubicBezTo>
                  <a:cubicBezTo>
                    <a:pt x="159823" y="153460"/>
                    <a:pt x="168759" y="147173"/>
                    <a:pt x="170955" y="137731"/>
                  </a:cubicBezTo>
                  <a:lnTo>
                    <a:pt x="171336" y="135579"/>
                  </a:lnTo>
                  <a:lnTo>
                    <a:pt x="171450" y="133350"/>
                  </a:lnTo>
                  <a:lnTo>
                    <a:pt x="209550" y="133350"/>
                  </a:lnTo>
                  <a:lnTo>
                    <a:pt x="209550" y="171450"/>
                  </a:lnTo>
                  <a:lnTo>
                    <a:pt x="171450" y="171450"/>
                  </a:lnTo>
                  <a:lnTo>
                    <a:pt x="168916" y="171583"/>
                  </a:lnTo>
                  <a:cubicBezTo>
                    <a:pt x="147752" y="173869"/>
                    <a:pt x="146933" y="204540"/>
                    <a:pt x="166478" y="209017"/>
                  </a:cubicBezTo>
                  <a:lnTo>
                    <a:pt x="168916" y="209417"/>
                  </a:lnTo>
                  <a:lnTo>
                    <a:pt x="171450" y="209550"/>
                  </a:lnTo>
                  <a:lnTo>
                    <a:pt x="209550" y="209550"/>
                  </a:lnTo>
                  <a:lnTo>
                    <a:pt x="209550" y="247650"/>
                  </a:lnTo>
                  <a:lnTo>
                    <a:pt x="171450" y="247650"/>
                  </a:lnTo>
                  <a:lnTo>
                    <a:pt x="171317" y="245421"/>
                  </a:lnTo>
                  <a:cubicBezTo>
                    <a:pt x="170126" y="235412"/>
                    <a:pt x="161345" y="228063"/>
                    <a:pt x="151284" y="228654"/>
                  </a:cubicBezTo>
                  <a:cubicBezTo>
                    <a:pt x="141222" y="229245"/>
                    <a:pt x="133361" y="237571"/>
                    <a:pt x="133350" y="247650"/>
                  </a:cubicBezTo>
                  <a:cubicBezTo>
                    <a:pt x="133344" y="267588"/>
                    <a:pt x="148710" y="284159"/>
                    <a:pt x="168592" y="285655"/>
                  </a:cubicBezTo>
                  <a:lnTo>
                    <a:pt x="171450" y="285750"/>
                  </a:lnTo>
                  <a:lnTo>
                    <a:pt x="209550" y="285750"/>
                  </a:lnTo>
                  <a:lnTo>
                    <a:pt x="212407" y="285655"/>
                  </a:lnTo>
                  <a:cubicBezTo>
                    <a:pt x="231151" y="284246"/>
                    <a:pt x="246066" y="269379"/>
                    <a:pt x="247536" y="250641"/>
                  </a:cubicBezTo>
                  <a:lnTo>
                    <a:pt x="247650" y="247650"/>
                  </a:lnTo>
                  <a:lnTo>
                    <a:pt x="247650" y="209550"/>
                  </a:lnTo>
                  <a:lnTo>
                    <a:pt x="247555" y="206692"/>
                  </a:lnTo>
                  <a:cubicBezTo>
                    <a:pt x="247222" y="202301"/>
                    <a:pt x="246126" y="198001"/>
                    <a:pt x="244316" y="193986"/>
                  </a:cubicBezTo>
                  <a:lnTo>
                    <a:pt x="242888" y="191091"/>
                  </a:lnTo>
                  <a:lnTo>
                    <a:pt x="242526" y="190481"/>
                  </a:lnTo>
                  <a:lnTo>
                    <a:pt x="242907" y="189909"/>
                  </a:lnTo>
                  <a:cubicBezTo>
                    <a:pt x="245481" y="185237"/>
                    <a:pt x="247052" y="180079"/>
                    <a:pt x="247517" y="174765"/>
                  </a:cubicBezTo>
                  <a:lnTo>
                    <a:pt x="247650" y="171450"/>
                  </a:lnTo>
                  <a:lnTo>
                    <a:pt x="247650" y="133350"/>
                  </a:lnTo>
                  <a:lnTo>
                    <a:pt x="247555" y="130492"/>
                  </a:lnTo>
                  <a:cubicBezTo>
                    <a:pt x="246146" y="111749"/>
                    <a:pt x="231279" y="96834"/>
                    <a:pt x="212541" y="95364"/>
                  </a:cubicBezTo>
                  <a:lnTo>
                    <a:pt x="209550" y="95250"/>
                  </a:lnTo>
                  <a:close/>
                </a:path>
              </a:pathLst>
            </a:custGeom>
            <a:solidFill>
              <a:schemeClr val="accent1"/>
            </a:solidFill>
            <a:ln>
              <a:noFill/>
            </a:ln>
          </p:spPr>
        </p:sp>
        <p:sp>
          <p:nvSpPr>
            <p:cNvPr id="27" name="Freeform 27"/>
            <p:cNvSpPr/>
            <p:nvPr/>
          </p:nvSpPr>
          <p:spPr>
            <a:xfrm>
              <a:off x="1307547" y="3860800"/>
              <a:ext cx="279940" cy="203199"/>
            </a:xfrm>
            <a:custGeom>
              <a:avLst/>
              <a:gdLst/>
              <a:ahLst/>
              <a:cxnLst/>
              <a:rect l="l" t="t" r="r" b="b"/>
              <a:pathLst>
                <a:path w="279940" h="203199">
                  <a:moveTo>
                    <a:pt x="140253" y="0"/>
                  </a:moveTo>
                  <a:cubicBezTo>
                    <a:pt x="194736" y="0"/>
                    <a:pt x="240113" y="30848"/>
                    <a:pt x="275698" y="90856"/>
                  </a:cubicBezTo>
                  <a:lnTo>
                    <a:pt x="278492" y="95669"/>
                  </a:lnTo>
                  <a:lnTo>
                    <a:pt x="279064" y="96939"/>
                  </a:lnTo>
                  <a:lnTo>
                    <a:pt x="279445" y="97993"/>
                  </a:lnTo>
                  <a:lnTo>
                    <a:pt x="279622" y="98691"/>
                  </a:lnTo>
                  <a:lnTo>
                    <a:pt x="279800" y="99733"/>
                  </a:lnTo>
                  <a:lnTo>
                    <a:pt x="279940" y="101003"/>
                  </a:lnTo>
                  <a:lnTo>
                    <a:pt x="279940" y="102400"/>
                  </a:lnTo>
                  <a:lnTo>
                    <a:pt x="279762" y="103810"/>
                  </a:lnTo>
                  <a:cubicBezTo>
                    <a:pt x="279679" y="104281"/>
                    <a:pt x="279568" y="104748"/>
                    <a:pt x="279432" y="105207"/>
                  </a:cubicBezTo>
                  <a:lnTo>
                    <a:pt x="278937" y="106578"/>
                  </a:lnTo>
                  <a:lnTo>
                    <a:pt x="278479" y="107531"/>
                  </a:lnTo>
                  <a:lnTo>
                    <a:pt x="278276" y="107912"/>
                  </a:lnTo>
                  <a:cubicBezTo>
                    <a:pt x="243174" y="169329"/>
                    <a:pt x="198266" y="201637"/>
                    <a:pt x="144228" y="203149"/>
                  </a:cubicBezTo>
                  <a:lnTo>
                    <a:pt x="140253" y="203199"/>
                  </a:lnTo>
                  <a:cubicBezTo>
                    <a:pt x="84424" y="203199"/>
                    <a:pt x="38183" y="170827"/>
                    <a:pt x="2230" y="107899"/>
                  </a:cubicBezTo>
                  <a:cubicBezTo>
                    <a:pt x="0" y="103995"/>
                    <a:pt x="0" y="99204"/>
                    <a:pt x="2230" y="95301"/>
                  </a:cubicBezTo>
                  <a:cubicBezTo>
                    <a:pt x="38183" y="32372"/>
                    <a:pt x="84424" y="0"/>
                    <a:pt x="140253" y="0"/>
                  </a:cubicBezTo>
                  <a:close/>
                  <a:moveTo>
                    <a:pt x="140253" y="63500"/>
                  </a:moveTo>
                  <a:cubicBezTo>
                    <a:pt x="119211" y="63500"/>
                    <a:pt x="102153" y="80558"/>
                    <a:pt x="102153" y="101600"/>
                  </a:cubicBezTo>
                  <a:cubicBezTo>
                    <a:pt x="102153" y="122642"/>
                    <a:pt x="119211" y="139700"/>
                    <a:pt x="140253" y="139700"/>
                  </a:cubicBezTo>
                  <a:cubicBezTo>
                    <a:pt x="161295" y="139700"/>
                    <a:pt x="178353" y="122642"/>
                    <a:pt x="178353" y="101600"/>
                  </a:cubicBezTo>
                  <a:cubicBezTo>
                    <a:pt x="178353" y="80558"/>
                    <a:pt x="161295" y="63500"/>
                    <a:pt x="140253" y="63500"/>
                  </a:cubicBezTo>
                </a:path>
              </a:pathLst>
            </a:custGeom>
            <a:solidFill>
              <a:schemeClr val="accent1"/>
            </a:solidFill>
            <a:ln>
              <a:noFill/>
            </a:ln>
          </p:spPr>
        </p:sp>
        <p:sp>
          <p:nvSpPr>
            <p:cNvPr id="28" name="TextBox 28"/>
            <p:cNvSpPr txBox="1"/>
            <p:nvPr/>
          </p:nvSpPr>
          <p:spPr>
            <a:xfrm>
              <a:off x="1721358" y="3646170"/>
              <a:ext cx="194110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j-lt"/>
                  <a:ea typeface="+mj-ea"/>
                  <a:cs typeface="+mj-cs"/>
                </a:rPr>
                <a:t>返答を取り込む</a:t>
              </a:r>
            </a:p>
          </p:txBody>
        </p:sp>
        <p:sp>
          <p:nvSpPr>
            <p:cNvPr id="29" name="TextBox 29"/>
            <p:cNvSpPr txBox="1"/>
            <p:nvPr/>
          </p:nvSpPr>
          <p:spPr>
            <a:xfrm>
              <a:off x="1726692" y="4083368"/>
              <a:ext cx="531666"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3 画面</a:t>
              </a:r>
            </a:p>
          </p:txBody>
        </p:sp>
        <p:sp>
          <p:nvSpPr>
            <p:cNvPr id="30" name="Line 30"/>
            <p:cNvSpPr/>
            <p:nvPr/>
          </p:nvSpPr>
          <p:spPr>
            <a:xfrm>
              <a:off x="4762500" y="3714750"/>
              <a:ext cx="9525" cy="495300"/>
            </a:xfrm>
            <a:custGeom>
              <a:avLst/>
              <a:gdLst/>
              <a:ahLst/>
              <a:cxnLst/>
              <a:rect l="l" t="t" r="r" b="b"/>
              <a:pathLst>
                <a:path w="9525" h="495300">
                  <a:moveTo>
                    <a:pt x="0" y="0"/>
                  </a:moveTo>
                  <a:lnTo>
                    <a:pt x="0" y="495300"/>
                  </a:lnTo>
                </a:path>
              </a:pathLst>
            </a:custGeom>
            <a:noFill/>
            <a:ln w="9525">
              <a:solidFill>
                <a:schemeClr val="accent6"/>
              </a:solidFill>
            </a:ln>
          </p:spPr>
        </p:sp>
        <p:sp>
          <p:nvSpPr>
            <p:cNvPr id="31" name="TextBox 31"/>
            <p:cNvSpPr txBox="1"/>
            <p:nvPr/>
          </p:nvSpPr>
          <p:spPr>
            <a:xfrm>
              <a:off x="5058156" y="3844290"/>
              <a:ext cx="286024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AI の変更を採用するかを決めます</a:t>
              </a:r>
            </a:p>
          </p:txBody>
        </p:sp>
      </p:grpSp>
      <p:grpSp>
        <p:nvGrpSpPr>
          <p:cNvPr id="40" name="Group 40"/>
          <p:cNvGrpSpPr/>
          <p:nvPr/>
        </p:nvGrpSpPr>
        <p:grpSpPr>
          <a:xfrm>
            <a:off x="381000" y="4552950"/>
            <a:ext cx="11430000" cy="952500"/>
            <a:chOff x="381000" y="4552950"/>
            <a:chExt cx="11430000" cy="952500"/>
          </a:xfrm>
        </p:grpSpPr>
        <p:sp>
          <p:nvSpPr>
            <p:cNvPr id="33" name="Rectangle 33"/>
            <p:cNvSpPr/>
            <p:nvPr/>
          </p:nvSpPr>
          <p:spPr>
            <a:xfrm>
              <a:off x="381000" y="4552950"/>
              <a:ext cx="11430000" cy="952500"/>
            </a:xfrm>
            <a:prstGeom prst="roundRect">
              <a:avLst>
                <a:gd name="adj" fmla="val 16000"/>
              </a:avLst>
            </a:prstGeom>
            <a:solidFill>
              <a:schemeClr val="accent5"/>
            </a:solidFill>
            <a:ln>
              <a:noFill/>
            </a:ln>
          </p:spPr>
        </p:sp>
        <p:sp>
          <p:nvSpPr>
            <p:cNvPr id="34" name="Freeform 34"/>
            <p:cNvSpPr/>
            <p:nvPr/>
          </p:nvSpPr>
          <p:spPr>
            <a:xfrm>
              <a:off x="685800" y="4838700"/>
              <a:ext cx="381000" cy="381000"/>
            </a:xfrm>
            <a:custGeom>
              <a:avLst/>
              <a:gdLst/>
              <a:ahLst/>
              <a:cxnLst/>
              <a:rect l="l" t="t" r="r" b="b"/>
              <a:pathLst>
                <a:path w="381000" h="381000">
                  <a:moveTo>
                    <a:pt x="190500" y="0"/>
                  </a:moveTo>
                  <a:cubicBezTo>
                    <a:pt x="295713" y="0"/>
                    <a:pt x="381000" y="85287"/>
                    <a:pt x="381000" y="190500"/>
                  </a:cubicBezTo>
                  <a:cubicBezTo>
                    <a:pt x="381000" y="295713"/>
                    <a:pt x="295713" y="381000"/>
                    <a:pt x="190500" y="381000"/>
                  </a:cubicBezTo>
                  <a:cubicBezTo>
                    <a:pt x="85287" y="381000"/>
                    <a:pt x="0" y="295713"/>
                    <a:pt x="0" y="190500"/>
                  </a:cubicBezTo>
                  <a:cubicBezTo>
                    <a:pt x="0" y="85287"/>
                    <a:pt x="85287" y="0"/>
                    <a:pt x="190500" y="0"/>
                  </a:cubicBezTo>
                  <a:close/>
                  <a:moveTo>
                    <a:pt x="228600" y="95250"/>
                  </a:moveTo>
                  <a:cubicBezTo>
                    <a:pt x="218942" y="95251"/>
                    <a:pt x="210813" y="102480"/>
                    <a:pt x="209683" y="112071"/>
                  </a:cubicBezTo>
                  <a:lnTo>
                    <a:pt x="209550" y="114300"/>
                  </a:lnTo>
                  <a:lnTo>
                    <a:pt x="209550" y="171450"/>
                  </a:lnTo>
                  <a:lnTo>
                    <a:pt x="171450" y="171450"/>
                  </a:lnTo>
                  <a:lnTo>
                    <a:pt x="171450" y="114300"/>
                  </a:lnTo>
                  <a:lnTo>
                    <a:pt x="171317" y="112071"/>
                  </a:lnTo>
                  <a:cubicBezTo>
                    <a:pt x="170177" y="102488"/>
                    <a:pt x="162051" y="95271"/>
                    <a:pt x="152400" y="95271"/>
                  </a:cubicBezTo>
                  <a:cubicBezTo>
                    <a:pt x="142749" y="95271"/>
                    <a:pt x="134623" y="102488"/>
                    <a:pt x="133483" y="112071"/>
                  </a:cubicBezTo>
                  <a:lnTo>
                    <a:pt x="133350" y="114300"/>
                  </a:lnTo>
                  <a:lnTo>
                    <a:pt x="133350" y="171450"/>
                  </a:lnTo>
                  <a:lnTo>
                    <a:pt x="133445" y="174307"/>
                  </a:lnTo>
                  <a:cubicBezTo>
                    <a:pt x="134854" y="193051"/>
                    <a:pt x="149721" y="207966"/>
                    <a:pt x="168459" y="209436"/>
                  </a:cubicBezTo>
                  <a:lnTo>
                    <a:pt x="171450" y="209550"/>
                  </a:lnTo>
                  <a:lnTo>
                    <a:pt x="209550" y="209550"/>
                  </a:lnTo>
                  <a:lnTo>
                    <a:pt x="209550" y="266700"/>
                  </a:lnTo>
                  <a:lnTo>
                    <a:pt x="209683" y="268929"/>
                  </a:lnTo>
                  <a:cubicBezTo>
                    <a:pt x="210823" y="278512"/>
                    <a:pt x="218949" y="285729"/>
                    <a:pt x="228600" y="285729"/>
                  </a:cubicBezTo>
                  <a:cubicBezTo>
                    <a:pt x="238251" y="285729"/>
                    <a:pt x="246377" y="278512"/>
                    <a:pt x="247517" y="268929"/>
                  </a:cubicBezTo>
                  <a:lnTo>
                    <a:pt x="247650" y="266700"/>
                  </a:lnTo>
                  <a:lnTo>
                    <a:pt x="247650" y="114300"/>
                  </a:lnTo>
                  <a:lnTo>
                    <a:pt x="247517" y="112071"/>
                  </a:lnTo>
                  <a:cubicBezTo>
                    <a:pt x="246387" y="102480"/>
                    <a:pt x="238258" y="95251"/>
                    <a:pt x="228600" y="95250"/>
                  </a:cubicBezTo>
                  <a:close/>
                </a:path>
              </a:pathLst>
            </a:custGeom>
            <a:solidFill>
              <a:schemeClr val="accent1"/>
            </a:solidFill>
            <a:ln>
              <a:noFill/>
            </a:ln>
          </p:spPr>
        </p:sp>
        <p:sp>
          <p:nvSpPr>
            <p:cNvPr id="35" name="Freeform 35"/>
            <p:cNvSpPr/>
            <p:nvPr/>
          </p:nvSpPr>
          <p:spPr>
            <a:xfrm>
              <a:off x="1320800" y="4896511"/>
              <a:ext cx="267081" cy="267518"/>
            </a:xfrm>
            <a:custGeom>
              <a:avLst/>
              <a:gdLst/>
              <a:ahLst/>
              <a:cxnLst/>
              <a:rect l="l" t="t" r="r" b="b"/>
              <a:pathLst>
                <a:path w="267081" h="267518">
                  <a:moveTo>
                    <a:pt x="190500" y="22707"/>
                  </a:moveTo>
                  <a:cubicBezTo>
                    <a:pt x="243425" y="53266"/>
                    <a:pt x="267081" y="117187"/>
                    <a:pt x="246798" y="174837"/>
                  </a:cubicBezTo>
                  <a:cubicBezTo>
                    <a:pt x="226516" y="232488"/>
                    <a:pt x="168049" y="267518"/>
                    <a:pt x="107648" y="258207"/>
                  </a:cubicBezTo>
                  <a:cubicBezTo>
                    <a:pt x="47247" y="248896"/>
                    <a:pt x="2043" y="197886"/>
                    <a:pt x="63" y="136803"/>
                  </a:cubicBezTo>
                  <a:lnTo>
                    <a:pt x="0" y="132688"/>
                  </a:lnTo>
                  <a:lnTo>
                    <a:pt x="63" y="128574"/>
                  </a:lnTo>
                  <a:cubicBezTo>
                    <a:pt x="1510" y="83958"/>
                    <a:pt x="26274" y="43379"/>
                    <a:pt x="65289" y="21689"/>
                  </a:cubicBezTo>
                  <a:cubicBezTo>
                    <a:pt x="104304" y="0"/>
                    <a:pt x="151842" y="386"/>
                    <a:pt x="190500" y="22707"/>
                  </a:cubicBezTo>
                  <a:close/>
                  <a:moveTo>
                    <a:pt x="174078" y="98310"/>
                  </a:moveTo>
                  <a:cubicBezTo>
                    <a:pt x="169554" y="93786"/>
                    <a:pt x="162370" y="93334"/>
                    <a:pt x="157315" y="97256"/>
                  </a:cubicBezTo>
                  <a:lnTo>
                    <a:pt x="156121" y="98310"/>
                  </a:lnTo>
                  <a:lnTo>
                    <a:pt x="114300" y="140118"/>
                  </a:lnTo>
                  <a:lnTo>
                    <a:pt x="97879" y="123710"/>
                  </a:lnTo>
                  <a:lnTo>
                    <a:pt x="96685" y="122656"/>
                  </a:lnTo>
                  <a:cubicBezTo>
                    <a:pt x="91629" y="118737"/>
                    <a:pt x="84448" y="119190"/>
                    <a:pt x="79924" y="123713"/>
                  </a:cubicBezTo>
                  <a:cubicBezTo>
                    <a:pt x="75401" y="128236"/>
                    <a:pt x="74948" y="135418"/>
                    <a:pt x="78867" y="140474"/>
                  </a:cubicBezTo>
                  <a:lnTo>
                    <a:pt x="79921" y="141667"/>
                  </a:lnTo>
                  <a:lnTo>
                    <a:pt x="105321" y="167067"/>
                  </a:lnTo>
                  <a:lnTo>
                    <a:pt x="106515" y="168121"/>
                  </a:lnTo>
                  <a:cubicBezTo>
                    <a:pt x="111096" y="171676"/>
                    <a:pt x="117503" y="171676"/>
                    <a:pt x="122085" y="168121"/>
                  </a:cubicBezTo>
                  <a:lnTo>
                    <a:pt x="123279" y="167067"/>
                  </a:lnTo>
                  <a:lnTo>
                    <a:pt x="174078" y="116267"/>
                  </a:lnTo>
                  <a:lnTo>
                    <a:pt x="175133" y="115074"/>
                  </a:lnTo>
                  <a:cubicBezTo>
                    <a:pt x="179054" y="110018"/>
                    <a:pt x="178603" y="102834"/>
                    <a:pt x="174078" y="98310"/>
                  </a:cubicBezTo>
                  <a:close/>
                </a:path>
              </a:pathLst>
            </a:custGeom>
            <a:solidFill>
              <a:schemeClr val="accent1"/>
            </a:solidFill>
            <a:ln>
              <a:noFill/>
            </a:ln>
          </p:spPr>
        </p:sp>
        <p:sp>
          <p:nvSpPr>
            <p:cNvPr id="36" name="TextBox 36"/>
            <p:cNvSpPr txBox="1"/>
            <p:nvPr/>
          </p:nvSpPr>
          <p:spPr>
            <a:xfrm>
              <a:off x="1721358" y="4712970"/>
              <a:ext cx="1296543"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j-lt"/>
                  <a:ea typeface="+mj-ea"/>
                  <a:cs typeface="+mj-cs"/>
                </a:rPr>
                <a:t>ブックを作る</a:t>
              </a:r>
            </a:p>
          </p:txBody>
        </p:sp>
        <p:sp>
          <p:nvSpPr>
            <p:cNvPr id="37" name="TextBox 37"/>
            <p:cNvSpPr txBox="1"/>
            <p:nvPr/>
          </p:nvSpPr>
          <p:spPr>
            <a:xfrm>
              <a:off x="1726692" y="5150168"/>
              <a:ext cx="531666"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3 画面</a:t>
              </a:r>
            </a:p>
          </p:txBody>
        </p:sp>
        <p:sp>
          <p:nvSpPr>
            <p:cNvPr id="38" name="Line 38"/>
            <p:cNvSpPr/>
            <p:nvPr/>
          </p:nvSpPr>
          <p:spPr>
            <a:xfrm>
              <a:off x="4762500" y="4781550"/>
              <a:ext cx="9525" cy="495300"/>
            </a:xfrm>
            <a:custGeom>
              <a:avLst/>
              <a:gdLst/>
              <a:ahLst/>
              <a:cxnLst/>
              <a:rect l="l" t="t" r="r" b="b"/>
              <a:pathLst>
                <a:path w="9525" h="495300">
                  <a:moveTo>
                    <a:pt x="0" y="0"/>
                  </a:moveTo>
                  <a:lnTo>
                    <a:pt x="0" y="495300"/>
                  </a:lnTo>
                </a:path>
              </a:pathLst>
            </a:custGeom>
            <a:noFill/>
            <a:ln w="9525">
              <a:solidFill>
                <a:schemeClr val="accent6"/>
              </a:solidFill>
            </a:ln>
          </p:spPr>
        </p:sp>
        <p:sp>
          <p:nvSpPr>
            <p:cNvPr id="39" name="TextBox 39"/>
            <p:cNvSpPr txBox="1"/>
            <p:nvPr/>
          </p:nvSpPr>
          <p:spPr>
            <a:xfrm>
              <a:off x="5058156" y="4911090"/>
              <a:ext cx="24293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出力名を確認してビルドします</a:t>
              </a:r>
            </a:p>
          </p:txBody>
        </p:sp>
      </p:grpSp>
      <p:grpSp>
        <p:nvGrpSpPr>
          <p:cNvPr id="43" name="Group 43"/>
          <p:cNvGrpSpPr/>
          <p:nvPr/>
        </p:nvGrpSpPr>
        <p:grpSpPr>
          <a:xfrm>
            <a:off x="381000" y="5676900"/>
            <a:ext cx="11430000" cy="533400"/>
            <a:chOff x="381000" y="5676900"/>
            <a:chExt cx="11430000" cy="533400"/>
          </a:xfrm>
        </p:grpSpPr>
        <p:sp>
          <p:nvSpPr>
            <p:cNvPr id="41" name="Rectangle 41"/>
            <p:cNvSpPr/>
            <p:nvPr/>
          </p:nvSpPr>
          <p:spPr>
            <a:xfrm>
              <a:off x="381000" y="5676900"/>
              <a:ext cx="11430000" cy="533400"/>
            </a:xfrm>
            <a:prstGeom prst="roundRect">
              <a:avLst>
                <a:gd name="adj" fmla="val 28571"/>
              </a:avLst>
            </a:prstGeom>
            <a:solidFill>
              <a:schemeClr val="lt1"/>
            </a:solidFill>
            <a:ln w="19050">
              <a:solidFill>
                <a:schemeClr val="accent1"/>
              </a:solidFill>
            </a:ln>
          </p:spPr>
        </p:sp>
        <p:sp>
          <p:nvSpPr>
            <p:cNvPr id="42" name="TextBox 42"/>
            <p:cNvSpPr txBox="1"/>
            <p:nvPr/>
          </p:nvSpPr>
          <p:spPr>
            <a:xfrm>
              <a:off x="638556" y="5825490"/>
              <a:ext cx="698487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右下の［次へ］は、その画面ですべきことが終わるまで押せません。押せたら合図です。</a:t>
              </a:r>
            </a:p>
          </p:txBody>
        </p:sp>
      </p:grpSp>
      <p:grpSp>
        <p:nvGrpSpPr>
          <p:cNvPr id="46" name="Group 46"/>
          <p:cNvGrpSpPr/>
          <p:nvPr/>
        </p:nvGrpSpPr>
        <p:grpSpPr>
          <a:xfrm>
            <a:off x="374904" y="6461760"/>
            <a:ext cx="11442192" cy="234696"/>
            <a:chOff x="374904" y="6461760"/>
            <a:chExt cx="11442192" cy="234696"/>
          </a:xfrm>
        </p:grpSpPr>
        <p:sp>
          <p:nvSpPr>
            <p:cNvPr id="44" name="TextBox 44"/>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45" name="TextBox 45"/>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869086" y="568642"/>
              <a:ext cx="4335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はじめに</a:t>
              </a:r>
            </a:p>
          </p:txBody>
        </p:sp>
        <p:sp>
          <p:nvSpPr>
            <p:cNvPr id="4" name="TextBox 4"/>
            <p:cNvSpPr txBox="1"/>
            <p:nvPr/>
          </p:nvSpPr>
          <p:spPr>
            <a:xfrm>
              <a:off x="1946148" y="479108"/>
              <a:ext cx="170171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はじめる前に</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7" name="Group 17"/>
          <p:cNvGrpSpPr/>
          <p:nvPr/>
        </p:nvGrpSpPr>
        <p:grpSpPr>
          <a:xfrm>
            <a:off x="381000" y="1409700"/>
            <a:ext cx="5600700" cy="2743200"/>
            <a:chOff x="381000" y="1409700"/>
            <a:chExt cx="5600700" cy="2743200"/>
          </a:xfrm>
        </p:grpSpPr>
        <p:sp>
          <p:nvSpPr>
            <p:cNvPr id="7" name="Rectangle 7"/>
            <p:cNvSpPr/>
            <p:nvPr/>
          </p:nvSpPr>
          <p:spPr>
            <a:xfrm>
              <a:off x="381000" y="1409700"/>
              <a:ext cx="5600700" cy="2743200"/>
            </a:xfrm>
            <a:prstGeom prst="roundRect">
              <a:avLst>
                <a:gd name="adj" fmla="val 5556"/>
              </a:avLst>
            </a:prstGeom>
            <a:solidFill>
              <a:schemeClr val="lt1"/>
            </a:solidFill>
            <a:ln w="9525">
              <a:solidFill>
                <a:schemeClr val="accent6"/>
              </a:solidFill>
            </a:ln>
          </p:spPr>
        </p:sp>
        <p:sp>
          <p:nvSpPr>
            <p:cNvPr id="8" name="TextBox 8"/>
            <p:cNvSpPr txBox="1"/>
            <p:nvPr/>
          </p:nvSpPr>
          <p:spPr>
            <a:xfrm>
              <a:off x="635508" y="1607820"/>
              <a:ext cx="144920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用意するもの</a:t>
              </a:r>
            </a:p>
          </p:txBody>
        </p:sp>
        <p:sp>
          <p:nvSpPr>
            <p:cNvPr id="9" name="Ellipse 9"/>
            <p:cNvSpPr/>
            <p:nvPr/>
          </p:nvSpPr>
          <p:spPr>
            <a:xfrm>
              <a:off x="666750" y="2152650"/>
              <a:ext cx="266700" cy="266700"/>
            </a:xfrm>
            <a:prstGeom prst="ellipse">
              <a:avLst/>
            </a:prstGeom>
            <a:solidFill>
              <a:schemeClr val="accent1"/>
            </a:solidFill>
            <a:ln>
              <a:noFill/>
            </a:ln>
          </p:spPr>
        </p:sp>
        <p:sp>
          <p:nvSpPr>
            <p:cNvPr id="10" name="TextBox 10"/>
            <p:cNvSpPr txBox="1"/>
            <p:nvPr/>
          </p:nvSpPr>
          <p:spPr>
            <a:xfrm>
              <a:off x="747358" y="222313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j-lt"/>
                  <a:ea typeface="+mj-ea"/>
                  <a:cs typeface="+mj-cs"/>
                </a:rPr>
                <a:t>1</a:t>
              </a:r>
            </a:p>
          </p:txBody>
        </p:sp>
        <p:sp>
          <p:nvSpPr>
            <p:cNvPr id="11" name="TextBox 11"/>
            <p:cNvSpPr txBox="1"/>
            <p:nvPr/>
          </p:nvSpPr>
          <p:spPr>
            <a:xfrm>
              <a:off x="1038606" y="2167890"/>
              <a:ext cx="207678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改修したい Excel ブック</a:t>
              </a:r>
            </a:p>
          </p:txBody>
        </p:sp>
        <p:sp>
          <p:nvSpPr>
            <p:cNvPr id="12" name="TextBox 12"/>
            <p:cNvSpPr txBox="1"/>
            <p:nvPr/>
          </p:nvSpPr>
          <p:spPr>
            <a:xfrm>
              <a:off x="1040892" y="2521268"/>
              <a:ext cx="3794188" cy="511683"/>
            </a:xfrm>
            <a:prstGeom prst="rect">
              <a:avLst/>
            </a:prstGeom>
            <a:noFill/>
            <a:ln>
              <a:noFill/>
            </a:ln>
          </p:spPr>
          <p:txBody>
            <a:bodyPr wrap="square" lIns="0" tIns="0" rIns="0" bIns="0" anchor="t" anchorCtr="0"/>
            <a:lstStyle/>
            <a:p>
              <a:pPr algn="l">
                <a:lnSpc>
                  <a:spcPts val="1950"/>
                </a:lnSpc>
              </a:pPr>
              <a:r>
                <a:rPr lang="zh-CN" sz="1350" dirty="0">
                  <a:solidFill>
                    <a:srgbClr val="5D6B7A"/>
                  </a:solidFill>
                  <a:latin typeface="+mn-lt"/>
                  <a:ea typeface="+mn-ea"/>
                  <a:cs typeface="+mn-cs"/>
                </a:rPr>
                <a:t>.xlsm / .xlam / .xlsb / .xls　判定は拡張子ではなく中身で行うため、中に VBA があれば読み込めます</a:t>
              </a:r>
            </a:p>
          </p:txBody>
        </p:sp>
        <p:sp>
          <p:nvSpPr>
            <p:cNvPr id="13" name="Ellipse 13"/>
            <p:cNvSpPr/>
            <p:nvPr/>
          </p:nvSpPr>
          <p:spPr>
            <a:xfrm>
              <a:off x="666750" y="3181350"/>
              <a:ext cx="266700" cy="266700"/>
            </a:xfrm>
            <a:prstGeom prst="ellipse">
              <a:avLst/>
            </a:prstGeom>
            <a:solidFill>
              <a:schemeClr val="accent1"/>
            </a:solidFill>
            <a:ln>
              <a:noFill/>
            </a:ln>
          </p:spPr>
        </p:sp>
        <p:sp>
          <p:nvSpPr>
            <p:cNvPr id="14" name="TextBox 14"/>
            <p:cNvSpPr txBox="1"/>
            <p:nvPr/>
          </p:nvSpPr>
          <p:spPr>
            <a:xfrm>
              <a:off x="747358" y="325183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j-lt"/>
                  <a:ea typeface="+mj-ea"/>
                  <a:cs typeface="+mj-cs"/>
                </a:rPr>
                <a:t>2</a:t>
              </a:r>
            </a:p>
          </p:txBody>
        </p:sp>
        <p:sp>
          <p:nvSpPr>
            <p:cNvPr id="15" name="TextBox 15"/>
            <p:cNvSpPr txBox="1"/>
            <p:nvPr/>
          </p:nvSpPr>
          <p:spPr>
            <a:xfrm>
              <a:off x="1038606" y="3196590"/>
              <a:ext cx="21945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チャット AI が使えるブラウザ</a:t>
              </a:r>
            </a:p>
          </p:txBody>
        </p:sp>
        <p:sp>
          <p:nvSpPr>
            <p:cNvPr id="16" name="TextBox 16"/>
            <p:cNvSpPr txBox="1"/>
            <p:nvPr/>
          </p:nvSpPr>
          <p:spPr>
            <a:xfrm>
              <a:off x="1040892" y="3549968"/>
              <a:ext cx="2825496" cy="511683"/>
            </a:xfrm>
            <a:prstGeom prst="rect">
              <a:avLst/>
            </a:prstGeom>
            <a:noFill/>
            <a:ln>
              <a:noFill/>
            </a:ln>
          </p:spPr>
          <p:txBody>
            <a:bodyPr wrap="square" lIns="0" tIns="0" rIns="0" bIns="0" anchor="t" anchorCtr="0"/>
            <a:lstStyle/>
            <a:p>
              <a:pPr algn="l">
                <a:lnSpc>
                  <a:spcPts val="1950"/>
                </a:lnSpc>
              </a:pPr>
              <a:r>
                <a:rPr lang="zh-CN" sz="1350" dirty="0">
                  <a:solidFill>
                    <a:srgbClr val="5D6B7A"/>
                  </a:solidFill>
                  <a:latin typeface="+mn-lt"/>
                  <a:ea typeface="+mn-ea"/>
                  <a:cs typeface="+mn-cs"/>
                </a:rPr>
                <a:t>ファイルを添付できるものを使ってください（Microsoft 365 Copilot Chat など）</a:t>
              </a:r>
            </a:p>
          </p:txBody>
        </p:sp>
      </p:grpSp>
      <p:grpSp>
        <p:nvGrpSpPr>
          <p:cNvPr id="32" name="Group 32"/>
          <p:cNvGrpSpPr/>
          <p:nvPr/>
        </p:nvGrpSpPr>
        <p:grpSpPr>
          <a:xfrm>
            <a:off x="6210300" y="1409700"/>
            <a:ext cx="5600700" cy="2743200"/>
            <a:chOff x="6210300" y="1409700"/>
            <a:chExt cx="5600700" cy="2743200"/>
          </a:xfrm>
        </p:grpSpPr>
        <p:sp>
          <p:nvSpPr>
            <p:cNvPr id="18" name="Rectangle 18"/>
            <p:cNvSpPr/>
            <p:nvPr/>
          </p:nvSpPr>
          <p:spPr>
            <a:xfrm>
              <a:off x="6210300" y="1409700"/>
              <a:ext cx="5600700" cy="2743200"/>
            </a:xfrm>
            <a:prstGeom prst="roundRect">
              <a:avLst>
                <a:gd name="adj" fmla="val 5556"/>
              </a:avLst>
            </a:prstGeom>
            <a:solidFill>
              <a:schemeClr val="lt2"/>
            </a:solidFill>
            <a:ln>
              <a:noFill/>
            </a:ln>
          </p:spPr>
        </p:sp>
        <p:sp>
          <p:nvSpPr>
            <p:cNvPr id="19" name="TextBox 19"/>
            <p:cNvSpPr txBox="1"/>
            <p:nvPr/>
          </p:nvSpPr>
          <p:spPr>
            <a:xfrm>
              <a:off x="6464808" y="160782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動作要件</a:t>
              </a:r>
            </a:p>
          </p:txBody>
        </p:sp>
        <p:sp>
          <p:nvSpPr>
            <p:cNvPr id="20" name="Line 20"/>
            <p:cNvSpPr/>
            <p:nvPr/>
          </p:nvSpPr>
          <p:spPr>
            <a:xfrm>
              <a:off x="6477000" y="2057400"/>
              <a:ext cx="5067300" cy="9525"/>
            </a:xfrm>
            <a:custGeom>
              <a:avLst/>
              <a:gdLst/>
              <a:ahLst/>
              <a:cxnLst/>
              <a:rect l="l" t="t" r="r" b="b"/>
              <a:pathLst>
                <a:path w="5067300" h="9525">
                  <a:moveTo>
                    <a:pt x="0" y="0"/>
                  </a:moveTo>
                  <a:lnTo>
                    <a:pt x="5067300" y="0"/>
                  </a:lnTo>
                </a:path>
              </a:pathLst>
            </a:custGeom>
            <a:noFill/>
            <a:ln w="9525">
              <a:solidFill>
                <a:schemeClr val="accent6"/>
              </a:solidFill>
            </a:ln>
          </p:spPr>
        </p:sp>
        <p:sp>
          <p:nvSpPr>
            <p:cNvPr id="21" name="TextBox 21"/>
            <p:cNvSpPr txBox="1"/>
            <p:nvPr/>
          </p:nvSpPr>
          <p:spPr>
            <a:xfrm>
              <a:off x="6469380" y="2238375"/>
              <a:ext cx="292608" cy="293370"/>
            </a:xfrm>
            <a:prstGeom prst="rect">
              <a:avLst/>
            </a:prstGeom>
            <a:noFill/>
            <a:ln>
              <a:noFill/>
            </a:ln>
          </p:spPr>
          <p:txBody>
            <a:bodyPr wrap="none" lIns="0" tIns="0" rIns="0" bIns="0" anchor="t" anchorCtr="0">
              <a:spAutoFit/>
            </a:bodyPr>
            <a:lstStyle/>
            <a:p>
              <a:pPr algn="l"/>
              <a:r>
                <a:rPr lang="en-US" sz="1500" dirty="0">
                  <a:solidFill>
                    <a:srgbClr val="5D6B7A"/>
                  </a:solidFill>
                  <a:latin typeface="+mn-lt"/>
                  <a:ea typeface="+mn-ea"/>
                  <a:cs typeface="+mn-cs"/>
                </a:rPr>
                <a:t>OS</a:t>
              </a:r>
            </a:p>
          </p:txBody>
        </p:sp>
        <p:sp>
          <p:nvSpPr>
            <p:cNvPr id="22" name="TextBox 22"/>
            <p:cNvSpPr txBox="1"/>
            <p:nvPr/>
          </p:nvSpPr>
          <p:spPr>
            <a:xfrm>
              <a:off x="8374380" y="2238375"/>
              <a:ext cx="157249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Windows 10 / 11</a:t>
              </a:r>
            </a:p>
          </p:txBody>
        </p:sp>
        <p:sp>
          <p:nvSpPr>
            <p:cNvPr id="23" name="Line 23"/>
            <p:cNvSpPr/>
            <p:nvPr/>
          </p:nvSpPr>
          <p:spPr>
            <a:xfrm>
              <a:off x="6477000" y="2571750"/>
              <a:ext cx="5067300" cy="9525"/>
            </a:xfrm>
            <a:custGeom>
              <a:avLst/>
              <a:gdLst/>
              <a:ahLst/>
              <a:cxnLst/>
              <a:rect l="l" t="t" r="r" b="b"/>
              <a:pathLst>
                <a:path w="5067300" h="9525">
                  <a:moveTo>
                    <a:pt x="0" y="0"/>
                  </a:moveTo>
                  <a:lnTo>
                    <a:pt x="5067300" y="0"/>
                  </a:lnTo>
                </a:path>
              </a:pathLst>
            </a:custGeom>
            <a:noFill/>
            <a:ln w="9525">
              <a:solidFill>
                <a:schemeClr val="accent6"/>
              </a:solidFill>
            </a:ln>
          </p:spPr>
        </p:sp>
        <p:sp>
          <p:nvSpPr>
            <p:cNvPr id="24" name="TextBox 24"/>
            <p:cNvSpPr txBox="1"/>
            <p:nvPr/>
          </p:nvSpPr>
          <p:spPr>
            <a:xfrm>
              <a:off x="6469380" y="2752725"/>
              <a:ext cx="681609" cy="293370"/>
            </a:xfrm>
            <a:prstGeom prst="rect">
              <a:avLst/>
            </a:prstGeom>
            <a:noFill/>
            <a:ln>
              <a:noFill/>
            </a:ln>
          </p:spPr>
          <p:txBody>
            <a:bodyPr wrap="none" lIns="0" tIns="0" rIns="0" bIns="0" anchor="t" anchorCtr="0">
              <a:spAutoFit/>
            </a:bodyPr>
            <a:lstStyle/>
            <a:p>
              <a:pPr algn="l"/>
              <a:r>
                <a:rPr lang="en-US" sz="1500" dirty="0">
                  <a:solidFill>
                    <a:srgbClr val="5D6B7A"/>
                  </a:solidFill>
                  <a:latin typeface="+mn-lt"/>
                  <a:ea typeface="+mn-ea"/>
                  <a:cs typeface="+mn-cs"/>
                </a:rPr>
                <a:t>インストール</a:t>
              </a:r>
            </a:p>
          </p:txBody>
        </p:sp>
        <p:sp>
          <p:nvSpPr>
            <p:cNvPr id="25" name="TextBox 25"/>
            <p:cNvSpPr txBox="1"/>
            <p:nvPr/>
          </p:nvSpPr>
          <p:spPr>
            <a:xfrm>
              <a:off x="8374380" y="2752725"/>
              <a:ext cx="215569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不要（フォルダをコピーするだけ）</a:t>
              </a:r>
            </a:p>
          </p:txBody>
        </p:sp>
        <p:sp>
          <p:nvSpPr>
            <p:cNvPr id="26" name="Line 26"/>
            <p:cNvSpPr/>
            <p:nvPr/>
          </p:nvSpPr>
          <p:spPr>
            <a:xfrm>
              <a:off x="6477000" y="3086100"/>
              <a:ext cx="5067300" cy="9525"/>
            </a:xfrm>
            <a:custGeom>
              <a:avLst/>
              <a:gdLst/>
              <a:ahLst/>
              <a:cxnLst/>
              <a:rect l="l" t="t" r="r" b="b"/>
              <a:pathLst>
                <a:path w="5067300" h="9525">
                  <a:moveTo>
                    <a:pt x="0" y="0"/>
                  </a:moveTo>
                  <a:lnTo>
                    <a:pt x="5067300" y="0"/>
                  </a:lnTo>
                </a:path>
              </a:pathLst>
            </a:custGeom>
            <a:noFill/>
            <a:ln w="9525">
              <a:solidFill>
                <a:schemeClr val="accent6"/>
              </a:solidFill>
            </a:ln>
          </p:spPr>
        </p:sp>
        <p:sp>
          <p:nvSpPr>
            <p:cNvPr id="27" name="TextBox 27"/>
            <p:cNvSpPr txBox="1"/>
            <p:nvPr/>
          </p:nvSpPr>
          <p:spPr>
            <a:xfrm>
              <a:off x="6469380" y="3267075"/>
              <a:ext cx="525780" cy="293370"/>
            </a:xfrm>
            <a:prstGeom prst="rect">
              <a:avLst/>
            </a:prstGeom>
            <a:noFill/>
            <a:ln>
              <a:noFill/>
            </a:ln>
          </p:spPr>
          <p:txBody>
            <a:bodyPr wrap="none" lIns="0" tIns="0" rIns="0" bIns="0" anchor="t" anchorCtr="0">
              <a:spAutoFit/>
            </a:bodyPr>
            <a:lstStyle/>
            <a:p>
              <a:pPr algn="l"/>
              <a:r>
                <a:rPr lang="en-US" sz="1500" dirty="0">
                  <a:solidFill>
                    <a:srgbClr val="5D6B7A"/>
                  </a:solidFill>
                  <a:latin typeface="+mn-lt"/>
                  <a:ea typeface="+mn-ea"/>
                  <a:cs typeface="+mn-cs"/>
                </a:rPr>
                <a:t>Excel</a:t>
              </a:r>
            </a:p>
          </p:txBody>
        </p:sp>
        <p:sp>
          <p:nvSpPr>
            <p:cNvPr id="28" name="TextBox 28"/>
            <p:cNvSpPr txBox="1"/>
            <p:nvPr/>
          </p:nvSpPr>
          <p:spPr>
            <a:xfrm>
              <a:off x="8374380" y="3267075"/>
              <a:ext cx="137826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ツール自体には不要</a:t>
              </a:r>
            </a:p>
          </p:txBody>
        </p:sp>
        <p:sp>
          <p:nvSpPr>
            <p:cNvPr id="29" name="Line 29"/>
            <p:cNvSpPr/>
            <p:nvPr/>
          </p:nvSpPr>
          <p:spPr>
            <a:xfrm>
              <a:off x="6477000" y="3600450"/>
              <a:ext cx="5067300" cy="9525"/>
            </a:xfrm>
            <a:custGeom>
              <a:avLst/>
              <a:gdLst/>
              <a:ahLst/>
              <a:cxnLst/>
              <a:rect l="l" t="t" r="r" b="b"/>
              <a:pathLst>
                <a:path w="5067300" h="9525">
                  <a:moveTo>
                    <a:pt x="0" y="0"/>
                  </a:moveTo>
                  <a:lnTo>
                    <a:pt x="5067300" y="0"/>
                  </a:lnTo>
                </a:path>
              </a:pathLst>
            </a:custGeom>
            <a:noFill/>
            <a:ln w="9525">
              <a:solidFill>
                <a:schemeClr val="accent6"/>
              </a:solidFill>
            </a:ln>
          </p:spPr>
        </p:sp>
        <p:sp>
          <p:nvSpPr>
            <p:cNvPr id="30" name="TextBox 30"/>
            <p:cNvSpPr txBox="1"/>
            <p:nvPr/>
          </p:nvSpPr>
          <p:spPr>
            <a:xfrm>
              <a:off x="6469380" y="3781425"/>
              <a:ext cx="681609" cy="293370"/>
            </a:xfrm>
            <a:prstGeom prst="rect">
              <a:avLst/>
            </a:prstGeom>
            <a:noFill/>
            <a:ln>
              <a:noFill/>
            </a:ln>
          </p:spPr>
          <p:txBody>
            <a:bodyPr wrap="none" lIns="0" tIns="0" rIns="0" bIns="0" anchor="t" anchorCtr="0">
              <a:spAutoFit/>
            </a:bodyPr>
            <a:lstStyle/>
            <a:p>
              <a:pPr algn="l"/>
              <a:r>
                <a:rPr lang="en-US" sz="1500" dirty="0">
                  <a:solidFill>
                    <a:srgbClr val="5D6B7A"/>
                  </a:solidFill>
                  <a:latin typeface="+mn-lt"/>
                  <a:ea typeface="+mn-ea"/>
                  <a:cs typeface="+mn-cs"/>
                </a:rPr>
                <a:t>ネットワーク</a:t>
              </a:r>
            </a:p>
          </p:txBody>
        </p:sp>
        <p:sp>
          <p:nvSpPr>
            <p:cNvPr id="31" name="TextBox 31"/>
            <p:cNvSpPr txBox="1"/>
            <p:nvPr/>
          </p:nvSpPr>
          <p:spPr>
            <a:xfrm>
              <a:off x="8374380" y="3781425"/>
              <a:ext cx="126720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完全ローカル動作</a:t>
              </a:r>
            </a:p>
          </p:txBody>
        </p:sp>
      </p:grpSp>
      <p:grpSp>
        <p:nvGrpSpPr>
          <p:cNvPr id="38" name="Group 38"/>
          <p:cNvGrpSpPr/>
          <p:nvPr/>
        </p:nvGrpSpPr>
        <p:grpSpPr>
          <a:xfrm>
            <a:off x="381000" y="4343400"/>
            <a:ext cx="5600700" cy="1910334"/>
            <a:chOff x="381000" y="4343400"/>
            <a:chExt cx="5600700" cy="1910334"/>
          </a:xfrm>
        </p:grpSpPr>
        <p:sp>
          <p:nvSpPr>
            <p:cNvPr id="33" name="Rectangle 33"/>
            <p:cNvSpPr/>
            <p:nvPr/>
          </p:nvSpPr>
          <p:spPr>
            <a:xfrm>
              <a:off x="381000" y="4343400"/>
              <a:ext cx="5600700" cy="1866900"/>
            </a:xfrm>
            <a:prstGeom prst="roundRect">
              <a:avLst>
                <a:gd name="adj" fmla="val 8163"/>
              </a:avLst>
            </a:prstGeom>
            <a:solidFill>
              <a:schemeClr val="lt1"/>
            </a:solidFill>
            <a:ln w="19050">
              <a:solidFill>
                <a:schemeClr val="accent1"/>
              </a:solidFill>
            </a:ln>
          </p:spPr>
        </p:sp>
        <p:sp>
          <p:nvSpPr>
            <p:cNvPr id="34" name="TextBox 34"/>
            <p:cNvSpPr txBox="1"/>
            <p:nvPr/>
          </p:nvSpPr>
          <p:spPr>
            <a:xfrm>
              <a:off x="635508" y="4541520"/>
              <a:ext cx="144920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起動のしかた</a:t>
              </a:r>
            </a:p>
          </p:txBody>
        </p:sp>
        <p:sp>
          <p:nvSpPr>
            <p:cNvPr id="35" name="Rectangle 35"/>
            <p:cNvSpPr/>
            <p:nvPr/>
          </p:nvSpPr>
          <p:spPr>
            <a:xfrm>
              <a:off x="647700" y="4991100"/>
              <a:ext cx="2762250" cy="419100"/>
            </a:xfrm>
            <a:prstGeom prst="roundRect">
              <a:avLst>
                <a:gd name="adj" fmla="val 22727"/>
              </a:avLst>
            </a:prstGeom>
            <a:solidFill>
              <a:schemeClr val="accent5"/>
            </a:solidFill>
            <a:ln>
              <a:noFill/>
            </a:ln>
          </p:spPr>
        </p:sp>
        <p:sp>
          <p:nvSpPr>
            <p:cNvPr id="36" name="TextBox 36"/>
            <p:cNvSpPr txBox="1"/>
            <p:nvPr/>
          </p:nvSpPr>
          <p:spPr>
            <a:xfrm>
              <a:off x="829056" y="5082540"/>
              <a:ext cx="129044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Consolas"/>
                  <a:ea typeface="Consolas"/>
                  <a:cs typeface="Consolas"/>
                </a:rPr>
                <a:t>launch.vbs</a:t>
              </a:r>
            </a:p>
          </p:txBody>
        </p:sp>
        <p:sp>
          <p:nvSpPr>
            <p:cNvPr id="37" name="TextBox 37"/>
            <p:cNvSpPr txBox="1"/>
            <p:nvPr/>
          </p:nvSpPr>
          <p:spPr>
            <a:xfrm>
              <a:off x="638556" y="5577840"/>
              <a:ext cx="178993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をダブルクリックします。黒い画面は出ません。</a:t>
              </a:r>
            </a:p>
          </p:txBody>
        </p:sp>
      </p:grpSp>
      <p:grpSp>
        <p:nvGrpSpPr>
          <p:cNvPr id="50" name="Group 50"/>
          <p:cNvGrpSpPr/>
          <p:nvPr/>
        </p:nvGrpSpPr>
        <p:grpSpPr>
          <a:xfrm>
            <a:off x="6210300" y="4343400"/>
            <a:ext cx="5600700" cy="1866900"/>
            <a:chOff x="6210300" y="4343400"/>
            <a:chExt cx="5600700" cy="1866900"/>
          </a:xfrm>
        </p:grpSpPr>
        <p:sp>
          <p:nvSpPr>
            <p:cNvPr id="39" name="Rectangle 39"/>
            <p:cNvSpPr/>
            <p:nvPr/>
          </p:nvSpPr>
          <p:spPr>
            <a:xfrm>
              <a:off x="6210300" y="4343400"/>
              <a:ext cx="5600700" cy="1866900"/>
            </a:xfrm>
            <a:prstGeom prst="roundRect">
              <a:avLst>
                <a:gd name="adj" fmla="val 8163"/>
              </a:avLst>
            </a:prstGeom>
            <a:solidFill>
              <a:schemeClr val="accent5"/>
            </a:solidFill>
            <a:ln>
              <a:noFill/>
            </a:ln>
          </p:spPr>
        </p:sp>
        <p:grpSp>
          <p:nvGrpSpPr>
            <p:cNvPr id="47" name="Group 47"/>
            <p:cNvGrpSpPr/>
            <p:nvPr/>
          </p:nvGrpSpPr>
          <p:grpSpPr>
            <a:xfrm>
              <a:off x="6502042" y="4597400"/>
              <a:ext cx="254716" cy="253999"/>
              <a:chOff x="6502042" y="4597400"/>
              <a:chExt cx="254716" cy="253999"/>
            </a:xfrm>
          </p:grpSpPr>
          <p:sp>
            <p:nvSpPr>
              <p:cNvPr id="40" name="Freeform 40"/>
              <p:cNvSpPr/>
              <p:nvPr/>
            </p:nvSpPr>
            <p:spPr>
              <a:xfrm>
                <a:off x="6502042" y="4711700"/>
                <a:ext cx="38816" cy="25400"/>
              </a:xfrm>
              <a:custGeom>
                <a:avLst/>
                <a:gdLst/>
                <a:ahLst/>
                <a:cxnLst/>
                <a:rect l="l" t="t" r="r" b="b"/>
                <a:pathLst>
                  <a:path w="38816" h="25400">
                    <a:moveTo>
                      <a:pt x="25758" y="0"/>
                    </a:moveTo>
                    <a:cubicBezTo>
                      <a:pt x="32477" y="7"/>
                      <a:pt x="38028" y="5248"/>
                      <a:pt x="38422" y="11956"/>
                    </a:cubicBezTo>
                    <a:cubicBezTo>
                      <a:pt x="38816" y="18664"/>
                      <a:pt x="33916" y="24517"/>
                      <a:pt x="27244" y="25311"/>
                    </a:cubicBezTo>
                    <a:lnTo>
                      <a:pt x="25758" y="25400"/>
                    </a:lnTo>
                    <a:lnTo>
                      <a:pt x="13058" y="25400"/>
                    </a:lnTo>
                    <a:cubicBezTo>
                      <a:pt x="6338" y="25392"/>
                      <a:pt x="788" y="20152"/>
                      <a:pt x="394" y="13444"/>
                    </a:cubicBezTo>
                    <a:cubicBezTo>
                      <a:pt x="0" y="6736"/>
                      <a:pt x="4900" y="883"/>
                      <a:pt x="11572" y="89"/>
                    </a:cubicBezTo>
                    <a:lnTo>
                      <a:pt x="13058" y="0"/>
                    </a:lnTo>
                    <a:lnTo>
                      <a:pt x="25758" y="0"/>
                    </a:lnTo>
                    <a:close/>
                  </a:path>
                </a:pathLst>
              </a:custGeom>
              <a:solidFill>
                <a:srgbClr val="A2701C"/>
              </a:solidFill>
              <a:ln>
                <a:noFill/>
              </a:ln>
            </p:spPr>
          </p:sp>
          <p:sp>
            <p:nvSpPr>
              <p:cNvPr id="41" name="Freeform 41"/>
              <p:cNvSpPr/>
              <p:nvPr/>
            </p:nvSpPr>
            <p:spPr>
              <a:xfrm>
                <a:off x="6616700" y="4597400"/>
                <a:ext cx="25400" cy="38458"/>
              </a:xfrm>
              <a:custGeom>
                <a:avLst/>
                <a:gdLst/>
                <a:ahLst/>
                <a:cxnLst/>
                <a:rect l="l" t="t" r="r" b="b"/>
                <a:pathLst>
                  <a:path w="25400" h="38458">
                    <a:moveTo>
                      <a:pt x="12700" y="0"/>
                    </a:moveTo>
                    <a:cubicBezTo>
                      <a:pt x="19139" y="1"/>
                      <a:pt x="24558" y="4820"/>
                      <a:pt x="25311" y="11214"/>
                    </a:cubicBezTo>
                    <a:lnTo>
                      <a:pt x="25400" y="12700"/>
                    </a:lnTo>
                    <a:lnTo>
                      <a:pt x="25400" y="25400"/>
                    </a:lnTo>
                    <a:cubicBezTo>
                      <a:pt x="25392" y="32119"/>
                      <a:pt x="20152" y="37670"/>
                      <a:pt x="13444" y="38064"/>
                    </a:cubicBezTo>
                    <a:cubicBezTo>
                      <a:pt x="6736" y="38458"/>
                      <a:pt x="883" y="33558"/>
                      <a:pt x="89" y="26886"/>
                    </a:cubicBezTo>
                    <a:lnTo>
                      <a:pt x="0" y="25400"/>
                    </a:lnTo>
                    <a:lnTo>
                      <a:pt x="0" y="12700"/>
                    </a:lnTo>
                    <a:cubicBezTo>
                      <a:pt x="0" y="5686"/>
                      <a:pt x="5686" y="0"/>
                      <a:pt x="12700" y="0"/>
                    </a:cubicBezTo>
                    <a:close/>
                  </a:path>
                </a:pathLst>
              </a:custGeom>
              <a:solidFill>
                <a:srgbClr val="A2701C"/>
              </a:solidFill>
              <a:ln>
                <a:noFill/>
              </a:ln>
            </p:spPr>
          </p:sp>
          <p:sp>
            <p:nvSpPr>
              <p:cNvPr id="42" name="Freeform 42"/>
              <p:cNvSpPr/>
              <p:nvPr/>
            </p:nvSpPr>
            <p:spPr>
              <a:xfrm>
                <a:off x="6717942" y="4711700"/>
                <a:ext cx="38816" cy="25400"/>
              </a:xfrm>
              <a:custGeom>
                <a:avLst/>
                <a:gdLst/>
                <a:ahLst/>
                <a:cxnLst/>
                <a:rect l="l" t="t" r="r" b="b"/>
                <a:pathLst>
                  <a:path w="38816" h="25400">
                    <a:moveTo>
                      <a:pt x="25758" y="0"/>
                    </a:moveTo>
                    <a:cubicBezTo>
                      <a:pt x="32477" y="7"/>
                      <a:pt x="38028" y="5248"/>
                      <a:pt x="38422" y="11956"/>
                    </a:cubicBezTo>
                    <a:cubicBezTo>
                      <a:pt x="38816" y="18664"/>
                      <a:pt x="33916" y="24517"/>
                      <a:pt x="27244" y="25311"/>
                    </a:cubicBezTo>
                    <a:lnTo>
                      <a:pt x="25758" y="25400"/>
                    </a:lnTo>
                    <a:lnTo>
                      <a:pt x="13058" y="25400"/>
                    </a:lnTo>
                    <a:cubicBezTo>
                      <a:pt x="6338" y="25392"/>
                      <a:pt x="788" y="20152"/>
                      <a:pt x="394" y="13444"/>
                    </a:cubicBezTo>
                    <a:cubicBezTo>
                      <a:pt x="0" y="6736"/>
                      <a:pt x="4900" y="883"/>
                      <a:pt x="11572" y="89"/>
                    </a:cubicBezTo>
                    <a:lnTo>
                      <a:pt x="13058" y="0"/>
                    </a:lnTo>
                    <a:lnTo>
                      <a:pt x="25758" y="0"/>
                    </a:lnTo>
                    <a:close/>
                  </a:path>
                </a:pathLst>
              </a:custGeom>
              <a:solidFill>
                <a:srgbClr val="A2701C"/>
              </a:solidFill>
              <a:ln>
                <a:noFill/>
              </a:ln>
            </p:spPr>
          </p:sp>
          <p:sp>
            <p:nvSpPr>
              <p:cNvPr id="43" name="Freeform 43"/>
              <p:cNvSpPr/>
              <p:nvPr/>
            </p:nvSpPr>
            <p:spPr>
              <a:xfrm>
                <a:off x="6534183" y="4629165"/>
                <a:ext cx="36765" cy="36974"/>
              </a:xfrm>
              <a:custGeom>
                <a:avLst/>
                <a:gdLst/>
                <a:ahLst/>
                <a:cxnLst/>
                <a:rect l="l" t="t" r="r" b="b"/>
                <a:pathLst>
                  <a:path w="36765" h="36974">
                    <a:moveTo>
                      <a:pt x="4958" y="4976"/>
                    </a:moveTo>
                    <a:cubicBezTo>
                      <a:pt x="9482" y="452"/>
                      <a:pt x="16666" y="0"/>
                      <a:pt x="21722" y="3922"/>
                    </a:cubicBezTo>
                    <a:lnTo>
                      <a:pt x="22916" y="4976"/>
                    </a:lnTo>
                    <a:lnTo>
                      <a:pt x="31806" y="13866"/>
                    </a:lnTo>
                    <a:cubicBezTo>
                      <a:pt x="36533" y="18609"/>
                      <a:pt x="36765" y="26208"/>
                      <a:pt x="32336" y="31230"/>
                    </a:cubicBezTo>
                    <a:cubicBezTo>
                      <a:pt x="27907" y="36253"/>
                      <a:pt x="20339" y="36974"/>
                      <a:pt x="15042" y="32878"/>
                    </a:cubicBezTo>
                    <a:lnTo>
                      <a:pt x="13848" y="31824"/>
                    </a:lnTo>
                    <a:lnTo>
                      <a:pt x="4958" y="22934"/>
                    </a:lnTo>
                    <a:cubicBezTo>
                      <a:pt x="0" y="17974"/>
                      <a:pt x="0" y="9935"/>
                      <a:pt x="4958" y="4976"/>
                    </a:cubicBezTo>
                    <a:close/>
                  </a:path>
                </a:pathLst>
              </a:custGeom>
              <a:solidFill>
                <a:srgbClr val="A2701C"/>
              </a:solidFill>
              <a:ln>
                <a:noFill/>
              </a:ln>
            </p:spPr>
          </p:sp>
          <p:sp>
            <p:nvSpPr>
              <p:cNvPr id="44" name="Freeform 44"/>
              <p:cNvSpPr/>
              <p:nvPr/>
            </p:nvSpPr>
            <p:spPr>
              <a:xfrm>
                <a:off x="6687660" y="4629182"/>
                <a:ext cx="37148" cy="36766"/>
              </a:xfrm>
              <a:custGeom>
                <a:avLst/>
                <a:gdLst/>
                <a:ahLst/>
                <a:cxnLst/>
                <a:rect l="l" t="t" r="r" b="b"/>
                <a:pathLst>
                  <a:path w="37148" h="36766">
                    <a:moveTo>
                      <a:pt x="14040" y="4959"/>
                    </a:moveTo>
                    <a:cubicBezTo>
                      <a:pt x="18783" y="232"/>
                      <a:pt x="26382" y="0"/>
                      <a:pt x="31405" y="4429"/>
                    </a:cubicBezTo>
                    <a:cubicBezTo>
                      <a:pt x="36427" y="8858"/>
                      <a:pt x="37148" y="16426"/>
                      <a:pt x="33052" y="21723"/>
                    </a:cubicBezTo>
                    <a:lnTo>
                      <a:pt x="31998" y="22917"/>
                    </a:lnTo>
                    <a:lnTo>
                      <a:pt x="23108" y="31807"/>
                    </a:lnTo>
                    <a:cubicBezTo>
                      <a:pt x="18365" y="36534"/>
                      <a:pt x="10766" y="36766"/>
                      <a:pt x="5744" y="32337"/>
                    </a:cubicBezTo>
                    <a:cubicBezTo>
                      <a:pt x="721" y="27908"/>
                      <a:pt x="0" y="20340"/>
                      <a:pt x="4096" y="15043"/>
                    </a:cubicBezTo>
                    <a:lnTo>
                      <a:pt x="5150" y="13849"/>
                    </a:lnTo>
                    <a:lnTo>
                      <a:pt x="14040" y="4959"/>
                    </a:lnTo>
                    <a:close/>
                  </a:path>
                </a:pathLst>
              </a:custGeom>
              <a:solidFill>
                <a:srgbClr val="A2701C"/>
              </a:solidFill>
              <a:ln>
                <a:noFill/>
              </a:ln>
            </p:spPr>
          </p:sp>
          <p:sp>
            <p:nvSpPr>
              <p:cNvPr id="45" name="Freeform 45"/>
              <p:cNvSpPr/>
              <p:nvPr/>
            </p:nvSpPr>
            <p:spPr>
              <a:xfrm>
                <a:off x="6591300" y="4800599"/>
                <a:ext cx="76200" cy="50800"/>
              </a:xfrm>
              <a:custGeom>
                <a:avLst/>
                <a:gdLst/>
                <a:ahLst/>
                <a:cxnLst/>
                <a:rect l="l" t="t" r="r" b="b"/>
                <a:pathLst>
                  <a:path w="76200" h="50800">
                    <a:moveTo>
                      <a:pt x="63500" y="0"/>
                    </a:moveTo>
                    <a:cubicBezTo>
                      <a:pt x="70514" y="0"/>
                      <a:pt x="76200" y="5686"/>
                      <a:pt x="76200" y="12700"/>
                    </a:cubicBezTo>
                    <a:cubicBezTo>
                      <a:pt x="76200" y="33742"/>
                      <a:pt x="59142" y="50800"/>
                      <a:pt x="38100" y="50800"/>
                    </a:cubicBezTo>
                    <a:cubicBezTo>
                      <a:pt x="17058" y="50800"/>
                      <a:pt x="0" y="33742"/>
                      <a:pt x="0" y="12700"/>
                    </a:cubicBezTo>
                    <a:cubicBezTo>
                      <a:pt x="1" y="6261"/>
                      <a:pt x="4820" y="842"/>
                      <a:pt x="11214" y="89"/>
                    </a:cubicBezTo>
                    <a:lnTo>
                      <a:pt x="12700" y="0"/>
                    </a:lnTo>
                    <a:lnTo>
                      <a:pt x="63500" y="0"/>
                    </a:lnTo>
                    <a:close/>
                  </a:path>
                </a:pathLst>
              </a:custGeom>
              <a:solidFill>
                <a:srgbClr val="A2701C"/>
              </a:solidFill>
              <a:ln>
                <a:noFill/>
              </a:ln>
            </p:spPr>
          </p:sp>
          <p:sp>
            <p:nvSpPr>
              <p:cNvPr id="46" name="Freeform 46"/>
              <p:cNvSpPr/>
              <p:nvPr/>
            </p:nvSpPr>
            <p:spPr>
              <a:xfrm>
                <a:off x="6546738" y="4648200"/>
                <a:ext cx="165323" cy="139700"/>
              </a:xfrm>
              <a:custGeom>
                <a:avLst/>
                <a:gdLst/>
                <a:ahLst/>
                <a:cxnLst/>
                <a:rect l="l" t="t" r="r" b="b"/>
                <a:pathLst>
                  <a:path w="165323" h="139700">
                    <a:moveTo>
                      <a:pt x="82661" y="0"/>
                    </a:moveTo>
                    <a:cubicBezTo>
                      <a:pt x="115460" y="0"/>
                      <a:pt x="144579" y="20988"/>
                      <a:pt x="154951" y="52103"/>
                    </a:cubicBezTo>
                    <a:cubicBezTo>
                      <a:pt x="165323" y="83219"/>
                      <a:pt x="154620" y="117480"/>
                      <a:pt x="128381" y="137160"/>
                    </a:cubicBezTo>
                    <a:cubicBezTo>
                      <a:pt x="126631" y="138474"/>
                      <a:pt x="124570" y="139314"/>
                      <a:pt x="122400" y="139598"/>
                    </a:cubicBezTo>
                    <a:lnTo>
                      <a:pt x="120761" y="139700"/>
                    </a:lnTo>
                    <a:lnTo>
                      <a:pt x="44561" y="139700"/>
                    </a:lnTo>
                    <a:cubicBezTo>
                      <a:pt x="41814" y="139700"/>
                      <a:pt x="39140" y="138808"/>
                      <a:pt x="36941" y="137160"/>
                    </a:cubicBezTo>
                    <a:cubicBezTo>
                      <a:pt x="10702" y="117480"/>
                      <a:pt x="0" y="83219"/>
                      <a:pt x="10372" y="52103"/>
                    </a:cubicBezTo>
                    <a:cubicBezTo>
                      <a:pt x="20744" y="20988"/>
                      <a:pt x="49863" y="0"/>
                      <a:pt x="82661" y="0"/>
                    </a:cubicBezTo>
                    <a:close/>
                  </a:path>
                </a:pathLst>
              </a:custGeom>
              <a:solidFill>
                <a:srgbClr val="A2701C"/>
              </a:solidFill>
              <a:ln>
                <a:noFill/>
              </a:ln>
            </p:spPr>
          </p:sp>
        </p:grpSp>
        <p:sp>
          <p:nvSpPr>
            <p:cNvPr id="48" name="TextBox 48"/>
            <p:cNvSpPr txBox="1"/>
            <p:nvPr/>
          </p:nvSpPr>
          <p:spPr>
            <a:xfrm>
              <a:off x="6886956" y="4625340"/>
              <a:ext cx="438100" cy="352044"/>
            </a:xfrm>
            <a:prstGeom prst="rect">
              <a:avLst/>
            </a:prstGeom>
            <a:noFill/>
            <a:ln>
              <a:noFill/>
            </a:ln>
          </p:spPr>
          <p:txBody>
            <a:bodyPr wrap="none" lIns="0" tIns="0" rIns="0" bIns="0" anchor="t" anchorCtr="0">
              <a:spAutoFit/>
            </a:bodyPr>
            <a:lstStyle/>
            <a:p>
              <a:pPr algn="l"/>
              <a:r>
                <a:rPr lang="en-US" sz="1800" b="1" dirty="0">
                  <a:solidFill>
                    <a:srgbClr val="A2701C"/>
                  </a:solidFill>
                  <a:latin typeface="+mj-lt"/>
                  <a:ea typeface="+mj-ea"/>
                  <a:cs typeface="+mj-cs"/>
                </a:rPr>
                <a:t>ヒント</a:t>
              </a:r>
            </a:p>
          </p:txBody>
        </p:sp>
        <p:sp>
          <p:nvSpPr>
            <p:cNvPr id="49" name="TextBox 49"/>
            <p:cNvSpPr txBox="1"/>
            <p:nvPr/>
          </p:nvSpPr>
          <p:spPr>
            <a:xfrm>
              <a:off x="6467856" y="5101590"/>
              <a:ext cx="318439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画面右上の月／太陽ボタンで、明るい配色と暗い配色を切り替えられます。選んだ配色は次回起動時も残ります。</a:t>
              </a:r>
            </a:p>
          </p:txBody>
        </p:sp>
      </p:grpSp>
      <p:grpSp>
        <p:nvGrpSpPr>
          <p:cNvPr id="53" name="Group 53"/>
          <p:cNvGrpSpPr/>
          <p:nvPr/>
        </p:nvGrpSpPr>
        <p:grpSpPr>
          <a:xfrm>
            <a:off x="374904" y="6461760"/>
            <a:ext cx="11442192" cy="234696"/>
            <a:chOff x="374904" y="6461760"/>
            <a:chExt cx="11442192" cy="234696"/>
          </a:xfrm>
        </p:grpSpPr>
        <p:sp>
          <p:nvSpPr>
            <p:cNvPr id="51" name="TextBox 51"/>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52" name="TextBox 52"/>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1 · 1/2</a:t>
              </a:r>
            </a:p>
          </p:txBody>
        </p:sp>
        <p:sp>
          <p:nvSpPr>
            <p:cNvPr id="4" name="TextBox 4"/>
            <p:cNvSpPr txBox="1"/>
            <p:nvPr/>
          </p:nvSpPr>
          <p:spPr>
            <a:xfrm>
              <a:off x="1946148" y="479108"/>
              <a:ext cx="543555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改修するExcelブックを読み込みます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6" name="Group 16"/>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5"/>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chemeClr val="accent6"/>
              </a:solidFill>
            </a:ln>
          </p:spPr>
        </p:sp>
        <p:sp>
          <p:nvSpPr>
            <p:cNvPr id="10" name="Ellipse 10"/>
            <p:cNvSpPr/>
            <p:nvPr/>
          </p:nvSpPr>
          <p:spPr>
            <a:xfrm>
              <a:off x="1543050" y="2847975"/>
              <a:ext cx="323850" cy="323850"/>
            </a:xfrm>
            <a:prstGeom prst="ellipse">
              <a:avLst/>
            </a:prstGeom>
            <a:solidFill>
              <a:schemeClr val="accent1"/>
            </a:solidFill>
            <a:ln w="28575">
              <a:solidFill>
                <a:srgbClr val="FFFFFF"/>
              </a:solidFill>
            </a:ln>
          </p:spPr>
        </p:sp>
        <p:sp>
          <p:nvSpPr>
            <p:cNvPr id="11" name="TextBox 11"/>
            <p:cNvSpPr txBox="1"/>
            <p:nvPr/>
          </p:nvSpPr>
          <p:spPr>
            <a:xfrm>
              <a:off x="1645640" y="29308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2" name="Ellipse 12"/>
            <p:cNvSpPr/>
            <p:nvPr/>
          </p:nvSpPr>
          <p:spPr>
            <a:xfrm>
              <a:off x="3419475" y="3781425"/>
              <a:ext cx="323850" cy="323850"/>
            </a:xfrm>
            <a:prstGeom prst="ellipse">
              <a:avLst/>
            </a:prstGeom>
            <a:solidFill>
              <a:schemeClr val="accent1"/>
            </a:solidFill>
            <a:ln w="28575">
              <a:solidFill>
                <a:srgbClr val="FFFFFF"/>
              </a:solidFill>
            </a:ln>
          </p:spPr>
        </p:sp>
        <p:sp>
          <p:nvSpPr>
            <p:cNvPr id="13" name="TextBox 13"/>
            <p:cNvSpPr txBox="1"/>
            <p:nvPr/>
          </p:nvSpPr>
          <p:spPr>
            <a:xfrm>
              <a:off x="3522065" y="38642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14" name="Ellipse 14"/>
            <p:cNvSpPr/>
            <p:nvPr/>
          </p:nvSpPr>
          <p:spPr>
            <a:xfrm>
              <a:off x="6162675" y="4600575"/>
              <a:ext cx="323850" cy="323850"/>
            </a:xfrm>
            <a:prstGeom prst="ellipse">
              <a:avLst/>
            </a:prstGeom>
            <a:solidFill>
              <a:schemeClr val="accent1"/>
            </a:solidFill>
            <a:ln w="28575">
              <a:solidFill>
                <a:srgbClr val="FFFFFF"/>
              </a:solidFill>
            </a:ln>
          </p:spPr>
        </p:sp>
        <p:sp>
          <p:nvSpPr>
            <p:cNvPr id="15" name="TextBox 15"/>
            <p:cNvSpPr txBox="1"/>
            <p:nvPr/>
          </p:nvSpPr>
          <p:spPr>
            <a:xfrm>
              <a:off x="6265265" y="4683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grpSp>
      <p:grpSp>
        <p:nvGrpSpPr>
          <p:cNvPr id="20" name="Group 20"/>
          <p:cNvGrpSpPr/>
          <p:nvPr/>
        </p:nvGrpSpPr>
        <p:grpSpPr>
          <a:xfrm>
            <a:off x="342900" y="5238750"/>
            <a:ext cx="6477000" cy="971550"/>
            <a:chOff x="342900" y="5238750"/>
            <a:chExt cx="6477000" cy="971550"/>
          </a:xfrm>
        </p:grpSpPr>
        <p:sp>
          <p:nvSpPr>
            <p:cNvPr id="17" name="Rectangle 17"/>
            <p:cNvSpPr/>
            <p:nvPr/>
          </p:nvSpPr>
          <p:spPr>
            <a:xfrm>
              <a:off x="342900" y="5238750"/>
              <a:ext cx="6477000" cy="971550"/>
            </a:xfrm>
            <a:prstGeom prst="roundRect">
              <a:avLst>
                <a:gd name="adj" fmla="val 13725"/>
              </a:avLst>
            </a:prstGeom>
            <a:solidFill>
              <a:schemeClr val="lt1"/>
            </a:solidFill>
            <a:ln w="19050">
              <a:solidFill>
                <a:schemeClr val="accent2"/>
              </a:solidFill>
            </a:ln>
          </p:spPr>
        </p:sp>
        <p:sp>
          <p:nvSpPr>
            <p:cNvPr id="18" name="Freeform 18"/>
            <p:cNvSpPr/>
            <p:nvPr/>
          </p:nvSpPr>
          <p:spPr>
            <a:xfrm>
              <a:off x="612775" y="546554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2"/>
            </a:solidFill>
            <a:ln>
              <a:noFill/>
            </a:ln>
          </p:spPr>
        </p:sp>
        <p:sp>
          <p:nvSpPr>
            <p:cNvPr id="19" name="TextBox 19"/>
            <p:cNvSpPr txBox="1"/>
            <p:nvPr/>
          </p:nvSpPr>
          <p:spPr>
            <a:xfrm>
              <a:off x="943356" y="5463540"/>
              <a:ext cx="304723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画面にも出ているとおり、元のブックには書き込みません。読むのはコードだけです。</a:t>
              </a:r>
            </a:p>
          </p:txBody>
        </p:sp>
      </p:grpSp>
      <p:grpSp>
        <p:nvGrpSpPr>
          <p:cNvPr id="30" name="Group 30"/>
          <p:cNvGrpSpPr/>
          <p:nvPr/>
        </p:nvGrpSpPr>
        <p:grpSpPr>
          <a:xfrm>
            <a:off x="7077075" y="1552575"/>
            <a:ext cx="3161919" cy="3710559"/>
            <a:chOff x="7077075" y="1552575"/>
            <a:chExt cx="3161919" cy="3710559"/>
          </a:xfrm>
        </p:grpSpPr>
        <p:sp>
          <p:nvSpPr>
            <p:cNvPr id="21" name="Ellipse 21"/>
            <p:cNvSpPr/>
            <p:nvPr/>
          </p:nvSpPr>
          <p:spPr>
            <a:xfrm>
              <a:off x="7077075" y="1552575"/>
              <a:ext cx="323850" cy="323850"/>
            </a:xfrm>
            <a:prstGeom prst="ellipse">
              <a:avLst/>
            </a:prstGeom>
            <a:solidFill>
              <a:schemeClr val="accent1"/>
            </a:solidFill>
            <a:ln>
              <a:noFill/>
            </a:ln>
          </p:spPr>
        </p:sp>
        <p:sp>
          <p:nvSpPr>
            <p:cNvPr id="22" name="TextBox 22"/>
            <p:cNvSpPr txBox="1"/>
            <p:nvPr/>
          </p:nvSpPr>
          <p:spPr>
            <a:xfrm>
              <a:off x="7179665" y="1635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23" name="TextBox 23"/>
            <p:cNvSpPr txBox="1"/>
            <p:nvPr/>
          </p:nvSpPr>
          <p:spPr>
            <a:xfrm>
              <a:off x="7534656" y="1596390"/>
              <a:ext cx="201853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点線の枠へ、改修したい</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ブックをドラッグ＆ドロップ</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します。</a:t>
              </a:r>
            </a:p>
          </p:txBody>
        </p:sp>
        <p:sp>
          <p:nvSpPr>
            <p:cNvPr id="24" name="Ellipse 24"/>
            <p:cNvSpPr/>
            <p:nvPr/>
          </p:nvSpPr>
          <p:spPr>
            <a:xfrm>
              <a:off x="7077075" y="2981325"/>
              <a:ext cx="323850" cy="323850"/>
            </a:xfrm>
            <a:prstGeom prst="ellipse">
              <a:avLst/>
            </a:prstGeom>
            <a:solidFill>
              <a:schemeClr val="accent1"/>
            </a:solidFill>
            <a:ln>
              <a:noFill/>
            </a:ln>
          </p:spPr>
        </p:sp>
        <p:sp>
          <p:nvSpPr>
            <p:cNvPr id="25" name="TextBox 25"/>
            <p:cNvSpPr txBox="1"/>
            <p:nvPr/>
          </p:nvSpPr>
          <p:spPr>
            <a:xfrm>
              <a:off x="7179665" y="30641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6" name="TextBox 26"/>
            <p:cNvSpPr txBox="1"/>
            <p:nvPr/>
          </p:nvSpPr>
          <p:spPr>
            <a:xfrm>
              <a:off x="7534656" y="3025140"/>
              <a:ext cx="22699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枠をクリックすると、ファイル選択の画面からも選べます。</a:t>
              </a:r>
            </a:p>
          </p:txBody>
        </p:sp>
        <p:sp>
          <p:nvSpPr>
            <p:cNvPr id="27" name="Ellipse 27"/>
            <p:cNvSpPr/>
            <p:nvPr/>
          </p:nvSpPr>
          <p:spPr>
            <a:xfrm>
              <a:off x="7077075" y="4219575"/>
              <a:ext cx="323850" cy="323850"/>
            </a:xfrm>
            <a:prstGeom prst="ellipse">
              <a:avLst/>
            </a:prstGeom>
            <a:solidFill>
              <a:schemeClr val="accent1"/>
            </a:solidFill>
            <a:ln>
              <a:noFill/>
            </a:ln>
          </p:spPr>
        </p:sp>
        <p:sp>
          <p:nvSpPr>
            <p:cNvPr id="28" name="TextBox 28"/>
            <p:cNvSpPr txBox="1"/>
            <p:nvPr/>
          </p:nvSpPr>
          <p:spPr>
            <a:xfrm>
              <a:off x="7179665" y="4302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29" name="TextBox 29"/>
            <p:cNvSpPr txBox="1"/>
            <p:nvPr/>
          </p:nvSpPr>
          <p:spPr>
            <a:xfrm>
              <a:off x="7534656" y="4263390"/>
              <a:ext cx="270433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読み込めると枠がファイル名の表示に変わり、右下の［次へ］が押せるようになります。</a:t>
              </a:r>
            </a:p>
          </p:txBody>
        </p:sp>
      </p:grpSp>
      <p:grpSp>
        <p:nvGrpSpPr>
          <p:cNvPr id="33" name="Group 33"/>
          <p:cNvGrpSpPr/>
          <p:nvPr/>
        </p:nvGrpSpPr>
        <p:grpSpPr>
          <a:xfrm>
            <a:off x="374904" y="6461760"/>
            <a:ext cx="11442192" cy="234696"/>
            <a:chOff x="374904" y="6461760"/>
            <a:chExt cx="11442192" cy="234696"/>
          </a:xfrm>
        </p:grpSpPr>
        <p:sp>
          <p:nvSpPr>
            <p:cNvPr id="31" name="TextBox 31"/>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32" name="TextBox 32"/>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1 · 2/2</a:t>
              </a:r>
            </a:p>
          </p:txBody>
        </p:sp>
        <p:sp>
          <p:nvSpPr>
            <p:cNvPr id="4" name="TextBox 4"/>
            <p:cNvSpPr txBox="1"/>
            <p:nvPr/>
          </p:nvSpPr>
          <p:spPr>
            <a:xfrm>
              <a:off x="1946148" y="479108"/>
              <a:ext cx="426193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読み込んだマクロを確認します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8" name="Group 18"/>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5"/>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chemeClr val="accent6"/>
              </a:solidFill>
            </a:ln>
          </p:spPr>
        </p:sp>
        <p:sp>
          <p:nvSpPr>
            <p:cNvPr id="10" name="Ellipse 10"/>
            <p:cNvSpPr/>
            <p:nvPr/>
          </p:nvSpPr>
          <p:spPr>
            <a:xfrm>
              <a:off x="1152525" y="3086100"/>
              <a:ext cx="323850" cy="323850"/>
            </a:xfrm>
            <a:prstGeom prst="ellipse">
              <a:avLst/>
            </a:prstGeom>
            <a:solidFill>
              <a:schemeClr val="accent1"/>
            </a:solidFill>
            <a:ln w="28575">
              <a:solidFill>
                <a:srgbClr val="FFFFFF"/>
              </a:solidFill>
            </a:ln>
          </p:spPr>
        </p:sp>
        <p:sp>
          <p:nvSpPr>
            <p:cNvPr id="11" name="TextBox 11"/>
            <p:cNvSpPr txBox="1"/>
            <p:nvPr/>
          </p:nvSpPr>
          <p:spPr>
            <a:xfrm>
              <a:off x="1255115" y="3168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2" name="Ellipse 12"/>
            <p:cNvSpPr/>
            <p:nvPr/>
          </p:nvSpPr>
          <p:spPr>
            <a:xfrm>
              <a:off x="4495800" y="3086100"/>
              <a:ext cx="323850" cy="323850"/>
            </a:xfrm>
            <a:prstGeom prst="ellipse">
              <a:avLst/>
            </a:prstGeom>
            <a:solidFill>
              <a:schemeClr val="accent1"/>
            </a:solidFill>
            <a:ln w="28575">
              <a:solidFill>
                <a:srgbClr val="FFFFFF"/>
              </a:solidFill>
            </a:ln>
          </p:spPr>
        </p:sp>
        <p:sp>
          <p:nvSpPr>
            <p:cNvPr id="13" name="TextBox 13"/>
            <p:cNvSpPr txBox="1"/>
            <p:nvPr/>
          </p:nvSpPr>
          <p:spPr>
            <a:xfrm>
              <a:off x="4598390" y="3168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14" name="Ellipse 14"/>
            <p:cNvSpPr/>
            <p:nvPr/>
          </p:nvSpPr>
          <p:spPr>
            <a:xfrm>
              <a:off x="5095875" y="3086100"/>
              <a:ext cx="323850" cy="323850"/>
            </a:xfrm>
            <a:prstGeom prst="ellipse">
              <a:avLst/>
            </a:prstGeom>
            <a:solidFill>
              <a:schemeClr val="accent1"/>
            </a:solidFill>
            <a:ln w="28575">
              <a:solidFill>
                <a:srgbClr val="FFFFFF"/>
              </a:solidFill>
            </a:ln>
          </p:spPr>
        </p:sp>
        <p:sp>
          <p:nvSpPr>
            <p:cNvPr id="15" name="TextBox 15"/>
            <p:cNvSpPr txBox="1"/>
            <p:nvPr/>
          </p:nvSpPr>
          <p:spPr>
            <a:xfrm>
              <a:off x="5198465" y="3168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16" name="Ellipse 16"/>
            <p:cNvSpPr/>
            <p:nvPr/>
          </p:nvSpPr>
          <p:spPr>
            <a:xfrm>
              <a:off x="5695950" y="3086100"/>
              <a:ext cx="323850" cy="323850"/>
            </a:xfrm>
            <a:prstGeom prst="ellipse">
              <a:avLst/>
            </a:prstGeom>
            <a:solidFill>
              <a:schemeClr val="accent1"/>
            </a:solidFill>
            <a:ln w="28575">
              <a:solidFill>
                <a:srgbClr val="FFFFFF"/>
              </a:solidFill>
            </a:ln>
          </p:spPr>
        </p:sp>
        <p:sp>
          <p:nvSpPr>
            <p:cNvPr id="17" name="TextBox 17"/>
            <p:cNvSpPr txBox="1"/>
            <p:nvPr/>
          </p:nvSpPr>
          <p:spPr>
            <a:xfrm>
              <a:off x="5798540" y="3168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4</a:t>
              </a:r>
            </a:p>
          </p:txBody>
        </p:sp>
      </p:grpSp>
      <p:grpSp>
        <p:nvGrpSpPr>
          <p:cNvPr id="21" name="Group 21"/>
          <p:cNvGrpSpPr/>
          <p:nvPr/>
        </p:nvGrpSpPr>
        <p:grpSpPr>
          <a:xfrm>
            <a:off x="342900" y="5238750"/>
            <a:ext cx="6477000" cy="971550"/>
            <a:chOff x="342900" y="5238750"/>
            <a:chExt cx="6477000" cy="971550"/>
          </a:xfrm>
        </p:grpSpPr>
        <p:sp>
          <p:nvSpPr>
            <p:cNvPr id="19" name="Rectangle 19"/>
            <p:cNvSpPr/>
            <p:nvPr/>
          </p:nvSpPr>
          <p:spPr>
            <a:xfrm>
              <a:off x="342900" y="5238750"/>
              <a:ext cx="6477000" cy="971550"/>
            </a:xfrm>
            <a:prstGeom prst="roundRect">
              <a:avLst>
                <a:gd name="adj" fmla="val 13725"/>
              </a:avLst>
            </a:prstGeom>
            <a:solidFill>
              <a:schemeClr val="lt2"/>
            </a:solidFill>
            <a:ln>
              <a:noFill/>
            </a:ln>
          </p:spPr>
        </p:sp>
        <p:sp>
          <p:nvSpPr>
            <p:cNvPr id="20" name="TextBox 20"/>
            <p:cNvSpPr txBox="1"/>
            <p:nvPr/>
          </p:nvSpPr>
          <p:spPr>
            <a:xfrm>
              <a:off x="619506" y="5463540"/>
              <a:ext cx="342442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下に並ぶのがモジュール名です。違うブックだった</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ら［別のブックを選ぶ］でやり直せます。</a:t>
              </a:r>
            </a:p>
          </p:txBody>
        </p:sp>
      </p:grpSp>
      <p:grpSp>
        <p:nvGrpSpPr>
          <p:cNvPr id="34" name="Group 34"/>
          <p:cNvGrpSpPr/>
          <p:nvPr/>
        </p:nvGrpSpPr>
        <p:grpSpPr>
          <a:xfrm>
            <a:off x="7077075" y="1476375"/>
            <a:ext cx="2853309" cy="4415409"/>
            <a:chOff x="7077075" y="1476375"/>
            <a:chExt cx="2853309" cy="4415409"/>
          </a:xfrm>
        </p:grpSpPr>
        <p:sp>
          <p:nvSpPr>
            <p:cNvPr id="22" name="Ellipse 22"/>
            <p:cNvSpPr/>
            <p:nvPr/>
          </p:nvSpPr>
          <p:spPr>
            <a:xfrm>
              <a:off x="7077075" y="1476375"/>
              <a:ext cx="323850" cy="323850"/>
            </a:xfrm>
            <a:prstGeom prst="ellipse">
              <a:avLst/>
            </a:prstGeom>
            <a:solidFill>
              <a:schemeClr val="accent1"/>
            </a:solidFill>
            <a:ln>
              <a:noFill/>
            </a:ln>
          </p:spPr>
        </p:sp>
        <p:sp>
          <p:nvSpPr>
            <p:cNvPr id="23" name="TextBox 23"/>
            <p:cNvSpPr txBox="1"/>
            <p:nvPr/>
          </p:nvSpPr>
          <p:spPr>
            <a:xfrm>
              <a:off x="7179665" y="15592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24" name="TextBox 24"/>
            <p:cNvSpPr txBox="1"/>
            <p:nvPr/>
          </p:nvSpPr>
          <p:spPr>
            <a:xfrm>
              <a:off x="7534656" y="1520190"/>
              <a:ext cx="229285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ファイル名とパス意図したブックか確認します。</a:t>
              </a:r>
            </a:p>
          </p:txBody>
        </p:sp>
        <p:sp>
          <p:nvSpPr>
            <p:cNvPr id="25" name="Ellipse 25"/>
            <p:cNvSpPr/>
            <p:nvPr/>
          </p:nvSpPr>
          <p:spPr>
            <a:xfrm>
              <a:off x="7077075" y="2600325"/>
              <a:ext cx="323850" cy="323850"/>
            </a:xfrm>
            <a:prstGeom prst="ellipse">
              <a:avLst/>
            </a:prstGeom>
            <a:solidFill>
              <a:schemeClr val="accent1"/>
            </a:solidFill>
            <a:ln>
              <a:noFill/>
            </a:ln>
          </p:spPr>
        </p:sp>
        <p:sp>
          <p:nvSpPr>
            <p:cNvPr id="26" name="TextBox 26"/>
            <p:cNvSpPr txBox="1"/>
            <p:nvPr/>
          </p:nvSpPr>
          <p:spPr>
            <a:xfrm>
              <a:off x="7179665" y="26831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7" name="TextBox 27"/>
            <p:cNvSpPr txBox="1"/>
            <p:nvPr/>
          </p:nvSpPr>
          <p:spPr>
            <a:xfrm>
              <a:off x="7534656" y="2644140"/>
              <a:ext cx="2315718" cy="675894"/>
            </a:xfrm>
            <a:prstGeom prst="rect">
              <a:avLst/>
            </a:prstGeom>
            <a:noFill/>
            <a:ln>
              <a:noFill/>
            </a:ln>
          </p:spPr>
          <p:txBody>
            <a:bodyPr wrap="square" lIns="0" tIns="0" rIns="0" bIns="0" anchor="t" anchorCtr="0"/>
            <a:lstStyle/>
            <a:p>
              <a:pPr algn="l">
                <a:lnSpc>
                  <a:spcPts val="2550"/>
                </a:lnSpc>
              </a:pPr>
              <a:r>
                <a:rPr lang="en-US" sz="1800" dirty="0">
                  <a:solidFill>
                    <a:schemeClr val="dk1"/>
                  </a:solidFill>
                  <a:latin typeface="+mn-lt"/>
                  <a:ea typeface="+mn-ea"/>
                  <a:cs typeface="+mn-cs"/>
                </a:rPr>
                <a:t>モジュール</a:t>
              </a:r>
              <a:r>
                <a:rPr lang="zh-CN" sz="1800" dirty="0">
                  <a:solidFill>
                    <a:schemeClr val="dk1"/>
                  </a:solidFill>
                  <a:latin typeface="+mn-lt"/>
                  <a:ea typeface="+mn-ea"/>
                  <a:cs typeface="+mn-cs"/>
                </a:rPr>
                <a:t>読み込んだモジュールの数です。</a:t>
              </a:r>
            </a:p>
          </p:txBody>
        </p:sp>
        <p:sp>
          <p:nvSpPr>
            <p:cNvPr id="28" name="Ellipse 28"/>
            <p:cNvSpPr/>
            <p:nvPr/>
          </p:nvSpPr>
          <p:spPr>
            <a:xfrm>
              <a:off x="7077075" y="3724275"/>
              <a:ext cx="323850" cy="323850"/>
            </a:xfrm>
            <a:prstGeom prst="ellipse">
              <a:avLst/>
            </a:prstGeom>
            <a:solidFill>
              <a:schemeClr val="accent1"/>
            </a:solidFill>
            <a:ln>
              <a:noFill/>
            </a:ln>
          </p:spPr>
        </p:sp>
        <p:sp>
          <p:nvSpPr>
            <p:cNvPr id="29" name="TextBox 29"/>
            <p:cNvSpPr txBox="1"/>
            <p:nvPr/>
          </p:nvSpPr>
          <p:spPr>
            <a:xfrm>
              <a:off x="7179665" y="38071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30" name="TextBox 30"/>
            <p:cNvSpPr txBox="1"/>
            <p:nvPr/>
          </p:nvSpPr>
          <p:spPr>
            <a:xfrm>
              <a:off x="7534656" y="3768090"/>
              <a:ext cx="239572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合計行数全モジュールの合計行数です。</a:t>
              </a:r>
            </a:p>
          </p:txBody>
        </p:sp>
        <p:sp>
          <p:nvSpPr>
            <p:cNvPr id="31" name="Ellipse 31"/>
            <p:cNvSpPr/>
            <p:nvPr/>
          </p:nvSpPr>
          <p:spPr>
            <a:xfrm>
              <a:off x="7077075" y="4848225"/>
              <a:ext cx="323850" cy="323850"/>
            </a:xfrm>
            <a:prstGeom prst="ellipse">
              <a:avLst/>
            </a:prstGeom>
            <a:solidFill>
              <a:schemeClr val="accent1"/>
            </a:solidFill>
            <a:ln>
              <a:noFill/>
            </a:ln>
          </p:spPr>
        </p:sp>
        <p:sp>
          <p:nvSpPr>
            <p:cNvPr id="32" name="TextBox 32"/>
            <p:cNvSpPr txBox="1"/>
            <p:nvPr/>
          </p:nvSpPr>
          <p:spPr>
            <a:xfrm>
              <a:off x="7179665" y="49310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4</a:t>
              </a:r>
            </a:p>
          </p:txBody>
        </p:sp>
        <p:sp>
          <p:nvSpPr>
            <p:cNvPr id="33" name="TextBox 33"/>
            <p:cNvSpPr txBox="1"/>
            <p:nvPr/>
          </p:nvSpPr>
          <p:spPr>
            <a:xfrm>
              <a:off x="7534656" y="4892040"/>
              <a:ext cx="226999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読み取り警告「あり」でも、読める範囲で処理は続きます。</a:t>
              </a:r>
            </a:p>
          </p:txBody>
        </p:sp>
      </p:grpSp>
      <p:grpSp>
        <p:nvGrpSpPr>
          <p:cNvPr id="37" name="Group 37"/>
          <p:cNvGrpSpPr/>
          <p:nvPr/>
        </p:nvGrpSpPr>
        <p:grpSpPr>
          <a:xfrm>
            <a:off x="374904" y="6461760"/>
            <a:ext cx="11442192" cy="234696"/>
            <a:chOff x="374904" y="6461760"/>
            <a:chExt cx="11442192" cy="234696"/>
          </a:xfrm>
        </p:grpSpPr>
        <p:sp>
          <p:nvSpPr>
            <p:cNvPr id="35" name="TextBox 35"/>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36" name="TextBox 36"/>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2 · 1/4</a:t>
              </a:r>
            </a:p>
          </p:txBody>
        </p:sp>
        <p:sp>
          <p:nvSpPr>
            <p:cNvPr id="4" name="TextBox 4"/>
            <p:cNvSpPr txBox="1"/>
            <p:nvPr/>
          </p:nvSpPr>
          <p:spPr>
            <a:xfrm>
              <a:off x="1946148" y="479108"/>
              <a:ext cx="372762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依頼の作り方を選びます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4" name="Group 14"/>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5"/>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chemeClr val="accent6"/>
              </a:solidFill>
            </a:ln>
          </p:spPr>
        </p:sp>
        <p:sp>
          <p:nvSpPr>
            <p:cNvPr id="10" name="Ellipse 10"/>
            <p:cNvSpPr/>
            <p:nvPr/>
          </p:nvSpPr>
          <p:spPr>
            <a:xfrm>
              <a:off x="1590675" y="3000375"/>
              <a:ext cx="323850" cy="323850"/>
            </a:xfrm>
            <a:prstGeom prst="ellipse">
              <a:avLst/>
            </a:prstGeom>
            <a:solidFill>
              <a:schemeClr val="accent1"/>
            </a:solidFill>
            <a:ln w="28575">
              <a:solidFill>
                <a:srgbClr val="FFFFFF"/>
              </a:solidFill>
            </a:ln>
          </p:spPr>
        </p:sp>
        <p:sp>
          <p:nvSpPr>
            <p:cNvPr id="11" name="TextBox 11"/>
            <p:cNvSpPr txBox="1"/>
            <p:nvPr/>
          </p:nvSpPr>
          <p:spPr>
            <a:xfrm>
              <a:off x="1693265" y="30832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2" name="Ellipse 12"/>
            <p:cNvSpPr/>
            <p:nvPr/>
          </p:nvSpPr>
          <p:spPr>
            <a:xfrm>
              <a:off x="1590675" y="3448050"/>
              <a:ext cx="323850" cy="323850"/>
            </a:xfrm>
            <a:prstGeom prst="ellipse">
              <a:avLst/>
            </a:prstGeom>
            <a:solidFill>
              <a:schemeClr val="accent1"/>
            </a:solidFill>
            <a:ln w="28575">
              <a:solidFill>
                <a:srgbClr val="FFFFFF"/>
              </a:solidFill>
            </a:ln>
          </p:spPr>
        </p:sp>
        <p:sp>
          <p:nvSpPr>
            <p:cNvPr id="13" name="TextBox 13"/>
            <p:cNvSpPr txBox="1"/>
            <p:nvPr/>
          </p:nvSpPr>
          <p:spPr>
            <a:xfrm>
              <a:off x="1693265" y="353091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grpSp>
      <p:grpSp>
        <p:nvGrpSpPr>
          <p:cNvPr id="17" name="Group 17"/>
          <p:cNvGrpSpPr/>
          <p:nvPr/>
        </p:nvGrpSpPr>
        <p:grpSpPr>
          <a:xfrm>
            <a:off x="342900" y="5238750"/>
            <a:ext cx="6477000" cy="971550"/>
            <a:chOff x="342900" y="5238750"/>
            <a:chExt cx="6477000" cy="971550"/>
          </a:xfrm>
        </p:grpSpPr>
        <p:sp>
          <p:nvSpPr>
            <p:cNvPr id="15" name="Rectangle 15"/>
            <p:cNvSpPr/>
            <p:nvPr/>
          </p:nvSpPr>
          <p:spPr>
            <a:xfrm>
              <a:off x="342900" y="5238750"/>
              <a:ext cx="6477000" cy="971550"/>
            </a:xfrm>
            <a:prstGeom prst="roundRect">
              <a:avLst>
                <a:gd name="adj" fmla="val 13725"/>
              </a:avLst>
            </a:prstGeom>
            <a:solidFill>
              <a:schemeClr val="lt2"/>
            </a:solidFill>
            <a:ln>
              <a:noFill/>
            </a:ln>
          </p:spPr>
        </p:sp>
        <p:sp>
          <p:nvSpPr>
            <p:cNvPr id="16" name="TextBox 16"/>
            <p:cNvSpPr txBox="1"/>
            <p:nvPr/>
          </p:nvSpPr>
          <p:spPr>
            <a:xfrm>
              <a:off x="619506" y="5463540"/>
              <a:ext cx="393877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②を選ぶと、次の「ひな形を選ぶ」画面は飛ばして依頼文の画面へ進みます。</a:t>
              </a:r>
            </a:p>
          </p:txBody>
        </p:sp>
      </p:grpSp>
      <p:grpSp>
        <p:nvGrpSpPr>
          <p:cNvPr id="34" name="Group 34"/>
          <p:cNvGrpSpPr/>
          <p:nvPr/>
        </p:nvGrpSpPr>
        <p:grpSpPr>
          <a:xfrm>
            <a:off x="7010400" y="1552575"/>
            <a:ext cx="4800600" cy="4624959"/>
            <a:chOff x="7010400" y="1552575"/>
            <a:chExt cx="4800600" cy="4624959"/>
          </a:xfrm>
        </p:grpSpPr>
        <p:sp>
          <p:nvSpPr>
            <p:cNvPr id="18" name="Ellipse 18"/>
            <p:cNvSpPr/>
            <p:nvPr/>
          </p:nvSpPr>
          <p:spPr>
            <a:xfrm>
              <a:off x="7077075" y="1552575"/>
              <a:ext cx="323850" cy="323850"/>
            </a:xfrm>
            <a:prstGeom prst="ellipse">
              <a:avLst/>
            </a:prstGeom>
            <a:solidFill>
              <a:schemeClr val="accent1"/>
            </a:solidFill>
            <a:ln>
              <a:noFill/>
            </a:ln>
          </p:spPr>
        </p:sp>
        <p:sp>
          <p:nvSpPr>
            <p:cNvPr id="19" name="TextBox 19"/>
            <p:cNvSpPr txBox="1"/>
            <p:nvPr/>
          </p:nvSpPr>
          <p:spPr>
            <a:xfrm>
              <a:off x="7179665" y="1635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20" name="TextBox 20"/>
            <p:cNvSpPr txBox="1"/>
            <p:nvPr/>
          </p:nvSpPr>
          <p:spPr>
            <a:xfrm>
              <a:off x="7534656" y="1596390"/>
              <a:ext cx="2601468" cy="16474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用意された改修依頼を選ぶ目的に近いひな形を選び、必要な部分だけ直します。返答のし</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かたを AI に伝える文も自動で付きます。</a:t>
              </a:r>
            </a:p>
          </p:txBody>
        </p:sp>
        <p:sp>
          <p:nvSpPr>
            <p:cNvPr id="21" name="Ellipse 21"/>
            <p:cNvSpPr/>
            <p:nvPr/>
          </p:nvSpPr>
          <p:spPr>
            <a:xfrm>
              <a:off x="7077075" y="3457575"/>
              <a:ext cx="323850" cy="323850"/>
            </a:xfrm>
            <a:prstGeom prst="ellipse">
              <a:avLst/>
            </a:prstGeom>
            <a:solidFill>
              <a:schemeClr val="accent1"/>
            </a:solidFill>
            <a:ln>
              <a:noFill/>
            </a:ln>
          </p:spPr>
        </p:sp>
        <p:sp>
          <p:nvSpPr>
            <p:cNvPr id="22" name="TextBox 22"/>
            <p:cNvSpPr txBox="1"/>
            <p:nvPr/>
          </p:nvSpPr>
          <p:spPr>
            <a:xfrm>
              <a:off x="7179665" y="3540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3" name="TextBox 23"/>
            <p:cNvSpPr txBox="1"/>
            <p:nvPr/>
          </p:nvSpPr>
          <p:spPr>
            <a:xfrm>
              <a:off x="7534656" y="3501390"/>
              <a:ext cx="2498598" cy="13235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自分で書く何をどう直すか、最初から入力します。返答のしかたを伝える文は付きません。</a:t>
              </a:r>
            </a:p>
          </p:txBody>
        </p:sp>
        <p:sp>
          <p:nvSpPr>
            <p:cNvPr id="24" name="Rectangle 24"/>
            <p:cNvSpPr/>
            <p:nvPr/>
          </p:nvSpPr>
          <p:spPr>
            <a:xfrm>
              <a:off x="7010400" y="5334000"/>
              <a:ext cx="4800600" cy="762000"/>
            </a:xfrm>
            <a:prstGeom prst="roundRect">
              <a:avLst>
                <a:gd name="adj" fmla="val 17500"/>
              </a:avLst>
            </a:prstGeom>
            <a:solidFill>
              <a:schemeClr val="accent5"/>
            </a:solidFill>
            <a:ln>
              <a:noFill/>
            </a:ln>
          </p:spPr>
        </p:sp>
        <p:grpSp>
          <p:nvGrpSpPr>
            <p:cNvPr id="32" name="Group 32"/>
            <p:cNvGrpSpPr/>
            <p:nvPr/>
          </p:nvGrpSpPr>
          <p:grpSpPr>
            <a:xfrm>
              <a:off x="7260912" y="5546725"/>
              <a:ext cx="222877" cy="222251"/>
              <a:chOff x="7260912" y="5546725"/>
              <a:chExt cx="222877" cy="222251"/>
            </a:xfrm>
          </p:grpSpPr>
          <p:sp>
            <p:nvSpPr>
              <p:cNvPr id="25" name="Freeform 25"/>
              <p:cNvSpPr/>
              <p:nvPr/>
            </p:nvSpPr>
            <p:spPr>
              <a:xfrm>
                <a:off x="7260912" y="56467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9"/>
                      <a:pt x="689" y="17633"/>
                      <a:pt x="345" y="11764"/>
                    </a:cubicBezTo>
                    <a:cubicBezTo>
                      <a:pt x="0" y="5894"/>
                      <a:pt x="4287" y="772"/>
                      <a:pt x="10126" y="78"/>
                    </a:cubicBezTo>
                    <a:lnTo>
                      <a:pt x="11426" y="0"/>
                    </a:lnTo>
                    <a:lnTo>
                      <a:pt x="22538" y="0"/>
                    </a:lnTo>
                    <a:close/>
                  </a:path>
                </a:pathLst>
              </a:custGeom>
              <a:solidFill>
                <a:srgbClr val="A2701C"/>
              </a:solidFill>
              <a:ln>
                <a:noFill/>
              </a:ln>
            </p:spPr>
          </p:sp>
          <p:sp>
            <p:nvSpPr>
              <p:cNvPr id="26" name="Freeform 26"/>
              <p:cNvSpPr/>
              <p:nvPr/>
            </p:nvSpPr>
            <p:spPr>
              <a:xfrm>
                <a:off x="7361238" y="5546725"/>
                <a:ext cx="22225" cy="33651"/>
              </a:xfrm>
              <a:custGeom>
                <a:avLst/>
                <a:gdLst/>
                <a:ahLst/>
                <a:cxnLst/>
                <a:rect l="l" t="t" r="r" b="b"/>
                <a:pathLst>
                  <a:path w="22225" h="33651">
                    <a:moveTo>
                      <a:pt x="11113" y="0"/>
                    </a:moveTo>
                    <a:cubicBezTo>
                      <a:pt x="16746" y="1"/>
                      <a:pt x="21488" y="4217"/>
                      <a:pt x="22147" y="9812"/>
                    </a:cubicBezTo>
                    <a:lnTo>
                      <a:pt x="22225" y="11113"/>
                    </a:lnTo>
                    <a:lnTo>
                      <a:pt x="22225" y="22225"/>
                    </a:lnTo>
                    <a:cubicBezTo>
                      <a:pt x="22219" y="28105"/>
                      <a:pt x="17633" y="32962"/>
                      <a:pt x="11764" y="33306"/>
                    </a:cubicBezTo>
                    <a:cubicBezTo>
                      <a:pt x="5894" y="33651"/>
                      <a:pt x="772" y="29364"/>
                      <a:pt x="78" y="23525"/>
                    </a:cubicBezTo>
                    <a:lnTo>
                      <a:pt x="0" y="22225"/>
                    </a:lnTo>
                    <a:lnTo>
                      <a:pt x="0" y="11113"/>
                    </a:lnTo>
                    <a:cubicBezTo>
                      <a:pt x="0" y="4975"/>
                      <a:pt x="4975" y="0"/>
                      <a:pt x="11113" y="0"/>
                    </a:cubicBezTo>
                    <a:close/>
                  </a:path>
                </a:pathLst>
              </a:custGeom>
              <a:solidFill>
                <a:srgbClr val="A2701C"/>
              </a:solidFill>
              <a:ln>
                <a:noFill/>
              </a:ln>
            </p:spPr>
          </p:sp>
          <p:sp>
            <p:nvSpPr>
              <p:cNvPr id="27" name="Freeform 27"/>
              <p:cNvSpPr/>
              <p:nvPr/>
            </p:nvSpPr>
            <p:spPr>
              <a:xfrm>
                <a:off x="7449825" y="56467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9"/>
                      <a:pt x="689" y="17633"/>
                      <a:pt x="345" y="11764"/>
                    </a:cubicBezTo>
                    <a:cubicBezTo>
                      <a:pt x="0" y="5894"/>
                      <a:pt x="4287" y="772"/>
                      <a:pt x="10126" y="78"/>
                    </a:cubicBezTo>
                    <a:lnTo>
                      <a:pt x="11426" y="0"/>
                    </a:lnTo>
                    <a:lnTo>
                      <a:pt x="22538" y="0"/>
                    </a:lnTo>
                    <a:close/>
                  </a:path>
                </a:pathLst>
              </a:custGeom>
              <a:solidFill>
                <a:srgbClr val="A2701C"/>
              </a:solidFill>
              <a:ln>
                <a:noFill/>
              </a:ln>
            </p:spPr>
          </p:sp>
          <p:sp>
            <p:nvSpPr>
              <p:cNvPr id="28" name="Freeform 28"/>
              <p:cNvSpPr/>
              <p:nvPr/>
            </p:nvSpPr>
            <p:spPr>
              <a:xfrm>
                <a:off x="7289035" y="5574520"/>
                <a:ext cx="32169" cy="32352"/>
              </a:xfrm>
              <a:custGeom>
                <a:avLst/>
                <a:gdLst/>
                <a:ahLst/>
                <a:cxnLst/>
                <a:rect l="l" t="t" r="r" b="b"/>
                <a:pathLst>
                  <a:path w="32169" h="32352">
                    <a:moveTo>
                      <a:pt x="4338" y="4354"/>
                    </a:moveTo>
                    <a:cubicBezTo>
                      <a:pt x="8297" y="395"/>
                      <a:pt x="14583" y="0"/>
                      <a:pt x="19007" y="3432"/>
                    </a:cubicBezTo>
                    <a:lnTo>
                      <a:pt x="20051" y="4354"/>
                    </a:lnTo>
                    <a:lnTo>
                      <a:pt x="27830" y="12133"/>
                    </a:lnTo>
                    <a:cubicBezTo>
                      <a:pt x="31966" y="16283"/>
                      <a:pt x="32169" y="22932"/>
                      <a:pt x="28294" y="27327"/>
                    </a:cubicBezTo>
                    <a:cubicBezTo>
                      <a:pt x="24419" y="31722"/>
                      <a:pt x="17797" y="32352"/>
                      <a:pt x="13161" y="28768"/>
                    </a:cubicBezTo>
                    <a:lnTo>
                      <a:pt x="12117" y="27846"/>
                    </a:lnTo>
                    <a:lnTo>
                      <a:pt x="4338" y="20067"/>
                    </a:lnTo>
                    <a:cubicBezTo>
                      <a:pt x="0" y="15728"/>
                      <a:pt x="0" y="8693"/>
                      <a:pt x="4338" y="4354"/>
                    </a:cubicBezTo>
                    <a:close/>
                  </a:path>
                </a:pathLst>
              </a:custGeom>
              <a:solidFill>
                <a:srgbClr val="A2701C"/>
              </a:solidFill>
              <a:ln>
                <a:noFill/>
              </a:ln>
            </p:spPr>
          </p:sp>
          <p:sp>
            <p:nvSpPr>
              <p:cNvPr id="29" name="Freeform 29"/>
              <p:cNvSpPr/>
              <p:nvPr/>
            </p:nvSpPr>
            <p:spPr>
              <a:xfrm>
                <a:off x="7423329" y="5574534"/>
                <a:ext cx="32505" cy="32170"/>
              </a:xfrm>
              <a:custGeom>
                <a:avLst/>
                <a:gdLst/>
                <a:ahLst/>
                <a:cxnLst/>
                <a:rect l="l" t="t" r="r" b="b"/>
                <a:pathLst>
                  <a:path w="32505" h="32170">
                    <a:moveTo>
                      <a:pt x="12285" y="4339"/>
                    </a:moveTo>
                    <a:cubicBezTo>
                      <a:pt x="16436" y="203"/>
                      <a:pt x="23084" y="0"/>
                      <a:pt x="27479" y="3875"/>
                    </a:cubicBezTo>
                    <a:cubicBezTo>
                      <a:pt x="31874" y="7751"/>
                      <a:pt x="32505" y="14372"/>
                      <a:pt x="28921" y="19008"/>
                    </a:cubicBezTo>
                    <a:lnTo>
                      <a:pt x="27998" y="20052"/>
                    </a:lnTo>
                    <a:lnTo>
                      <a:pt x="20220" y="27831"/>
                    </a:lnTo>
                    <a:cubicBezTo>
                      <a:pt x="16069" y="31967"/>
                      <a:pt x="9421" y="32170"/>
                      <a:pt x="5026" y="28295"/>
                    </a:cubicBezTo>
                    <a:cubicBezTo>
                      <a:pt x="631" y="24420"/>
                      <a:pt x="0" y="17798"/>
                      <a:pt x="3584" y="13163"/>
                    </a:cubicBezTo>
                    <a:lnTo>
                      <a:pt x="4507" y="12118"/>
                    </a:lnTo>
                    <a:lnTo>
                      <a:pt x="12285" y="4339"/>
                    </a:lnTo>
                    <a:close/>
                  </a:path>
                </a:pathLst>
              </a:custGeom>
              <a:solidFill>
                <a:srgbClr val="A2701C"/>
              </a:solidFill>
              <a:ln>
                <a:noFill/>
              </a:ln>
            </p:spPr>
          </p:sp>
          <p:sp>
            <p:nvSpPr>
              <p:cNvPr id="30" name="Freeform 30"/>
              <p:cNvSpPr/>
              <p:nvPr/>
            </p:nvSpPr>
            <p:spPr>
              <a:xfrm>
                <a:off x="7339013" y="5724526"/>
                <a:ext cx="66675" cy="44450"/>
              </a:xfrm>
              <a:custGeom>
                <a:avLst/>
                <a:gdLst/>
                <a:ahLst/>
                <a:cxnLst/>
                <a:rect l="l" t="t" r="r" b="b"/>
                <a:pathLst>
                  <a:path w="66675" h="44450">
                    <a:moveTo>
                      <a:pt x="55563" y="0"/>
                    </a:moveTo>
                    <a:cubicBezTo>
                      <a:pt x="61700" y="0"/>
                      <a:pt x="66675" y="4975"/>
                      <a:pt x="66675" y="11113"/>
                    </a:cubicBezTo>
                    <a:cubicBezTo>
                      <a:pt x="66675" y="29524"/>
                      <a:pt x="51749" y="44450"/>
                      <a:pt x="33338" y="44450"/>
                    </a:cubicBezTo>
                    <a:cubicBezTo>
                      <a:pt x="14926" y="44450"/>
                      <a:pt x="0" y="29524"/>
                      <a:pt x="0" y="11113"/>
                    </a:cubicBezTo>
                    <a:cubicBezTo>
                      <a:pt x="1" y="5479"/>
                      <a:pt x="4217" y="737"/>
                      <a:pt x="9812" y="78"/>
                    </a:cubicBezTo>
                    <a:lnTo>
                      <a:pt x="11113" y="0"/>
                    </a:lnTo>
                    <a:lnTo>
                      <a:pt x="55563" y="0"/>
                    </a:lnTo>
                    <a:close/>
                  </a:path>
                </a:pathLst>
              </a:custGeom>
              <a:solidFill>
                <a:srgbClr val="A2701C"/>
              </a:solidFill>
              <a:ln>
                <a:noFill/>
              </a:ln>
            </p:spPr>
          </p:sp>
          <p:sp>
            <p:nvSpPr>
              <p:cNvPr id="31" name="Freeform 31"/>
              <p:cNvSpPr/>
              <p:nvPr/>
            </p:nvSpPr>
            <p:spPr>
              <a:xfrm>
                <a:off x="7300021" y="5591175"/>
                <a:ext cx="144658" cy="122238"/>
              </a:xfrm>
              <a:custGeom>
                <a:avLst/>
                <a:gdLst/>
                <a:ahLst/>
                <a:cxnLst/>
                <a:rect l="l" t="t" r="r" b="b"/>
                <a:pathLst>
                  <a:path w="144658" h="122238">
                    <a:moveTo>
                      <a:pt x="72329" y="0"/>
                    </a:moveTo>
                    <a:cubicBezTo>
                      <a:pt x="101028" y="0"/>
                      <a:pt x="126507" y="18364"/>
                      <a:pt x="135583" y="45591"/>
                    </a:cubicBezTo>
                    <a:cubicBezTo>
                      <a:pt x="144658" y="72817"/>
                      <a:pt x="135293" y="102796"/>
                      <a:pt x="112334" y="120015"/>
                    </a:cubicBezTo>
                    <a:cubicBezTo>
                      <a:pt x="110803" y="121166"/>
                      <a:pt x="109000" y="121901"/>
                      <a:pt x="107100" y="122149"/>
                    </a:cubicBezTo>
                    <a:lnTo>
                      <a:pt x="105667" y="122238"/>
                    </a:lnTo>
                    <a:lnTo>
                      <a:pt x="38991" y="122238"/>
                    </a:lnTo>
                    <a:cubicBezTo>
                      <a:pt x="36587" y="122238"/>
                      <a:pt x="34247" y="121458"/>
                      <a:pt x="32324" y="120015"/>
                    </a:cubicBezTo>
                    <a:cubicBezTo>
                      <a:pt x="9365" y="102796"/>
                      <a:pt x="0" y="72817"/>
                      <a:pt x="9075" y="45591"/>
                    </a:cubicBezTo>
                    <a:cubicBezTo>
                      <a:pt x="18151" y="18364"/>
                      <a:pt x="43630" y="0"/>
                      <a:pt x="72329" y="0"/>
                    </a:cubicBezTo>
                    <a:close/>
                  </a:path>
                </a:pathLst>
              </a:custGeom>
              <a:solidFill>
                <a:srgbClr val="A2701C"/>
              </a:solidFill>
              <a:ln>
                <a:noFill/>
              </a:ln>
            </p:spPr>
          </p:sp>
        </p:grpSp>
        <p:sp>
          <p:nvSpPr>
            <p:cNvPr id="33" name="TextBox 33"/>
            <p:cNvSpPr txBox="1"/>
            <p:nvPr/>
          </p:nvSpPr>
          <p:spPr>
            <a:xfrm>
              <a:off x="7591806" y="5539740"/>
              <a:ext cx="2041398" cy="637794"/>
            </a:xfrm>
            <a:prstGeom prst="rect">
              <a:avLst/>
            </a:prstGeom>
            <a:noFill/>
            <a:ln>
              <a:noFill/>
            </a:ln>
          </p:spPr>
          <p:txBody>
            <a:bodyPr wrap="square" lIns="0" tIns="0" rIns="0" bIns="0" anchor="t" anchorCtr="0"/>
            <a:lstStyle/>
            <a:p>
              <a:pPr algn="l">
                <a:lnSpc>
                  <a:spcPts val="2250"/>
                </a:lnSpc>
              </a:pPr>
              <a:r>
                <a:rPr lang="zh-CN" sz="1800" dirty="0">
                  <a:solidFill>
                    <a:schemeClr val="dk1"/>
                  </a:solidFill>
                  <a:latin typeface="+mn-lt"/>
                  <a:ea typeface="+mn-ea"/>
                  <a:cs typeface="+mn-cs"/>
                </a:rPr>
                <a:t>迷ったら①。文章は次の画面で書き換えられます。</a:t>
              </a:r>
            </a:p>
          </p:txBody>
        </p:sp>
      </p:grpSp>
      <p:grpSp>
        <p:nvGrpSpPr>
          <p:cNvPr id="37" name="Group 37"/>
          <p:cNvGrpSpPr/>
          <p:nvPr/>
        </p:nvGrpSpPr>
        <p:grpSpPr>
          <a:xfrm>
            <a:off x="374904" y="6461760"/>
            <a:ext cx="11442192" cy="234696"/>
            <a:chOff x="374904" y="6461760"/>
            <a:chExt cx="11442192" cy="234696"/>
          </a:xfrm>
        </p:grpSpPr>
        <p:sp>
          <p:nvSpPr>
            <p:cNvPr id="35" name="TextBox 35"/>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36" name="TextBox 36"/>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2 · 2/4</a:t>
              </a:r>
            </a:p>
          </p:txBody>
        </p:sp>
        <p:sp>
          <p:nvSpPr>
            <p:cNvPr id="4" name="TextBox 4"/>
            <p:cNvSpPr txBox="1"/>
            <p:nvPr/>
          </p:nvSpPr>
          <p:spPr>
            <a:xfrm>
              <a:off x="1946148" y="479108"/>
              <a:ext cx="506339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目的に近い改修依頼を選びます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4" name="Group 14"/>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5"/>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chemeClr val="accent6"/>
              </a:solidFill>
            </a:ln>
          </p:spPr>
        </p:sp>
        <p:sp>
          <p:nvSpPr>
            <p:cNvPr id="10" name="Ellipse 10"/>
            <p:cNvSpPr/>
            <p:nvPr/>
          </p:nvSpPr>
          <p:spPr>
            <a:xfrm>
              <a:off x="1600200" y="3219450"/>
              <a:ext cx="323850" cy="323850"/>
            </a:xfrm>
            <a:prstGeom prst="ellipse">
              <a:avLst/>
            </a:prstGeom>
            <a:solidFill>
              <a:schemeClr val="accent1"/>
            </a:solidFill>
            <a:ln w="28575">
              <a:solidFill>
                <a:srgbClr val="FFFFFF"/>
              </a:solidFill>
            </a:ln>
          </p:spPr>
        </p:sp>
        <p:sp>
          <p:nvSpPr>
            <p:cNvPr id="11" name="TextBox 11"/>
            <p:cNvSpPr txBox="1"/>
            <p:nvPr/>
          </p:nvSpPr>
          <p:spPr>
            <a:xfrm>
              <a:off x="1702790" y="330231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2" name="Ellipse 12"/>
            <p:cNvSpPr/>
            <p:nvPr/>
          </p:nvSpPr>
          <p:spPr>
            <a:xfrm>
              <a:off x="5238750" y="3219450"/>
              <a:ext cx="323850" cy="323850"/>
            </a:xfrm>
            <a:prstGeom prst="ellipse">
              <a:avLst/>
            </a:prstGeom>
            <a:solidFill>
              <a:schemeClr val="accent1"/>
            </a:solidFill>
            <a:ln w="28575">
              <a:solidFill>
                <a:srgbClr val="FFFFFF"/>
              </a:solidFill>
            </a:ln>
          </p:spPr>
        </p:sp>
        <p:sp>
          <p:nvSpPr>
            <p:cNvPr id="13" name="TextBox 13"/>
            <p:cNvSpPr txBox="1"/>
            <p:nvPr/>
          </p:nvSpPr>
          <p:spPr>
            <a:xfrm>
              <a:off x="5341340" y="330231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grpSp>
      <p:grpSp>
        <p:nvGrpSpPr>
          <p:cNvPr id="18" name="Group 18"/>
          <p:cNvGrpSpPr/>
          <p:nvPr/>
        </p:nvGrpSpPr>
        <p:grpSpPr>
          <a:xfrm>
            <a:off x="342900" y="5238750"/>
            <a:ext cx="6477000" cy="971550"/>
            <a:chOff x="342900" y="5238750"/>
            <a:chExt cx="6477000" cy="971550"/>
          </a:xfrm>
        </p:grpSpPr>
        <p:sp>
          <p:nvSpPr>
            <p:cNvPr id="15" name="Rectangle 15"/>
            <p:cNvSpPr/>
            <p:nvPr/>
          </p:nvSpPr>
          <p:spPr>
            <a:xfrm>
              <a:off x="342900" y="5238750"/>
              <a:ext cx="6477000" cy="971550"/>
            </a:xfrm>
            <a:prstGeom prst="roundRect">
              <a:avLst>
                <a:gd name="adj" fmla="val 13725"/>
              </a:avLst>
            </a:prstGeom>
            <a:solidFill>
              <a:schemeClr val="lt2"/>
            </a:solidFill>
            <a:ln>
              <a:noFill/>
            </a:ln>
          </p:spPr>
        </p:sp>
        <p:sp>
          <p:nvSpPr>
            <p:cNvPr id="16" name="Freeform 16"/>
            <p:cNvSpPr/>
            <p:nvPr/>
          </p:nvSpPr>
          <p:spPr>
            <a:xfrm>
              <a:off x="634998" y="5470525"/>
              <a:ext cx="177805" cy="222251"/>
            </a:xfrm>
            <a:custGeom>
              <a:avLst/>
              <a:gdLst/>
              <a:ahLst/>
              <a:cxnLst/>
              <a:rect l="l" t="t" r="r" b="b"/>
              <a:pathLst>
                <a:path w="177805" h="222251">
                  <a:moveTo>
                    <a:pt x="155545" y="24114"/>
                  </a:moveTo>
                  <a:cubicBezTo>
                    <a:pt x="168884" y="28814"/>
                    <a:pt x="177805" y="41420"/>
                    <a:pt x="177803" y="55563"/>
                  </a:cubicBezTo>
                  <a:lnTo>
                    <a:pt x="177803" y="188913"/>
                  </a:lnTo>
                  <a:cubicBezTo>
                    <a:pt x="177803" y="207325"/>
                    <a:pt x="162877" y="222251"/>
                    <a:pt x="144465" y="222251"/>
                  </a:cubicBezTo>
                  <a:lnTo>
                    <a:pt x="33340" y="222251"/>
                  </a:lnTo>
                  <a:cubicBezTo>
                    <a:pt x="14928" y="222251"/>
                    <a:pt x="2" y="207325"/>
                    <a:pt x="2" y="188913"/>
                  </a:cubicBezTo>
                  <a:lnTo>
                    <a:pt x="2" y="55563"/>
                  </a:lnTo>
                  <a:cubicBezTo>
                    <a:pt x="0" y="41420"/>
                    <a:pt x="8922" y="28814"/>
                    <a:pt x="22261" y="24114"/>
                  </a:cubicBezTo>
                  <a:cubicBezTo>
                    <a:pt x="23273" y="47910"/>
                    <a:pt x="42861" y="66679"/>
                    <a:pt x="66678" y="66675"/>
                  </a:cubicBezTo>
                  <a:lnTo>
                    <a:pt x="111128" y="66675"/>
                  </a:lnTo>
                  <a:cubicBezTo>
                    <a:pt x="133944" y="66677"/>
                    <a:pt x="153057" y="49404"/>
                    <a:pt x="155356" y="26703"/>
                  </a:cubicBezTo>
                  <a:close/>
                  <a:moveTo>
                    <a:pt x="55676" y="144463"/>
                  </a:moveTo>
                  <a:lnTo>
                    <a:pt x="55565" y="144463"/>
                  </a:lnTo>
                  <a:cubicBezTo>
                    <a:pt x="49686" y="144469"/>
                    <a:pt x="44829" y="149055"/>
                    <a:pt x="44484" y="154924"/>
                  </a:cubicBezTo>
                  <a:cubicBezTo>
                    <a:pt x="44139" y="160794"/>
                    <a:pt x="48426" y="165916"/>
                    <a:pt x="54265" y="166610"/>
                  </a:cubicBezTo>
                  <a:lnTo>
                    <a:pt x="55676" y="166688"/>
                  </a:lnTo>
                  <a:cubicBezTo>
                    <a:pt x="61813" y="166688"/>
                    <a:pt x="66789" y="161713"/>
                    <a:pt x="66789" y="155575"/>
                  </a:cubicBezTo>
                  <a:cubicBezTo>
                    <a:pt x="66789" y="149438"/>
                    <a:pt x="61813" y="144463"/>
                    <a:pt x="55676" y="144463"/>
                  </a:cubicBezTo>
                  <a:moveTo>
                    <a:pt x="122240" y="144463"/>
                  </a:moveTo>
                  <a:lnTo>
                    <a:pt x="100015" y="144463"/>
                  </a:lnTo>
                  <a:cubicBezTo>
                    <a:pt x="93878" y="144463"/>
                    <a:pt x="88903" y="149438"/>
                    <a:pt x="88903" y="155575"/>
                  </a:cubicBezTo>
                  <a:cubicBezTo>
                    <a:pt x="88903" y="161713"/>
                    <a:pt x="93878" y="166688"/>
                    <a:pt x="100015" y="166688"/>
                  </a:cubicBezTo>
                  <a:lnTo>
                    <a:pt x="122240" y="166688"/>
                  </a:lnTo>
                  <a:cubicBezTo>
                    <a:pt x="128378" y="166688"/>
                    <a:pt x="133353" y="161713"/>
                    <a:pt x="133353" y="155575"/>
                  </a:cubicBezTo>
                  <a:cubicBezTo>
                    <a:pt x="133353" y="149438"/>
                    <a:pt x="128378" y="144463"/>
                    <a:pt x="122240" y="144463"/>
                  </a:cubicBezTo>
                  <a:moveTo>
                    <a:pt x="55676" y="100013"/>
                  </a:moveTo>
                  <a:lnTo>
                    <a:pt x="55565" y="100013"/>
                  </a:lnTo>
                  <a:cubicBezTo>
                    <a:pt x="49686" y="100019"/>
                    <a:pt x="44829" y="104605"/>
                    <a:pt x="44484" y="110474"/>
                  </a:cubicBezTo>
                  <a:cubicBezTo>
                    <a:pt x="44139" y="116344"/>
                    <a:pt x="48426" y="121466"/>
                    <a:pt x="54265" y="122160"/>
                  </a:cubicBezTo>
                  <a:lnTo>
                    <a:pt x="55676" y="122238"/>
                  </a:lnTo>
                  <a:cubicBezTo>
                    <a:pt x="61813" y="122238"/>
                    <a:pt x="66789" y="117263"/>
                    <a:pt x="66789" y="111125"/>
                  </a:cubicBezTo>
                  <a:cubicBezTo>
                    <a:pt x="66789" y="104988"/>
                    <a:pt x="61813" y="100013"/>
                    <a:pt x="55676" y="100013"/>
                  </a:cubicBezTo>
                  <a:moveTo>
                    <a:pt x="122240" y="100013"/>
                  </a:moveTo>
                  <a:lnTo>
                    <a:pt x="100015" y="100013"/>
                  </a:lnTo>
                  <a:cubicBezTo>
                    <a:pt x="93878" y="100013"/>
                    <a:pt x="88903" y="104988"/>
                    <a:pt x="88903" y="111125"/>
                  </a:cubicBezTo>
                  <a:cubicBezTo>
                    <a:pt x="88903" y="117263"/>
                    <a:pt x="93878" y="122238"/>
                    <a:pt x="100015" y="122238"/>
                  </a:cubicBezTo>
                  <a:lnTo>
                    <a:pt x="122240" y="122238"/>
                  </a:lnTo>
                  <a:cubicBezTo>
                    <a:pt x="128378" y="122238"/>
                    <a:pt x="133353" y="117263"/>
                    <a:pt x="133353" y="111125"/>
                  </a:cubicBezTo>
                  <a:cubicBezTo>
                    <a:pt x="133353" y="104988"/>
                    <a:pt x="128378" y="100013"/>
                    <a:pt x="122240" y="100013"/>
                  </a:cubicBezTo>
                  <a:moveTo>
                    <a:pt x="111128" y="0"/>
                  </a:moveTo>
                  <a:cubicBezTo>
                    <a:pt x="123402" y="0"/>
                    <a:pt x="133353" y="9950"/>
                    <a:pt x="133353" y="22225"/>
                  </a:cubicBezTo>
                  <a:cubicBezTo>
                    <a:pt x="133353" y="34500"/>
                    <a:pt x="123402" y="44450"/>
                    <a:pt x="111128" y="44450"/>
                  </a:cubicBezTo>
                  <a:lnTo>
                    <a:pt x="66678" y="44450"/>
                  </a:lnTo>
                  <a:cubicBezTo>
                    <a:pt x="54403" y="44450"/>
                    <a:pt x="44453" y="34500"/>
                    <a:pt x="44453" y="22225"/>
                  </a:cubicBezTo>
                  <a:cubicBezTo>
                    <a:pt x="44453" y="9950"/>
                    <a:pt x="54403" y="0"/>
                    <a:pt x="66678" y="0"/>
                  </a:cubicBezTo>
                  <a:close/>
                </a:path>
              </a:pathLst>
            </a:custGeom>
            <a:solidFill>
              <a:schemeClr val="accent1"/>
            </a:solidFill>
            <a:ln>
              <a:noFill/>
            </a:ln>
          </p:spPr>
        </p:sp>
        <p:sp>
          <p:nvSpPr>
            <p:cNvPr id="17" name="TextBox 17"/>
            <p:cNvSpPr txBox="1"/>
            <p:nvPr/>
          </p:nvSpPr>
          <p:spPr>
            <a:xfrm>
              <a:off x="943356" y="5463540"/>
              <a:ext cx="343585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同梱されているひな形は「新端末移行」の</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1 件です。運用時に増える想定です。</a:t>
              </a:r>
            </a:p>
          </p:txBody>
        </p:sp>
      </p:grpSp>
      <p:grpSp>
        <p:nvGrpSpPr>
          <p:cNvPr id="29" name="Group 29"/>
          <p:cNvGrpSpPr/>
          <p:nvPr/>
        </p:nvGrpSpPr>
        <p:grpSpPr>
          <a:xfrm>
            <a:off x="7010400" y="1552575"/>
            <a:ext cx="4800600" cy="4624959"/>
            <a:chOff x="7010400" y="1552575"/>
            <a:chExt cx="4800600" cy="4624959"/>
          </a:xfrm>
        </p:grpSpPr>
        <p:sp>
          <p:nvSpPr>
            <p:cNvPr id="19" name="Ellipse 19"/>
            <p:cNvSpPr/>
            <p:nvPr/>
          </p:nvSpPr>
          <p:spPr>
            <a:xfrm>
              <a:off x="7077075" y="1552575"/>
              <a:ext cx="323850" cy="323850"/>
            </a:xfrm>
            <a:prstGeom prst="ellipse">
              <a:avLst/>
            </a:prstGeom>
            <a:solidFill>
              <a:schemeClr val="accent1"/>
            </a:solidFill>
            <a:ln>
              <a:noFill/>
            </a:ln>
          </p:spPr>
        </p:sp>
        <p:sp>
          <p:nvSpPr>
            <p:cNvPr id="20" name="TextBox 20"/>
            <p:cNvSpPr txBox="1"/>
            <p:nvPr/>
          </p:nvSpPr>
          <p:spPr>
            <a:xfrm>
              <a:off x="7179665" y="1635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21" name="TextBox 21"/>
            <p:cNvSpPr txBox="1"/>
            <p:nvPr/>
          </p:nvSpPr>
          <p:spPr>
            <a:xfrm>
              <a:off x="7534656" y="1596390"/>
              <a:ext cx="247573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一覧からひとつ選びます。ひな形の名前と、改修指示の</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1 行目が要約として出ます。</a:t>
              </a:r>
            </a:p>
          </p:txBody>
        </p:sp>
        <p:sp>
          <p:nvSpPr>
            <p:cNvPr id="22" name="Ellipse 22"/>
            <p:cNvSpPr/>
            <p:nvPr/>
          </p:nvSpPr>
          <p:spPr>
            <a:xfrm>
              <a:off x="7077075" y="2981325"/>
              <a:ext cx="323850" cy="323850"/>
            </a:xfrm>
            <a:prstGeom prst="ellipse">
              <a:avLst/>
            </a:prstGeom>
            <a:solidFill>
              <a:schemeClr val="accent1"/>
            </a:solidFill>
            <a:ln>
              <a:noFill/>
            </a:ln>
          </p:spPr>
        </p:sp>
        <p:sp>
          <p:nvSpPr>
            <p:cNvPr id="23" name="TextBox 23"/>
            <p:cNvSpPr txBox="1"/>
            <p:nvPr/>
          </p:nvSpPr>
          <p:spPr>
            <a:xfrm>
              <a:off x="7179665" y="30641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4" name="TextBox 24"/>
            <p:cNvSpPr txBox="1"/>
            <p:nvPr/>
          </p:nvSpPr>
          <p:spPr>
            <a:xfrm>
              <a:off x="7534656" y="3025140"/>
              <a:ext cx="229285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選ぶと右端にチェックが付き、［次へ］が押せます。</a:t>
              </a:r>
            </a:p>
          </p:txBody>
        </p:sp>
        <p:sp>
          <p:nvSpPr>
            <p:cNvPr id="25" name="Rectangle 25"/>
            <p:cNvSpPr/>
            <p:nvPr/>
          </p:nvSpPr>
          <p:spPr>
            <a:xfrm>
              <a:off x="7010400" y="4191000"/>
              <a:ext cx="4800600" cy="1733550"/>
            </a:xfrm>
            <a:prstGeom prst="roundRect">
              <a:avLst>
                <a:gd name="adj" fmla="val 7692"/>
              </a:avLst>
            </a:prstGeom>
            <a:solidFill>
              <a:schemeClr val="lt1"/>
            </a:solidFill>
            <a:ln w="19050">
              <a:solidFill>
                <a:srgbClr val="A2701C"/>
              </a:solidFill>
            </a:ln>
          </p:spPr>
        </p:sp>
        <p:sp>
          <p:nvSpPr>
            <p:cNvPr id="26" name="Freeform 26"/>
            <p:cNvSpPr/>
            <p:nvPr/>
          </p:nvSpPr>
          <p:spPr>
            <a:xfrm>
              <a:off x="7248538" y="441910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rgbClr val="A2701C"/>
            </a:solidFill>
            <a:ln>
              <a:noFill/>
            </a:ln>
          </p:spPr>
        </p:sp>
        <p:sp>
          <p:nvSpPr>
            <p:cNvPr id="27" name="TextBox 27"/>
            <p:cNvSpPr txBox="1"/>
            <p:nvPr/>
          </p:nvSpPr>
          <p:spPr>
            <a:xfrm>
              <a:off x="7591806" y="4415790"/>
              <a:ext cx="1392220" cy="352044"/>
            </a:xfrm>
            <a:prstGeom prst="rect">
              <a:avLst/>
            </a:prstGeom>
            <a:noFill/>
            <a:ln>
              <a:noFill/>
            </a:ln>
          </p:spPr>
          <p:txBody>
            <a:bodyPr wrap="none" lIns="0" tIns="0" rIns="0" bIns="0" anchor="t" anchorCtr="0">
              <a:spAutoFit/>
            </a:bodyPr>
            <a:lstStyle/>
            <a:p>
              <a:pPr algn="l"/>
              <a:r>
                <a:rPr lang="zh-CN" sz="1800" b="1" dirty="0">
                  <a:solidFill>
                    <a:srgbClr val="A2701C"/>
                  </a:solidFill>
                  <a:latin typeface="+mj-lt"/>
                  <a:ea typeface="+mj-ea"/>
                  <a:cs typeface="+mj-cs"/>
                </a:rPr>
                <a:t>ボタンが出ないとき</a:t>
              </a:r>
            </a:p>
          </p:txBody>
        </p:sp>
        <p:sp>
          <p:nvSpPr>
            <p:cNvPr id="28" name="TextBox 28"/>
            <p:cNvSpPr txBox="1"/>
            <p:nvPr/>
          </p:nvSpPr>
          <p:spPr>
            <a:xfrm>
              <a:off x="7229856" y="4853940"/>
              <a:ext cx="2144268" cy="13235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画面の下に「読み込めない</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ひな形」としてファイル名と理由が出ます。直せばその</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まま使えます。</a:t>
              </a:r>
            </a:p>
          </p:txBody>
        </p:sp>
      </p:grpSp>
      <p:grpSp>
        <p:nvGrpSpPr>
          <p:cNvPr id="32" name="Group 32"/>
          <p:cNvGrpSpPr/>
          <p:nvPr/>
        </p:nvGrpSpPr>
        <p:grpSpPr>
          <a:xfrm>
            <a:off x="374904" y="6461760"/>
            <a:ext cx="11442192" cy="234696"/>
            <a:chOff x="374904" y="6461760"/>
            <a:chExt cx="11442192" cy="234696"/>
          </a:xfrm>
        </p:grpSpPr>
        <p:sp>
          <p:nvSpPr>
            <p:cNvPr id="30" name="TextBox 30"/>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31" name="TextBox 31"/>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2 · 3/4</a:t>
              </a:r>
            </a:p>
          </p:txBody>
        </p:sp>
        <p:sp>
          <p:nvSpPr>
            <p:cNvPr id="4" name="TextBox 4"/>
            <p:cNvSpPr txBox="1"/>
            <p:nvPr/>
          </p:nvSpPr>
          <p:spPr>
            <a:xfrm>
              <a:off x="1946148" y="479108"/>
              <a:ext cx="553637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AIへ伝える改修内容を確認します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6" name="Group 16"/>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5"/>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chemeClr val="accent6"/>
              </a:solidFill>
            </a:ln>
          </p:spPr>
        </p:sp>
        <p:sp>
          <p:nvSpPr>
            <p:cNvPr id="10" name="Ellipse 10"/>
            <p:cNvSpPr/>
            <p:nvPr/>
          </p:nvSpPr>
          <p:spPr>
            <a:xfrm>
              <a:off x="1076325" y="2505075"/>
              <a:ext cx="323850" cy="323850"/>
            </a:xfrm>
            <a:prstGeom prst="ellipse">
              <a:avLst/>
            </a:prstGeom>
            <a:solidFill>
              <a:schemeClr val="accent1"/>
            </a:solidFill>
            <a:ln w="28575">
              <a:solidFill>
                <a:srgbClr val="FFFFFF"/>
              </a:solidFill>
            </a:ln>
          </p:spPr>
        </p:sp>
        <p:sp>
          <p:nvSpPr>
            <p:cNvPr id="11" name="TextBox 11"/>
            <p:cNvSpPr txBox="1"/>
            <p:nvPr/>
          </p:nvSpPr>
          <p:spPr>
            <a:xfrm>
              <a:off x="1178915" y="2587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2" name="Ellipse 12"/>
            <p:cNvSpPr/>
            <p:nvPr/>
          </p:nvSpPr>
          <p:spPr>
            <a:xfrm>
              <a:off x="5886450" y="2124075"/>
              <a:ext cx="323850" cy="323850"/>
            </a:xfrm>
            <a:prstGeom prst="ellipse">
              <a:avLst/>
            </a:prstGeom>
            <a:solidFill>
              <a:schemeClr val="accent1"/>
            </a:solidFill>
            <a:ln w="28575">
              <a:solidFill>
                <a:srgbClr val="FFFFFF"/>
              </a:solidFill>
            </a:ln>
          </p:spPr>
        </p:sp>
        <p:sp>
          <p:nvSpPr>
            <p:cNvPr id="13" name="TextBox 13"/>
            <p:cNvSpPr txBox="1"/>
            <p:nvPr/>
          </p:nvSpPr>
          <p:spPr>
            <a:xfrm>
              <a:off x="5989040" y="2206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14" name="Ellipse 14"/>
            <p:cNvSpPr/>
            <p:nvPr/>
          </p:nvSpPr>
          <p:spPr>
            <a:xfrm>
              <a:off x="1076325" y="4333875"/>
              <a:ext cx="323850" cy="323850"/>
            </a:xfrm>
            <a:prstGeom prst="ellipse">
              <a:avLst/>
            </a:prstGeom>
            <a:solidFill>
              <a:schemeClr val="accent1"/>
            </a:solidFill>
            <a:ln w="28575">
              <a:solidFill>
                <a:srgbClr val="FFFFFF"/>
              </a:solidFill>
            </a:ln>
          </p:spPr>
        </p:sp>
        <p:sp>
          <p:nvSpPr>
            <p:cNvPr id="15" name="TextBox 15"/>
            <p:cNvSpPr txBox="1"/>
            <p:nvPr/>
          </p:nvSpPr>
          <p:spPr>
            <a:xfrm>
              <a:off x="1178915" y="44167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grpSp>
      <p:grpSp>
        <p:nvGrpSpPr>
          <p:cNvPr id="22" name="Group 22"/>
          <p:cNvGrpSpPr/>
          <p:nvPr/>
        </p:nvGrpSpPr>
        <p:grpSpPr>
          <a:xfrm>
            <a:off x="342900" y="5238750"/>
            <a:ext cx="6477000" cy="971550"/>
            <a:chOff x="342900" y="5238750"/>
            <a:chExt cx="6477000" cy="971550"/>
          </a:xfrm>
        </p:grpSpPr>
        <p:sp>
          <p:nvSpPr>
            <p:cNvPr id="17" name="Rectangle 17"/>
            <p:cNvSpPr/>
            <p:nvPr/>
          </p:nvSpPr>
          <p:spPr>
            <a:xfrm>
              <a:off x="342900" y="5238750"/>
              <a:ext cx="6477000" cy="971550"/>
            </a:xfrm>
            <a:prstGeom prst="roundRect">
              <a:avLst>
                <a:gd name="adj" fmla="val 13725"/>
              </a:avLst>
            </a:prstGeom>
            <a:solidFill>
              <a:schemeClr val="lt2"/>
            </a:solidFill>
            <a:ln>
              <a:noFill/>
            </a:ln>
          </p:spPr>
        </p:sp>
        <p:grpSp>
          <p:nvGrpSpPr>
            <p:cNvPr id="20" name="Group 20"/>
            <p:cNvGrpSpPr/>
            <p:nvPr/>
          </p:nvGrpSpPr>
          <p:grpSpPr>
            <a:xfrm>
              <a:off x="623888" y="5467163"/>
              <a:ext cx="214557" cy="214500"/>
              <a:chOff x="623888" y="5467163"/>
              <a:chExt cx="214557" cy="214500"/>
            </a:xfrm>
          </p:grpSpPr>
          <p:sp>
            <p:nvSpPr>
              <p:cNvPr id="18" name="Freeform 18"/>
              <p:cNvSpPr/>
              <p:nvPr/>
            </p:nvSpPr>
            <p:spPr>
              <a:xfrm>
                <a:off x="623888" y="5514975"/>
                <a:ext cx="166688" cy="166688"/>
              </a:xfrm>
              <a:custGeom>
                <a:avLst/>
                <a:gdLst/>
                <a:ahLst/>
                <a:cxnLst/>
                <a:rect l="l" t="t" r="r" b="b"/>
                <a:pathLst>
                  <a:path w="166688" h="166688">
                    <a:moveTo>
                      <a:pt x="55563" y="11113"/>
                    </a:moveTo>
                    <a:cubicBezTo>
                      <a:pt x="55563" y="17250"/>
                      <a:pt x="50587" y="22225"/>
                      <a:pt x="44450" y="22225"/>
                    </a:cubicBezTo>
                    <a:lnTo>
                      <a:pt x="33338" y="22225"/>
                    </a:lnTo>
                    <a:cubicBezTo>
                      <a:pt x="27200" y="22225"/>
                      <a:pt x="22225" y="27200"/>
                      <a:pt x="22225" y="33338"/>
                    </a:cubicBezTo>
                    <a:lnTo>
                      <a:pt x="22225" y="133350"/>
                    </a:lnTo>
                    <a:cubicBezTo>
                      <a:pt x="22225" y="139488"/>
                      <a:pt x="27200" y="144463"/>
                      <a:pt x="33338" y="144463"/>
                    </a:cubicBezTo>
                    <a:lnTo>
                      <a:pt x="133350" y="144463"/>
                    </a:lnTo>
                    <a:cubicBezTo>
                      <a:pt x="139488" y="144463"/>
                      <a:pt x="144463" y="139488"/>
                      <a:pt x="144463" y="133350"/>
                    </a:cubicBezTo>
                    <a:lnTo>
                      <a:pt x="144463" y="122238"/>
                    </a:lnTo>
                    <a:cubicBezTo>
                      <a:pt x="144463" y="116101"/>
                      <a:pt x="149438" y="111125"/>
                      <a:pt x="155575" y="111125"/>
                    </a:cubicBezTo>
                    <a:cubicBezTo>
                      <a:pt x="161713" y="111125"/>
                      <a:pt x="166688" y="116101"/>
                      <a:pt x="166688" y="122238"/>
                    </a:cubicBezTo>
                    <a:lnTo>
                      <a:pt x="166688" y="133350"/>
                    </a:lnTo>
                    <a:cubicBezTo>
                      <a:pt x="166688" y="151762"/>
                      <a:pt x="151762" y="166688"/>
                      <a:pt x="133350" y="166688"/>
                    </a:cubicBezTo>
                    <a:lnTo>
                      <a:pt x="33338" y="166688"/>
                    </a:lnTo>
                    <a:cubicBezTo>
                      <a:pt x="14926" y="166688"/>
                      <a:pt x="0" y="151762"/>
                      <a:pt x="0" y="133350"/>
                    </a:cubicBezTo>
                    <a:lnTo>
                      <a:pt x="0" y="33338"/>
                    </a:lnTo>
                    <a:cubicBezTo>
                      <a:pt x="0" y="14926"/>
                      <a:pt x="14926" y="0"/>
                      <a:pt x="33338" y="0"/>
                    </a:cubicBezTo>
                    <a:lnTo>
                      <a:pt x="44450" y="0"/>
                    </a:lnTo>
                    <a:cubicBezTo>
                      <a:pt x="50587" y="0"/>
                      <a:pt x="55563" y="4975"/>
                      <a:pt x="55563" y="11113"/>
                    </a:cubicBezTo>
                  </a:path>
                </a:pathLst>
              </a:custGeom>
              <a:solidFill>
                <a:schemeClr val="accent1"/>
              </a:solidFill>
              <a:ln>
                <a:noFill/>
              </a:ln>
            </p:spPr>
          </p:sp>
          <p:sp>
            <p:nvSpPr>
              <p:cNvPr id="19" name="Freeform 19"/>
              <p:cNvSpPr/>
              <p:nvPr/>
            </p:nvSpPr>
            <p:spPr>
              <a:xfrm>
                <a:off x="679450" y="5467163"/>
                <a:ext cx="158995" cy="158938"/>
              </a:xfrm>
              <a:custGeom>
                <a:avLst/>
                <a:gdLst/>
                <a:ahLst/>
                <a:cxnLst/>
                <a:rect l="l" t="t" r="r" b="b"/>
                <a:pathLst>
                  <a:path w="158995" h="158938">
                    <a:moveTo>
                      <a:pt x="73298" y="36822"/>
                    </a:moveTo>
                    <a:lnTo>
                      <a:pt x="122104" y="85629"/>
                    </a:lnTo>
                    <a:lnTo>
                      <a:pt x="52318" y="155671"/>
                    </a:lnTo>
                    <a:cubicBezTo>
                      <a:pt x="50233" y="157762"/>
                      <a:pt x="47403" y="158937"/>
                      <a:pt x="44450" y="158938"/>
                    </a:cubicBezTo>
                    <a:lnTo>
                      <a:pt x="11113" y="158938"/>
                    </a:lnTo>
                    <a:cubicBezTo>
                      <a:pt x="4975" y="158938"/>
                      <a:pt x="0" y="153963"/>
                      <a:pt x="0" y="147825"/>
                    </a:cubicBezTo>
                    <a:lnTo>
                      <a:pt x="0" y="114488"/>
                    </a:lnTo>
                    <a:cubicBezTo>
                      <a:pt x="1" y="111535"/>
                      <a:pt x="1176" y="108705"/>
                      <a:pt x="3267" y="106620"/>
                    </a:cubicBezTo>
                    <a:close/>
                    <a:moveTo>
                      <a:pt x="145485" y="13453"/>
                    </a:moveTo>
                    <a:cubicBezTo>
                      <a:pt x="158197" y="26155"/>
                      <a:pt x="158995" y="46499"/>
                      <a:pt x="147319" y="60159"/>
                    </a:cubicBezTo>
                    <a:lnTo>
                      <a:pt x="145496" y="62159"/>
                    </a:lnTo>
                    <a:lnTo>
                      <a:pt x="137795" y="69871"/>
                    </a:lnTo>
                    <a:lnTo>
                      <a:pt x="89045" y="21120"/>
                    </a:lnTo>
                    <a:lnTo>
                      <a:pt x="96768" y="13453"/>
                    </a:lnTo>
                    <a:cubicBezTo>
                      <a:pt x="110221" y="0"/>
                      <a:pt x="132032" y="0"/>
                      <a:pt x="145485" y="13453"/>
                    </a:cubicBezTo>
                  </a:path>
                </a:pathLst>
              </a:custGeom>
              <a:solidFill>
                <a:schemeClr val="accent1"/>
              </a:solidFill>
              <a:ln>
                <a:noFill/>
              </a:ln>
            </p:spPr>
          </p:sp>
        </p:grpSp>
        <p:sp>
          <p:nvSpPr>
            <p:cNvPr id="21" name="TextBox 21"/>
            <p:cNvSpPr txBox="1"/>
            <p:nvPr/>
          </p:nvSpPr>
          <p:spPr>
            <a:xfrm>
              <a:off x="943356" y="5463540"/>
              <a:ext cx="36415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前の画面で「自分で書く」を選んだ場合、出力指示は付きません。</a:t>
              </a:r>
            </a:p>
          </p:txBody>
        </p:sp>
      </p:grpSp>
      <p:grpSp>
        <p:nvGrpSpPr>
          <p:cNvPr id="32" name="Group 32"/>
          <p:cNvGrpSpPr/>
          <p:nvPr/>
        </p:nvGrpSpPr>
        <p:grpSpPr>
          <a:xfrm>
            <a:off x="7077075" y="1552575"/>
            <a:ext cx="3139059" cy="4224909"/>
            <a:chOff x="7077075" y="1552575"/>
            <a:chExt cx="3139059" cy="4224909"/>
          </a:xfrm>
        </p:grpSpPr>
        <p:sp>
          <p:nvSpPr>
            <p:cNvPr id="23" name="Ellipse 23"/>
            <p:cNvSpPr/>
            <p:nvPr/>
          </p:nvSpPr>
          <p:spPr>
            <a:xfrm>
              <a:off x="7077075" y="1552575"/>
              <a:ext cx="323850" cy="323850"/>
            </a:xfrm>
            <a:prstGeom prst="ellipse">
              <a:avLst/>
            </a:prstGeom>
            <a:solidFill>
              <a:schemeClr val="accent1"/>
            </a:solidFill>
            <a:ln>
              <a:noFill/>
            </a:ln>
          </p:spPr>
        </p:sp>
        <p:sp>
          <p:nvSpPr>
            <p:cNvPr id="24" name="TextBox 24"/>
            <p:cNvSpPr txBox="1"/>
            <p:nvPr/>
          </p:nvSpPr>
          <p:spPr>
            <a:xfrm>
              <a:off x="7179665" y="1635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25" name="TextBox 25"/>
            <p:cNvSpPr txBox="1"/>
            <p:nvPr/>
          </p:nvSpPr>
          <p:spPr>
            <a:xfrm>
              <a:off x="7534656" y="1596390"/>
              <a:ext cx="2601468" cy="13235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ひな形の「改修指示」が入った状態で出ます。そのまま使って</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も、自分の言葉を足しても、消してもかまいません。</a:t>
              </a:r>
            </a:p>
          </p:txBody>
        </p:sp>
        <p:sp>
          <p:nvSpPr>
            <p:cNvPr id="26" name="Ellipse 26"/>
            <p:cNvSpPr/>
            <p:nvPr/>
          </p:nvSpPr>
          <p:spPr>
            <a:xfrm>
              <a:off x="7077075" y="3267075"/>
              <a:ext cx="323850" cy="323850"/>
            </a:xfrm>
            <a:prstGeom prst="ellipse">
              <a:avLst/>
            </a:prstGeom>
            <a:solidFill>
              <a:schemeClr val="accent1"/>
            </a:solidFill>
            <a:ln>
              <a:noFill/>
            </a:ln>
          </p:spPr>
        </p:sp>
        <p:sp>
          <p:nvSpPr>
            <p:cNvPr id="27" name="TextBox 27"/>
            <p:cNvSpPr txBox="1"/>
            <p:nvPr/>
          </p:nvSpPr>
          <p:spPr>
            <a:xfrm>
              <a:off x="7179665" y="3349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8" name="TextBox 28"/>
            <p:cNvSpPr txBox="1"/>
            <p:nvPr/>
          </p:nvSpPr>
          <p:spPr>
            <a:xfrm>
              <a:off x="7534656" y="3310890"/>
              <a:ext cx="224759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文字数が右上に出ます。</a:t>
              </a:r>
            </a:p>
          </p:txBody>
        </p:sp>
        <p:sp>
          <p:nvSpPr>
            <p:cNvPr id="29" name="Ellipse 29"/>
            <p:cNvSpPr/>
            <p:nvPr/>
          </p:nvSpPr>
          <p:spPr>
            <a:xfrm>
              <a:off x="7077075" y="4086225"/>
              <a:ext cx="323850" cy="323850"/>
            </a:xfrm>
            <a:prstGeom prst="ellipse">
              <a:avLst/>
            </a:prstGeom>
            <a:solidFill>
              <a:schemeClr val="accent1"/>
            </a:solidFill>
            <a:ln>
              <a:noFill/>
            </a:ln>
          </p:spPr>
        </p:sp>
        <p:sp>
          <p:nvSpPr>
            <p:cNvPr id="30" name="TextBox 30"/>
            <p:cNvSpPr txBox="1"/>
            <p:nvPr/>
          </p:nvSpPr>
          <p:spPr>
            <a:xfrm>
              <a:off x="7179665" y="41690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31" name="TextBox 31"/>
            <p:cNvSpPr txBox="1"/>
            <p:nvPr/>
          </p:nvSpPr>
          <p:spPr>
            <a:xfrm>
              <a:off x="7534656" y="4130040"/>
              <a:ext cx="2681478" cy="16474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下の「出力指示」は、返答の</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しかたを AI に伝える文です。クリックすると読めます。この文は依頼文の末尾に自動で付いて送られます。</a:t>
              </a:r>
            </a:p>
          </p:txBody>
        </p:sp>
      </p:grpSp>
      <p:grpSp>
        <p:nvGrpSpPr>
          <p:cNvPr id="35" name="Group 35"/>
          <p:cNvGrpSpPr/>
          <p:nvPr/>
        </p:nvGrpSpPr>
        <p:grpSpPr>
          <a:xfrm>
            <a:off x="374904" y="6461760"/>
            <a:ext cx="11442192" cy="234696"/>
            <a:chOff x="374904" y="6461760"/>
            <a:chExt cx="11442192" cy="234696"/>
          </a:xfrm>
        </p:grpSpPr>
        <p:sp>
          <p:nvSpPr>
            <p:cNvPr id="33" name="TextBox 33"/>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34" name="TextBox 34"/>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2 · 4/4</a:t>
              </a:r>
            </a:p>
          </p:txBody>
        </p:sp>
        <p:sp>
          <p:nvSpPr>
            <p:cNvPr id="4" name="TextBox 4"/>
            <p:cNvSpPr txBox="1"/>
            <p:nvPr/>
          </p:nvSpPr>
          <p:spPr>
            <a:xfrm>
              <a:off x="1946148" y="479108"/>
              <a:ext cx="464250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AIチャットへ改修を依頼します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6" name="Group 16"/>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5"/>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chemeClr val="accent6"/>
              </a:solidFill>
            </a:ln>
          </p:spPr>
        </p:sp>
        <p:sp>
          <p:nvSpPr>
            <p:cNvPr id="10" name="Ellipse 10"/>
            <p:cNvSpPr/>
            <p:nvPr/>
          </p:nvSpPr>
          <p:spPr>
            <a:xfrm>
              <a:off x="1028700" y="2600325"/>
              <a:ext cx="323850" cy="323850"/>
            </a:xfrm>
            <a:prstGeom prst="ellipse">
              <a:avLst/>
            </a:prstGeom>
            <a:solidFill>
              <a:schemeClr val="accent1"/>
            </a:solidFill>
            <a:ln w="28575">
              <a:solidFill>
                <a:srgbClr val="FFFFFF"/>
              </a:solidFill>
            </a:ln>
          </p:spPr>
        </p:sp>
        <p:sp>
          <p:nvSpPr>
            <p:cNvPr id="11" name="TextBox 11"/>
            <p:cNvSpPr txBox="1"/>
            <p:nvPr/>
          </p:nvSpPr>
          <p:spPr>
            <a:xfrm>
              <a:off x="1131290" y="26831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2" name="Ellipse 12"/>
            <p:cNvSpPr/>
            <p:nvPr/>
          </p:nvSpPr>
          <p:spPr>
            <a:xfrm>
              <a:off x="3686175" y="2600325"/>
              <a:ext cx="323850" cy="323850"/>
            </a:xfrm>
            <a:prstGeom prst="ellipse">
              <a:avLst/>
            </a:prstGeom>
            <a:solidFill>
              <a:schemeClr val="accent1"/>
            </a:solidFill>
            <a:ln w="28575">
              <a:solidFill>
                <a:srgbClr val="FFFFFF"/>
              </a:solidFill>
            </a:ln>
          </p:spPr>
        </p:sp>
        <p:sp>
          <p:nvSpPr>
            <p:cNvPr id="13" name="TextBox 13"/>
            <p:cNvSpPr txBox="1"/>
            <p:nvPr/>
          </p:nvSpPr>
          <p:spPr>
            <a:xfrm>
              <a:off x="3788765" y="26831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14" name="Ellipse 14"/>
            <p:cNvSpPr/>
            <p:nvPr/>
          </p:nvSpPr>
          <p:spPr>
            <a:xfrm>
              <a:off x="1028700" y="3686175"/>
              <a:ext cx="323850" cy="323850"/>
            </a:xfrm>
            <a:prstGeom prst="ellipse">
              <a:avLst/>
            </a:prstGeom>
            <a:solidFill>
              <a:schemeClr val="accent1"/>
            </a:solidFill>
            <a:ln w="28575">
              <a:solidFill>
                <a:srgbClr val="FFFFFF"/>
              </a:solidFill>
            </a:ln>
          </p:spPr>
        </p:sp>
        <p:sp>
          <p:nvSpPr>
            <p:cNvPr id="15" name="TextBox 15"/>
            <p:cNvSpPr txBox="1"/>
            <p:nvPr/>
          </p:nvSpPr>
          <p:spPr>
            <a:xfrm>
              <a:off x="1131290" y="37690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grpSp>
      <p:grpSp>
        <p:nvGrpSpPr>
          <p:cNvPr id="21" name="Group 21"/>
          <p:cNvGrpSpPr/>
          <p:nvPr/>
        </p:nvGrpSpPr>
        <p:grpSpPr>
          <a:xfrm>
            <a:off x="342900" y="5238750"/>
            <a:ext cx="6477000" cy="1051751"/>
            <a:chOff x="342900" y="5238750"/>
            <a:chExt cx="6477000" cy="1051751"/>
          </a:xfrm>
        </p:grpSpPr>
        <p:sp>
          <p:nvSpPr>
            <p:cNvPr id="17" name="Rectangle 17"/>
            <p:cNvSpPr/>
            <p:nvPr/>
          </p:nvSpPr>
          <p:spPr>
            <a:xfrm>
              <a:off x="342900" y="5238750"/>
              <a:ext cx="6477000" cy="971550"/>
            </a:xfrm>
            <a:prstGeom prst="roundRect">
              <a:avLst>
                <a:gd name="adj" fmla="val 13725"/>
              </a:avLst>
            </a:prstGeom>
            <a:solidFill>
              <a:schemeClr val="lt1"/>
            </a:solidFill>
            <a:ln w="19050">
              <a:solidFill>
                <a:schemeClr val="accent1"/>
              </a:solidFill>
            </a:ln>
          </p:spPr>
        </p:sp>
        <p:sp>
          <p:nvSpPr>
            <p:cNvPr id="18" name="TextBox 18"/>
            <p:cNvSpPr txBox="1"/>
            <p:nvPr/>
          </p:nvSpPr>
          <p:spPr>
            <a:xfrm>
              <a:off x="619506" y="5368290"/>
              <a:ext cx="1684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なぜ 2 つに分けるのか</a:t>
              </a:r>
            </a:p>
          </p:txBody>
        </p:sp>
        <p:sp>
          <p:nvSpPr>
            <p:cNvPr id="19" name="TextBox 19"/>
            <p:cNvSpPr txBox="1"/>
            <p:nvPr/>
          </p:nvSpPr>
          <p:spPr>
            <a:xfrm>
              <a:off x="619506" y="5730240"/>
              <a:ext cx="433242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添付ファイル内で指示文とコードが混ざると、AI が</a:t>
              </a:r>
            </a:p>
          </p:txBody>
        </p:sp>
        <p:sp>
          <p:nvSpPr>
            <p:cNvPr id="20" name="TextBox 20"/>
            <p:cNvSpPr txBox="1"/>
            <p:nvPr/>
          </p:nvSpPr>
          <p:spPr>
            <a:xfrm>
              <a:off x="621792" y="6026468"/>
              <a:ext cx="4393578"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「コード全文を取得できない」と誤って判断することが実際にありました。</a:t>
              </a:r>
            </a:p>
          </p:txBody>
        </p:sp>
      </p:grpSp>
      <p:grpSp>
        <p:nvGrpSpPr>
          <p:cNvPr id="39" name="Group 39"/>
          <p:cNvGrpSpPr/>
          <p:nvPr/>
        </p:nvGrpSpPr>
        <p:grpSpPr>
          <a:xfrm>
            <a:off x="7077075" y="1552575"/>
            <a:ext cx="3089540" cy="4091559"/>
            <a:chOff x="7077075" y="1552575"/>
            <a:chExt cx="3089540" cy="4091559"/>
          </a:xfrm>
        </p:grpSpPr>
        <p:sp>
          <p:nvSpPr>
            <p:cNvPr id="22" name="Ellipse 22"/>
            <p:cNvSpPr/>
            <p:nvPr/>
          </p:nvSpPr>
          <p:spPr>
            <a:xfrm>
              <a:off x="7077075" y="1552575"/>
              <a:ext cx="323850" cy="323850"/>
            </a:xfrm>
            <a:prstGeom prst="ellipse">
              <a:avLst/>
            </a:prstGeom>
            <a:solidFill>
              <a:schemeClr val="accent1"/>
            </a:solidFill>
            <a:ln>
              <a:noFill/>
            </a:ln>
          </p:spPr>
        </p:sp>
        <p:sp>
          <p:nvSpPr>
            <p:cNvPr id="23" name="TextBox 23"/>
            <p:cNvSpPr txBox="1"/>
            <p:nvPr/>
          </p:nvSpPr>
          <p:spPr>
            <a:xfrm>
              <a:off x="7179665" y="1635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grpSp>
          <p:nvGrpSpPr>
            <p:cNvPr id="26" name="Group 26"/>
            <p:cNvGrpSpPr/>
            <p:nvPr/>
          </p:nvGrpSpPr>
          <p:grpSpPr>
            <a:xfrm>
              <a:off x="7566025" y="1584325"/>
              <a:ext cx="222251" cy="222251"/>
              <a:chOff x="7566025" y="1584325"/>
              <a:chExt cx="222251" cy="222251"/>
            </a:xfrm>
          </p:grpSpPr>
          <p:sp>
            <p:nvSpPr>
              <p:cNvPr id="24" name="Freeform 24"/>
              <p:cNvSpPr/>
              <p:nvPr/>
            </p:nvSpPr>
            <p:spPr>
              <a:xfrm>
                <a:off x="7610475" y="1628756"/>
                <a:ext cx="177801" cy="177820"/>
              </a:xfrm>
              <a:custGeom>
                <a:avLst/>
                <a:gdLst/>
                <a:ahLst/>
                <a:cxnLst/>
                <a:rect l="l" t="t" r="r" b="b"/>
                <a:pathLst>
                  <a:path w="177801" h="177820">
                    <a:moveTo>
                      <a:pt x="165866" y="11954"/>
                    </a:moveTo>
                    <a:cubicBezTo>
                      <a:pt x="173505" y="19599"/>
                      <a:pt x="177797" y="29962"/>
                      <a:pt x="177801" y="40769"/>
                    </a:cubicBezTo>
                    <a:lnTo>
                      <a:pt x="177801" y="137070"/>
                    </a:lnTo>
                    <a:cubicBezTo>
                      <a:pt x="177801" y="147878"/>
                      <a:pt x="173507" y="158243"/>
                      <a:pt x="165865" y="165885"/>
                    </a:cubicBezTo>
                    <a:cubicBezTo>
                      <a:pt x="158223" y="173527"/>
                      <a:pt x="147858" y="177820"/>
                      <a:pt x="137051" y="177820"/>
                    </a:cubicBezTo>
                    <a:lnTo>
                      <a:pt x="40750" y="177820"/>
                    </a:lnTo>
                    <a:cubicBezTo>
                      <a:pt x="29942" y="177820"/>
                      <a:pt x="19577" y="173527"/>
                      <a:pt x="11935" y="165885"/>
                    </a:cubicBezTo>
                    <a:cubicBezTo>
                      <a:pt x="4293" y="158243"/>
                      <a:pt x="0" y="147878"/>
                      <a:pt x="0" y="137070"/>
                    </a:cubicBezTo>
                    <a:lnTo>
                      <a:pt x="0" y="40769"/>
                    </a:lnTo>
                    <a:cubicBezTo>
                      <a:pt x="0" y="40377"/>
                      <a:pt x="19" y="39999"/>
                      <a:pt x="56" y="39636"/>
                    </a:cubicBezTo>
                    <a:cubicBezTo>
                      <a:pt x="628" y="17578"/>
                      <a:pt x="18684" y="0"/>
                      <a:pt x="40750" y="19"/>
                    </a:cubicBezTo>
                    <a:lnTo>
                      <a:pt x="137051" y="19"/>
                    </a:lnTo>
                    <a:cubicBezTo>
                      <a:pt x="147863" y="19"/>
                      <a:pt x="158220" y="4309"/>
                      <a:pt x="165866" y="11954"/>
                    </a:cubicBezTo>
                  </a:path>
                </a:pathLst>
              </a:custGeom>
              <a:solidFill>
                <a:schemeClr val="accent1"/>
              </a:solidFill>
              <a:ln>
                <a:noFill/>
              </a:ln>
            </p:spPr>
          </p:sp>
          <p:sp>
            <p:nvSpPr>
              <p:cNvPr id="25" name="Freeform 25"/>
              <p:cNvSpPr/>
              <p:nvPr/>
            </p:nvSpPr>
            <p:spPr>
              <a:xfrm>
                <a:off x="7566025" y="1584325"/>
                <a:ext cx="173827" cy="176460"/>
              </a:xfrm>
              <a:custGeom>
                <a:avLst/>
                <a:gdLst/>
                <a:ahLst/>
                <a:cxnLst/>
                <a:rect l="l" t="t" r="r" b="b"/>
                <a:pathLst>
                  <a:path w="173827" h="176460">
                    <a:moveTo>
                      <a:pt x="170844" y="16824"/>
                    </a:moveTo>
                    <a:cubicBezTo>
                      <a:pt x="173827" y="22188"/>
                      <a:pt x="171896" y="28955"/>
                      <a:pt x="166532" y="31937"/>
                    </a:cubicBezTo>
                    <a:cubicBezTo>
                      <a:pt x="161168" y="34920"/>
                      <a:pt x="154402" y="32990"/>
                      <a:pt x="151419" y="27626"/>
                    </a:cubicBezTo>
                    <a:cubicBezTo>
                      <a:pt x="148963" y="23203"/>
                      <a:pt x="147619" y="22225"/>
                      <a:pt x="144463" y="22225"/>
                    </a:cubicBezTo>
                    <a:lnTo>
                      <a:pt x="33338" y="22225"/>
                    </a:lnTo>
                    <a:cubicBezTo>
                      <a:pt x="27248" y="22225"/>
                      <a:pt x="22225" y="27248"/>
                      <a:pt x="22225" y="33338"/>
                    </a:cubicBezTo>
                    <a:lnTo>
                      <a:pt x="22225" y="144441"/>
                    </a:lnTo>
                    <a:cubicBezTo>
                      <a:pt x="22225" y="148441"/>
                      <a:pt x="24381" y="152131"/>
                      <a:pt x="27859" y="154109"/>
                    </a:cubicBezTo>
                    <a:cubicBezTo>
                      <a:pt x="33192" y="157147"/>
                      <a:pt x="35053" y="163933"/>
                      <a:pt x="32015" y="169266"/>
                    </a:cubicBezTo>
                    <a:cubicBezTo>
                      <a:pt x="28977" y="174599"/>
                      <a:pt x="22191" y="176460"/>
                      <a:pt x="16858" y="173422"/>
                    </a:cubicBezTo>
                    <a:cubicBezTo>
                      <a:pt x="6443" y="167500"/>
                      <a:pt x="7" y="156444"/>
                      <a:pt x="0" y="144463"/>
                    </a:cubicBezTo>
                    <a:lnTo>
                      <a:pt x="0" y="33338"/>
                    </a:lnTo>
                    <a:cubicBezTo>
                      <a:pt x="0" y="14980"/>
                      <a:pt x="14980" y="0"/>
                      <a:pt x="33338" y="0"/>
                    </a:cubicBezTo>
                    <a:lnTo>
                      <a:pt x="144463" y="0"/>
                    </a:lnTo>
                    <a:cubicBezTo>
                      <a:pt x="156620" y="0"/>
                      <a:pt x="164777" y="5923"/>
                      <a:pt x="170844" y="16824"/>
                    </a:cubicBezTo>
                  </a:path>
                </a:pathLst>
              </a:custGeom>
              <a:solidFill>
                <a:schemeClr val="accent1"/>
              </a:solidFill>
              <a:ln>
                <a:noFill/>
              </a:ln>
            </p:spPr>
          </p:sp>
        </p:grpSp>
        <p:sp>
          <p:nvSpPr>
            <p:cNvPr id="27" name="TextBox 27"/>
            <p:cNvSpPr txBox="1"/>
            <p:nvPr/>
          </p:nvSpPr>
          <p:spPr>
            <a:xfrm>
              <a:off x="7896606" y="1596390"/>
              <a:ext cx="185019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［依頼文をコピー］</a:t>
              </a:r>
            </a:p>
          </p:txBody>
        </p:sp>
        <p:sp>
          <p:nvSpPr>
            <p:cNvPr id="28" name="TextBox 28"/>
            <p:cNvSpPr txBox="1"/>
            <p:nvPr/>
          </p:nvSpPr>
          <p:spPr>
            <a:xfrm>
              <a:off x="7534656" y="1996440"/>
              <a:ext cx="183565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依頼文がクリップボードへ入ります。コード本文は</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コピーされません。</a:t>
              </a:r>
            </a:p>
          </p:txBody>
        </p:sp>
        <p:sp>
          <p:nvSpPr>
            <p:cNvPr id="29" name="Ellipse 29"/>
            <p:cNvSpPr/>
            <p:nvPr/>
          </p:nvSpPr>
          <p:spPr>
            <a:xfrm>
              <a:off x="7077075" y="3076575"/>
              <a:ext cx="323850" cy="323850"/>
            </a:xfrm>
            <a:prstGeom prst="ellipse">
              <a:avLst/>
            </a:prstGeom>
            <a:solidFill>
              <a:schemeClr val="accent1"/>
            </a:solidFill>
            <a:ln>
              <a:noFill/>
            </a:ln>
          </p:spPr>
        </p:sp>
        <p:sp>
          <p:nvSpPr>
            <p:cNvPr id="30" name="TextBox 30"/>
            <p:cNvSpPr txBox="1"/>
            <p:nvPr/>
          </p:nvSpPr>
          <p:spPr>
            <a:xfrm>
              <a:off x="7179665" y="3159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grpSp>
          <p:nvGrpSpPr>
            <p:cNvPr id="33" name="Group 33"/>
            <p:cNvGrpSpPr/>
            <p:nvPr/>
          </p:nvGrpSpPr>
          <p:grpSpPr>
            <a:xfrm>
              <a:off x="7588249" y="3108325"/>
              <a:ext cx="177802" cy="222252"/>
              <a:chOff x="7588249" y="3108325"/>
              <a:chExt cx="177802" cy="222252"/>
            </a:xfrm>
          </p:grpSpPr>
          <p:sp>
            <p:nvSpPr>
              <p:cNvPr id="31" name="Freeform 31"/>
              <p:cNvSpPr/>
              <p:nvPr/>
            </p:nvSpPr>
            <p:spPr>
              <a:xfrm>
                <a:off x="7588249" y="3108325"/>
                <a:ext cx="177802" cy="222252"/>
              </a:xfrm>
              <a:custGeom>
                <a:avLst/>
                <a:gdLst/>
                <a:ahLst/>
                <a:cxnLst/>
                <a:rect l="l" t="t" r="r" b="b"/>
                <a:pathLst>
                  <a:path w="177802" h="222252">
                    <a:moveTo>
                      <a:pt x="88901" y="0"/>
                    </a:moveTo>
                    <a:lnTo>
                      <a:pt x="90201" y="78"/>
                    </a:lnTo>
                    <a:cubicBezTo>
                      <a:pt x="95308" y="680"/>
                      <a:pt x="99334" y="4706"/>
                      <a:pt x="99936" y="9812"/>
                    </a:cubicBezTo>
                    <a:lnTo>
                      <a:pt x="100014" y="11113"/>
                    </a:lnTo>
                    <a:lnTo>
                      <a:pt x="100014" y="55563"/>
                    </a:lnTo>
                    <a:lnTo>
                      <a:pt x="100069" y="57230"/>
                    </a:lnTo>
                    <a:cubicBezTo>
                      <a:pt x="100891" y="68163"/>
                      <a:pt x="109563" y="76864"/>
                      <a:pt x="120494" y="77721"/>
                    </a:cubicBezTo>
                    <a:lnTo>
                      <a:pt x="122239" y="77788"/>
                    </a:lnTo>
                    <a:lnTo>
                      <a:pt x="166689" y="77788"/>
                    </a:lnTo>
                    <a:lnTo>
                      <a:pt x="167989" y="77866"/>
                    </a:lnTo>
                    <a:cubicBezTo>
                      <a:pt x="173095" y="78468"/>
                      <a:pt x="177122" y="82494"/>
                      <a:pt x="177724" y="87600"/>
                    </a:cubicBezTo>
                    <a:lnTo>
                      <a:pt x="177801" y="88900"/>
                    </a:lnTo>
                    <a:lnTo>
                      <a:pt x="177801" y="188913"/>
                    </a:lnTo>
                    <a:cubicBezTo>
                      <a:pt x="177802" y="206566"/>
                      <a:pt x="164042" y="221159"/>
                      <a:pt x="146420" y="222195"/>
                    </a:cubicBezTo>
                    <a:lnTo>
                      <a:pt x="144464" y="222251"/>
                    </a:lnTo>
                    <a:lnTo>
                      <a:pt x="33339" y="222251"/>
                    </a:lnTo>
                    <a:cubicBezTo>
                      <a:pt x="15686" y="222252"/>
                      <a:pt x="1092" y="208491"/>
                      <a:pt x="57" y="190869"/>
                    </a:cubicBezTo>
                    <a:lnTo>
                      <a:pt x="1" y="188913"/>
                    </a:lnTo>
                    <a:lnTo>
                      <a:pt x="1" y="33338"/>
                    </a:lnTo>
                    <a:cubicBezTo>
                      <a:pt x="0" y="15685"/>
                      <a:pt x="13760" y="1091"/>
                      <a:pt x="31383" y="56"/>
                    </a:cubicBezTo>
                    <a:lnTo>
                      <a:pt x="33339" y="0"/>
                    </a:lnTo>
                    <a:close/>
                    <a:moveTo>
                      <a:pt x="71643" y="123416"/>
                    </a:moveTo>
                    <a:cubicBezTo>
                      <a:pt x="66157" y="120676"/>
                      <a:pt x="59487" y="122899"/>
                      <a:pt x="56742" y="128383"/>
                    </a:cubicBezTo>
                    <a:lnTo>
                      <a:pt x="45629" y="150608"/>
                    </a:lnTo>
                    <a:cubicBezTo>
                      <a:pt x="44066" y="153735"/>
                      <a:pt x="44066" y="157416"/>
                      <a:pt x="45629" y="160543"/>
                    </a:cubicBezTo>
                    <a:lnTo>
                      <a:pt x="56742" y="182768"/>
                    </a:lnTo>
                    <a:cubicBezTo>
                      <a:pt x="59487" y="188252"/>
                      <a:pt x="66157" y="190475"/>
                      <a:pt x="71643" y="187735"/>
                    </a:cubicBezTo>
                    <a:lnTo>
                      <a:pt x="72777" y="187091"/>
                    </a:lnTo>
                    <a:cubicBezTo>
                      <a:pt x="77483" y="183996"/>
                      <a:pt x="79131" y="177870"/>
                      <a:pt x="76611" y="172833"/>
                    </a:cubicBezTo>
                    <a:lnTo>
                      <a:pt x="67987" y="155575"/>
                    </a:lnTo>
                    <a:lnTo>
                      <a:pt x="76611" y="138318"/>
                    </a:lnTo>
                    <a:cubicBezTo>
                      <a:pt x="79351" y="132831"/>
                      <a:pt x="77128" y="126161"/>
                      <a:pt x="71643" y="123416"/>
                    </a:cubicBezTo>
                    <a:moveTo>
                      <a:pt x="121061" y="128383"/>
                    </a:moveTo>
                    <a:cubicBezTo>
                      <a:pt x="118315" y="122899"/>
                      <a:pt x="111646" y="120676"/>
                      <a:pt x="106159" y="123416"/>
                    </a:cubicBezTo>
                    <a:lnTo>
                      <a:pt x="105026" y="124060"/>
                    </a:lnTo>
                    <a:cubicBezTo>
                      <a:pt x="100319" y="127154"/>
                      <a:pt x="98672" y="133280"/>
                      <a:pt x="101192" y="138318"/>
                    </a:cubicBezTo>
                    <a:lnTo>
                      <a:pt x="109793" y="155575"/>
                    </a:lnTo>
                    <a:lnTo>
                      <a:pt x="101181" y="172833"/>
                    </a:lnTo>
                    <a:cubicBezTo>
                      <a:pt x="98663" y="178283"/>
                      <a:pt x="100929" y="184748"/>
                      <a:pt x="106299" y="187433"/>
                    </a:cubicBezTo>
                    <a:cubicBezTo>
                      <a:pt x="111669" y="190118"/>
                      <a:pt x="118200" y="188052"/>
                      <a:pt x="121050" y="182768"/>
                    </a:cubicBezTo>
                    <a:lnTo>
                      <a:pt x="132162" y="160543"/>
                    </a:lnTo>
                    <a:cubicBezTo>
                      <a:pt x="133725" y="157416"/>
                      <a:pt x="133725" y="153735"/>
                      <a:pt x="132162" y="150608"/>
                    </a:cubicBezTo>
                    <a:close/>
                  </a:path>
                </a:pathLst>
              </a:custGeom>
              <a:solidFill>
                <a:schemeClr val="accent1"/>
              </a:solidFill>
              <a:ln>
                <a:noFill/>
              </a:ln>
            </p:spPr>
          </p:sp>
          <p:sp>
            <p:nvSpPr>
              <p:cNvPr id="32" name="Freeform 32"/>
              <p:cNvSpPr/>
              <p:nvPr/>
            </p:nvSpPr>
            <p:spPr>
              <a:xfrm>
                <a:off x="7710477" y="3119426"/>
                <a:ext cx="44461" cy="44461"/>
              </a:xfrm>
              <a:custGeom>
                <a:avLst/>
                <a:gdLst/>
                <a:ahLst/>
                <a:cxnLst/>
                <a:rect l="l" t="t" r="r" b="b"/>
                <a:pathLst>
                  <a:path w="44461" h="44461">
                    <a:moveTo>
                      <a:pt x="44461" y="44461"/>
                    </a:moveTo>
                    <a:lnTo>
                      <a:pt x="11" y="44461"/>
                    </a:lnTo>
                    <a:lnTo>
                      <a:pt x="0" y="0"/>
                    </a:lnTo>
                    <a:close/>
                  </a:path>
                </a:pathLst>
              </a:custGeom>
              <a:solidFill>
                <a:schemeClr val="accent1"/>
              </a:solidFill>
              <a:ln>
                <a:noFill/>
              </a:ln>
            </p:spPr>
          </p:sp>
        </p:grpSp>
        <p:sp>
          <p:nvSpPr>
            <p:cNvPr id="34" name="TextBox 34"/>
            <p:cNvSpPr txBox="1"/>
            <p:nvPr/>
          </p:nvSpPr>
          <p:spPr>
            <a:xfrm>
              <a:off x="7896606" y="3120390"/>
              <a:ext cx="227000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［ファイルの場所を開く］</a:t>
              </a:r>
            </a:p>
          </p:txBody>
        </p:sp>
        <p:sp>
          <p:nvSpPr>
            <p:cNvPr id="35" name="TextBox 35"/>
            <p:cNvSpPr txBox="1"/>
            <p:nvPr/>
          </p:nvSpPr>
          <p:spPr>
            <a:xfrm>
              <a:off x="7534656" y="3520440"/>
              <a:ext cx="2498598" cy="1323594"/>
            </a:xfrm>
            <a:prstGeom prst="rect">
              <a:avLst/>
            </a:prstGeom>
            <a:noFill/>
            <a:ln>
              <a:noFill/>
            </a:ln>
          </p:spPr>
          <p:txBody>
            <a:bodyPr wrap="square" lIns="0" tIns="0" rIns="0" bIns="0" anchor="t" anchorCtr="0"/>
            <a:lstStyle/>
            <a:p>
              <a:pPr algn="l">
                <a:lnSpc>
                  <a:spcPts val="2550"/>
                </a:lnSpc>
              </a:pPr>
              <a:r>
                <a:rPr lang="en-US" sz="1800" dirty="0">
                  <a:solidFill>
                    <a:schemeClr val="dk1"/>
                  </a:solidFill>
                  <a:latin typeface="+mn-lt"/>
                  <a:ea typeface="+mn-ea"/>
                  <a:cs typeface="+mn-cs"/>
                </a:rPr>
                <a:t xml:space="preserve">エクスプローラーが </a:t>
              </a:r>
              <a:r>
                <a:rPr lang="zh-CN" sz="1800" dirty="0">
                  <a:solidFill>
                    <a:schemeClr val="dk1"/>
                  </a:solidFill>
                  <a:latin typeface="+mn-lt"/>
                  <a:ea typeface="+mn-ea"/>
                  <a:cs typeface="+mn-cs"/>
                </a:rPr>
                <a:t>source-code.md を選んだ状態で開きます。これを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チャットへ添付します。</a:t>
              </a:r>
            </a:p>
          </p:txBody>
        </p:sp>
        <p:sp>
          <p:nvSpPr>
            <p:cNvPr id="36" name="Ellipse 36"/>
            <p:cNvSpPr/>
            <p:nvPr/>
          </p:nvSpPr>
          <p:spPr>
            <a:xfrm>
              <a:off x="7077075" y="4924425"/>
              <a:ext cx="323850" cy="323850"/>
            </a:xfrm>
            <a:prstGeom prst="ellipse">
              <a:avLst/>
            </a:prstGeom>
            <a:solidFill>
              <a:schemeClr val="accent1"/>
            </a:solidFill>
            <a:ln>
              <a:noFill/>
            </a:ln>
          </p:spPr>
        </p:sp>
        <p:sp>
          <p:nvSpPr>
            <p:cNvPr id="37" name="TextBox 37"/>
            <p:cNvSpPr txBox="1"/>
            <p:nvPr/>
          </p:nvSpPr>
          <p:spPr>
            <a:xfrm>
              <a:off x="7179665" y="50072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38" name="TextBox 38"/>
            <p:cNvSpPr txBox="1"/>
            <p:nvPr/>
          </p:nvSpPr>
          <p:spPr>
            <a:xfrm>
              <a:off x="7534656" y="4968240"/>
              <a:ext cx="196138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両方が緑のチェックになると［次へ］が押せます。</a:t>
              </a:r>
            </a:p>
          </p:txBody>
        </p:sp>
      </p:grpSp>
      <p:grpSp>
        <p:nvGrpSpPr>
          <p:cNvPr id="42" name="Group 42"/>
          <p:cNvGrpSpPr/>
          <p:nvPr/>
        </p:nvGrpSpPr>
        <p:grpSpPr>
          <a:xfrm>
            <a:off x="374904" y="6461760"/>
            <a:ext cx="11442192" cy="234696"/>
            <a:chOff x="374904" y="6461760"/>
            <a:chExt cx="11442192" cy="234696"/>
          </a:xfrm>
        </p:grpSpPr>
        <p:sp>
          <p:nvSpPr>
            <p:cNvPr id="40" name="TextBox 40"/>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41" name="TextBox 41"/>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78079" y="568642"/>
              <a:ext cx="101554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2 の続き</a:t>
              </a:r>
            </a:p>
          </p:txBody>
        </p:sp>
        <p:sp>
          <p:nvSpPr>
            <p:cNvPr id="4" name="TextBox 4"/>
            <p:cNvSpPr txBox="1"/>
            <p:nvPr/>
          </p:nvSpPr>
          <p:spPr>
            <a:xfrm>
              <a:off x="1946148" y="479108"/>
              <a:ext cx="605387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AIチャットでの操作（この道具の外）</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0" name="Group 10"/>
          <p:cNvGrpSpPr/>
          <p:nvPr/>
        </p:nvGrpSpPr>
        <p:grpSpPr>
          <a:xfrm>
            <a:off x="381000" y="1257300"/>
            <a:ext cx="6096000" cy="419100"/>
            <a:chOff x="381000" y="1257300"/>
            <a:chExt cx="6096000" cy="419100"/>
          </a:xfrm>
        </p:grpSpPr>
        <p:sp>
          <p:nvSpPr>
            <p:cNvPr id="7" name="Rectangle 7"/>
            <p:cNvSpPr/>
            <p:nvPr/>
          </p:nvSpPr>
          <p:spPr>
            <a:xfrm>
              <a:off x="381000" y="1257300"/>
              <a:ext cx="6096000" cy="419100"/>
            </a:xfrm>
            <a:prstGeom prst="roundRect">
              <a:avLst>
                <a:gd name="adj" fmla="val 31818"/>
              </a:avLst>
            </a:prstGeom>
            <a:solidFill>
              <a:schemeClr val="lt1"/>
            </a:solidFill>
            <a:ln w="19050">
              <a:solidFill>
                <a:srgbClr val="A2701C"/>
              </a:solidFill>
            </a:ln>
          </p:spPr>
        </p:sp>
        <p:sp>
          <p:nvSpPr>
            <p:cNvPr id="8" name="Freeform 8"/>
            <p:cNvSpPr/>
            <p:nvPr/>
          </p:nvSpPr>
          <p:spPr>
            <a:xfrm>
              <a:off x="578994" y="1395706"/>
              <a:ext cx="194460" cy="168740"/>
            </a:xfrm>
            <a:custGeom>
              <a:avLst/>
              <a:gdLst/>
              <a:ahLst/>
              <a:cxnLst/>
              <a:rect l="l" t="t" r="r" b="b"/>
              <a:pathLst>
                <a:path w="194460" h="168740">
                  <a:moveTo>
                    <a:pt x="97281" y="0"/>
                  </a:moveTo>
                  <a:cubicBezTo>
                    <a:pt x="105619" y="0"/>
                    <a:pt x="113390" y="4077"/>
                    <a:pt x="118149" y="10888"/>
                  </a:cubicBezTo>
                  <a:lnTo>
                    <a:pt x="119065" y="12285"/>
                  </a:lnTo>
                  <a:lnTo>
                    <a:pt x="189911" y="130576"/>
                  </a:lnTo>
                  <a:cubicBezTo>
                    <a:pt x="194287" y="138156"/>
                    <a:pt x="194460" y="147453"/>
                    <a:pt x="190369" y="155191"/>
                  </a:cubicBezTo>
                  <a:cubicBezTo>
                    <a:pt x="186278" y="162928"/>
                    <a:pt x="178496" y="168020"/>
                    <a:pt x="169768" y="168670"/>
                  </a:cubicBezTo>
                  <a:lnTo>
                    <a:pt x="168065" y="168740"/>
                  </a:lnTo>
                  <a:lnTo>
                    <a:pt x="26401" y="168740"/>
                  </a:lnTo>
                  <a:cubicBezTo>
                    <a:pt x="17664" y="168642"/>
                    <a:pt x="9588" y="164067"/>
                    <a:pt x="5012" y="156624"/>
                  </a:cubicBezTo>
                  <a:cubicBezTo>
                    <a:pt x="436" y="149180"/>
                    <a:pt x="0" y="139909"/>
                    <a:pt x="3857" y="132069"/>
                  </a:cubicBezTo>
                  <a:lnTo>
                    <a:pt x="4721" y="130454"/>
                  </a:lnTo>
                  <a:lnTo>
                    <a:pt x="75531" y="12250"/>
                  </a:lnTo>
                  <a:cubicBezTo>
                    <a:pt x="80142" y="4646"/>
                    <a:pt x="88389" y="2"/>
                    <a:pt x="97281" y="0"/>
                  </a:cubicBezTo>
                  <a:close/>
                  <a:moveTo>
                    <a:pt x="97368" y="116388"/>
                  </a:moveTo>
                  <a:lnTo>
                    <a:pt x="96259" y="116449"/>
                  </a:lnTo>
                  <a:cubicBezTo>
                    <a:pt x="91867" y="116971"/>
                    <a:pt x="88559" y="120696"/>
                    <a:pt x="88559" y="125119"/>
                  </a:cubicBezTo>
                  <a:cubicBezTo>
                    <a:pt x="88559" y="129542"/>
                    <a:pt x="91867" y="133267"/>
                    <a:pt x="96259" y="133789"/>
                  </a:cubicBezTo>
                  <a:lnTo>
                    <a:pt x="97281" y="133850"/>
                  </a:lnTo>
                  <a:lnTo>
                    <a:pt x="98390" y="133789"/>
                  </a:lnTo>
                  <a:cubicBezTo>
                    <a:pt x="102782" y="133267"/>
                    <a:pt x="106090" y="129542"/>
                    <a:pt x="106090" y="125119"/>
                  </a:cubicBezTo>
                  <a:cubicBezTo>
                    <a:pt x="106090" y="120696"/>
                    <a:pt x="102782" y="116971"/>
                    <a:pt x="98390" y="116449"/>
                  </a:cubicBezTo>
                  <a:lnTo>
                    <a:pt x="97368" y="116388"/>
                  </a:lnTo>
                  <a:close/>
                  <a:moveTo>
                    <a:pt x="97281" y="55269"/>
                  </a:moveTo>
                  <a:cubicBezTo>
                    <a:pt x="92854" y="55269"/>
                    <a:pt x="89129" y="58582"/>
                    <a:pt x="88611" y="62979"/>
                  </a:cubicBezTo>
                  <a:lnTo>
                    <a:pt x="88550" y="64000"/>
                  </a:lnTo>
                  <a:lnTo>
                    <a:pt x="88550" y="98925"/>
                  </a:lnTo>
                  <a:lnTo>
                    <a:pt x="88611" y="99947"/>
                  </a:lnTo>
                  <a:cubicBezTo>
                    <a:pt x="89133" y="104339"/>
                    <a:pt x="92858" y="107647"/>
                    <a:pt x="97281" y="107647"/>
                  </a:cubicBezTo>
                  <a:cubicBezTo>
                    <a:pt x="101704" y="107647"/>
                    <a:pt x="105429" y="104339"/>
                    <a:pt x="105951" y="99947"/>
                  </a:cubicBezTo>
                  <a:lnTo>
                    <a:pt x="106012" y="98925"/>
                  </a:lnTo>
                  <a:lnTo>
                    <a:pt x="106012" y="64000"/>
                  </a:lnTo>
                  <a:lnTo>
                    <a:pt x="105951" y="62979"/>
                  </a:lnTo>
                  <a:cubicBezTo>
                    <a:pt x="105433" y="58582"/>
                    <a:pt x="101708" y="55269"/>
                    <a:pt x="97281" y="55269"/>
                  </a:cubicBezTo>
                  <a:close/>
                </a:path>
              </a:pathLst>
            </a:custGeom>
            <a:solidFill>
              <a:srgbClr val="A2701C"/>
            </a:solidFill>
            <a:ln>
              <a:noFill/>
            </a:ln>
          </p:spPr>
        </p:sp>
        <p:sp>
          <p:nvSpPr>
            <p:cNvPr id="9" name="TextBox 9"/>
            <p:cNvSpPr txBox="1"/>
            <p:nvPr/>
          </p:nvSpPr>
          <p:spPr>
            <a:xfrm>
              <a:off x="869442" y="1387792"/>
              <a:ext cx="4219042" cy="264033"/>
            </a:xfrm>
            <a:prstGeom prst="rect">
              <a:avLst/>
            </a:prstGeom>
            <a:noFill/>
            <a:ln>
              <a:noFill/>
            </a:ln>
          </p:spPr>
          <p:txBody>
            <a:bodyPr wrap="none" lIns="0" tIns="0" rIns="0" bIns="0" anchor="t" anchorCtr="0">
              <a:spAutoFit/>
            </a:bodyPr>
            <a:lstStyle/>
            <a:p>
              <a:pPr algn="l"/>
              <a:r>
                <a:rPr lang="zh-CN" sz="1350" dirty="0">
                  <a:solidFill>
                    <a:srgbClr val="A2701C"/>
                  </a:solidFill>
                  <a:latin typeface="+mn-lt"/>
                  <a:ea typeface="+mn-ea"/>
                  <a:cs typeface="+mn-cs"/>
                </a:rPr>
                <a:t>画面写真なし（試作）— チャット AI はこの道具の管轄外です</a:t>
              </a:r>
            </a:p>
          </p:txBody>
        </p:sp>
      </p:grpSp>
      <p:grpSp>
        <p:nvGrpSpPr>
          <p:cNvPr id="24" name="Group 24"/>
          <p:cNvGrpSpPr/>
          <p:nvPr/>
        </p:nvGrpSpPr>
        <p:grpSpPr>
          <a:xfrm>
            <a:off x="381000" y="1828800"/>
            <a:ext cx="5600700" cy="4381500"/>
            <a:chOff x="381000" y="1828800"/>
            <a:chExt cx="5600700" cy="4381500"/>
          </a:xfrm>
        </p:grpSpPr>
        <p:sp>
          <p:nvSpPr>
            <p:cNvPr id="11" name="Rectangle 11"/>
            <p:cNvSpPr/>
            <p:nvPr/>
          </p:nvSpPr>
          <p:spPr>
            <a:xfrm>
              <a:off x="381000" y="1828800"/>
              <a:ext cx="5600700" cy="4381500"/>
            </a:xfrm>
            <a:prstGeom prst="roundRect">
              <a:avLst>
                <a:gd name="adj" fmla="val 3478"/>
              </a:avLst>
            </a:prstGeom>
            <a:solidFill>
              <a:schemeClr val="lt2"/>
            </a:solidFill>
            <a:ln>
              <a:noFill/>
            </a:ln>
          </p:spPr>
        </p:sp>
        <p:sp>
          <p:nvSpPr>
            <p:cNvPr id="12" name="Freeform 12"/>
            <p:cNvSpPr/>
            <p:nvPr/>
          </p:nvSpPr>
          <p:spPr>
            <a:xfrm>
              <a:off x="674688" y="2135981"/>
              <a:ext cx="269876" cy="257013"/>
            </a:xfrm>
            <a:custGeom>
              <a:avLst/>
              <a:gdLst/>
              <a:ahLst/>
              <a:cxnLst/>
              <a:rect l="l" t="t" r="r" b="b"/>
              <a:pathLst>
                <a:path w="269876" h="257013">
                  <a:moveTo>
                    <a:pt x="215901" y="0"/>
                  </a:moveTo>
                  <a:cubicBezTo>
                    <a:pt x="245710" y="0"/>
                    <a:pt x="269876" y="24165"/>
                    <a:pt x="269876" y="53975"/>
                  </a:cubicBezTo>
                  <a:lnTo>
                    <a:pt x="269876" y="161925"/>
                  </a:lnTo>
                  <a:cubicBezTo>
                    <a:pt x="269876" y="191735"/>
                    <a:pt x="245710" y="215901"/>
                    <a:pt x="215901" y="215901"/>
                  </a:cubicBezTo>
                  <a:lnTo>
                    <a:pt x="152156" y="215901"/>
                  </a:lnTo>
                  <a:lnTo>
                    <a:pt x="87898" y="254452"/>
                  </a:lnTo>
                  <a:cubicBezTo>
                    <a:pt x="83966" y="256812"/>
                    <a:pt x="79105" y="257013"/>
                    <a:pt x="74991" y="254986"/>
                  </a:cubicBezTo>
                  <a:cubicBezTo>
                    <a:pt x="70877" y="252960"/>
                    <a:pt x="68075" y="248982"/>
                    <a:pt x="67550" y="244426"/>
                  </a:cubicBezTo>
                  <a:lnTo>
                    <a:pt x="67469" y="242888"/>
                  </a:lnTo>
                  <a:lnTo>
                    <a:pt x="67469" y="215901"/>
                  </a:lnTo>
                  <a:lnTo>
                    <a:pt x="53975" y="215901"/>
                  </a:lnTo>
                  <a:cubicBezTo>
                    <a:pt x="25214" y="215901"/>
                    <a:pt x="1506" y="193349"/>
                    <a:pt x="67" y="164624"/>
                  </a:cubicBezTo>
                  <a:lnTo>
                    <a:pt x="0" y="161925"/>
                  </a:lnTo>
                  <a:lnTo>
                    <a:pt x="0" y="53975"/>
                  </a:lnTo>
                  <a:cubicBezTo>
                    <a:pt x="0" y="24165"/>
                    <a:pt x="24165" y="0"/>
                    <a:pt x="53975" y="0"/>
                  </a:cubicBezTo>
                  <a:close/>
                  <a:moveTo>
                    <a:pt x="178118" y="125303"/>
                  </a:moveTo>
                  <a:cubicBezTo>
                    <a:pt x="172797" y="120087"/>
                    <a:pt x="164255" y="120172"/>
                    <a:pt x="159038" y="125492"/>
                  </a:cubicBezTo>
                  <a:cubicBezTo>
                    <a:pt x="152692" y="131970"/>
                    <a:pt x="144006" y="135621"/>
                    <a:pt x="134938" y="135621"/>
                  </a:cubicBezTo>
                  <a:cubicBezTo>
                    <a:pt x="125870" y="135621"/>
                    <a:pt x="117183" y="131970"/>
                    <a:pt x="110838" y="125492"/>
                  </a:cubicBezTo>
                  <a:cubicBezTo>
                    <a:pt x="105599" y="120299"/>
                    <a:pt x="97160" y="120275"/>
                    <a:pt x="91892" y="125440"/>
                  </a:cubicBezTo>
                  <a:cubicBezTo>
                    <a:pt x="86624" y="130605"/>
                    <a:pt x="86480" y="139042"/>
                    <a:pt x="91569" y="144383"/>
                  </a:cubicBezTo>
                  <a:cubicBezTo>
                    <a:pt x="102990" y="156038"/>
                    <a:pt x="118620" y="162605"/>
                    <a:pt x="134938" y="162605"/>
                  </a:cubicBezTo>
                  <a:cubicBezTo>
                    <a:pt x="151255" y="162605"/>
                    <a:pt x="166886" y="156038"/>
                    <a:pt x="178307" y="144383"/>
                  </a:cubicBezTo>
                  <a:cubicBezTo>
                    <a:pt x="183523" y="139062"/>
                    <a:pt x="183438" y="130520"/>
                    <a:pt x="178118" y="125303"/>
                  </a:cubicBezTo>
                  <a:moveTo>
                    <a:pt x="101338" y="67469"/>
                  </a:moveTo>
                  <a:lnTo>
                    <a:pt x="101203" y="67469"/>
                  </a:lnTo>
                  <a:cubicBezTo>
                    <a:pt x="93751" y="67469"/>
                    <a:pt x="87710" y="73510"/>
                    <a:pt x="87710" y="80963"/>
                  </a:cubicBezTo>
                  <a:cubicBezTo>
                    <a:pt x="87710" y="88415"/>
                    <a:pt x="93751" y="94456"/>
                    <a:pt x="101203" y="94456"/>
                  </a:cubicBezTo>
                  <a:lnTo>
                    <a:pt x="101338" y="94456"/>
                  </a:lnTo>
                  <a:cubicBezTo>
                    <a:pt x="108791" y="94456"/>
                    <a:pt x="114832" y="88415"/>
                    <a:pt x="114832" y="80963"/>
                  </a:cubicBezTo>
                  <a:cubicBezTo>
                    <a:pt x="114832" y="73510"/>
                    <a:pt x="108791" y="67469"/>
                    <a:pt x="101338" y="67469"/>
                  </a:cubicBezTo>
                  <a:moveTo>
                    <a:pt x="168807" y="67469"/>
                  </a:moveTo>
                  <a:lnTo>
                    <a:pt x="168672" y="67469"/>
                  </a:lnTo>
                  <a:cubicBezTo>
                    <a:pt x="161220" y="67469"/>
                    <a:pt x="155178" y="73510"/>
                    <a:pt x="155178" y="80963"/>
                  </a:cubicBezTo>
                  <a:cubicBezTo>
                    <a:pt x="155178" y="88415"/>
                    <a:pt x="161220" y="94456"/>
                    <a:pt x="168672" y="94456"/>
                  </a:cubicBezTo>
                  <a:lnTo>
                    <a:pt x="168807" y="94456"/>
                  </a:lnTo>
                  <a:cubicBezTo>
                    <a:pt x="176260" y="94456"/>
                    <a:pt x="182301" y="88415"/>
                    <a:pt x="182301" y="80963"/>
                  </a:cubicBezTo>
                  <a:cubicBezTo>
                    <a:pt x="182301" y="73510"/>
                    <a:pt x="176260" y="67469"/>
                    <a:pt x="168807" y="67469"/>
                  </a:cubicBezTo>
                </a:path>
              </a:pathLst>
            </a:custGeom>
            <a:solidFill>
              <a:schemeClr val="accent1"/>
            </a:solidFill>
            <a:ln>
              <a:noFill/>
            </a:ln>
          </p:spPr>
        </p:sp>
        <p:sp>
          <p:nvSpPr>
            <p:cNvPr id="13" name="TextBox 13"/>
            <p:cNvSpPr txBox="1"/>
            <p:nvPr/>
          </p:nvSpPr>
          <p:spPr>
            <a:xfrm>
              <a:off x="1073658" y="2103120"/>
              <a:ext cx="1822369"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チャットでの操作</a:t>
              </a:r>
            </a:p>
          </p:txBody>
        </p:sp>
        <p:sp>
          <p:nvSpPr>
            <p:cNvPr id="14" name="Ellipse 14"/>
            <p:cNvSpPr/>
            <p:nvPr/>
          </p:nvSpPr>
          <p:spPr>
            <a:xfrm>
              <a:off x="657225" y="2790825"/>
              <a:ext cx="323850" cy="323850"/>
            </a:xfrm>
            <a:prstGeom prst="ellipse">
              <a:avLst/>
            </a:prstGeom>
            <a:solidFill>
              <a:schemeClr val="accent1"/>
            </a:solidFill>
            <a:ln>
              <a:noFill/>
            </a:ln>
          </p:spPr>
        </p:sp>
        <p:sp>
          <p:nvSpPr>
            <p:cNvPr id="15" name="TextBox 15"/>
            <p:cNvSpPr txBox="1"/>
            <p:nvPr/>
          </p:nvSpPr>
          <p:spPr>
            <a:xfrm>
              <a:off x="759815" y="28736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6" name="TextBox 16"/>
            <p:cNvSpPr txBox="1"/>
            <p:nvPr/>
          </p:nvSpPr>
          <p:spPr>
            <a:xfrm>
              <a:off x="1114806" y="2834640"/>
              <a:ext cx="236143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チャットの入力欄に依頼文を貼り付けます（Ctrl+V）。</a:t>
              </a:r>
            </a:p>
          </p:txBody>
        </p:sp>
        <p:sp>
          <p:nvSpPr>
            <p:cNvPr id="17" name="Ellipse 17"/>
            <p:cNvSpPr/>
            <p:nvPr/>
          </p:nvSpPr>
          <p:spPr>
            <a:xfrm>
              <a:off x="657225" y="3838575"/>
              <a:ext cx="323850" cy="323850"/>
            </a:xfrm>
            <a:prstGeom prst="ellipse">
              <a:avLst/>
            </a:prstGeom>
            <a:solidFill>
              <a:schemeClr val="accent1"/>
            </a:solidFill>
            <a:ln>
              <a:noFill/>
            </a:ln>
          </p:spPr>
        </p:sp>
        <p:sp>
          <p:nvSpPr>
            <p:cNvPr id="18" name="TextBox 18"/>
            <p:cNvSpPr txBox="1"/>
            <p:nvPr/>
          </p:nvSpPr>
          <p:spPr>
            <a:xfrm>
              <a:off x="759815" y="3921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19" name="TextBox 19"/>
            <p:cNvSpPr txBox="1"/>
            <p:nvPr/>
          </p:nvSpPr>
          <p:spPr>
            <a:xfrm>
              <a:off x="1114806" y="3882390"/>
              <a:ext cx="308152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同じメッセージに</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source-code.md を添付します。</a:t>
              </a:r>
            </a:p>
          </p:txBody>
        </p:sp>
        <p:sp>
          <p:nvSpPr>
            <p:cNvPr id="20" name="Ellipse 20"/>
            <p:cNvSpPr/>
            <p:nvPr/>
          </p:nvSpPr>
          <p:spPr>
            <a:xfrm>
              <a:off x="657225" y="4886325"/>
              <a:ext cx="323850" cy="323850"/>
            </a:xfrm>
            <a:prstGeom prst="ellipse">
              <a:avLst/>
            </a:prstGeom>
            <a:solidFill>
              <a:schemeClr val="accent1"/>
            </a:solidFill>
            <a:ln>
              <a:noFill/>
            </a:ln>
          </p:spPr>
        </p:sp>
        <p:sp>
          <p:nvSpPr>
            <p:cNvPr id="21" name="TextBox 21"/>
            <p:cNvSpPr txBox="1"/>
            <p:nvPr/>
          </p:nvSpPr>
          <p:spPr>
            <a:xfrm>
              <a:off x="759815" y="49691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22" name="TextBox 22"/>
            <p:cNvSpPr txBox="1"/>
            <p:nvPr/>
          </p:nvSpPr>
          <p:spPr>
            <a:xfrm>
              <a:off x="1114806" y="4930140"/>
              <a:ext cx="251414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送信して、返答を待ちます。</a:t>
              </a:r>
            </a:p>
          </p:txBody>
        </p:sp>
        <p:sp>
          <p:nvSpPr>
            <p:cNvPr id="23" name="TextBox 23"/>
            <p:cNvSpPr txBox="1"/>
            <p:nvPr/>
          </p:nvSpPr>
          <p:spPr>
            <a:xfrm>
              <a:off x="640842" y="5683568"/>
              <a:ext cx="3730238"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うまくいかないときは、前の画面へ戻って依頼を言い直せます。</a:t>
              </a:r>
            </a:p>
          </p:txBody>
        </p:sp>
      </p:grpSp>
      <p:grpSp>
        <p:nvGrpSpPr>
          <p:cNvPr id="37" name="Group 37"/>
          <p:cNvGrpSpPr/>
          <p:nvPr/>
        </p:nvGrpSpPr>
        <p:grpSpPr>
          <a:xfrm>
            <a:off x="6210300" y="1828800"/>
            <a:ext cx="5600700" cy="4385501"/>
            <a:chOff x="6210300" y="1828800"/>
            <a:chExt cx="5600700" cy="4385501"/>
          </a:xfrm>
        </p:grpSpPr>
        <p:sp>
          <p:nvSpPr>
            <p:cNvPr id="25" name="Rectangle 25"/>
            <p:cNvSpPr/>
            <p:nvPr/>
          </p:nvSpPr>
          <p:spPr>
            <a:xfrm>
              <a:off x="6210300" y="1828800"/>
              <a:ext cx="5600700" cy="4381500"/>
            </a:xfrm>
            <a:prstGeom prst="roundRect">
              <a:avLst>
                <a:gd name="adj" fmla="val 3478"/>
              </a:avLst>
            </a:prstGeom>
            <a:solidFill>
              <a:schemeClr val="lt1"/>
            </a:solidFill>
            <a:ln w="9525">
              <a:solidFill>
                <a:schemeClr val="accent6"/>
              </a:solidFill>
            </a:ln>
          </p:spPr>
        </p:sp>
        <p:sp>
          <p:nvSpPr>
            <p:cNvPr id="26" name="Freeform 26"/>
            <p:cNvSpPr/>
            <p:nvPr/>
          </p:nvSpPr>
          <p:spPr>
            <a:xfrm>
              <a:off x="6503988" y="2122488"/>
              <a:ext cx="269934" cy="271159"/>
            </a:xfrm>
            <a:custGeom>
              <a:avLst/>
              <a:gdLst/>
              <a:ahLst/>
              <a:cxnLst/>
              <a:rect l="l" t="t" r="r" b="b"/>
              <a:pathLst>
                <a:path w="269934" h="271159">
                  <a:moveTo>
                    <a:pt x="134938" y="0"/>
                  </a:moveTo>
                  <a:cubicBezTo>
                    <a:pt x="209464" y="0"/>
                    <a:pt x="269876" y="60412"/>
                    <a:pt x="269876" y="134938"/>
                  </a:cubicBezTo>
                  <a:cubicBezTo>
                    <a:pt x="269934" y="208651"/>
                    <a:pt x="210828" y="268770"/>
                    <a:pt x="137124" y="269965"/>
                  </a:cubicBezTo>
                  <a:cubicBezTo>
                    <a:pt x="63421" y="271159"/>
                    <a:pt x="2397" y="212986"/>
                    <a:pt x="67" y="139310"/>
                  </a:cubicBezTo>
                  <a:lnTo>
                    <a:pt x="0" y="134938"/>
                  </a:lnTo>
                  <a:lnTo>
                    <a:pt x="54" y="131160"/>
                  </a:lnTo>
                  <a:cubicBezTo>
                    <a:pt x="2051" y="58388"/>
                    <a:pt x="61667" y="0"/>
                    <a:pt x="134938" y="0"/>
                  </a:cubicBezTo>
                  <a:close/>
                  <a:moveTo>
                    <a:pt x="134938" y="121444"/>
                  </a:moveTo>
                  <a:lnTo>
                    <a:pt x="121444" y="121444"/>
                  </a:lnTo>
                  <a:lnTo>
                    <a:pt x="119865" y="121538"/>
                  </a:lnTo>
                  <a:cubicBezTo>
                    <a:pt x="113077" y="122346"/>
                    <a:pt x="107965" y="128102"/>
                    <a:pt x="107965" y="134938"/>
                  </a:cubicBezTo>
                  <a:cubicBezTo>
                    <a:pt x="107965" y="141774"/>
                    <a:pt x="113077" y="147530"/>
                    <a:pt x="119865" y="148337"/>
                  </a:cubicBezTo>
                  <a:lnTo>
                    <a:pt x="121444" y="148432"/>
                  </a:lnTo>
                  <a:lnTo>
                    <a:pt x="121444" y="188913"/>
                  </a:lnTo>
                  <a:lnTo>
                    <a:pt x="121538" y="190492"/>
                  </a:lnTo>
                  <a:cubicBezTo>
                    <a:pt x="122270" y="196692"/>
                    <a:pt x="127159" y="201581"/>
                    <a:pt x="133359" y="202312"/>
                  </a:cubicBezTo>
                  <a:lnTo>
                    <a:pt x="134938" y="202407"/>
                  </a:lnTo>
                  <a:lnTo>
                    <a:pt x="148432" y="202407"/>
                  </a:lnTo>
                  <a:lnTo>
                    <a:pt x="150010" y="202312"/>
                  </a:lnTo>
                  <a:cubicBezTo>
                    <a:pt x="156211" y="201581"/>
                    <a:pt x="161100" y="196692"/>
                    <a:pt x="161831" y="190492"/>
                  </a:cubicBezTo>
                  <a:lnTo>
                    <a:pt x="161925" y="188913"/>
                  </a:lnTo>
                  <a:lnTo>
                    <a:pt x="161831" y="187334"/>
                  </a:lnTo>
                  <a:cubicBezTo>
                    <a:pt x="161170" y="181694"/>
                    <a:pt x="157049" y="177072"/>
                    <a:pt x="151522" y="175770"/>
                  </a:cubicBezTo>
                  <a:lnTo>
                    <a:pt x="150010" y="175500"/>
                  </a:lnTo>
                  <a:lnTo>
                    <a:pt x="148432" y="175419"/>
                  </a:lnTo>
                  <a:lnTo>
                    <a:pt x="148432" y="134938"/>
                  </a:lnTo>
                  <a:lnTo>
                    <a:pt x="148337" y="133359"/>
                  </a:lnTo>
                  <a:cubicBezTo>
                    <a:pt x="147606" y="127159"/>
                    <a:pt x="142717" y="122270"/>
                    <a:pt x="136517" y="121538"/>
                  </a:cubicBezTo>
                  <a:lnTo>
                    <a:pt x="134938" y="121444"/>
                  </a:lnTo>
                  <a:close/>
                  <a:moveTo>
                    <a:pt x="135073" y="80963"/>
                  </a:moveTo>
                  <a:lnTo>
                    <a:pt x="133359" y="81057"/>
                  </a:lnTo>
                  <a:cubicBezTo>
                    <a:pt x="126571" y="81865"/>
                    <a:pt x="121459" y="87621"/>
                    <a:pt x="121459" y="94456"/>
                  </a:cubicBezTo>
                  <a:cubicBezTo>
                    <a:pt x="121459" y="101292"/>
                    <a:pt x="126571" y="107048"/>
                    <a:pt x="133359" y="107856"/>
                  </a:cubicBezTo>
                  <a:lnTo>
                    <a:pt x="134938" y="107950"/>
                  </a:lnTo>
                  <a:lnTo>
                    <a:pt x="136652" y="107856"/>
                  </a:lnTo>
                  <a:cubicBezTo>
                    <a:pt x="143440" y="107048"/>
                    <a:pt x="148552" y="101292"/>
                    <a:pt x="148552" y="94456"/>
                  </a:cubicBezTo>
                  <a:cubicBezTo>
                    <a:pt x="148552" y="87621"/>
                    <a:pt x="143440" y="81865"/>
                    <a:pt x="136652" y="81057"/>
                  </a:cubicBezTo>
                  <a:lnTo>
                    <a:pt x="135073" y="80963"/>
                  </a:lnTo>
                  <a:close/>
                </a:path>
              </a:pathLst>
            </a:custGeom>
            <a:solidFill>
              <a:schemeClr val="accent2"/>
            </a:solidFill>
            <a:ln>
              <a:noFill/>
            </a:ln>
          </p:spPr>
        </p:sp>
        <p:sp>
          <p:nvSpPr>
            <p:cNvPr id="27" name="TextBox 27"/>
            <p:cNvSpPr txBox="1"/>
            <p:nvPr/>
          </p:nvSpPr>
          <p:spPr>
            <a:xfrm>
              <a:off x="6902958" y="2103120"/>
              <a:ext cx="144920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j-lt"/>
                  <a:ea typeface="+mj-ea"/>
                  <a:cs typeface="+mj-cs"/>
                </a:rPr>
                <a:t>返ってくる形</a:t>
              </a:r>
            </a:p>
          </p:txBody>
        </p:sp>
        <p:sp>
          <p:nvSpPr>
            <p:cNvPr id="28" name="TextBox 28"/>
            <p:cNvSpPr txBox="1"/>
            <p:nvPr/>
          </p:nvSpPr>
          <p:spPr>
            <a:xfrm>
              <a:off x="6470142" y="2635568"/>
              <a:ext cx="2430818"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同梱ひな形の出力指示を使った場合</a:t>
              </a:r>
            </a:p>
          </p:txBody>
        </p:sp>
        <p:sp>
          <p:nvSpPr>
            <p:cNvPr id="29" name="Rectangle 29"/>
            <p:cNvSpPr/>
            <p:nvPr/>
          </p:nvSpPr>
          <p:spPr>
            <a:xfrm>
              <a:off x="6477000" y="2971800"/>
              <a:ext cx="5067300" cy="685800"/>
            </a:xfrm>
            <a:prstGeom prst="roundRect">
              <a:avLst>
                <a:gd name="adj" fmla="val 13889"/>
              </a:avLst>
            </a:prstGeom>
            <a:solidFill>
              <a:schemeClr val="accent5"/>
            </a:solidFill>
            <a:ln>
              <a:noFill/>
            </a:ln>
          </p:spPr>
        </p:sp>
        <p:sp>
          <p:nvSpPr>
            <p:cNvPr id="30" name="TextBox 30"/>
            <p:cNvSpPr txBox="1"/>
            <p:nvPr/>
          </p:nvSpPr>
          <p:spPr>
            <a:xfrm>
              <a:off x="6658356" y="3082290"/>
              <a:ext cx="1290927" cy="352044"/>
            </a:xfrm>
            <a:prstGeom prst="rect">
              <a:avLst/>
            </a:prstGeom>
            <a:noFill/>
            <a:ln>
              <a:noFill/>
            </a:ln>
          </p:spPr>
          <p:txBody>
            <a:bodyPr wrap="none" lIns="0" tIns="0" rIns="0" bIns="0" anchor="t" anchorCtr="0">
              <a:spAutoFit/>
            </a:bodyPr>
            <a:lstStyle/>
            <a:p>
              <a:pPr algn="l" marL="204026" indent="-204026">
                <a:buClr>
                  <a:schemeClr val="dk1"/>
                </a:buClr>
                <a:buSzTx/>
                <a:buFontTx/>
                <a:buChar char="■"/>
              </a:pPr>
              <a:r>
                <a:rPr lang="zh-CN" sz="1800" b="1" dirty="0">
                  <a:solidFill>
                    <a:schemeClr val="dk1"/>
                  </a:solidFill>
                  <a:latin typeface="+mj-lt"/>
                  <a:ea typeface="+mj-ea"/>
                  <a:cs typeface="+mj-cs"/>
                </a:rPr>
                <a:t>改修サマリー</a:t>
              </a:r>
            </a:p>
          </p:txBody>
        </p:sp>
        <p:sp>
          <p:nvSpPr>
            <p:cNvPr id="31" name="TextBox 31"/>
            <p:cNvSpPr txBox="1"/>
            <p:nvPr/>
          </p:nvSpPr>
          <p:spPr>
            <a:xfrm>
              <a:off x="6660642" y="3397568"/>
              <a:ext cx="2239994"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どのモジュールをどう変えたかの箇条書き</a:t>
              </a:r>
            </a:p>
          </p:txBody>
        </p:sp>
        <p:sp>
          <p:nvSpPr>
            <p:cNvPr id="32" name="Rectangle 32"/>
            <p:cNvSpPr/>
            <p:nvPr/>
          </p:nvSpPr>
          <p:spPr>
            <a:xfrm>
              <a:off x="6477000" y="3771900"/>
              <a:ext cx="5067300" cy="685800"/>
            </a:xfrm>
            <a:prstGeom prst="roundRect">
              <a:avLst>
                <a:gd name="adj" fmla="val 13889"/>
              </a:avLst>
            </a:prstGeom>
            <a:solidFill>
              <a:schemeClr val="accent5"/>
            </a:solidFill>
            <a:ln>
              <a:noFill/>
            </a:ln>
          </p:spPr>
        </p:sp>
        <p:sp>
          <p:nvSpPr>
            <p:cNvPr id="33" name="TextBox 33"/>
            <p:cNvSpPr txBox="1"/>
            <p:nvPr/>
          </p:nvSpPr>
          <p:spPr>
            <a:xfrm>
              <a:off x="6658356" y="3882390"/>
              <a:ext cx="1176433" cy="352044"/>
            </a:xfrm>
            <a:prstGeom prst="rect">
              <a:avLst/>
            </a:prstGeom>
            <a:noFill/>
            <a:ln>
              <a:noFill/>
            </a:ln>
          </p:spPr>
          <p:txBody>
            <a:bodyPr wrap="none" lIns="0" tIns="0" rIns="0" bIns="0" anchor="t" anchorCtr="0">
              <a:spAutoFit/>
            </a:bodyPr>
            <a:lstStyle/>
            <a:p>
              <a:pPr algn="l" marL="204026" indent="-204026">
                <a:buClr>
                  <a:schemeClr val="dk1"/>
                </a:buClr>
                <a:buSzTx/>
                <a:buFontTx/>
                <a:buChar char="■"/>
              </a:pPr>
              <a:r>
                <a:rPr lang="zh-CN" sz="1800" b="1" dirty="0">
                  <a:solidFill>
                    <a:schemeClr val="dk1"/>
                  </a:solidFill>
                  <a:latin typeface="+mj-lt"/>
                  <a:ea typeface="+mj-ea"/>
                  <a:cs typeface="+mj-cs"/>
                </a:rPr>
                <a:t>モジュール名</a:t>
              </a:r>
            </a:p>
          </p:txBody>
        </p:sp>
        <p:sp>
          <p:nvSpPr>
            <p:cNvPr id="34" name="TextBox 34"/>
            <p:cNvSpPr txBox="1"/>
            <p:nvPr/>
          </p:nvSpPr>
          <p:spPr>
            <a:xfrm>
              <a:off x="6660642" y="4197668"/>
              <a:ext cx="2021910"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改修後コード全文のコードブロック</a:t>
              </a:r>
            </a:p>
          </p:txBody>
        </p:sp>
        <p:sp>
          <p:nvSpPr>
            <p:cNvPr id="35" name="TextBox 35"/>
            <p:cNvSpPr txBox="1"/>
            <p:nvPr/>
          </p:nvSpPr>
          <p:spPr>
            <a:xfrm>
              <a:off x="6467856" y="4682490"/>
              <a:ext cx="264718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まず「改修サマリー」を読みます。これが、このあとの取り込み作業の指示書を兼ねます。</a:t>
              </a:r>
            </a:p>
          </p:txBody>
        </p:sp>
        <p:sp>
          <p:nvSpPr>
            <p:cNvPr id="36" name="TextBox 36"/>
            <p:cNvSpPr txBox="1"/>
            <p:nvPr/>
          </p:nvSpPr>
          <p:spPr>
            <a:xfrm>
              <a:off x="6470142" y="5702618"/>
              <a:ext cx="2628328" cy="511683"/>
            </a:xfrm>
            <a:prstGeom prst="rect">
              <a:avLst/>
            </a:prstGeom>
            <a:noFill/>
            <a:ln>
              <a:noFill/>
            </a:ln>
          </p:spPr>
          <p:txBody>
            <a:bodyPr wrap="square" lIns="0" tIns="0" rIns="0" bIns="0" anchor="t" anchorCtr="0"/>
            <a:lstStyle/>
            <a:p>
              <a:pPr algn="l">
                <a:lnSpc>
                  <a:spcPts val="1950"/>
                </a:lnSpc>
              </a:pPr>
              <a:r>
                <a:rPr lang="zh-CN" sz="1350" dirty="0">
                  <a:solidFill>
                    <a:srgbClr val="5D6B7A"/>
                  </a:solidFill>
                  <a:latin typeface="+mn-lt"/>
                  <a:ea typeface="+mn-ea"/>
                  <a:cs typeface="+mn-cs"/>
                </a:rPr>
                <a:t>新しいモジュールは「■ 名前（新規）」。変更していないモジュールは返りません。</a:t>
              </a:r>
            </a:p>
          </p:txBody>
        </p:sp>
      </p:grpSp>
      <p:grpSp>
        <p:nvGrpSpPr>
          <p:cNvPr id="40" name="Group 40"/>
          <p:cNvGrpSpPr/>
          <p:nvPr/>
        </p:nvGrpSpPr>
        <p:grpSpPr>
          <a:xfrm>
            <a:off x="374904" y="6461760"/>
            <a:ext cx="11442192" cy="234696"/>
            <a:chOff x="374904" y="6461760"/>
            <a:chExt cx="11442192" cy="234696"/>
          </a:xfrm>
        </p:grpSpPr>
        <p:sp>
          <p:nvSpPr>
            <p:cNvPr id="38" name="TextBox 38"/>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39" name="TextBox 39"/>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3 · 1/3</a:t>
              </a:r>
            </a:p>
          </p:txBody>
        </p:sp>
        <p:sp>
          <p:nvSpPr>
            <p:cNvPr id="4" name="TextBox 4"/>
            <p:cNvSpPr txBox="1"/>
            <p:nvPr/>
          </p:nvSpPr>
          <p:spPr>
            <a:xfrm>
              <a:off x="1946148" y="479108"/>
              <a:ext cx="619501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AIの返答からモジュールごとに取り込みます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0" name="Group 10"/>
          <p:cNvGrpSpPr/>
          <p:nvPr/>
        </p:nvGrpSpPr>
        <p:grpSpPr>
          <a:xfrm>
            <a:off x="371856" y="1234440"/>
            <a:ext cx="5057394" cy="3128010"/>
            <a:chOff x="371856" y="1234440"/>
            <a:chExt cx="5057394" cy="3128010"/>
          </a:xfrm>
        </p:grpSpPr>
        <p:sp>
          <p:nvSpPr>
            <p:cNvPr id="7" name="TextBox 7"/>
            <p:cNvSpPr txBox="1"/>
            <p:nvPr/>
          </p:nvSpPr>
          <p:spPr>
            <a:xfrm>
              <a:off x="371856" y="1234440"/>
              <a:ext cx="667089" cy="352044"/>
            </a:xfrm>
            <a:prstGeom prst="rect">
              <a:avLst/>
            </a:prstGeom>
            <a:noFill/>
            <a:ln>
              <a:noFill/>
            </a:ln>
          </p:spPr>
          <p:txBody>
            <a:bodyPr wrap="none" lIns="0" tIns="0" rIns="0" bIns="0" anchor="t" anchorCtr="0">
              <a:spAutoFit/>
            </a:bodyPr>
            <a:lstStyle/>
            <a:p>
              <a:pPr algn="l"/>
              <a:r>
                <a:rPr lang="zh-CN" sz="1800" b="1" dirty="0">
                  <a:solidFill>
                    <a:srgbClr val="5D6B7A"/>
                  </a:solidFill>
                  <a:latin typeface="+mj-lt"/>
                  <a:ea typeface="+mj-ea"/>
                  <a:cs typeface="+mj-cs"/>
                </a:rPr>
                <a:t>貼る前</a:t>
              </a:r>
            </a:p>
          </p:txBody>
        </p:sp>
        <p:pic>
          <p:nvPicPr>
            <p:cNvPr id="8" name="Image 8"/>
            <p:cNvPicPr>
              <a:picLocks noChangeAspect="1"/>
            </p:cNvPicPr>
            <p:nvPr/>
          </p:nvPicPr>
          <p:blipFill>
            <a:blip r:embed="rId2"/>
            <a:stretch>
              <a:fillRect/>
            </a:stretch>
          </p:blipFill>
          <p:spPr>
            <a:xfrm>
              <a:off x="381000" y="1524000"/>
              <a:ext cx="5048250" cy="2838450"/>
            </a:xfrm>
            <a:prstGeom prst="roundRect">
              <a:avLst>
                <a:gd name="adj" fmla="val 3355"/>
              </a:avLst>
            </a:prstGeom>
          </p:spPr>
        </p:pic>
        <p:sp>
          <p:nvSpPr>
            <p:cNvPr id="9" name="Rectangle 9"/>
            <p:cNvSpPr/>
            <p:nvPr/>
          </p:nvSpPr>
          <p:spPr>
            <a:xfrm>
              <a:off x="381000" y="1524000"/>
              <a:ext cx="5048250" cy="2838450"/>
            </a:xfrm>
            <a:prstGeom prst="roundRect">
              <a:avLst>
                <a:gd name="adj" fmla="val 3356"/>
              </a:avLst>
            </a:prstGeom>
            <a:noFill/>
            <a:ln w="9525">
              <a:solidFill>
                <a:schemeClr val="accent6"/>
              </a:solidFill>
            </a:ln>
          </p:spPr>
        </p:sp>
      </p:grpSp>
      <p:grpSp>
        <p:nvGrpSpPr>
          <p:cNvPr id="12" name="Group 12"/>
          <p:cNvGrpSpPr/>
          <p:nvPr/>
        </p:nvGrpSpPr>
        <p:grpSpPr>
          <a:xfrm>
            <a:off x="5715000" y="2676525"/>
            <a:ext cx="762000" cy="533400"/>
            <a:chOff x="5715000" y="2676525"/>
            <a:chExt cx="762000" cy="533400"/>
          </a:xfrm>
        </p:grpSpPr>
        <p:sp>
          <p:nvSpPr>
            <p:cNvPr id="11" name="Freeform 11"/>
            <p:cNvSpPr/>
            <p:nvPr/>
          </p:nvSpPr>
          <p:spPr>
            <a:xfrm>
              <a:off x="5715000" y="2676525"/>
              <a:ext cx="762000" cy="533400"/>
            </a:xfrm>
            <a:prstGeom prst="rightArrow">
              <a:avLst/>
            </a:prstGeom>
            <a:solidFill>
              <a:schemeClr val="accent1"/>
            </a:solidFill>
            <a:ln>
              <a:noFill/>
            </a:ln>
          </p:spPr>
        </p:sp>
      </p:grpSp>
      <p:grpSp>
        <p:nvGrpSpPr>
          <p:cNvPr id="16" name="Group 16"/>
          <p:cNvGrpSpPr/>
          <p:nvPr/>
        </p:nvGrpSpPr>
        <p:grpSpPr>
          <a:xfrm>
            <a:off x="6753606" y="1234440"/>
            <a:ext cx="5057394" cy="3128010"/>
            <a:chOff x="6753606" y="1234440"/>
            <a:chExt cx="5057394" cy="3128010"/>
          </a:xfrm>
        </p:grpSpPr>
        <p:sp>
          <p:nvSpPr>
            <p:cNvPr id="13" name="TextBox 13"/>
            <p:cNvSpPr txBox="1"/>
            <p:nvPr/>
          </p:nvSpPr>
          <p:spPr>
            <a:xfrm>
              <a:off x="6753606" y="1234440"/>
              <a:ext cx="832470"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貼ったあと</a:t>
              </a:r>
            </a:p>
          </p:txBody>
        </p:sp>
        <p:pic>
          <p:nvPicPr>
            <p:cNvPr id="14" name="Image 14"/>
            <p:cNvPicPr>
              <a:picLocks noChangeAspect="1"/>
            </p:cNvPicPr>
            <p:nvPr/>
          </p:nvPicPr>
          <p:blipFill>
            <a:blip r:embed="rId3"/>
            <a:stretch>
              <a:fillRect/>
            </a:stretch>
          </p:blipFill>
          <p:spPr>
            <a:xfrm>
              <a:off x="6762750" y="1524000"/>
              <a:ext cx="5048250" cy="2838450"/>
            </a:xfrm>
            <a:prstGeom prst="roundRect">
              <a:avLst>
                <a:gd name="adj" fmla="val 3355"/>
              </a:avLst>
            </a:prstGeom>
          </p:spPr>
        </p:pic>
        <p:sp>
          <p:nvSpPr>
            <p:cNvPr id="15" name="Rectangle 15"/>
            <p:cNvSpPr/>
            <p:nvPr/>
          </p:nvSpPr>
          <p:spPr>
            <a:xfrm>
              <a:off x="6762750" y="1524000"/>
              <a:ext cx="5048250" cy="2838450"/>
            </a:xfrm>
            <a:prstGeom prst="roundRect">
              <a:avLst>
                <a:gd name="adj" fmla="val 3356"/>
              </a:avLst>
            </a:prstGeom>
            <a:noFill/>
            <a:ln w="19050">
              <a:solidFill>
                <a:schemeClr val="accent2"/>
              </a:solidFill>
            </a:ln>
          </p:spPr>
        </p:sp>
      </p:grpSp>
      <p:grpSp>
        <p:nvGrpSpPr>
          <p:cNvPr id="23" name="Group 23"/>
          <p:cNvGrpSpPr/>
          <p:nvPr/>
        </p:nvGrpSpPr>
        <p:grpSpPr>
          <a:xfrm>
            <a:off x="428625" y="4505325"/>
            <a:ext cx="3356229" cy="1538859"/>
            <a:chOff x="428625" y="4505325"/>
            <a:chExt cx="3356229" cy="1538859"/>
          </a:xfrm>
        </p:grpSpPr>
        <p:sp>
          <p:nvSpPr>
            <p:cNvPr id="17" name="Ellipse 17"/>
            <p:cNvSpPr/>
            <p:nvPr/>
          </p:nvSpPr>
          <p:spPr>
            <a:xfrm>
              <a:off x="428625" y="4505325"/>
              <a:ext cx="323850" cy="323850"/>
            </a:xfrm>
            <a:prstGeom prst="ellipse">
              <a:avLst/>
            </a:prstGeom>
            <a:solidFill>
              <a:schemeClr val="accent1"/>
            </a:solidFill>
            <a:ln>
              <a:noFill/>
            </a:ln>
          </p:spPr>
        </p:sp>
        <p:sp>
          <p:nvSpPr>
            <p:cNvPr id="18" name="TextBox 18"/>
            <p:cNvSpPr txBox="1"/>
            <p:nvPr/>
          </p:nvSpPr>
          <p:spPr>
            <a:xfrm>
              <a:off x="531215" y="45881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9" name="TextBox 19"/>
            <p:cNvSpPr txBox="1"/>
            <p:nvPr/>
          </p:nvSpPr>
          <p:spPr>
            <a:xfrm>
              <a:off x="886206" y="4549140"/>
              <a:ext cx="2898648" cy="656844"/>
            </a:xfrm>
            <a:prstGeom prst="rect">
              <a:avLst/>
            </a:prstGeom>
            <a:noFill/>
            <a:ln>
              <a:noFill/>
            </a:ln>
          </p:spPr>
          <p:txBody>
            <a:bodyPr wrap="square" lIns="0" tIns="0" rIns="0" bIns="0" anchor="t" anchorCtr="0"/>
            <a:lstStyle/>
            <a:p>
              <a:pPr algn="l">
                <a:lnSpc>
                  <a:spcPts val="2400"/>
                </a:lnSpc>
              </a:pPr>
              <a:r>
                <a:rPr lang="zh-CN" sz="1800" dirty="0">
                  <a:solidFill>
                    <a:schemeClr val="dk1"/>
                  </a:solidFill>
                  <a:latin typeface="+mn-lt"/>
                  <a:ea typeface="+mn-ea"/>
                  <a:cs typeface="+mn-cs"/>
                </a:rPr>
                <a:t>AI の返答の「改修サマリー」で、変更されたモジュール名を確認します。</a:t>
              </a:r>
            </a:p>
          </p:txBody>
        </p:sp>
        <p:sp>
          <p:nvSpPr>
            <p:cNvPr id="20" name="Ellipse 20"/>
            <p:cNvSpPr/>
            <p:nvPr/>
          </p:nvSpPr>
          <p:spPr>
            <a:xfrm>
              <a:off x="428625" y="5343525"/>
              <a:ext cx="323850" cy="323850"/>
            </a:xfrm>
            <a:prstGeom prst="ellipse">
              <a:avLst/>
            </a:prstGeom>
            <a:solidFill>
              <a:schemeClr val="accent1"/>
            </a:solidFill>
            <a:ln>
              <a:noFill/>
            </a:ln>
          </p:spPr>
        </p:sp>
        <p:sp>
          <p:nvSpPr>
            <p:cNvPr id="21" name="TextBox 21"/>
            <p:cNvSpPr txBox="1"/>
            <p:nvPr/>
          </p:nvSpPr>
          <p:spPr>
            <a:xfrm>
              <a:off x="531215" y="54263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2" name="TextBox 22"/>
            <p:cNvSpPr txBox="1"/>
            <p:nvPr/>
          </p:nvSpPr>
          <p:spPr>
            <a:xfrm>
              <a:off x="886206" y="5387340"/>
              <a:ext cx="2441448" cy="656844"/>
            </a:xfrm>
            <a:prstGeom prst="rect">
              <a:avLst/>
            </a:prstGeom>
            <a:noFill/>
            <a:ln>
              <a:noFill/>
            </a:ln>
          </p:spPr>
          <p:txBody>
            <a:bodyPr wrap="square" lIns="0" tIns="0" rIns="0" bIns="0" anchor="t" anchorCtr="0"/>
            <a:lstStyle/>
            <a:p>
              <a:pPr algn="l">
                <a:lnSpc>
                  <a:spcPts val="2400"/>
                </a:lnSpc>
              </a:pPr>
              <a:r>
                <a:rPr lang="zh-CN" sz="1800" dirty="0">
                  <a:solidFill>
                    <a:schemeClr val="dk1"/>
                  </a:solidFill>
                  <a:latin typeface="+mn-lt"/>
                  <a:ea typeface="+mn-ea"/>
                  <a:cs typeface="+mn-cs"/>
                </a:rPr>
                <a:t>左の一覧からそのモジュールを選び</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ます。選ぶ場所はここだけです。</a:t>
              </a:r>
            </a:p>
          </p:txBody>
        </p:sp>
      </p:grpSp>
      <p:grpSp>
        <p:nvGrpSpPr>
          <p:cNvPr id="30" name="Group 30"/>
          <p:cNvGrpSpPr/>
          <p:nvPr/>
        </p:nvGrpSpPr>
        <p:grpSpPr>
          <a:xfrm>
            <a:off x="6257925" y="4505325"/>
            <a:ext cx="3161919" cy="1538859"/>
            <a:chOff x="6257925" y="4505325"/>
            <a:chExt cx="3161919" cy="1538859"/>
          </a:xfrm>
        </p:grpSpPr>
        <p:sp>
          <p:nvSpPr>
            <p:cNvPr id="24" name="Ellipse 24"/>
            <p:cNvSpPr/>
            <p:nvPr/>
          </p:nvSpPr>
          <p:spPr>
            <a:xfrm>
              <a:off x="6257925" y="4505325"/>
              <a:ext cx="323850" cy="323850"/>
            </a:xfrm>
            <a:prstGeom prst="ellipse">
              <a:avLst/>
            </a:prstGeom>
            <a:solidFill>
              <a:schemeClr val="accent1"/>
            </a:solidFill>
            <a:ln>
              <a:noFill/>
            </a:ln>
          </p:spPr>
        </p:sp>
        <p:sp>
          <p:nvSpPr>
            <p:cNvPr id="25" name="TextBox 25"/>
            <p:cNvSpPr txBox="1"/>
            <p:nvPr/>
          </p:nvSpPr>
          <p:spPr>
            <a:xfrm>
              <a:off x="6360515" y="45881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26" name="TextBox 26"/>
            <p:cNvSpPr txBox="1"/>
            <p:nvPr/>
          </p:nvSpPr>
          <p:spPr>
            <a:xfrm>
              <a:off x="6715506" y="4549140"/>
              <a:ext cx="2544318" cy="656844"/>
            </a:xfrm>
            <a:prstGeom prst="rect">
              <a:avLst/>
            </a:prstGeom>
            <a:noFill/>
            <a:ln>
              <a:noFill/>
            </a:ln>
          </p:spPr>
          <p:txBody>
            <a:bodyPr wrap="square" lIns="0" tIns="0" rIns="0" bIns="0" anchor="t" anchorCtr="0"/>
            <a:lstStyle/>
            <a:p>
              <a:pPr algn="l">
                <a:lnSpc>
                  <a:spcPts val="2400"/>
                </a:lnSpc>
              </a:pPr>
              <a:r>
                <a:rPr lang="zh-CN" sz="1800" dirty="0">
                  <a:solidFill>
                    <a:schemeClr val="dk1"/>
                  </a:solidFill>
                  <a:latin typeface="+mn-lt"/>
                  <a:ea typeface="+mn-ea"/>
                  <a:cs typeface="+mn-cs"/>
                </a:rPr>
                <a:t>返答のコードブロックを、先頭から末尾まで全文コピーします。</a:t>
              </a:r>
            </a:p>
          </p:txBody>
        </p:sp>
        <p:sp>
          <p:nvSpPr>
            <p:cNvPr id="27" name="Ellipse 27"/>
            <p:cNvSpPr/>
            <p:nvPr/>
          </p:nvSpPr>
          <p:spPr>
            <a:xfrm>
              <a:off x="6257925" y="5343525"/>
              <a:ext cx="323850" cy="323850"/>
            </a:xfrm>
            <a:prstGeom prst="ellipse">
              <a:avLst/>
            </a:prstGeom>
            <a:solidFill>
              <a:schemeClr val="accent1"/>
            </a:solidFill>
            <a:ln>
              <a:noFill/>
            </a:ln>
          </p:spPr>
        </p:sp>
        <p:sp>
          <p:nvSpPr>
            <p:cNvPr id="28" name="TextBox 28"/>
            <p:cNvSpPr txBox="1"/>
            <p:nvPr/>
          </p:nvSpPr>
          <p:spPr>
            <a:xfrm>
              <a:off x="6360515" y="54263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4</a:t>
              </a:r>
            </a:p>
          </p:txBody>
        </p:sp>
        <p:sp>
          <p:nvSpPr>
            <p:cNvPr id="29" name="TextBox 29"/>
            <p:cNvSpPr txBox="1"/>
            <p:nvPr/>
          </p:nvSpPr>
          <p:spPr>
            <a:xfrm>
              <a:off x="6715506" y="5387340"/>
              <a:ext cx="2704338" cy="656844"/>
            </a:xfrm>
            <a:prstGeom prst="rect">
              <a:avLst/>
            </a:prstGeom>
            <a:noFill/>
            <a:ln>
              <a:noFill/>
            </a:ln>
          </p:spPr>
          <p:txBody>
            <a:bodyPr wrap="square" lIns="0" tIns="0" rIns="0" bIns="0" anchor="t" anchorCtr="0"/>
            <a:lstStyle/>
            <a:p>
              <a:pPr algn="l">
                <a:lnSpc>
                  <a:spcPts val="2400"/>
                </a:lnSpc>
              </a:pPr>
              <a:r>
                <a:rPr lang="zh-CN" sz="1800" dirty="0">
                  <a:solidFill>
                    <a:schemeClr val="dk1"/>
                  </a:solidFill>
                  <a:latin typeface="+mn-lt"/>
                  <a:ea typeface="+mn-ea"/>
                  <a:cs typeface="+mn-cs"/>
                </a:rPr>
                <a:t>［クリップボードから取り込む］を押します。Ctrl+V でも貼れます。</a:t>
              </a:r>
            </a:p>
          </p:txBody>
        </p:sp>
      </p:grpSp>
      <p:grpSp>
        <p:nvGrpSpPr>
          <p:cNvPr id="32" name="Group 32"/>
          <p:cNvGrpSpPr/>
          <p:nvPr/>
        </p:nvGrpSpPr>
        <p:grpSpPr>
          <a:xfrm>
            <a:off x="374142" y="6045518"/>
            <a:ext cx="7616869" cy="264033"/>
            <a:chOff x="374142" y="6045518"/>
            <a:chExt cx="7616869" cy="264033"/>
          </a:xfrm>
        </p:grpSpPr>
        <p:sp>
          <p:nvSpPr>
            <p:cNvPr id="31" name="TextBox 31"/>
            <p:cNvSpPr txBox="1"/>
            <p:nvPr/>
          </p:nvSpPr>
          <p:spPr>
            <a:xfrm>
              <a:off x="374142" y="6045518"/>
              <a:ext cx="7616869"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貼り付けたテキストは自動で整えられます。行頭の ``` や、先頭の「Attribute VB_」で始まる行は取り除かれます。</a:t>
              </a:r>
            </a:p>
          </p:txBody>
        </p:sp>
      </p:grpSp>
      <p:grpSp>
        <p:nvGrpSpPr>
          <p:cNvPr id="35" name="Group 35"/>
          <p:cNvGrpSpPr/>
          <p:nvPr/>
        </p:nvGrpSpPr>
        <p:grpSpPr>
          <a:xfrm>
            <a:off x="374904" y="6461760"/>
            <a:ext cx="11442192" cy="234696"/>
            <a:chOff x="374904" y="6461760"/>
            <a:chExt cx="11442192" cy="234696"/>
          </a:xfrm>
        </p:grpSpPr>
        <p:sp>
          <p:nvSpPr>
            <p:cNvPr id="33" name="TextBox 33"/>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34" name="TextBox 34"/>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3 · 2/3</a:t>
              </a:r>
            </a:p>
          </p:txBody>
        </p:sp>
        <p:sp>
          <p:nvSpPr>
            <p:cNvPr id="4" name="TextBox 4"/>
            <p:cNvSpPr txBox="1"/>
            <p:nvPr/>
          </p:nvSpPr>
          <p:spPr>
            <a:xfrm>
              <a:off x="1946148" y="479108"/>
              <a:ext cx="584217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AIの変更を、元のコードと見比べます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8" name="Group 18"/>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5"/>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chemeClr val="accent6"/>
              </a:solidFill>
            </a:ln>
          </p:spPr>
        </p:sp>
        <p:sp>
          <p:nvSpPr>
            <p:cNvPr id="10" name="Ellipse 10"/>
            <p:cNvSpPr/>
            <p:nvPr/>
          </p:nvSpPr>
          <p:spPr>
            <a:xfrm>
              <a:off x="2219325" y="2124075"/>
              <a:ext cx="323850" cy="323850"/>
            </a:xfrm>
            <a:prstGeom prst="ellipse">
              <a:avLst/>
            </a:prstGeom>
            <a:solidFill>
              <a:schemeClr val="accent1"/>
            </a:solidFill>
            <a:ln w="28575">
              <a:solidFill>
                <a:srgbClr val="FFFFFF"/>
              </a:solidFill>
            </a:ln>
          </p:spPr>
        </p:sp>
        <p:sp>
          <p:nvSpPr>
            <p:cNvPr id="11" name="TextBox 11"/>
            <p:cNvSpPr txBox="1"/>
            <p:nvPr/>
          </p:nvSpPr>
          <p:spPr>
            <a:xfrm>
              <a:off x="2321915" y="2206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12" name="Ellipse 12"/>
            <p:cNvSpPr/>
            <p:nvPr/>
          </p:nvSpPr>
          <p:spPr>
            <a:xfrm>
              <a:off x="3390900" y="2124075"/>
              <a:ext cx="323850" cy="323850"/>
            </a:xfrm>
            <a:prstGeom prst="ellipse">
              <a:avLst/>
            </a:prstGeom>
            <a:solidFill>
              <a:schemeClr val="accent1"/>
            </a:solidFill>
            <a:ln w="28575">
              <a:solidFill>
                <a:srgbClr val="FFFFFF"/>
              </a:solidFill>
            </a:ln>
          </p:spPr>
        </p:sp>
        <p:sp>
          <p:nvSpPr>
            <p:cNvPr id="13" name="TextBox 13"/>
            <p:cNvSpPr txBox="1"/>
            <p:nvPr/>
          </p:nvSpPr>
          <p:spPr>
            <a:xfrm>
              <a:off x="3493490" y="2206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4</a:t>
              </a:r>
            </a:p>
          </p:txBody>
        </p:sp>
        <p:sp>
          <p:nvSpPr>
            <p:cNvPr id="14" name="Ellipse 14"/>
            <p:cNvSpPr/>
            <p:nvPr/>
          </p:nvSpPr>
          <p:spPr>
            <a:xfrm>
              <a:off x="1762125" y="2657475"/>
              <a:ext cx="323850" cy="323850"/>
            </a:xfrm>
            <a:prstGeom prst="ellipse">
              <a:avLst/>
            </a:prstGeom>
            <a:solidFill>
              <a:schemeClr val="accent1"/>
            </a:solidFill>
            <a:ln w="28575">
              <a:solidFill>
                <a:srgbClr val="FFFFFF"/>
              </a:solidFill>
            </a:ln>
          </p:spPr>
        </p:sp>
        <p:sp>
          <p:nvSpPr>
            <p:cNvPr id="15" name="TextBox 15"/>
            <p:cNvSpPr txBox="1"/>
            <p:nvPr/>
          </p:nvSpPr>
          <p:spPr>
            <a:xfrm>
              <a:off x="1864715" y="27403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6" name="Ellipse 16"/>
            <p:cNvSpPr/>
            <p:nvPr/>
          </p:nvSpPr>
          <p:spPr>
            <a:xfrm>
              <a:off x="2847975" y="2847975"/>
              <a:ext cx="323850" cy="323850"/>
            </a:xfrm>
            <a:prstGeom prst="ellipse">
              <a:avLst/>
            </a:prstGeom>
            <a:solidFill>
              <a:schemeClr val="accent1"/>
            </a:solidFill>
            <a:ln w="28575">
              <a:solidFill>
                <a:srgbClr val="FFFFFF"/>
              </a:solidFill>
            </a:ln>
          </p:spPr>
        </p:sp>
        <p:sp>
          <p:nvSpPr>
            <p:cNvPr id="17" name="TextBox 17"/>
            <p:cNvSpPr txBox="1"/>
            <p:nvPr/>
          </p:nvSpPr>
          <p:spPr>
            <a:xfrm>
              <a:off x="2950565" y="29308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grpSp>
      <p:grpSp>
        <p:nvGrpSpPr>
          <p:cNvPr id="26" name="Group 26"/>
          <p:cNvGrpSpPr/>
          <p:nvPr/>
        </p:nvGrpSpPr>
        <p:grpSpPr>
          <a:xfrm>
            <a:off x="342900" y="5238750"/>
            <a:ext cx="6477000" cy="976884"/>
            <a:chOff x="342900" y="5238750"/>
            <a:chExt cx="6477000" cy="976884"/>
          </a:xfrm>
        </p:grpSpPr>
        <p:sp>
          <p:nvSpPr>
            <p:cNvPr id="19" name="Rectangle 19"/>
            <p:cNvSpPr/>
            <p:nvPr/>
          </p:nvSpPr>
          <p:spPr>
            <a:xfrm>
              <a:off x="342900" y="5238750"/>
              <a:ext cx="6477000" cy="971550"/>
            </a:xfrm>
            <a:prstGeom prst="roundRect">
              <a:avLst>
                <a:gd name="adj" fmla="val 13725"/>
              </a:avLst>
            </a:prstGeom>
            <a:solidFill>
              <a:schemeClr val="lt1"/>
            </a:solidFill>
            <a:ln w="9525">
              <a:solidFill>
                <a:schemeClr val="accent6"/>
              </a:solidFill>
            </a:ln>
          </p:spPr>
        </p:sp>
        <p:sp>
          <p:nvSpPr>
            <p:cNvPr id="20" name="Rectangle 20"/>
            <p:cNvSpPr/>
            <p:nvPr/>
          </p:nvSpPr>
          <p:spPr>
            <a:xfrm>
              <a:off x="590550" y="5486400"/>
              <a:ext cx="95250" cy="228600"/>
            </a:xfrm>
            <a:prstGeom prst="roundRect">
              <a:avLst>
                <a:gd name="adj" fmla="val 50000"/>
              </a:avLst>
            </a:prstGeom>
            <a:solidFill>
              <a:schemeClr val="accent3"/>
            </a:solidFill>
            <a:ln>
              <a:noFill/>
            </a:ln>
          </p:spPr>
        </p:sp>
        <p:sp>
          <p:nvSpPr>
            <p:cNvPr id="21" name="TextBox 21"/>
            <p:cNvSpPr txBox="1"/>
            <p:nvPr/>
          </p:nvSpPr>
          <p:spPr>
            <a:xfrm>
              <a:off x="810006" y="5482590"/>
              <a:ext cx="177507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赤い行 ＝ 消える行</a:t>
              </a:r>
            </a:p>
          </p:txBody>
        </p:sp>
        <p:sp>
          <p:nvSpPr>
            <p:cNvPr id="22" name="Rectangle 22"/>
            <p:cNvSpPr/>
            <p:nvPr/>
          </p:nvSpPr>
          <p:spPr>
            <a:xfrm>
              <a:off x="590550" y="5867400"/>
              <a:ext cx="95250" cy="228600"/>
            </a:xfrm>
            <a:prstGeom prst="roundRect">
              <a:avLst>
                <a:gd name="adj" fmla="val 50000"/>
              </a:avLst>
            </a:prstGeom>
            <a:solidFill>
              <a:schemeClr val="accent2"/>
            </a:solidFill>
            <a:ln>
              <a:noFill/>
            </a:ln>
          </p:spPr>
        </p:sp>
        <p:sp>
          <p:nvSpPr>
            <p:cNvPr id="23" name="TextBox 23"/>
            <p:cNvSpPr txBox="1"/>
            <p:nvPr/>
          </p:nvSpPr>
          <p:spPr>
            <a:xfrm>
              <a:off x="810006" y="5863590"/>
              <a:ext cx="177507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緑の行 ＝ 増える行</a:t>
              </a:r>
            </a:p>
          </p:txBody>
        </p:sp>
        <p:sp>
          <p:nvSpPr>
            <p:cNvPr id="24" name="Line 24"/>
            <p:cNvSpPr/>
            <p:nvPr/>
          </p:nvSpPr>
          <p:spPr>
            <a:xfrm>
              <a:off x="3619500" y="5448300"/>
              <a:ext cx="9525" cy="571500"/>
            </a:xfrm>
            <a:custGeom>
              <a:avLst/>
              <a:gdLst/>
              <a:ahLst/>
              <a:cxnLst/>
              <a:rect l="l" t="t" r="r" b="b"/>
              <a:pathLst>
                <a:path w="9525" h="571500">
                  <a:moveTo>
                    <a:pt x="0" y="0"/>
                  </a:moveTo>
                  <a:lnTo>
                    <a:pt x="0" y="571500"/>
                  </a:lnTo>
                </a:path>
              </a:pathLst>
            </a:custGeom>
            <a:noFill/>
            <a:ln w="9525">
              <a:solidFill>
                <a:schemeClr val="accent6"/>
              </a:solidFill>
            </a:ln>
          </p:spPr>
        </p:sp>
        <p:sp>
          <p:nvSpPr>
            <p:cNvPr id="25" name="TextBox 25"/>
            <p:cNvSpPr txBox="1"/>
            <p:nvPr/>
          </p:nvSpPr>
          <p:spPr>
            <a:xfrm>
              <a:off x="3898392" y="5531168"/>
              <a:ext cx="1736788" cy="511683"/>
            </a:xfrm>
            <a:prstGeom prst="rect">
              <a:avLst/>
            </a:prstGeom>
            <a:noFill/>
            <a:ln>
              <a:noFill/>
            </a:ln>
          </p:spPr>
          <p:txBody>
            <a:bodyPr wrap="square" lIns="0" tIns="0" rIns="0" bIns="0" anchor="t" anchorCtr="0"/>
            <a:lstStyle/>
            <a:p>
              <a:pPr algn="l">
                <a:lnSpc>
                  <a:spcPts val="1950"/>
                </a:lnSpc>
              </a:pPr>
              <a:r>
                <a:rPr lang="zh-CN" sz="1350" dirty="0">
                  <a:solidFill>
                    <a:srgbClr val="5D6B7A"/>
                  </a:solidFill>
                  <a:latin typeface="+mn-lt"/>
                  <a:ea typeface="+mn-ea"/>
                  <a:cs typeface="+mn-cs"/>
                </a:rPr>
                <a:t>左のモジュール一覧が、そのまま</a:t>
              </a:r>
              <a:r>
                <a:rPr lang="en-US" sz="1350" dirty="0">
                  <a:solidFill>
                    <a:srgbClr val="5D6B7A"/>
                  </a:solidFill>
                  <a:latin typeface="+mn-lt"/>
                  <a:ea typeface="+mn-ea"/>
                  <a:cs typeface="+mn-cs"/>
                </a:rPr>
                <a:t xml:space="preserve"> </a:t>
              </a:r>
              <a:r>
                <a:rPr lang="zh-CN" sz="1350" dirty="0">
                  <a:solidFill>
                    <a:srgbClr val="5D6B7A"/>
                  </a:solidFill>
                  <a:latin typeface="+mn-lt"/>
                  <a:ea typeface="+mn-ea"/>
                  <a:cs typeface="+mn-cs"/>
                </a:rPr>
                <a:t>モジュールツリーです。</a:t>
              </a:r>
            </a:p>
          </p:txBody>
        </p:sp>
      </p:grpSp>
      <p:grpSp>
        <p:nvGrpSpPr>
          <p:cNvPr id="39" name="Group 39"/>
          <p:cNvGrpSpPr/>
          <p:nvPr/>
        </p:nvGrpSpPr>
        <p:grpSpPr>
          <a:xfrm>
            <a:off x="7077075" y="1476375"/>
            <a:ext cx="3401949" cy="3901059"/>
            <a:chOff x="7077075" y="1476375"/>
            <a:chExt cx="3401949" cy="3901059"/>
          </a:xfrm>
        </p:grpSpPr>
        <p:sp>
          <p:nvSpPr>
            <p:cNvPr id="27" name="Ellipse 27"/>
            <p:cNvSpPr/>
            <p:nvPr/>
          </p:nvSpPr>
          <p:spPr>
            <a:xfrm>
              <a:off x="7077075" y="1476375"/>
              <a:ext cx="323850" cy="323850"/>
            </a:xfrm>
            <a:prstGeom prst="ellipse">
              <a:avLst/>
            </a:prstGeom>
            <a:solidFill>
              <a:schemeClr val="accent1"/>
            </a:solidFill>
            <a:ln>
              <a:noFill/>
            </a:ln>
          </p:spPr>
        </p:sp>
        <p:sp>
          <p:nvSpPr>
            <p:cNvPr id="28" name="TextBox 28"/>
            <p:cNvSpPr txBox="1"/>
            <p:nvPr/>
          </p:nvSpPr>
          <p:spPr>
            <a:xfrm>
              <a:off x="7179665" y="15592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29" name="TextBox 29"/>
            <p:cNvSpPr txBox="1"/>
            <p:nvPr/>
          </p:nvSpPr>
          <p:spPr>
            <a:xfrm>
              <a:off x="7534656" y="1520190"/>
              <a:ext cx="281863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行番号は 2 列。左が「前」、右が「後」の行番号です。</a:t>
              </a:r>
            </a:p>
          </p:txBody>
        </p:sp>
        <p:sp>
          <p:nvSpPr>
            <p:cNvPr id="30" name="Ellipse 30"/>
            <p:cNvSpPr/>
            <p:nvPr/>
          </p:nvSpPr>
          <p:spPr>
            <a:xfrm>
              <a:off x="7077075" y="2428875"/>
              <a:ext cx="323850" cy="323850"/>
            </a:xfrm>
            <a:prstGeom prst="ellipse">
              <a:avLst/>
            </a:prstGeom>
            <a:solidFill>
              <a:schemeClr val="accent1"/>
            </a:solidFill>
            <a:ln>
              <a:noFill/>
            </a:ln>
          </p:spPr>
        </p:sp>
        <p:sp>
          <p:nvSpPr>
            <p:cNvPr id="31" name="TextBox 31"/>
            <p:cNvSpPr txBox="1"/>
            <p:nvPr/>
          </p:nvSpPr>
          <p:spPr>
            <a:xfrm>
              <a:off x="7179665" y="25117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32" name="TextBox 32"/>
            <p:cNvSpPr txBox="1"/>
            <p:nvPr/>
          </p:nvSpPr>
          <p:spPr>
            <a:xfrm>
              <a:off x="7534656" y="2472690"/>
              <a:ext cx="23728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赤が消える行、緑が増える行です。</a:t>
              </a:r>
            </a:p>
          </p:txBody>
        </p:sp>
        <p:sp>
          <p:nvSpPr>
            <p:cNvPr id="33" name="Ellipse 33"/>
            <p:cNvSpPr/>
            <p:nvPr/>
          </p:nvSpPr>
          <p:spPr>
            <a:xfrm>
              <a:off x="7077075" y="3381375"/>
              <a:ext cx="323850" cy="323850"/>
            </a:xfrm>
            <a:prstGeom prst="ellipse">
              <a:avLst/>
            </a:prstGeom>
            <a:solidFill>
              <a:schemeClr val="accent1"/>
            </a:solidFill>
            <a:ln>
              <a:noFill/>
            </a:ln>
          </p:spPr>
        </p:sp>
        <p:sp>
          <p:nvSpPr>
            <p:cNvPr id="34" name="TextBox 34"/>
            <p:cNvSpPr txBox="1"/>
            <p:nvPr/>
          </p:nvSpPr>
          <p:spPr>
            <a:xfrm>
              <a:off x="7179665" y="34642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35" name="TextBox 35"/>
            <p:cNvSpPr txBox="1"/>
            <p:nvPr/>
          </p:nvSpPr>
          <p:spPr>
            <a:xfrm>
              <a:off x="7534656" y="3425190"/>
              <a:ext cx="29443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 前の変更］［↓ 次の変更］で変更箇所を順に送れます。</a:t>
              </a:r>
            </a:p>
          </p:txBody>
        </p:sp>
        <p:sp>
          <p:nvSpPr>
            <p:cNvPr id="36" name="Ellipse 36"/>
            <p:cNvSpPr/>
            <p:nvPr/>
          </p:nvSpPr>
          <p:spPr>
            <a:xfrm>
              <a:off x="7077075" y="4333875"/>
              <a:ext cx="323850" cy="323850"/>
            </a:xfrm>
            <a:prstGeom prst="ellipse">
              <a:avLst/>
            </a:prstGeom>
            <a:solidFill>
              <a:schemeClr val="accent1"/>
            </a:solidFill>
            <a:ln>
              <a:noFill/>
            </a:ln>
          </p:spPr>
        </p:sp>
        <p:sp>
          <p:nvSpPr>
            <p:cNvPr id="37" name="TextBox 37"/>
            <p:cNvSpPr txBox="1"/>
            <p:nvPr/>
          </p:nvSpPr>
          <p:spPr>
            <a:xfrm>
              <a:off x="7179665" y="44167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4</a:t>
              </a:r>
            </a:p>
          </p:txBody>
        </p:sp>
        <p:sp>
          <p:nvSpPr>
            <p:cNvPr id="38" name="TextBox 38"/>
            <p:cNvSpPr txBox="1"/>
            <p:nvPr/>
          </p:nvSpPr>
          <p:spPr>
            <a:xfrm>
              <a:off x="7534656" y="4377690"/>
              <a:ext cx="260146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［変更箇所のみ］で変更のない行を隠せます。［折り返し］は長い行を折り返します。</a:t>
              </a:r>
            </a:p>
          </p:txBody>
        </p:sp>
      </p:grpSp>
      <p:grpSp>
        <p:nvGrpSpPr>
          <p:cNvPr id="42" name="Group 42"/>
          <p:cNvGrpSpPr/>
          <p:nvPr/>
        </p:nvGrpSpPr>
        <p:grpSpPr>
          <a:xfrm>
            <a:off x="374904" y="6461760"/>
            <a:ext cx="11442192" cy="234696"/>
            <a:chOff x="374904" y="6461760"/>
            <a:chExt cx="11442192" cy="234696"/>
          </a:xfrm>
        </p:grpSpPr>
        <p:sp>
          <p:nvSpPr>
            <p:cNvPr id="40" name="TextBox 40"/>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41" name="TextBox 41"/>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3 · 2/3</a:t>
              </a:r>
            </a:p>
          </p:txBody>
        </p:sp>
        <p:sp>
          <p:nvSpPr>
            <p:cNvPr id="4" name="TextBox 4"/>
            <p:cNvSpPr txBox="1"/>
            <p:nvPr/>
          </p:nvSpPr>
          <p:spPr>
            <a:xfrm>
              <a:off x="1946148" y="479108"/>
              <a:ext cx="495207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採用するか、使わないかを決めます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4" name="Group 14"/>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5"/>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chemeClr val="accent6"/>
              </a:solidFill>
            </a:ln>
          </p:spPr>
        </p:sp>
        <p:sp>
          <p:nvSpPr>
            <p:cNvPr id="10" name="Rectangle 10"/>
            <p:cNvSpPr/>
            <p:nvPr/>
          </p:nvSpPr>
          <p:spPr>
            <a:xfrm>
              <a:off x="476250" y="3162300"/>
              <a:ext cx="1200150" cy="285750"/>
            </a:xfrm>
            <a:prstGeom prst="roundRect">
              <a:avLst>
                <a:gd name="adj" fmla="val 20000"/>
              </a:avLst>
            </a:prstGeom>
            <a:noFill/>
            <a:ln w="28575">
              <a:solidFill>
                <a:schemeClr val="accent2"/>
              </a:solidFill>
            </a:ln>
          </p:spPr>
        </p:sp>
        <p:sp>
          <p:nvSpPr>
            <p:cNvPr id="11" name="TextBox 11"/>
            <p:cNvSpPr txBox="1"/>
            <p:nvPr/>
          </p:nvSpPr>
          <p:spPr>
            <a:xfrm>
              <a:off x="1745742" y="3207068"/>
              <a:ext cx="986918"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採用済みは緑</a:t>
              </a:r>
            </a:p>
          </p:txBody>
        </p:sp>
        <p:sp>
          <p:nvSpPr>
            <p:cNvPr id="12" name="Rectangle 12"/>
            <p:cNvSpPr/>
            <p:nvPr/>
          </p:nvSpPr>
          <p:spPr>
            <a:xfrm>
              <a:off x="1714500" y="4305300"/>
              <a:ext cx="4953000" cy="304800"/>
            </a:xfrm>
            <a:prstGeom prst="roundRect">
              <a:avLst>
                <a:gd name="adj" fmla="val 25000"/>
              </a:avLst>
            </a:prstGeom>
            <a:noFill/>
            <a:ln w="28575">
              <a:solidFill>
                <a:schemeClr val="accent1"/>
              </a:solidFill>
            </a:ln>
          </p:spPr>
        </p:sp>
        <p:sp>
          <p:nvSpPr>
            <p:cNvPr id="13" name="TextBox 13"/>
            <p:cNvSpPr txBox="1"/>
            <p:nvPr/>
          </p:nvSpPr>
          <p:spPr>
            <a:xfrm>
              <a:off x="1707642" y="4635818"/>
              <a:ext cx="8342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ここで決めます</a:t>
              </a:r>
            </a:p>
          </p:txBody>
        </p:sp>
      </p:grpSp>
      <p:grpSp>
        <p:nvGrpSpPr>
          <p:cNvPr id="18" name="Group 18"/>
          <p:cNvGrpSpPr/>
          <p:nvPr/>
        </p:nvGrpSpPr>
        <p:grpSpPr>
          <a:xfrm>
            <a:off x="342900" y="5238750"/>
            <a:ext cx="6477000" cy="971550"/>
            <a:chOff x="342900" y="5238750"/>
            <a:chExt cx="6477000" cy="971550"/>
          </a:xfrm>
        </p:grpSpPr>
        <p:sp>
          <p:nvSpPr>
            <p:cNvPr id="15" name="Rectangle 15"/>
            <p:cNvSpPr/>
            <p:nvPr/>
          </p:nvSpPr>
          <p:spPr>
            <a:xfrm>
              <a:off x="342900" y="5238750"/>
              <a:ext cx="6477000" cy="971550"/>
            </a:xfrm>
            <a:prstGeom prst="roundRect">
              <a:avLst>
                <a:gd name="adj" fmla="val 13725"/>
              </a:avLst>
            </a:prstGeom>
            <a:solidFill>
              <a:schemeClr val="lt1"/>
            </a:solidFill>
            <a:ln w="19050">
              <a:solidFill>
                <a:schemeClr val="accent1"/>
              </a:solidFill>
            </a:ln>
          </p:spPr>
        </p:sp>
        <p:sp>
          <p:nvSpPr>
            <p:cNvPr id="16" name="TextBox 16"/>
            <p:cNvSpPr txBox="1"/>
            <p:nvPr/>
          </p:nvSpPr>
          <p:spPr>
            <a:xfrm>
              <a:off x="619506" y="5482590"/>
              <a:ext cx="252444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［採用する］を押して初めて</a:t>
              </a:r>
            </a:p>
          </p:txBody>
        </p:sp>
        <p:sp>
          <p:nvSpPr>
            <p:cNvPr id="17" name="TextBox 17"/>
            <p:cNvSpPr txBox="1"/>
            <p:nvPr/>
          </p:nvSpPr>
          <p:spPr>
            <a:xfrm>
              <a:off x="619506" y="5825490"/>
              <a:ext cx="473799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ビルドの対象になります。貼っただけでは書き戻されません。</a:t>
              </a:r>
            </a:p>
          </p:txBody>
        </p:sp>
      </p:grpSp>
      <p:grpSp>
        <p:nvGrpSpPr>
          <p:cNvPr id="26" name="Group 26"/>
          <p:cNvGrpSpPr/>
          <p:nvPr/>
        </p:nvGrpSpPr>
        <p:grpSpPr>
          <a:xfrm>
            <a:off x="7010400" y="1409700"/>
            <a:ext cx="4800600" cy="2133600"/>
            <a:chOff x="7010400" y="1409700"/>
            <a:chExt cx="4800600" cy="2133600"/>
          </a:xfrm>
        </p:grpSpPr>
        <p:sp>
          <p:nvSpPr>
            <p:cNvPr id="19" name="Rectangle 19"/>
            <p:cNvSpPr/>
            <p:nvPr/>
          </p:nvSpPr>
          <p:spPr>
            <a:xfrm>
              <a:off x="7010400" y="1409700"/>
              <a:ext cx="4800600" cy="990600"/>
            </a:xfrm>
            <a:prstGeom prst="roundRect">
              <a:avLst>
                <a:gd name="adj" fmla="val 15385"/>
              </a:avLst>
            </a:prstGeom>
            <a:solidFill>
              <a:schemeClr val="lt1"/>
            </a:solidFill>
            <a:ln w="19050">
              <a:solidFill>
                <a:schemeClr val="accent2"/>
              </a:solidFill>
            </a:ln>
          </p:spPr>
        </p:sp>
        <p:sp>
          <p:nvSpPr>
            <p:cNvPr id="20" name="Freeform 20"/>
            <p:cNvSpPr/>
            <p:nvPr/>
          </p:nvSpPr>
          <p:spPr>
            <a:xfrm>
              <a:off x="7281862" y="165677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63199" y="92166"/>
                  </a:moveTo>
                  <a:cubicBezTo>
                    <a:pt x="158957" y="87924"/>
                    <a:pt x="152222" y="87501"/>
                    <a:pt x="147483" y="91177"/>
                  </a:cubicBezTo>
                  <a:lnTo>
                    <a:pt x="146364" y="92166"/>
                  </a:lnTo>
                  <a:lnTo>
                    <a:pt x="107156" y="131361"/>
                  </a:lnTo>
                  <a:lnTo>
                    <a:pt x="91761" y="115978"/>
                  </a:lnTo>
                  <a:lnTo>
                    <a:pt x="90642" y="114990"/>
                  </a:lnTo>
                  <a:cubicBezTo>
                    <a:pt x="85902" y="111316"/>
                    <a:pt x="79170" y="111741"/>
                    <a:pt x="74929" y="115981"/>
                  </a:cubicBezTo>
                  <a:cubicBezTo>
                    <a:pt x="70689" y="120222"/>
                    <a:pt x="70264" y="126954"/>
                    <a:pt x="73938" y="131694"/>
                  </a:cubicBezTo>
                  <a:lnTo>
                    <a:pt x="74926" y="132813"/>
                  </a:lnTo>
                  <a:lnTo>
                    <a:pt x="98739" y="156626"/>
                  </a:lnTo>
                  <a:lnTo>
                    <a:pt x="99858" y="157614"/>
                  </a:lnTo>
                  <a:cubicBezTo>
                    <a:pt x="104153" y="160947"/>
                    <a:pt x="110160" y="160947"/>
                    <a:pt x="114455" y="157614"/>
                  </a:cubicBezTo>
                  <a:lnTo>
                    <a:pt x="115574" y="156626"/>
                  </a:lnTo>
                  <a:lnTo>
                    <a:pt x="163199" y="109001"/>
                  </a:lnTo>
                  <a:lnTo>
                    <a:pt x="164187" y="107882"/>
                  </a:lnTo>
                  <a:cubicBezTo>
                    <a:pt x="167864" y="103142"/>
                    <a:pt x="167440" y="96407"/>
                    <a:pt x="163199" y="92166"/>
                  </a:cubicBezTo>
                  <a:close/>
                </a:path>
              </a:pathLst>
            </a:custGeom>
            <a:solidFill>
              <a:schemeClr val="accent2"/>
            </a:solidFill>
            <a:ln>
              <a:noFill/>
            </a:ln>
          </p:spPr>
        </p:sp>
        <p:sp>
          <p:nvSpPr>
            <p:cNvPr id="21" name="TextBox 21"/>
            <p:cNvSpPr txBox="1"/>
            <p:nvPr/>
          </p:nvSpPr>
          <p:spPr>
            <a:xfrm>
              <a:off x="7629906" y="1672590"/>
              <a:ext cx="1735703"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この変更を採用する</a:t>
              </a:r>
            </a:p>
          </p:txBody>
        </p:sp>
        <p:sp>
          <p:nvSpPr>
            <p:cNvPr id="22" name="TextBox 22"/>
            <p:cNvSpPr txBox="1"/>
            <p:nvPr/>
          </p:nvSpPr>
          <p:spPr>
            <a:xfrm>
              <a:off x="7251192" y="2064068"/>
              <a:ext cx="1840173"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ビルドで書き戻す対象になります</a:t>
              </a:r>
            </a:p>
          </p:txBody>
        </p:sp>
        <p:sp>
          <p:nvSpPr>
            <p:cNvPr id="23" name="Rectangle 23"/>
            <p:cNvSpPr/>
            <p:nvPr/>
          </p:nvSpPr>
          <p:spPr>
            <a:xfrm>
              <a:off x="7010400" y="2552700"/>
              <a:ext cx="4800600" cy="990600"/>
            </a:xfrm>
            <a:prstGeom prst="roundRect">
              <a:avLst>
                <a:gd name="adj" fmla="val 15385"/>
              </a:avLst>
            </a:prstGeom>
            <a:solidFill>
              <a:schemeClr val="lt1"/>
            </a:solidFill>
            <a:ln w="19050">
              <a:solidFill>
                <a:schemeClr val="accent3"/>
              </a:solidFill>
            </a:ln>
          </p:spPr>
        </p:sp>
        <p:sp>
          <p:nvSpPr>
            <p:cNvPr id="24" name="TextBox 24"/>
            <p:cNvSpPr txBox="1"/>
            <p:nvPr/>
          </p:nvSpPr>
          <p:spPr>
            <a:xfrm>
              <a:off x="7248906" y="2815590"/>
              <a:ext cx="1621208"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j-lt"/>
                  <a:ea typeface="+mj-ea"/>
                  <a:cs typeface="+mj-cs"/>
                </a:rPr>
                <a:t>この変更を使わない</a:t>
              </a:r>
            </a:p>
          </p:txBody>
        </p:sp>
        <p:sp>
          <p:nvSpPr>
            <p:cNvPr id="25" name="TextBox 25"/>
            <p:cNvSpPr txBox="1"/>
            <p:nvPr/>
          </p:nvSpPr>
          <p:spPr>
            <a:xfrm>
              <a:off x="7251192" y="3207068"/>
              <a:ext cx="1440351"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取り込みを取り消します</a:t>
              </a:r>
            </a:p>
          </p:txBody>
        </p:sp>
      </p:grpSp>
      <p:grpSp>
        <p:nvGrpSpPr>
          <p:cNvPr id="39" name="Group 39"/>
          <p:cNvGrpSpPr/>
          <p:nvPr/>
        </p:nvGrpSpPr>
        <p:grpSpPr>
          <a:xfrm>
            <a:off x="7010400" y="3733800"/>
            <a:ext cx="4800600" cy="2476500"/>
            <a:chOff x="7010400" y="3733800"/>
            <a:chExt cx="4800600" cy="2476500"/>
          </a:xfrm>
        </p:grpSpPr>
        <p:sp>
          <p:nvSpPr>
            <p:cNvPr id="27" name="Rectangle 27"/>
            <p:cNvSpPr/>
            <p:nvPr/>
          </p:nvSpPr>
          <p:spPr>
            <a:xfrm>
              <a:off x="7010400" y="3733800"/>
              <a:ext cx="4800600" cy="2476500"/>
            </a:xfrm>
            <a:prstGeom prst="roundRect">
              <a:avLst>
                <a:gd name="adj" fmla="val 6154"/>
              </a:avLst>
            </a:prstGeom>
            <a:solidFill>
              <a:schemeClr val="lt2"/>
            </a:solidFill>
            <a:ln>
              <a:noFill/>
            </a:ln>
          </p:spPr>
        </p:sp>
        <p:sp>
          <p:nvSpPr>
            <p:cNvPr id="28" name="TextBox 28"/>
            <p:cNvSpPr txBox="1"/>
            <p:nvPr/>
          </p:nvSpPr>
          <p:spPr>
            <a:xfrm>
              <a:off x="7248906" y="3882390"/>
              <a:ext cx="196469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左の一覧に出る状態</a:t>
              </a:r>
            </a:p>
          </p:txBody>
        </p:sp>
        <p:sp>
          <p:nvSpPr>
            <p:cNvPr id="29" name="Ellipse 29"/>
            <p:cNvSpPr/>
            <p:nvPr/>
          </p:nvSpPr>
          <p:spPr>
            <a:xfrm>
              <a:off x="7267575" y="4371975"/>
              <a:ext cx="133350" cy="133350"/>
            </a:xfrm>
            <a:prstGeom prst="ellipse">
              <a:avLst/>
            </a:prstGeom>
            <a:solidFill>
              <a:srgbClr val="5D6B7A"/>
            </a:solidFill>
            <a:ln>
              <a:noFill/>
            </a:ln>
          </p:spPr>
        </p:sp>
        <p:sp>
          <p:nvSpPr>
            <p:cNvPr id="30" name="TextBox 30"/>
            <p:cNvSpPr txBox="1"/>
            <p:nvPr/>
          </p:nvSpPr>
          <p:spPr>
            <a:xfrm>
              <a:off x="7517892" y="4350068"/>
              <a:ext cx="194921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未取り込み — まだ何もしていない</a:t>
              </a:r>
            </a:p>
          </p:txBody>
        </p:sp>
        <p:sp>
          <p:nvSpPr>
            <p:cNvPr id="31" name="Ellipse 31"/>
            <p:cNvSpPr/>
            <p:nvPr/>
          </p:nvSpPr>
          <p:spPr>
            <a:xfrm>
              <a:off x="7267575" y="4752975"/>
              <a:ext cx="133350" cy="133350"/>
            </a:xfrm>
            <a:prstGeom prst="ellipse">
              <a:avLst/>
            </a:prstGeom>
            <a:solidFill>
              <a:srgbClr val="A2701C"/>
            </a:solidFill>
            <a:ln>
              <a:noFill/>
            </a:ln>
          </p:spPr>
        </p:sp>
        <p:sp>
          <p:nvSpPr>
            <p:cNvPr id="32" name="TextBox 32"/>
            <p:cNvSpPr txBox="1"/>
            <p:nvPr/>
          </p:nvSpPr>
          <p:spPr>
            <a:xfrm>
              <a:off x="7517892" y="4731068"/>
              <a:ext cx="239447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取込済み・確認中 — まだ決めていない</a:t>
              </a:r>
            </a:p>
          </p:txBody>
        </p:sp>
        <p:sp>
          <p:nvSpPr>
            <p:cNvPr id="33" name="Ellipse 33"/>
            <p:cNvSpPr/>
            <p:nvPr/>
          </p:nvSpPr>
          <p:spPr>
            <a:xfrm>
              <a:off x="7267575" y="5133975"/>
              <a:ext cx="133350" cy="133350"/>
            </a:xfrm>
            <a:prstGeom prst="ellipse">
              <a:avLst/>
            </a:prstGeom>
            <a:solidFill>
              <a:schemeClr val="accent2"/>
            </a:solidFill>
            <a:ln>
              <a:noFill/>
            </a:ln>
          </p:spPr>
        </p:sp>
        <p:sp>
          <p:nvSpPr>
            <p:cNvPr id="34" name="TextBox 34"/>
            <p:cNvSpPr txBox="1"/>
            <p:nvPr/>
          </p:nvSpPr>
          <p:spPr>
            <a:xfrm>
              <a:off x="7517892" y="5112068"/>
              <a:ext cx="203099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採用済み — ビルドで書き戻される</a:t>
              </a:r>
            </a:p>
          </p:txBody>
        </p:sp>
        <p:sp>
          <p:nvSpPr>
            <p:cNvPr id="35" name="Ellipse 35"/>
            <p:cNvSpPr/>
            <p:nvPr/>
          </p:nvSpPr>
          <p:spPr>
            <a:xfrm>
              <a:off x="7267575" y="5514975"/>
              <a:ext cx="133350" cy="133350"/>
            </a:xfrm>
            <a:prstGeom prst="ellipse">
              <a:avLst/>
            </a:prstGeom>
            <a:solidFill>
              <a:srgbClr val="5D6B7A"/>
            </a:solidFill>
            <a:ln>
              <a:noFill/>
            </a:ln>
          </p:spPr>
        </p:sp>
        <p:sp>
          <p:nvSpPr>
            <p:cNvPr id="36" name="TextBox 36"/>
            <p:cNvSpPr txBox="1"/>
            <p:nvPr/>
          </p:nvSpPr>
          <p:spPr>
            <a:xfrm>
              <a:off x="7517892" y="5493068"/>
              <a:ext cx="213095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変更なし — 貼ったが元と同じだった</a:t>
              </a:r>
            </a:p>
          </p:txBody>
        </p:sp>
        <p:sp>
          <p:nvSpPr>
            <p:cNvPr id="37" name="Ellipse 37"/>
            <p:cNvSpPr/>
            <p:nvPr/>
          </p:nvSpPr>
          <p:spPr>
            <a:xfrm>
              <a:off x="7267575" y="5895975"/>
              <a:ext cx="133350" cy="133350"/>
            </a:xfrm>
            <a:prstGeom prst="ellipse">
              <a:avLst/>
            </a:prstGeom>
            <a:solidFill>
              <a:srgbClr val="5D6B7A"/>
            </a:solidFill>
            <a:ln>
              <a:noFill/>
            </a:ln>
          </p:spPr>
        </p:sp>
        <p:sp>
          <p:nvSpPr>
            <p:cNvPr id="38" name="TextBox 38"/>
            <p:cNvSpPr txBox="1"/>
            <p:nvPr/>
          </p:nvSpPr>
          <p:spPr>
            <a:xfrm>
              <a:off x="7517892" y="5874068"/>
              <a:ext cx="17129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対象外 — 対象から外した</a:t>
              </a:r>
            </a:p>
          </p:txBody>
        </p:sp>
      </p:grpSp>
      <p:grpSp>
        <p:nvGrpSpPr>
          <p:cNvPr id="42" name="Group 42"/>
          <p:cNvGrpSpPr/>
          <p:nvPr/>
        </p:nvGrpSpPr>
        <p:grpSpPr>
          <a:xfrm>
            <a:off x="374904" y="6461760"/>
            <a:ext cx="11442192" cy="234696"/>
            <a:chOff x="374904" y="6461760"/>
            <a:chExt cx="11442192" cy="234696"/>
          </a:xfrm>
        </p:grpSpPr>
        <p:sp>
          <p:nvSpPr>
            <p:cNvPr id="40" name="TextBox 40"/>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41" name="TextBox 41"/>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5144" y="568642"/>
              <a:ext cx="110141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3 の補足</a:t>
              </a:r>
            </a:p>
          </p:txBody>
        </p:sp>
        <p:sp>
          <p:nvSpPr>
            <p:cNvPr id="4" name="TextBox 4"/>
            <p:cNvSpPr txBox="1"/>
            <p:nvPr/>
          </p:nvSpPr>
          <p:spPr>
            <a:xfrm>
              <a:off x="1946148" y="479108"/>
              <a:ext cx="479623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手直ししたいとき・新しいモジュール</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0" name="Group 10"/>
          <p:cNvGrpSpPr/>
          <p:nvPr/>
        </p:nvGrpSpPr>
        <p:grpSpPr>
          <a:xfrm>
            <a:off x="381000" y="1257300"/>
            <a:ext cx="6667500" cy="419100"/>
            <a:chOff x="381000" y="1257300"/>
            <a:chExt cx="6667500" cy="419100"/>
          </a:xfrm>
        </p:grpSpPr>
        <p:sp>
          <p:nvSpPr>
            <p:cNvPr id="7" name="Rectangle 7"/>
            <p:cNvSpPr/>
            <p:nvPr/>
          </p:nvSpPr>
          <p:spPr>
            <a:xfrm>
              <a:off x="381000" y="1257300"/>
              <a:ext cx="6667500" cy="419100"/>
            </a:xfrm>
            <a:prstGeom prst="roundRect">
              <a:avLst>
                <a:gd name="adj" fmla="val 31818"/>
              </a:avLst>
            </a:prstGeom>
            <a:solidFill>
              <a:schemeClr val="lt1"/>
            </a:solidFill>
            <a:ln w="19050">
              <a:solidFill>
                <a:srgbClr val="A2701C"/>
              </a:solidFill>
            </a:ln>
          </p:spPr>
        </p:sp>
        <p:sp>
          <p:nvSpPr>
            <p:cNvPr id="8" name="Freeform 8"/>
            <p:cNvSpPr/>
            <p:nvPr/>
          </p:nvSpPr>
          <p:spPr>
            <a:xfrm>
              <a:off x="578994" y="1395706"/>
              <a:ext cx="194460" cy="168740"/>
            </a:xfrm>
            <a:custGeom>
              <a:avLst/>
              <a:gdLst/>
              <a:ahLst/>
              <a:cxnLst/>
              <a:rect l="l" t="t" r="r" b="b"/>
              <a:pathLst>
                <a:path w="194460" h="168740">
                  <a:moveTo>
                    <a:pt x="97281" y="0"/>
                  </a:moveTo>
                  <a:cubicBezTo>
                    <a:pt x="105619" y="0"/>
                    <a:pt x="113390" y="4077"/>
                    <a:pt x="118149" y="10888"/>
                  </a:cubicBezTo>
                  <a:lnTo>
                    <a:pt x="119065" y="12285"/>
                  </a:lnTo>
                  <a:lnTo>
                    <a:pt x="189911" y="130576"/>
                  </a:lnTo>
                  <a:cubicBezTo>
                    <a:pt x="194287" y="138156"/>
                    <a:pt x="194460" y="147453"/>
                    <a:pt x="190369" y="155191"/>
                  </a:cubicBezTo>
                  <a:cubicBezTo>
                    <a:pt x="186278" y="162928"/>
                    <a:pt x="178496" y="168020"/>
                    <a:pt x="169768" y="168670"/>
                  </a:cubicBezTo>
                  <a:lnTo>
                    <a:pt x="168065" y="168740"/>
                  </a:lnTo>
                  <a:lnTo>
                    <a:pt x="26401" y="168740"/>
                  </a:lnTo>
                  <a:cubicBezTo>
                    <a:pt x="17664" y="168642"/>
                    <a:pt x="9588" y="164067"/>
                    <a:pt x="5012" y="156624"/>
                  </a:cubicBezTo>
                  <a:cubicBezTo>
                    <a:pt x="436" y="149180"/>
                    <a:pt x="0" y="139909"/>
                    <a:pt x="3857" y="132069"/>
                  </a:cubicBezTo>
                  <a:lnTo>
                    <a:pt x="4721" y="130454"/>
                  </a:lnTo>
                  <a:lnTo>
                    <a:pt x="75531" y="12250"/>
                  </a:lnTo>
                  <a:cubicBezTo>
                    <a:pt x="80142" y="4646"/>
                    <a:pt x="88389" y="2"/>
                    <a:pt x="97281" y="0"/>
                  </a:cubicBezTo>
                  <a:close/>
                  <a:moveTo>
                    <a:pt x="97368" y="116388"/>
                  </a:moveTo>
                  <a:lnTo>
                    <a:pt x="96259" y="116449"/>
                  </a:lnTo>
                  <a:cubicBezTo>
                    <a:pt x="91867" y="116971"/>
                    <a:pt x="88559" y="120696"/>
                    <a:pt x="88559" y="125119"/>
                  </a:cubicBezTo>
                  <a:cubicBezTo>
                    <a:pt x="88559" y="129542"/>
                    <a:pt x="91867" y="133267"/>
                    <a:pt x="96259" y="133789"/>
                  </a:cubicBezTo>
                  <a:lnTo>
                    <a:pt x="97281" y="133850"/>
                  </a:lnTo>
                  <a:lnTo>
                    <a:pt x="98390" y="133789"/>
                  </a:lnTo>
                  <a:cubicBezTo>
                    <a:pt x="102782" y="133267"/>
                    <a:pt x="106090" y="129542"/>
                    <a:pt x="106090" y="125119"/>
                  </a:cubicBezTo>
                  <a:cubicBezTo>
                    <a:pt x="106090" y="120696"/>
                    <a:pt x="102782" y="116971"/>
                    <a:pt x="98390" y="116449"/>
                  </a:cubicBezTo>
                  <a:lnTo>
                    <a:pt x="97368" y="116388"/>
                  </a:lnTo>
                  <a:close/>
                  <a:moveTo>
                    <a:pt x="97281" y="55269"/>
                  </a:moveTo>
                  <a:cubicBezTo>
                    <a:pt x="92854" y="55269"/>
                    <a:pt x="89129" y="58582"/>
                    <a:pt x="88611" y="62979"/>
                  </a:cubicBezTo>
                  <a:lnTo>
                    <a:pt x="88550" y="64000"/>
                  </a:lnTo>
                  <a:lnTo>
                    <a:pt x="88550" y="98925"/>
                  </a:lnTo>
                  <a:lnTo>
                    <a:pt x="88611" y="99947"/>
                  </a:lnTo>
                  <a:cubicBezTo>
                    <a:pt x="89133" y="104339"/>
                    <a:pt x="92858" y="107647"/>
                    <a:pt x="97281" y="107647"/>
                  </a:cubicBezTo>
                  <a:cubicBezTo>
                    <a:pt x="101704" y="107647"/>
                    <a:pt x="105429" y="104339"/>
                    <a:pt x="105951" y="99947"/>
                  </a:cubicBezTo>
                  <a:lnTo>
                    <a:pt x="106012" y="98925"/>
                  </a:lnTo>
                  <a:lnTo>
                    <a:pt x="106012" y="64000"/>
                  </a:lnTo>
                  <a:lnTo>
                    <a:pt x="105951" y="62979"/>
                  </a:lnTo>
                  <a:cubicBezTo>
                    <a:pt x="105433" y="58582"/>
                    <a:pt x="101708" y="55269"/>
                    <a:pt x="97281" y="55269"/>
                  </a:cubicBezTo>
                  <a:close/>
                </a:path>
              </a:pathLst>
            </a:custGeom>
            <a:solidFill>
              <a:srgbClr val="A2701C"/>
            </a:solidFill>
            <a:ln>
              <a:noFill/>
            </a:ln>
          </p:spPr>
        </p:sp>
        <p:sp>
          <p:nvSpPr>
            <p:cNvPr id="9" name="TextBox 9"/>
            <p:cNvSpPr txBox="1"/>
            <p:nvPr/>
          </p:nvSpPr>
          <p:spPr>
            <a:xfrm>
              <a:off x="869442" y="1387792"/>
              <a:ext cx="5165960" cy="264033"/>
            </a:xfrm>
            <a:prstGeom prst="rect">
              <a:avLst/>
            </a:prstGeom>
            <a:noFill/>
            <a:ln>
              <a:noFill/>
            </a:ln>
          </p:spPr>
          <p:txBody>
            <a:bodyPr wrap="none" lIns="0" tIns="0" rIns="0" bIns="0" anchor="t" anchorCtr="0">
              <a:spAutoFit/>
            </a:bodyPr>
            <a:lstStyle/>
            <a:p>
              <a:pPr algn="l"/>
              <a:r>
                <a:rPr lang="zh-CN" sz="1350" dirty="0">
                  <a:solidFill>
                    <a:srgbClr val="A2701C"/>
                  </a:solidFill>
                  <a:latin typeface="+mn-lt"/>
                  <a:ea typeface="+mn-ea"/>
                  <a:cs typeface="+mn-cs"/>
                </a:rPr>
                <a:t>画面写真なし（試作）— 画面内の一時的な状態のため、素材が未整備です</a:t>
              </a:r>
            </a:p>
          </p:txBody>
        </p:sp>
      </p:grpSp>
      <p:grpSp>
        <p:nvGrpSpPr>
          <p:cNvPr id="26" name="Group 26"/>
          <p:cNvGrpSpPr/>
          <p:nvPr/>
        </p:nvGrpSpPr>
        <p:grpSpPr>
          <a:xfrm>
            <a:off x="381000" y="1828800"/>
            <a:ext cx="5600700" cy="3986784"/>
            <a:chOff x="381000" y="1828800"/>
            <a:chExt cx="5600700" cy="3986784"/>
          </a:xfrm>
        </p:grpSpPr>
        <p:sp>
          <p:nvSpPr>
            <p:cNvPr id="11" name="Rectangle 11"/>
            <p:cNvSpPr/>
            <p:nvPr/>
          </p:nvSpPr>
          <p:spPr>
            <a:xfrm>
              <a:off x="381000" y="1828800"/>
              <a:ext cx="5600700" cy="3924300"/>
            </a:xfrm>
            <a:prstGeom prst="roundRect">
              <a:avLst>
                <a:gd name="adj" fmla="val 3883"/>
              </a:avLst>
            </a:prstGeom>
            <a:solidFill>
              <a:schemeClr val="lt2"/>
            </a:solidFill>
            <a:ln>
              <a:noFill/>
            </a:ln>
          </p:spPr>
        </p:sp>
        <p:grpSp>
          <p:nvGrpSpPr>
            <p:cNvPr id="14" name="Group 14"/>
            <p:cNvGrpSpPr/>
            <p:nvPr/>
          </p:nvGrpSpPr>
          <p:grpSpPr>
            <a:xfrm>
              <a:off x="688181" y="2118405"/>
              <a:ext cx="260534" cy="260465"/>
              <a:chOff x="688181" y="2118405"/>
              <a:chExt cx="260534" cy="260465"/>
            </a:xfrm>
          </p:grpSpPr>
          <p:sp>
            <p:nvSpPr>
              <p:cNvPr id="12" name="Freeform 12"/>
              <p:cNvSpPr/>
              <p:nvPr/>
            </p:nvSpPr>
            <p:spPr>
              <a:xfrm>
                <a:off x="688181" y="2176463"/>
                <a:ext cx="202407" cy="202407"/>
              </a:xfrm>
              <a:custGeom>
                <a:avLst/>
                <a:gdLst/>
                <a:ahLst/>
                <a:cxnLst/>
                <a:rect l="l" t="t" r="r" b="b"/>
                <a:pathLst>
                  <a:path w="202407" h="202407">
                    <a:moveTo>
                      <a:pt x="67469" y="13494"/>
                    </a:moveTo>
                    <a:cubicBezTo>
                      <a:pt x="67469" y="20946"/>
                      <a:pt x="61428" y="26988"/>
                      <a:pt x="53975" y="26988"/>
                    </a:cubicBezTo>
                    <a:lnTo>
                      <a:pt x="40481" y="26988"/>
                    </a:lnTo>
                    <a:cubicBezTo>
                      <a:pt x="33029" y="26988"/>
                      <a:pt x="26988" y="33029"/>
                      <a:pt x="26988" y="40481"/>
                    </a:cubicBezTo>
                    <a:lnTo>
                      <a:pt x="26988" y="161925"/>
                    </a:lnTo>
                    <a:cubicBezTo>
                      <a:pt x="26988" y="169378"/>
                      <a:pt x="33029" y="175419"/>
                      <a:pt x="40481" y="175419"/>
                    </a:cubicBezTo>
                    <a:lnTo>
                      <a:pt x="161925" y="175419"/>
                    </a:lnTo>
                    <a:cubicBezTo>
                      <a:pt x="169378" y="175419"/>
                      <a:pt x="175419" y="169378"/>
                      <a:pt x="175419" y="161925"/>
                    </a:cubicBezTo>
                    <a:lnTo>
                      <a:pt x="175419" y="148432"/>
                    </a:lnTo>
                    <a:cubicBezTo>
                      <a:pt x="175419" y="140979"/>
                      <a:pt x="181461" y="134938"/>
                      <a:pt x="188913" y="134938"/>
                    </a:cubicBezTo>
                    <a:cubicBezTo>
                      <a:pt x="196365" y="134938"/>
                      <a:pt x="202407" y="140979"/>
                      <a:pt x="202407" y="148432"/>
                    </a:cubicBezTo>
                    <a:lnTo>
                      <a:pt x="202407" y="161925"/>
                    </a:lnTo>
                    <a:cubicBezTo>
                      <a:pt x="202407" y="184283"/>
                      <a:pt x="184283" y="202407"/>
                      <a:pt x="161925" y="202407"/>
                    </a:cubicBezTo>
                    <a:lnTo>
                      <a:pt x="40481" y="202407"/>
                    </a:lnTo>
                    <a:cubicBezTo>
                      <a:pt x="18124" y="202407"/>
                      <a:pt x="0" y="184283"/>
                      <a:pt x="0" y="161925"/>
                    </a:cubicBezTo>
                    <a:lnTo>
                      <a:pt x="0" y="40481"/>
                    </a:lnTo>
                    <a:cubicBezTo>
                      <a:pt x="0" y="18124"/>
                      <a:pt x="18124" y="0"/>
                      <a:pt x="40481" y="0"/>
                    </a:cubicBezTo>
                    <a:lnTo>
                      <a:pt x="53975" y="0"/>
                    </a:lnTo>
                    <a:cubicBezTo>
                      <a:pt x="61428" y="0"/>
                      <a:pt x="67469" y="6041"/>
                      <a:pt x="67469" y="13494"/>
                    </a:cubicBezTo>
                  </a:path>
                </a:pathLst>
              </a:custGeom>
              <a:solidFill>
                <a:schemeClr val="accent1"/>
              </a:solidFill>
              <a:ln>
                <a:noFill/>
              </a:ln>
            </p:spPr>
          </p:sp>
          <p:sp>
            <p:nvSpPr>
              <p:cNvPr id="13" name="Freeform 13"/>
              <p:cNvSpPr/>
              <p:nvPr/>
            </p:nvSpPr>
            <p:spPr>
              <a:xfrm>
                <a:off x="755650" y="2118405"/>
                <a:ext cx="193065" cy="192996"/>
              </a:xfrm>
              <a:custGeom>
                <a:avLst/>
                <a:gdLst/>
                <a:ahLst/>
                <a:cxnLst/>
                <a:rect l="l" t="t" r="r" b="b"/>
                <a:pathLst>
                  <a:path w="193065" h="192996">
                    <a:moveTo>
                      <a:pt x="89005" y="44713"/>
                    </a:moveTo>
                    <a:lnTo>
                      <a:pt x="148270" y="103977"/>
                    </a:lnTo>
                    <a:lnTo>
                      <a:pt x="63529" y="189029"/>
                    </a:lnTo>
                    <a:cubicBezTo>
                      <a:pt x="60998" y="191568"/>
                      <a:pt x="57560" y="192995"/>
                      <a:pt x="53975" y="192996"/>
                    </a:cubicBezTo>
                    <a:lnTo>
                      <a:pt x="13494" y="192996"/>
                    </a:lnTo>
                    <a:cubicBezTo>
                      <a:pt x="6041" y="192996"/>
                      <a:pt x="0" y="186955"/>
                      <a:pt x="0" y="179502"/>
                    </a:cubicBezTo>
                    <a:lnTo>
                      <a:pt x="0" y="139021"/>
                    </a:lnTo>
                    <a:cubicBezTo>
                      <a:pt x="1" y="135436"/>
                      <a:pt x="1428" y="131998"/>
                      <a:pt x="3967" y="129467"/>
                    </a:cubicBezTo>
                    <a:close/>
                    <a:moveTo>
                      <a:pt x="176661" y="16335"/>
                    </a:moveTo>
                    <a:cubicBezTo>
                      <a:pt x="192096" y="31760"/>
                      <a:pt x="193065" y="56463"/>
                      <a:pt x="178887" y="73050"/>
                    </a:cubicBezTo>
                    <a:lnTo>
                      <a:pt x="176674" y="75479"/>
                    </a:lnTo>
                    <a:lnTo>
                      <a:pt x="167323" y="84843"/>
                    </a:lnTo>
                    <a:lnTo>
                      <a:pt x="108126" y="25646"/>
                    </a:lnTo>
                    <a:lnTo>
                      <a:pt x="117504" y="16335"/>
                    </a:lnTo>
                    <a:cubicBezTo>
                      <a:pt x="133840" y="0"/>
                      <a:pt x="160325" y="0"/>
                      <a:pt x="176661" y="16335"/>
                    </a:cubicBezTo>
                  </a:path>
                </a:pathLst>
              </a:custGeom>
              <a:solidFill>
                <a:schemeClr val="accent1"/>
              </a:solidFill>
              <a:ln>
                <a:noFill/>
              </a:ln>
            </p:spPr>
          </p:sp>
        </p:grpSp>
        <p:sp>
          <p:nvSpPr>
            <p:cNvPr id="15" name="TextBox 15"/>
            <p:cNvSpPr txBox="1"/>
            <p:nvPr/>
          </p:nvSpPr>
          <p:spPr>
            <a:xfrm>
              <a:off x="1073658" y="210312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［手動修正］</a:t>
              </a:r>
            </a:p>
          </p:txBody>
        </p:sp>
        <p:sp>
          <p:nvSpPr>
            <p:cNvPr id="16" name="TextBox 16"/>
            <p:cNvSpPr txBox="1"/>
            <p:nvPr/>
          </p:nvSpPr>
          <p:spPr>
            <a:xfrm>
              <a:off x="638556" y="2606040"/>
              <a:ext cx="313867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コードフェンスが混ざった、行が欠けた</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といった軽微な写し間違いは、AI へ戻ら</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ずここで直せます。</a:t>
              </a:r>
            </a:p>
          </p:txBody>
        </p:sp>
        <p:sp>
          <p:nvSpPr>
            <p:cNvPr id="17" name="Ellipse 17"/>
            <p:cNvSpPr/>
            <p:nvPr/>
          </p:nvSpPr>
          <p:spPr>
            <a:xfrm>
              <a:off x="676275" y="3762375"/>
              <a:ext cx="285750" cy="285750"/>
            </a:xfrm>
            <a:prstGeom prst="ellipse">
              <a:avLst/>
            </a:prstGeom>
            <a:solidFill>
              <a:schemeClr val="accent1"/>
            </a:solidFill>
            <a:ln>
              <a:noFill/>
            </a:ln>
          </p:spPr>
        </p:sp>
        <p:sp>
          <p:nvSpPr>
            <p:cNvPr id="18" name="TextBox 18"/>
            <p:cNvSpPr txBox="1"/>
            <p:nvPr/>
          </p:nvSpPr>
          <p:spPr>
            <a:xfrm>
              <a:off x="766408" y="38328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j-lt"/>
                  <a:ea typeface="+mj-ea"/>
                  <a:cs typeface="+mj-cs"/>
                </a:rPr>
                <a:t>1</a:t>
              </a:r>
            </a:p>
          </p:txBody>
        </p:sp>
        <p:sp>
          <p:nvSpPr>
            <p:cNvPr id="19" name="TextBox 19"/>
            <p:cNvSpPr txBox="1"/>
            <p:nvPr/>
          </p:nvSpPr>
          <p:spPr>
            <a:xfrm>
              <a:off x="1076706" y="3787140"/>
              <a:ext cx="278069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押すと右側が編集欄になります。</a:t>
              </a:r>
            </a:p>
          </p:txBody>
        </p:sp>
        <p:sp>
          <p:nvSpPr>
            <p:cNvPr id="20" name="Ellipse 20"/>
            <p:cNvSpPr/>
            <p:nvPr/>
          </p:nvSpPr>
          <p:spPr>
            <a:xfrm>
              <a:off x="676275" y="4276725"/>
              <a:ext cx="285750" cy="285750"/>
            </a:xfrm>
            <a:prstGeom prst="ellipse">
              <a:avLst/>
            </a:prstGeom>
            <a:solidFill>
              <a:schemeClr val="accent1"/>
            </a:solidFill>
            <a:ln>
              <a:noFill/>
            </a:ln>
          </p:spPr>
        </p:sp>
        <p:sp>
          <p:nvSpPr>
            <p:cNvPr id="21" name="TextBox 21"/>
            <p:cNvSpPr txBox="1"/>
            <p:nvPr/>
          </p:nvSpPr>
          <p:spPr>
            <a:xfrm>
              <a:off x="766408" y="43472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j-lt"/>
                  <a:ea typeface="+mj-ea"/>
                  <a:cs typeface="+mj-cs"/>
                </a:rPr>
                <a:t>2</a:t>
              </a:r>
            </a:p>
          </p:txBody>
        </p:sp>
        <p:sp>
          <p:nvSpPr>
            <p:cNvPr id="22" name="TextBox 22"/>
            <p:cNvSpPr txBox="1"/>
            <p:nvPr/>
          </p:nvSpPr>
          <p:spPr>
            <a:xfrm>
              <a:off x="1076706" y="4301490"/>
              <a:ext cx="28300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直して［修正を反映］を押すと、差分を見直せます。</a:t>
              </a:r>
            </a:p>
          </p:txBody>
        </p:sp>
        <p:sp>
          <p:nvSpPr>
            <p:cNvPr id="23" name="Ellipse 23"/>
            <p:cNvSpPr/>
            <p:nvPr/>
          </p:nvSpPr>
          <p:spPr>
            <a:xfrm>
              <a:off x="676275" y="5114925"/>
              <a:ext cx="285750" cy="285750"/>
            </a:xfrm>
            <a:prstGeom prst="ellipse">
              <a:avLst/>
            </a:prstGeom>
            <a:solidFill>
              <a:schemeClr val="accent1"/>
            </a:solidFill>
            <a:ln>
              <a:noFill/>
            </a:ln>
          </p:spPr>
        </p:sp>
        <p:sp>
          <p:nvSpPr>
            <p:cNvPr id="24" name="TextBox 24"/>
            <p:cNvSpPr txBox="1"/>
            <p:nvPr/>
          </p:nvSpPr>
          <p:spPr>
            <a:xfrm>
              <a:off x="766408" y="5185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j-lt"/>
                  <a:ea typeface="+mj-ea"/>
                  <a:cs typeface="+mj-cs"/>
                </a:rPr>
                <a:t>3</a:t>
              </a:r>
            </a:p>
          </p:txBody>
        </p:sp>
        <p:sp>
          <p:nvSpPr>
            <p:cNvPr id="25" name="TextBox 25"/>
            <p:cNvSpPr txBox="1"/>
            <p:nvPr/>
          </p:nvSpPr>
          <p:spPr>
            <a:xfrm>
              <a:off x="1076706" y="5139690"/>
              <a:ext cx="239572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未反映のまま画面を離れようと</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すると、確認が出ます。</a:t>
              </a:r>
            </a:p>
          </p:txBody>
        </p:sp>
      </p:grpSp>
      <p:grpSp>
        <p:nvGrpSpPr>
          <p:cNvPr id="47" name="Group 47"/>
          <p:cNvGrpSpPr/>
          <p:nvPr/>
        </p:nvGrpSpPr>
        <p:grpSpPr>
          <a:xfrm>
            <a:off x="6210300" y="1828800"/>
            <a:ext cx="5600700" cy="3924300"/>
            <a:chOff x="6210300" y="1828800"/>
            <a:chExt cx="5600700" cy="3924300"/>
          </a:xfrm>
        </p:grpSpPr>
        <p:sp>
          <p:nvSpPr>
            <p:cNvPr id="27" name="Rectangle 27"/>
            <p:cNvSpPr/>
            <p:nvPr/>
          </p:nvSpPr>
          <p:spPr>
            <a:xfrm>
              <a:off x="6210300" y="1828800"/>
              <a:ext cx="5600700" cy="3924300"/>
            </a:xfrm>
            <a:prstGeom prst="roundRect">
              <a:avLst>
                <a:gd name="adj" fmla="val 3883"/>
              </a:avLst>
            </a:prstGeom>
            <a:solidFill>
              <a:schemeClr val="accent5"/>
            </a:solidFill>
            <a:ln>
              <a:noFill/>
            </a:ln>
          </p:spPr>
        </p:sp>
        <p:grpSp>
          <p:nvGrpSpPr>
            <p:cNvPr id="35" name="Group 35"/>
            <p:cNvGrpSpPr/>
            <p:nvPr/>
          </p:nvGrpSpPr>
          <p:grpSpPr>
            <a:xfrm>
              <a:off x="6503607" y="2122488"/>
              <a:ext cx="270637" cy="269875"/>
              <a:chOff x="6503607" y="2122488"/>
              <a:chExt cx="270637" cy="269875"/>
            </a:xfrm>
          </p:grpSpPr>
          <p:sp>
            <p:nvSpPr>
              <p:cNvPr id="28" name="Freeform 28"/>
              <p:cNvSpPr/>
              <p:nvPr/>
            </p:nvSpPr>
            <p:spPr>
              <a:xfrm>
                <a:off x="6503607" y="2243932"/>
                <a:ext cx="41242" cy="26988"/>
              </a:xfrm>
              <a:custGeom>
                <a:avLst/>
                <a:gdLst/>
                <a:ahLst/>
                <a:cxnLst/>
                <a:rect l="l" t="t" r="r" b="b"/>
                <a:pathLst>
                  <a:path w="41242" h="26988">
                    <a:moveTo>
                      <a:pt x="27368" y="0"/>
                    </a:moveTo>
                    <a:cubicBezTo>
                      <a:pt x="34507" y="8"/>
                      <a:pt x="40405" y="5576"/>
                      <a:pt x="40823" y="12703"/>
                    </a:cubicBezTo>
                    <a:cubicBezTo>
                      <a:pt x="41242" y="19830"/>
                      <a:pt x="36036" y="26050"/>
                      <a:pt x="28947" y="26893"/>
                    </a:cubicBezTo>
                    <a:lnTo>
                      <a:pt x="27368" y="26988"/>
                    </a:lnTo>
                    <a:lnTo>
                      <a:pt x="13874" y="26988"/>
                    </a:lnTo>
                    <a:cubicBezTo>
                      <a:pt x="6735" y="26980"/>
                      <a:pt x="837" y="21412"/>
                      <a:pt x="418" y="14285"/>
                    </a:cubicBezTo>
                    <a:cubicBezTo>
                      <a:pt x="0" y="7157"/>
                      <a:pt x="5206" y="938"/>
                      <a:pt x="12295" y="94"/>
                    </a:cubicBezTo>
                    <a:lnTo>
                      <a:pt x="13874" y="0"/>
                    </a:lnTo>
                    <a:lnTo>
                      <a:pt x="27368" y="0"/>
                    </a:lnTo>
                    <a:close/>
                  </a:path>
                </a:pathLst>
              </a:custGeom>
              <a:solidFill>
                <a:schemeClr val="accent2"/>
              </a:solidFill>
              <a:ln>
                <a:noFill/>
              </a:ln>
            </p:spPr>
          </p:sp>
          <p:sp>
            <p:nvSpPr>
              <p:cNvPr id="29" name="Freeform 29"/>
              <p:cNvSpPr/>
              <p:nvPr/>
            </p:nvSpPr>
            <p:spPr>
              <a:xfrm>
                <a:off x="6625432" y="2122488"/>
                <a:ext cx="26988" cy="40862"/>
              </a:xfrm>
              <a:custGeom>
                <a:avLst/>
                <a:gdLst/>
                <a:ahLst/>
                <a:cxnLst/>
                <a:rect l="l" t="t" r="r" b="b"/>
                <a:pathLst>
                  <a:path w="26988" h="40862">
                    <a:moveTo>
                      <a:pt x="13494" y="0"/>
                    </a:moveTo>
                    <a:cubicBezTo>
                      <a:pt x="20335" y="1"/>
                      <a:pt x="26093" y="5121"/>
                      <a:pt x="26893" y="11915"/>
                    </a:cubicBezTo>
                    <a:lnTo>
                      <a:pt x="26988" y="13494"/>
                    </a:lnTo>
                    <a:lnTo>
                      <a:pt x="26988" y="26988"/>
                    </a:lnTo>
                    <a:cubicBezTo>
                      <a:pt x="26980" y="34127"/>
                      <a:pt x="21412" y="40025"/>
                      <a:pt x="14285" y="40443"/>
                    </a:cubicBezTo>
                    <a:cubicBezTo>
                      <a:pt x="7157" y="40862"/>
                      <a:pt x="938" y="35656"/>
                      <a:pt x="94" y="28566"/>
                    </a:cubicBezTo>
                    <a:lnTo>
                      <a:pt x="0" y="26988"/>
                    </a:lnTo>
                    <a:lnTo>
                      <a:pt x="0" y="13494"/>
                    </a:lnTo>
                    <a:cubicBezTo>
                      <a:pt x="0" y="6041"/>
                      <a:pt x="6041" y="0"/>
                      <a:pt x="13494" y="0"/>
                    </a:cubicBezTo>
                    <a:close/>
                  </a:path>
                </a:pathLst>
              </a:custGeom>
              <a:solidFill>
                <a:schemeClr val="accent2"/>
              </a:solidFill>
              <a:ln>
                <a:noFill/>
              </a:ln>
            </p:spPr>
          </p:sp>
          <p:sp>
            <p:nvSpPr>
              <p:cNvPr id="30" name="Freeform 30"/>
              <p:cNvSpPr/>
              <p:nvPr/>
            </p:nvSpPr>
            <p:spPr>
              <a:xfrm>
                <a:off x="6733002" y="2243932"/>
                <a:ext cx="41242" cy="26988"/>
              </a:xfrm>
              <a:custGeom>
                <a:avLst/>
                <a:gdLst/>
                <a:ahLst/>
                <a:cxnLst/>
                <a:rect l="l" t="t" r="r" b="b"/>
                <a:pathLst>
                  <a:path w="41242" h="26988">
                    <a:moveTo>
                      <a:pt x="27368" y="0"/>
                    </a:moveTo>
                    <a:cubicBezTo>
                      <a:pt x="34507" y="8"/>
                      <a:pt x="40405" y="5576"/>
                      <a:pt x="40823" y="12703"/>
                    </a:cubicBezTo>
                    <a:cubicBezTo>
                      <a:pt x="41242" y="19830"/>
                      <a:pt x="36036" y="26050"/>
                      <a:pt x="28947" y="26893"/>
                    </a:cubicBezTo>
                    <a:lnTo>
                      <a:pt x="27368" y="26988"/>
                    </a:lnTo>
                    <a:lnTo>
                      <a:pt x="13874" y="26988"/>
                    </a:lnTo>
                    <a:cubicBezTo>
                      <a:pt x="6735" y="26980"/>
                      <a:pt x="837" y="21412"/>
                      <a:pt x="418" y="14285"/>
                    </a:cubicBezTo>
                    <a:cubicBezTo>
                      <a:pt x="0" y="7157"/>
                      <a:pt x="5206" y="938"/>
                      <a:pt x="12295" y="94"/>
                    </a:cubicBezTo>
                    <a:lnTo>
                      <a:pt x="13874" y="0"/>
                    </a:lnTo>
                    <a:lnTo>
                      <a:pt x="27368" y="0"/>
                    </a:lnTo>
                    <a:close/>
                  </a:path>
                </a:pathLst>
              </a:custGeom>
              <a:solidFill>
                <a:schemeClr val="accent2"/>
              </a:solidFill>
              <a:ln>
                <a:noFill/>
              </a:ln>
            </p:spPr>
          </p:sp>
          <p:sp>
            <p:nvSpPr>
              <p:cNvPr id="31" name="Freeform 31"/>
              <p:cNvSpPr/>
              <p:nvPr/>
            </p:nvSpPr>
            <p:spPr>
              <a:xfrm>
                <a:off x="6537757" y="2156238"/>
                <a:ext cx="39063" cy="39285"/>
              </a:xfrm>
              <a:custGeom>
                <a:avLst/>
                <a:gdLst/>
                <a:ahLst/>
                <a:cxnLst/>
                <a:rect l="l" t="t" r="r" b="b"/>
                <a:pathLst>
                  <a:path w="39063" h="39285">
                    <a:moveTo>
                      <a:pt x="5268" y="5287"/>
                    </a:moveTo>
                    <a:cubicBezTo>
                      <a:pt x="10075" y="480"/>
                      <a:pt x="17708" y="0"/>
                      <a:pt x="23080" y="4167"/>
                    </a:cubicBezTo>
                    <a:lnTo>
                      <a:pt x="24348" y="5287"/>
                    </a:lnTo>
                    <a:lnTo>
                      <a:pt x="33794" y="14733"/>
                    </a:lnTo>
                    <a:cubicBezTo>
                      <a:pt x="38816" y="19772"/>
                      <a:pt x="39063" y="27846"/>
                      <a:pt x="34357" y="33182"/>
                    </a:cubicBezTo>
                    <a:cubicBezTo>
                      <a:pt x="29651" y="38519"/>
                      <a:pt x="21610" y="39285"/>
                      <a:pt x="15982" y="34933"/>
                    </a:cubicBezTo>
                    <a:lnTo>
                      <a:pt x="14713" y="33813"/>
                    </a:lnTo>
                    <a:lnTo>
                      <a:pt x="5268" y="24367"/>
                    </a:lnTo>
                    <a:cubicBezTo>
                      <a:pt x="0" y="19098"/>
                      <a:pt x="0" y="10556"/>
                      <a:pt x="5268" y="5287"/>
                    </a:cubicBezTo>
                    <a:close/>
                  </a:path>
                </a:pathLst>
              </a:custGeom>
              <a:solidFill>
                <a:schemeClr val="accent2"/>
              </a:solidFill>
              <a:ln>
                <a:noFill/>
              </a:ln>
            </p:spPr>
          </p:sp>
          <p:sp>
            <p:nvSpPr>
              <p:cNvPr id="32" name="Freeform 32"/>
              <p:cNvSpPr/>
              <p:nvPr/>
            </p:nvSpPr>
            <p:spPr>
              <a:xfrm>
                <a:off x="6700828" y="2156256"/>
                <a:ext cx="39470" cy="39064"/>
              </a:xfrm>
              <a:custGeom>
                <a:avLst/>
                <a:gdLst/>
                <a:ahLst/>
                <a:cxnLst/>
                <a:rect l="l" t="t" r="r" b="b"/>
                <a:pathLst>
                  <a:path w="39470" h="39064">
                    <a:moveTo>
                      <a:pt x="14918" y="5269"/>
                    </a:moveTo>
                    <a:cubicBezTo>
                      <a:pt x="19957" y="247"/>
                      <a:pt x="28031" y="0"/>
                      <a:pt x="33368" y="4706"/>
                    </a:cubicBezTo>
                    <a:cubicBezTo>
                      <a:pt x="38704" y="9411"/>
                      <a:pt x="39470" y="17452"/>
                      <a:pt x="35118" y="23081"/>
                    </a:cubicBezTo>
                    <a:lnTo>
                      <a:pt x="33998" y="24349"/>
                    </a:lnTo>
                    <a:lnTo>
                      <a:pt x="24552" y="33795"/>
                    </a:lnTo>
                    <a:cubicBezTo>
                      <a:pt x="19513" y="38817"/>
                      <a:pt x="11439" y="39064"/>
                      <a:pt x="6103" y="34358"/>
                    </a:cubicBezTo>
                    <a:cubicBezTo>
                      <a:pt x="766" y="29653"/>
                      <a:pt x="0" y="21612"/>
                      <a:pt x="4352" y="15983"/>
                    </a:cubicBezTo>
                    <a:lnTo>
                      <a:pt x="5472" y="14715"/>
                    </a:lnTo>
                    <a:lnTo>
                      <a:pt x="14918" y="5269"/>
                    </a:lnTo>
                    <a:close/>
                  </a:path>
                </a:pathLst>
              </a:custGeom>
              <a:solidFill>
                <a:schemeClr val="accent2"/>
              </a:solidFill>
              <a:ln>
                <a:noFill/>
              </a:ln>
            </p:spPr>
          </p:sp>
          <p:sp>
            <p:nvSpPr>
              <p:cNvPr id="33" name="Freeform 33"/>
              <p:cNvSpPr/>
              <p:nvPr/>
            </p:nvSpPr>
            <p:spPr>
              <a:xfrm>
                <a:off x="6598444" y="2338388"/>
                <a:ext cx="80963" cy="53975"/>
              </a:xfrm>
              <a:custGeom>
                <a:avLst/>
                <a:gdLst/>
                <a:ahLst/>
                <a:cxnLst/>
                <a:rect l="l" t="t" r="r" b="b"/>
                <a:pathLst>
                  <a:path w="80963" h="53975">
                    <a:moveTo>
                      <a:pt x="67469" y="0"/>
                    </a:moveTo>
                    <a:cubicBezTo>
                      <a:pt x="74921" y="0"/>
                      <a:pt x="80963" y="6041"/>
                      <a:pt x="80963" y="13494"/>
                    </a:cubicBezTo>
                    <a:cubicBezTo>
                      <a:pt x="80963" y="35851"/>
                      <a:pt x="62839" y="53975"/>
                      <a:pt x="40481" y="53975"/>
                    </a:cubicBezTo>
                    <a:cubicBezTo>
                      <a:pt x="18124" y="53975"/>
                      <a:pt x="0" y="35851"/>
                      <a:pt x="0" y="13494"/>
                    </a:cubicBezTo>
                    <a:cubicBezTo>
                      <a:pt x="1" y="6653"/>
                      <a:pt x="5121" y="895"/>
                      <a:pt x="11915" y="94"/>
                    </a:cubicBezTo>
                    <a:lnTo>
                      <a:pt x="13494" y="0"/>
                    </a:lnTo>
                    <a:lnTo>
                      <a:pt x="67469" y="0"/>
                    </a:lnTo>
                    <a:close/>
                  </a:path>
                </a:pathLst>
              </a:custGeom>
              <a:solidFill>
                <a:schemeClr val="accent2"/>
              </a:solidFill>
              <a:ln>
                <a:noFill/>
              </a:ln>
            </p:spPr>
          </p:sp>
          <p:sp>
            <p:nvSpPr>
              <p:cNvPr id="34" name="Freeform 34"/>
              <p:cNvSpPr/>
              <p:nvPr/>
            </p:nvSpPr>
            <p:spPr>
              <a:xfrm>
                <a:off x="6551097" y="2176463"/>
                <a:ext cx="175656" cy="148432"/>
              </a:xfrm>
              <a:custGeom>
                <a:avLst/>
                <a:gdLst/>
                <a:ahLst/>
                <a:cxnLst/>
                <a:rect l="l" t="t" r="r" b="b"/>
                <a:pathLst>
                  <a:path w="175656" h="148432">
                    <a:moveTo>
                      <a:pt x="87828" y="0"/>
                    </a:moveTo>
                    <a:cubicBezTo>
                      <a:pt x="122677" y="0"/>
                      <a:pt x="153616" y="22300"/>
                      <a:pt x="164636" y="55360"/>
                    </a:cubicBezTo>
                    <a:cubicBezTo>
                      <a:pt x="175656" y="88421"/>
                      <a:pt x="164285" y="124824"/>
                      <a:pt x="136406" y="145733"/>
                    </a:cubicBezTo>
                    <a:cubicBezTo>
                      <a:pt x="134546" y="147130"/>
                      <a:pt x="132357" y="148022"/>
                      <a:pt x="130050" y="148324"/>
                    </a:cubicBezTo>
                    <a:lnTo>
                      <a:pt x="128309" y="148432"/>
                    </a:lnTo>
                    <a:lnTo>
                      <a:pt x="47347" y="148432"/>
                    </a:lnTo>
                    <a:cubicBezTo>
                      <a:pt x="44427" y="148432"/>
                      <a:pt x="41586" y="147485"/>
                      <a:pt x="39250" y="145733"/>
                    </a:cubicBezTo>
                    <a:cubicBezTo>
                      <a:pt x="11371" y="124824"/>
                      <a:pt x="0" y="88421"/>
                      <a:pt x="11020" y="55360"/>
                    </a:cubicBezTo>
                    <a:cubicBezTo>
                      <a:pt x="22040" y="22300"/>
                      <a:pt x="52979" y="0"/>
                      <a:pt x="87828" y="0"/>
                    </a:cubicBezTo>
                    <a:close/>
                  </a:path>
                </a:pathLst>
              </a:custGeom>
              <a:solidFill>
                <a:schemeClr val="accent2"/>
              </a:solidFill>
              <a:ln>
                <a:noFill/>
              </a:ln>
            </p:spPr>
          </p:sp>
        </p:grpSp>
        <p:sp>
          <p:nvSpPr>
            <p:cNvPr id="36" name="TextBox 36"/>
            <p:cNvSpPr txBox="1"/>
            <p:nvPr/>
          </p:nvSpPr>
          <p:spPr>
            <a:xfrm>
              <a:off x="6902958" y="2103120"/>
              <a:ext cx="333999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j-lt"/>
                  <a:ea typeface="+mj-ea"/>
                  <a:cs typeface="+mj-cs"/>
                </a:rPr>
                <a:t>［AIが追加したモジュール］</a:t>
              </a:r>
            </a:p>
          </p:txBody>
        </p:sp>
        <p:sp>
          <p:nvSpPr>
            <p:cNvPr id="37" name="TextBox 37"/>
            <p:cNvSpPr txBox="1"/>
            <p:nvPr/>
          </p:nvSpPr>
          <p:spPr>
            <a:xfrm>
              <a:off x="6467856" y="2606040"/>
              <a:ext cx="257860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 が新しい標準モジュールを返した</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ときに使います。</a:t>
              </a:r>
            </a:p>
          </p:txBody>
        </p:sp>
        <p:sp>
          <p:nvSpPr>
            <p:cNvPr id="38" name="Ellipse 38"/>
            <p:cNvSpPr/>
            <p:nvPr/>
          </p:nvSpPr>
          <p:spPr>
            <a:xfrm>
              <a:off x="6505575" y="3438525"/>
              <a:ext cx="285750" cy="285750"/>
            </a:xfrm>
            <a:prstGeom prst="ellipse">
              <a:avLst/>
            </a:prstGeom>
            <a:solidFill>
              <a:schemeClr val="accent2"/>
            </a:solidFill>
            <a:ln>
              <a:noFill/>
            </a:ln>
          </p:spPr>
        </p:sp>
        <p:sp>
          <p:nvSpPr>
            <p:cNvPr id="39" name="TextBox 39"/>
            <p:cNvSpPr txBox="1"/>
            <p:nvPr/>
          </p:nvSpPr>
          <p:spPr>
            <a:xfrm>
              <a:off x="6595708" y="35090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j-lt"/>
                  <a:ea typeface="+mj-ea"/>
                  <a:cs typeface="+mj-cs"/>
                </a:rPr>
                <a:t>1</a:t>
              </a:r>
            </a:p>
          </p:txBody>
        </p:sp>
        <p:sp>
          <p:nvSpPr>
            <p:cNvPr id="40" name="TextBox 40"/>
            <p:cNvSpPr txBox="1"/>
            <p:nvPr/>
          </p:nvSpPr>
          <p:spPr>
            <a:xfrm>
              <a:off x="6906006" y="3463290"/>
              <a:ext cx="226999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左の一覧の下にあるボタンを押します（取り込みの画面で</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のみ押せます）。</a:t>
              </a:r>
            </a:p>
          </p:txBody>
        </p:sp>
        <p:sp>
          <p:nvSpPr>
            <p:cNvPr id="41" name="Ellipse 41"/>
            <p:cNvSpPr/>
            <p:nvPr/>
          </p:nvSpPr>
          <p:spPr>
            <a:xfrm>
              <a:off x="6505575" y="4486275"/>
              <a:ext cx="285750" cy="285750"/>
            </a:xfrm>
            <a:prstGeom prst="ellipse">
              <a:avLst/>
            </a:prstGeom>
            <a:solidFill>
              <a:schemeClr val="accent2"/>
            </a:solidFill>
            <a:ln>
              <a:noFill/>
            </a:ln>
          </p:spPr>
        </p:sp>
        <p:sp>
          <p:nvSpPr>
            <p:cNvPr id="42" name="TextBox 42"/>
            <p:cNvSpPr txBox="1"/>
            <p:nvPr/>
          </p:nvSpPr>
          <p:spPr>
            <a:xfrm>
              <a:off x="6595708" y="45567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j-lt"/>
                  <a:ea typeface="+mj-ea"/>
                  <a:cs typeface="+mj-cs"/>
                </a:rPr>
                <a:t>2</a:t>
              </a:r>
            </a:p>
          </p:txBody>
        </p:sp>
        <p:sp>
          <p:nvSpPr>
            <p:cNvPr id="43" name="TextBox 43"/>
            <p:cNvSpPr txBox="1"/>
            <p:nvPr/>
          </p:nvSpPr>
          <p:spPr>
            <a:xfrm>
              <a:off x="6906006" y="4511040"/>
              <a:ext cx="198424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返答のコードブロックをコピー</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しておきます。</a:t>
              </a:r>
            </a:p>
          </p:txBody>
        </p:sp>
        <p:sp>
          <p:nvSpPr>
            <p:cNvPr id="44" name="Ellipse 44"/>
            <p:cNvSpPr/>
            <p:nvPr/>
          </p:nvSpPr>
          <p:spPr>
            <a:xfrm>
              <a:off x="6505575" y="5038725"/>
              <a:ext cx="285750" cy="285750"/>
            </a:xfrm>
            <a:prstGeom prst="ellipse">
              <a:avLst/>
            </a:prstGeom>
            <a:solidFill>
              <a:schemeClr val="accent2"/>
            </a:solidFill>
            <a:ln>
              <a:noFill/>
            </a:ln>
          </p:spPr>
        </p:sp>
        <p:sp>
          <p:nvSpPr>
            <p:cNvPr id="45" name="TextBox 45"/>
            <p:cNvSpPr txBox="1"/>
            <p:nvPr/>
          </p:nvSpPr>
          <p:spPr>
            <a:xfrm>
              <a:off x="6595708" y="51092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j-lt"/>
                  <a:ea typeface="+mj-ea"/>
                  <a:cs typeface="+mj-cs"/>
                </a:rPr>
                <a:t>3</a:t>
              </a:r>
            </a:p>
          </p:txBody>
        </p:sp>
        <p:sp>
          <p:nvSpPr>
            <p:cNvPr id="46" name="TextBox 46"/>
            <p:cNvSpPr txBox="1"/>
            <p:nvPr/>
          </p:nvSpPr>
          <p:spPr>
            <a:xfrm>
              <a:off x="6906006" y="5063490"/>
              <a:ext cx="287578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モジュール名を入力して［新規モジュールとして取り込む］。</a:t>
              </a:r>
            </a:p>
          </p:txBody>
        </p:sp>
      </p:grpSp>
      <p:grpSp>
        <p:nvGrpSpPr>
          <p:cNvPr id="50" name="Group 50"/>
          <p:cNvGrpSpPr/>
          <p:nvPr/>
        </p:nvGrpSpPr>
        <p:grpSpPr>
          <a:xfrm>
            <a:off x="381000" y="5848350"/>
            <a:ext cx="11430000" cy="443484"/>
            <a:chOff x="381000" y="5848350"/>
            <a:chExt cx="11430000" cy="443484"/>
          </a:xfrm>
        </p:grpSpPr>
        <p:sp>
          <p:nvSpPr>
            <p:cNvPr id="48" name="Rectangle 48"/>
            <p:cNvSpPr/>
            <p:nvPr/>
          </p:nvSpPr>
          <p:spPr>
            <a:xfrm>
              <a:off x="381000" y="5848350"/>
              <a:ext cx="11430000" cy="419100"/>
            </a:xfrm>
            <a:prstGeom prst="roundRect">
              <a:avLst>
                <a:gd name="adj" fmla="val 31818"/>
              </a:avLst>
            </a:prstGeom>
            <a:solidFill>
              <a:schemeClr val="lt1"/>
            </a:solidFill>
            <a:ln w="19050">
              <a:solidFill>
                <a:schemeClr val="accent3"/>
              </a:solidFill>
            </a:ln>
          </p:spPr>
        </p:sp>
        <p:sp>
          <p:nvSpPr>
            <p:cNvPr id="49" name="TextBox 49"/>
            <p:cNvSpPr txBox="1"/>
            <p:nvPr/>
          </p:nvSpPr>
          <p:spPr>
            <a:xfrm>
              <a:off x="638556" y="5939790"/>
              <a:ext cx="665774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追加できるのは標準モジュールだけです。モジュールの削除と名前の変更はできません。</a:t>
              </a:r>
            </a:p>
          </p:txBody>
        </p:sp>
      </p:grpSp>
      <p:grpSp>
        <p:nvGrpSpPr>
          <p:cNvPr id="53" name="Group 53"/>
          <p:cNvGrpSpPr/>
          <p:nvPr/>
        </p:nvGrpSpPr>
        <p:grpSpPr>
          <a:xfrm>
            <a:off x="374904" y="6461760"/>
            <a:ext cx="11442192" cy="234696"/>
            <a:chOff x="374904" y="6461760"/>
            <a:chExt cx="11442192" cy="234696"/>
          </a:xfrm>
        </p:grpSpPr>
        <p:sp>
          <p:nvSpPr>
            <p:cNvPr id="51" name="TextBox 51"/>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52" name="TextBox 52"/>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3 · 3/3</a:t>
              </a:r>
            </a:p>
          </p:txBody>
        </p:sp>
        <p:sp>
          <p:nvSpPr>
            <p:cNvPr id="4" name="TextBox 4"/>
            <p:cNvSpPr txBox="1"/>
            <p:nvPr/>
          </p:nvSpPr>
          <p:spPr>
            <a:xfrm>
              <a:off x="1946148" y="479108"/>
              <a:ext cx="417288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採用した変更を確認します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8" name="Group 18"/>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5"/>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chemeClr val="accent6"/>
              </a:solidFill>
            </a:ln>
          </p:spPr>
        </p:sp>
        <p:sp>
          <p:nvSpPr>
            <p:cNvPr id="10" name="Ellipse 10"/>
            <p:cNvSpPr/>
            <p:nvPr/>
          </p:nvSpPr>
          <p:spPr>
            <a:xfrm>
              <a:off x="1447800" y="2809875"/>
              <a:ext cx="323850" cy="323850"/>
            </a:xfrm>
            <a:prstGeom prst="ellipse">
              <a:avLst/>
            </a:prstGeom>
            <a:solidFill>
              <a:schemeClr val="accent1"/>
            </a:solidFill>
            <a:ln w="28575">
              <a:solidFill>
                <a:srgbClr val="FFFFFF"/>
              </a:solidFill>
            </a:ln>
          </p:spPr>
        </p:sp>
        <p:sp>
          <p:nvSpPr>
            <p:cNvPr id="11" name="TextBox 11"/>
            <p:cNvSpPr txBox="1"/>
            <p:nvPr/>
          </p:nvSpPr>
          <p:spPr>
            <a:xfrm>
              <a:off x="1550390" y="28927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2" name="Ellipse 12"/>
            <p:cNvSpPr/>
            <p:nvPr/>
          </p:nvSpPr>
          <p:spPr>
            <a:xfrm>
              <a:off x="2762250" y="2809875"/>
              <a:ext cx="323850" cy="323850"/>
            </a:xfrm>
            <a:prstGeom prst="ellipse">
              <a:avLst/>
            </a:prstGeom>
            <a:solidFill>
              <a:schemeClr val="accent1"/>
            </a:solidFill>
            <a:ln w="28575">
              <a:solidFill>
                <a:srgbClr val="FFFFFF"/>
              </a:solidFill>
            </a:ln>
          </p:spPr>
        </p:sp>
        <p:sp>
          <p:nvSpPr>
            <p:cNvPr id="13" name="TextBox 13"/>
            <p:cNvSpPr txBox="1"/>
            <p:nvPr/>
          </p:nvSpPr>
          <p:spPr>
            <a:xfrm>
              <a:off x="2864840" y="28927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14" name="Ellipse 14"/>
            <p:cNvSpPr/>
            <p:nvPr/>
          </p:nvSpPr>
          <p:spPr>
            <a:xfrm>
              <a:off x="4076700" y="2809875"/>
              <a:ext cx="323850" cy="323850"/>
            </a:xfrm>
            <a:prstGeom prst="ellipse">
              <a:avLst/>
            </a:prstGeom>
            <a:solidFill>
              <a:schemeClr val="accent1"/>
            </a:solidFill>
            <a:ln w="28575">
              <a:solidFill>
                <a:srgbClr val="FFFFFF"/>
              </a:solidFill>
            </a:ln>
          </p:spPr>
        </p:sp>
        <p:sp>
          <p:nvSpPr>
            <p:cNvPr id="15" name="TextBox 15"/>
            <p:cNvSpPr txBox="1"/>
            <p:nvPr/>
          </p:nvSpPr>
          <p:spPr>
            <a:xfrm>
              <a:off x="4179290" y="28927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16" name="Ellipse 16"/>
            <p:cNvSpPr/>
            <p:nvPr/>
          </p:nvSpPr>
          <p:spPr>
            <a:xfrm>
              <a:off x="5391150" y="2809875"/>
              <a:ext cx="323850" cy="323850"/>
            </a:xfrm>
            <a:prstGeom prst="ellipse">
              <a:avLst/>
            </a:prstGeom>
            <a:solidFill>
              <a:schemeClr val="accent1"/>
            </a:solidFill>
            <a:ln w="28575">
              <a:solidFill>
                <a:srgbClr val="FFFFFF"/>
              </a:solidFill>
            </a:ln>
          </p:spPr>
        </p:sp>
        <p:sp>
          <p:nvSpPr>
            <p:cNvPr id="17" name="TextBox 17"/>
            <p:cNvSpPr txBox="1"/>
            <p:nvPr/>
          </p:nvSpPr>
          <p:spPr>
            <a:xfrm>
              <a:off x="5493740" y="28927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4</a:t>
              </a:r>
            </a:p>
          </p:txBody>
        </p:sp>
      </p:grpSp>
      <p:grpSp>
        <p:nvGrpSpPr>
          <p:cNvPr id="21" name="Group 21"/>
          <p:cNvGrpSpPr/>
          <p:nvPr/>
        </p:nvGrpSpPr>
        <p:grpSpPr>
          <a:xfrm>
            <a:off x="342900" y="5238750"/>
            <a:ext cx="6477000" cy="971550"/>
            <a:chOff x="342900" y="5238750"/>
            <a:chExt cx="6477000" cy="971550"/>
          </a:xfrm>
        </p:grpSpPr>
        <p:sp>
          <p:nvSpPr>
            <p:cNvPr id="19" name="Rectangle 19"/>
            <p:cNvSpPr/>
            <p:nvPr/>
          </p:nvSpPr>
          <p:spPr>
            <a:xfrm>
              <a:off x="342900" y="5238750"/>
              <a:ext cx="6477000" cy="971550"/>
            </a:xfrm>
            <a:prstGeom prst="roundRect">
              <a:avLst>
                <a:gd name="adj" fmla="val 13725"/>
              </a:avLst>
            </a:prstGeom>
            <a:solidFill>
              <a:schemeClr val="lt2"/>
            </a:solidFill>
            <a:ln>
              <a:noFill/>
            </a:ln>
          </p:spPr>
        </p:sp>
        <p:sp>
          <p:nvSpPr>
            <p:cNvPr id="20" name="TextBox 20"/>
            <p:cNvSpPr txBox="1"/>
            <p:nvPr/>
          </p:nvSpPr>
          <p:spPr>
            <a:xfrm>
              <a:off x="619506" y="5463540"/>
              <a:ext cx="30700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まだ取り込むものがあれば［別のモジュールを取り込む］で戻れます。</a:t>
              </a:r>
            </a:p>
          </p:txBody>
        </p:sp>
      </p:grpSp>
      <p:grpSp>
        <p:nvGrpSpPr>
          <p:cNvPr id="39" name="Group 39"/>
          <p:cNvGrpSpPr/>
          <p:nvPr/>
        </p:nvGrpSpPr>
        <p:grpSpPr>
          <a:xfrm>
            <a:off x="7003542" y="1476375"/>
            <a:ext cx="3130067" cy="4623626"/>
            <a:chOff x="7003542" y="1476375"/>
            <a:chExt cx="3130067" cy="4623626"/>
          </a:xfrm>
        </p:grpSpPr>
        <p:sp>
          <p:nvSpPr>
            <p:cNvPr id="22" name="Ellipse 22"/>
            <p:cNvSpPr/>
            <p:nvPr/>
          </p:nvSpPr>
          <p:spPr>
            <a:xfrm>
              <a:off x="7077075" y="1476375"/>
              <a:ext cx="323850" cy="323850"/>
            </a:xfrm>
            <a:prstGeom prst="ellipse">
              <a:avLst/>
            </a:prstGeom>
            <a:solidFill>
              <a:schemeClr val="accent2"/>
            </a:solidFill>
            <a:ln>
              <a:noFill/>
            </a:ln>
          </p:spPr>
        </p:sp>
        <p:sp>
          <p:nvSpPr>
            <p:cNvPr id="23" name="TextBox 23"/>
            <p:cNvSpPr txBox="1"/>
            <p:nvPr/>
          </p:nvSpPr>
          <p:spPr>
            <a:xfrm>
              <a:off x="7179665" y="15592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24" name="TextBox 24"/>
            <p:cNvSpPr txBox="1"/>
            <p:nvPr/>
          </p:nvSpPr>
          <p:spPr>
            <a:xfrm>
              <a:off x="7534656" y="1520190"/>
              <a:ext cx="807027"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書き戻し</a:t>
              </a:r>
            </a:p>
          </p:txBody>
        </p:sp>
        <p:sp>
          <p:nvSpPr>
            <p:cNvPr id="25" name="TextBox 25"/>
            <p:cNvSpPr txBox="1"/>
            <p:nvPr/>
          </p:nvSpPr>
          <p:spPr>
            <a:xfrm>
              <a:off x="7534656" y="1863090"/>
              <a:ext cx="221284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採用したモジュールの数。これがビルドで書き込まれます。</a:t>
              </a:r>
            </a:p>
          </p:txBody>
        </p:sp>
        <p:sp>
          <p:nvSpPr>
            <p:cNvPr id="26" name="Ellipse 26"/>
            <p:cNvSpPr/>
            <p:nvPr/>
          </p:nvSpPr>
          <p:spPr>
            <a:xfrm>
              <a:off x="7077075" y="2695575"/>
              <a:ext cx="323850" cy="323850"/>
            </a:xfrm>
            <a:prstGeom prst="ellipse">
              <a:avLst/>
            </a:prstGeom>
            <a:solidFill>
              <a:schemeClr val="accent1"/>
            </a:solidFill>
            <a:ln>
              <a:noFill/>
            </a:ln>
          </p:spPr>
        </p:sp>
        <p:sp>
          <p:nvSpPr>
            <p:cNvPr id="27" name="TextBox 27"/>
            <p:cNvSpPr txBox="1"/>
            <p:nvPr/>
          </p:nvSpPr>
          <p:spPr>
            <a:xfrm>
              <a:off x="7179665" y="27784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8" name="TextBox 28"/>
            <p:cNvSpPr txBox="1"/>
            <p:nvPr/>
          </p:nvSpPr>
          <p:spPr>
            <a:xfrm>
              <a:off x="7534656" y="2739390"/>
              <a:ext cx="80702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変更なし</a:t>
              </a:r>
            </a:p>
          </p:txBody>
        </p:sp>
        <p:sp>
          <p:nvSpPr>
            <p:cNvPr id="29" name="TextBox 29"/>
            <p:cNvSpPr txBox="1"/>
            <p:nvPr/>
          </p:nvSpPr>
          <p:spPr>
            <a:xfrm>
              <a:off x="7534656" y="3082290"/>
              <a:ext cx="239572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元と同じだった、または対象外にしたモジュール。</a:t>
              </a:r>
            </a:p>
          </p:txBody>
        </p:sp>
        <p:sp>
          <p:nvSpPr>
            <p:cNvPr id="30" name="Ellipse 30"/>
            <p:cNvSpPr/>
            <p:nvPr/>
          </p:nvSpPr>
          <p:spPr>
            <a:xfrm>
              <a:off x="7077075" y="3914775"/>
              <a:ext cx="323850" cy="323850"/>
            </a:xfrm>
            <a:prstGeom prst="ellipse">
              <a:avLst/>
            </a:prstGeom>
            <a:solidFill>
              <a:schemeClr val="accent1"/>
            </a:solidFill>
            <a:ln>
              <a:noFill/>
            </a:ln>
          </p:spPr>
        </p:sp>
        <p:sp>
          <p:nvSpPr>
            <p:cNvPr id="31" name="TextBox 31"/>
            <p:cNvSpPr txBox="1"/>
            <p:nvPr/>
          </p:nvSpPr>
          <p:spPr>
            <a:xfrm>
              <a:off x="7179665" y="39976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32" name="TextBox 32"/>
            <p:cNvSpPr txBox="1"/>
            <p:nvPr/>
          </p:nvSpPr>
          <p:spPr>
            <a:xfrm>
              <a:off x="7534656" y="3958590"/>
              <a:ext cx="78158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未処理</a:t>
              </a:r>
            </a:p>
          </p:txBody>
        </p:sp>
        <p:sp>
          <p:nvSpPr>
            <p:cNvPr id="33" name="TextBox 33"/>
            <p:cNvSpPr txBox="1"/>
            <p:nvPr/>
          </p:nvSpPr>
          <p:spPr>
            <a:xfrm>
              <a:off x="7534656" y="4301490"/>
              <a:ext cx="210220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まだ決めていないモジュール。</a:t>
              </a:r>
            </a:p>
          </p:txBody>
        </p:sp>
        <p:sp>
          <p:nvSpPr>
            <p:cNvPr id="34" name="Ellipse 34"/>
            <p:cNvSpPr/>
            <p:nvPr/>
          </p:nvSpPr>
          <p:spPr>
            <a:xfrm>
              <a:off x="7077075" y="4810125"/>
              <a:ext cx="323850" cy="323850"/>
            </a:xfrm>
            <a:prstGeom prst="ellipse">
              <a:avLst/>
            </a:prstGeom>
            <a:solidFill>
              <a:schemeClr val="accent1"/>
            </a:solidFill>
            <a:ln>
              <a:noFill/>
            </a:ln>
          </p:spPr>
        </p:sp>
        <p:sp>
          <p:nvSpPr>
            <p:cNvPr id="35" name="TextBox 35"/>
            <p:cNvSpPr txBox="1"/>
            <p:nvPr/>
          </p:nvSpPr>
          <p:spPr>
            <a:xfrm>
              <a:off x="7179665" y="48929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4</a:t>
              </a:r>
            </a:p>
          </p:txBody>
        </p:sp>
        <p:sp>
          <p:nvSpPr>
            <p:cNvPr id="36" name="TextBox 36"/>
            <p:cNvSpPr txBox="1"/>
            <p:nvPr/>
          </p:nvSpPr>
          <p:spPr>
            <a:xfrm>
              <a:off x="7534656" y="4853940"/>
              <a:ext cx="117595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追加・削除</a:t>
              </a:r>
            </a:p>
          </p:txBody>
        </p:sp>
        <p:sp>
          <p:nvSpPr>
            <p:cNvPr id="37" name="TextBox 37"/>
            <p:cNvSpPr txBox="1"/>
            <p:nvPr/>
          </p:nvSpPr>
          <p:spPr>
            <a:xfrm>
              <a:off x="7534656" y="5196840"/>
              <a:ext cx="259895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採用した変更の合計行数。</a:t>
              </a:r>
            </a:p>
          </p:txBody>
        </p:sp>
        <p:sp>
          <p:nvSpPr>
            <p:cNvPr id="38" name="TextBox 38"/>
            <p:cNvSpPr txBox="1"/>
            <p:nvPr/>
          </p:nvSpPr>
          <p:spPr>
            <a:xfrm>
              <a:off x="7003542" y="5835968"/>
              <a:ext cx="2985116"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1 件以上採用していれば［次へ］が押せます。</a:t>
              </a:r>
            </a:p>
          </p:txBody>
        </p:sp>
      </p:grpSp>
      <p:grpSp>
        <p:nvGrpSpPr>
          <p:cNvPr id="42" name="Group 42"/>
          <p:cNvGrpSpPr/>
          <p:nvPr/>
        </p:nvGrpSpPr>
        <p:grpSpPr>
          <a:xfrm>
            <a:off x="374904" y="6461760"/>
            <a:ext cx="11442192" cy="234696"/>
            <a:chOff x="374904" y="6461760"/>
            <a:chExt cx="11442192" cy="234696"/>
          </a:xfrm>
        </p:grpSpPr>
        <p:sp>
          <p:nvSpPr>
            <p:cNvPr id="40" name="TextBox 40"/>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41" name="TextBox 41"/>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434962" y="568642"/>
              <a:ext cx="130177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4 · 1-2/3</a:t>
              </a:r>
            </a:p>
          </p:txBody>
        </p:sp>
        <p:sp>
          <p:nvSpPr>
            <p:cNvPr id="4" name="TextBox 4"/>
            <p:cNvSpPr txBox="1"/>
            <p:nvPr/>
          </p:nvSpPr>
          <p:spPr>
            <a:xfrm>
              <a:off x="1946148" y="479108"/>
              <a:ext cx="490755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出力名を確認して、ビルドします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0" name="Group 10"/>
          <p:cNvGrpSpPr/>
          <p:nvPr/>
        </p:nvGrpSpPr>
        <p:grpSpPr>
          <a:xfrm>
            <a:off x="371856" y="1386840"/>
            <a:ext cx="5152644" cy="3223260"/>
            <a:chOff x="371856" y="1386840"/>
            <a:chExt cx="5152644" cy="3223260"/>
          </a:xfrm>
        </p:grpSpPr>
        <p:sp>
          <p:nvSpPr>
            <p:cNvPr id="7" name="TextBox 7"/>
            <p:cNvSpPr txBox="1"/>
            <p:nvPr/>
          </p:nvSpPr>
          <p:spPr>
            <a:xfrm>
              <a:off x="371856" y="1386840"/>
              <a:ext cx="2270009" cy="352044"/>
            </a:xfrm>
            <a:prstGeom prst="rect">
              <a:avLst/>
            </a:prstGeom>
            <a:noFill/>
            <a:ln>
              <a:noFill/>
            </a:ln>
          </p:spPr>
          <p:txBody>
            <a:bodyPr wrap="none" lIns="0" tIns="0" rIns="0" bIns="0" anchor="t" anchorCtr="0">
              <a:spAutoFit/>
            </a:bodyPr>
            <a:lstStyle/>
            <a:p>
              <a:pPr algn="l"/>
              <a:r>
                <a:rPr lang="zh-CN" sz="1800" b="1" dirty="0">
                  <a:solidFill>
                    <a:srgbClr val="5D6B7A"/>
                  </a:solidFill>
                  <a:latin typeface="+mj-lt"/>
                  <a:ea typeface="+mj-ea"/>
                  <a:cs typeface="+mj-cs"/>
                </a:rPr>
                <a:t>出力ファイル名を確認する</a:t>
              </a:r>
            </a:p>
          </p:txBody>
        </p:sp>
        <p:pic>
          <p:nvPicPr>
            <p:cNvPr id="8" name="Image 8"/>
            <p:cNvPicPr>
              <a:picLocks noChangeAspect="1"/>
            </p:cNvPicPr>
            <p:nvPr/>
          </p:nvPicPr>
          <p:blipFill>
            <a:blip r:embed="rId2"/>
            <a:stretch>
              <a:fillRect/>
            </a:stretch>
          </p:blipFill>
          <p:spPr>
            <a:xfrm>
              <a:off x="381000" y="1714500"/>
              <a:ext cx="5143500" cy="2895600"/>
            </a:xfrm>
            <a:prstGeom prst="roundRect">
              <a:avLst>
                <a:gd name="adj" fmla="val 3289"/>
              </a:avLst>
            </a:prstGeom>
          </p:spPr>
        </p:pic>
        <p:sp>
          <p:nvSpPr>
            <p:cNvPr id="9" name="Rectangle 9"/>
            <p:cNvSpPr/>
            <p:nvPr/>
          </p:nvSpPr>
          <p:spPr>
            <a:xfrm>
              <a:off x="381000" y="1714500"/>
              <a:ext cx="5143500" cy="2895600"/>
            </a:xfrm>
            <a:prstGeom prst="roundRect">
              <a:avLst>
                <a:gd name="adj" fmla="val 3289"/>
              </a:avLst>
            </a:prstGeom>
            <a:noFill/>
            <a:ln w="9525">
              <a:solidFill>
                <a:schemeClr val="accent6"/>
              </a:solidFill>
            </a:ln>
          </p:spPr>
        </p:sp>
      </p:grpSp>
      <p:grpSp>
        <p:nvGrpSpPr>
          <p:cNvPr id="12" name="Group 12"/>
          <p:cNvGrpSpPr/>
          <p:nvPr/>
        </p:nvGrpSpPr>
        <p:grpSpPr>
          <a:xfrm>
            <a:off x="5715000" y="2895600"/>
            <a:ext cx="762000" cy="533400"/>
            <a:chOff x="5715000" y="2895600"/>
            <a:chExt cx="762000" cy="533400"/>
          </a:xfrm>
        </p:grpSpPr>
        <p:sp>
          <p:nvSpPr>
            <p:cNvPr id="11" name="Freeform 11"/>
            <p:cNvSpPr/>
            <p:nvPr/>
          </p:nvSpPr>
          <p:spPr>
            <a:xfrm>
              <a:off x="5715000" y="2895600"/>
              <a:ext cx="762000" cy="533400"/>
            </a:xfrm>
            <a:prstGeom prst="rightArrow">
              <a:avLst/>
            </a:prstGeom>
            <a:solidFill>
              <a:schemeClr val="accent1"/>
            </a:solidFill>
            <a:ln>
              <a:noFill/>
            </a:ln>
          </p:spPr>
        </p:sp>
      </p:grpSp>
      <p:grpSp>
        <p:nvGrpSpPr>
          <p:cNvPr id="16" name="Group 16"/>
          <p:cNvGrpSpPr/>
          <p:nvPr/>
        </p:nvGrpSpPr>
        <p:grpSpPr>
          <a:xfrm>
            <a:off x="6658356" y="1386840"/>
            <a:ext cx="5152644" cy="3223260"/>
            <a:chOff x="6658356" y="1386840"/>
            <a:chExt cx="5152644" cy="3223260"/>
          </a:xfrm>
        </p:grpSpPr>
        <p:sp>
          <p:nvSpPr>
            <p:cNvPr id="13" name="TextBox 13"/>
            <p:cNvSpPr txBox="1"/>
            <p:nvPr/>
          </p:nvSpPr>
          <p:spPr>
            <a:xfrm>
              <a:off x="6658356" y="1386840"/>
              <a:ext cx="21555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［次へ］でビルドが始まる</a:t>
              </a:r>
            </a:p>
          </p:txBody>
        </p:sp>
        <p:pic>
          <p:nvPicPr>
            <p:cNvPr id="14" name="Image 14"/>
            <p:cNvPicPr>
              <a:picLocks noChangeAspect="1"/>
            </p:cNvPicPr>
            <p:nvPr/>
          </p:nvPicPr>
          <p:blipFill>
            <a:blip r:embed="rId3"/>
            <a:stretch>
              <a:fillRect/>
            </a:stretch>
          </p:blipFill>
          <p:spPr>
            <a:xfrm>
              <a:off x="6667500" y="1714500"/>
              <a:ext cx="5143500" cy="2895600"/>
            </a:xfrm>
            <a:prstGeom prst="roundRect">
              <a:avLst>
                <a:gd name="adj" fmla="val 3289"/>
              </a:avLst>
            </a:prstGeom>
          </p:spPr>
        </p:pic>
        <p:sp>
          <p:nvSpPr>
            <p:cNvPr id="15" name="Rectangle 15"/>
            <p:cNvSpPr/>
            <p:nvPr/>
          </p:nvSpPr>
          <p:spPr>
            <a:xfrm>
              <a:off x="6667500" y="1714500"/>
              <a:ext cx="5143500" cy="2895600"/>
            </a:xfrm>
            <a:prstGeom prst="roundRect">
              <a:avLst>
                <a:gd name="adj" fmla="val 3289"/>
              </a:avLst>
            </a:prstGeom>
            <a:noFill/>
            <a:ln w="9525">
              <a:solidFill>
                <a:schemeClr val="accent6"/>
              </a:solidFill>
            </a:ln>
          </p:spPr>
        </p:sp>
      </p:grpSp>
      <p:grpSp>
        <p:nvGrpSpPr>
          <p:cNvPr id="20" name="Group 20"/>
          <p:cNvGrpSpPr/>
          <p:nvPr/>
        </p:nvGrpSpPr>
        <p:grpSpPr>
          <a:xfrm>
            <a:off x="381000" y="4800600"/>
            <a:ext cx="5600700" cy="1529334"/>
            <a:chOff x="381000" y="4800600"/>
            <a:chExt cx="5600700" cy="1529334"/>
          </a:xfrm>
        </p:grpSpPr>
        <p:sp>
          <p:nvSpPr>
            <p:cNvPr id="17" name="Rectangle 17"/>
            <p:cNvSpPr/>
            <p:nvPr/>
          </p:nvSpPr>
          <p:spPr>
            <a:xfrm>
              <a:off x="381000" y="4800600"/>
              <a:ext cx="5600700" cy="1409700"/>
            </a:xfrm>
            <a:prstGeom prst="roundRect">
              <a:avLst>
                <a:gd name="adj" fmla="val 10811"/>
              </a:avLst>
            </a:prstGeom>
            <a:solidFill>
              <a:schemeClr val="lt2"/>
            </a:solidFill>
            <a:ln>
              <a:noFill/>
            </a:ln>
          </p:spPr>
        </p:sp>
        <p:sp>
          <p:nvSpPr>
            <p:cNvPr id="18" name="TextBox 18"/>
            <p:cNvSpPr txBox="1"/>
            <p:nvPr/>
          </p:nvSpPr>
          <p:spPr>
            <a:xfrm>
              <a:off x="638556" y="4949190"/>
              <a:ext cx="145582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出力名の決まり</a:t>
              </a:r>
            </a:p>
          </p:txBody>
        </p:sp>
        <p:sp>
          <p:nvSpPr>
            <p:cNvPr id="19" name="TextBox 19"/>
            <p:cNvSpPr txBox="1"/>
            <p:nvPr/>
          </p:nvSpPr>
          <p:spPr>
            <a:xfrm>
              <a:off x="638556" y="5330190"/>
              <a:ext cx="397306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既定は「元のブック名 + _macrodesk + 元の拡張子」。変えてもかまいませんが、拡張子は元のままにします。</a:t>
              </a:r>
            </a:p>
          </p:txBody>
        </p:sp>
      </p:grpSp>
      <p:grpSp>
        <p:nvGrpSpPr>
          <p:cNvPr id="25" name="Group 25"/>
          <p:cNvGrpSpPr/>
          <p:nvPr/>
        </p:nvGrpSpPr>
        <p:grpSpPr>
          <a:xfrm>
            <a:off x="6210300" y="4800600"/>
            <a:ext cx="5600700" cy="1409700"/>
            <a:chOff x="6210300" y="4800600"/>
            <a:chExt cx="5600700" cy="1409700"/>
          </a:xfrm>
        </p:grpSpPr>
        <p:sp>
          <p:nvSpPr>
            <p:cNvPr id="21" name="Rectangle 21"/>
            <p:cNvSpPr/>
            <p:nvPr/>
          </p:nvSpPr>
          <p:spPr>
            <a:xfrm>
              <a:off x="6210300" y="4800600"/>
              <a:ext cx="5600700" cy="1409700"/>
            </a:xfrm>
            <a:prstGeom prst="roundRect">
              <a:avLst>
                <a:gd name="adj" fmla="val 10811"/>
              </a:avLst>
            </a:prstGeom>
            <a:solidFill>
              <a:schemeClr val="lt1"/>
            </a:solidFill>
            <a:ln w="19050">
              <a:solidFill>
                <a:schemeClr val="accent2"/>
              </a:solidFill>
            </a:ln>
          </p:spPr>
        </p:sp>
        <p:sp>
          <p:nvSpPr>
            <p:cNvPr id="22" name="Freeform 22"/>
            <p:cNvSpPr/>
            <p:nvPr/>
          </p:nvSpPr>
          <p:spPr>
            <a:xfrm>
              <a:off x="6499225" y="498929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2"/>
            </a:solidFill>
            <a:ln>
              <a:noFill/>
            </a:ln>
          </p:spPr>
        </p:sp>
        <p:sp>
          <p:nvSpPr>
            <p:cNvPr id="23" name="TextBox 23"/>
            <p:cNvSpPr txBox="1"/>
            <p:nvPr/>
          </p:nvSpPr>
          <p:spPr>
            <a:xfrm>
              <a:off x="6829806" y="4987290"/>
              <a:ext cx="242266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j-lt"/>
                  <a:ea typeface="+mj-ea"/>
                  <a:cs typeface="+mj-cs"/>
                </a:rPr>
                <a:t>通常 1〜2 秒で終わります</a:t>
              </a:r>
            </a:p>
          </p:txBody>
        </p:sp>
        <p:sp>
          <p:nvSpPr>
            <p:cNvPr id="24" name="TextBox 24"/>
            <p:cNvSpPr txBox="1"/>
            <p:nvPr/>
          </p:nvSpPr>
          <p:spPr>
            <a:xfrm>
              <a:off x="6467856" y="5387340"/>
              <a:ext cx="371017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書き戻したあと、ツールが自動でブックを読み直して、意図どおり書き込まれたか検証します。</a:t>
              </a:r>
            </a:p>
          </p:txBody>
        </p:sp>
      </p:grpSp>
      <p:grpSp>
        <p:nvGrpSpPr>
          <p:cNvPr id="28" name="Group 28"/>
          <p:cNvGrpSpPr/>
          <p:nvPr/>
        </p:nvGrpSpPr>
        <p:grpSpPr>
          <a:xfrm>
            <a:off x="374904" y="6461760"/>
            <a:ext cx="11442192" cy="234696"/>
            <a:chOff x="374904" y="6461760"/>
            <a:chExt cx="11442192" cy="234696"/>
          </a:xfrm>
        </p:grpSpPr>
        <p:sp>
          <p:nvSpPr>
            <p:cNvPr id="26" name="TextBox 26"/>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27" name="TextBox 27"/>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手順 4 · 3/3</a:t>
              </a:r>
            </a:p>
          </p:txBody>
        </p:sp>
        <p:sp>
          <p:nvSpPr>
            <p:cNvPr id="4" name="TextBox 4"/>
            <p:cNvSpPr txBox="1"/>
            <p:nvPr/>
          </p:nvSpPr>
          <p:spPr>
            <a:xfrm>
              <a:off x="1946148" y="479108"/>
              <a:ext cx="381667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改修済みブックができました</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16" name="Group 16"/>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5"/>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chemeClr val="accent6"/>
              </a:solidFill>
            </a:ln>
          </p:spPr>
        </p:sp>
        <p:sp>
          <p:nvSpPr>
            <p:cNvPr id="10" name="Ellipse 10"/>
            <p:cNvSpPr/>
            <p:nvPr/>
          </p:nvSpPr>
          <p:spPr>
            <a:xfrm>
              <a:off x="1152525" y="2905125"/>
              <a:ext cx="323850" cy="323850"/>
            </a:xfrm>
            <a:prstGeom prst="ellipse">
              <a:avLst/>
            </a:prstGeom>
            <a:solidFill>
              <a:schemeClr val="accent1"/>
            </a:solidFill>
            <a:ln w="28575">
              <a:solidFill>
                <a:srgbClr val="FFFFFF"/>
              </a:solidFill>
            </a:ln>
          </p:spPr>
        </p:sp>
        <p:sp>
          <p:nvSpPr>
            <p:cNvPr id="11" name="TextBox 11"/>
            <p:cNvSpPr txBox="1"/>
            <p:nvPr/>
          </p:nvSpPr>
          <p:spPr>
            <a:xfrm>
              <a:off x="1255115" y="29879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2" name="Ellipse 12"/>
            <p:cNvSpPr/>
            <p:nvPr/>
          </p:nvSpPr>
          <p:spPr>
            <a:xfrm>
              <a:off x="3419475" y="3152775"/>
              <a:ext cx="323850" cy="323850"/>
            </a:xfrm>
            <a:prstGeom prst="ellipse">
              <a:avLst/>
            </a:prstGeom>
            <a:solidFill>
              <a:schemeClr val="accent1"/>
            </a:solidFill>
            <a:ln w="28575">
              <a:solidFill>
                <a:srgbClr val="FFFFFF"/>
              </a:solidFill>
            </a:ln>
          </p:spPr>
        </p:sp>
        <p:sp>
          <p:nvSpPr>
            <p:cNvPr id="13" name="TextBox 13"/>
            <p:cNvSpPr txBox="1"/>
            <p:nvPr/>
          </p:nvSpPr>
          <p:spPr>
            <a:xfrm>
              <a:off x="3522065" y="32356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14" name="Ellipse 14"/>
            <p:cNvSpPr/>
            <p:nvPr/>
          </p:nvSpPr>
          <p:spPr>
            <a:xfrm>
              <a:off x="1152525" y="3667125"/>
              <a:ext cx="323850" cy="323850"/>
            </a:xfrm>
            <a:prstGeom prst="ellipse">
              <a:avLst/>
            </a:prstGeom>
            <a:solidFill>
              <a:schemeClr val="accent1"/>
            </a:solidFill>
            <a:ln w="28575">
              <a:solidFill>
                <a:srgbClr val="FFFFFF"/>
              </a:solidFill>
            </a:ln>
          </p:spPr>
        </p:sp>
        <p:sp>
          <p:nvSpPr>
            <p:cNvPr id="15" name="TextBox 15"/>
            <p:cNvSpPr txBox="1"/>
            <p:nvPr/>
          </p:nvSpPr>
          <p:spPr>
            <a:xfrm>
              <a:off x="1255115" y="37499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grpSp>
      <p:grpSp>
        <p:nvGrpSpPr>
          <p:cNvPr id="21" name="Group 21"/>
          <p:cNvGrpSpPr/>
          <p:nvPr/>
        </p:nvGrpSpPr>
        <p:grpSpPr>
          <a:xfrm>
            <a:off x="342900" y="5238750"/>
            <a:ext cx="6477000" cy="971550"/>
            <a:chOff x="342900" y="5238750"/>
            <a:chExt cx="6477000" cy="971550"/>
          </a:xfrm>
        </p:grpSpPr>
        <p:sp>
          <p:nvSpPr>
            <p:cNvPr id="17" name="Rectangle 17"/>
            <p:cNvSpPr/>
            <p:nvPr/>
          </p:nvSpPr>
          <p:spPr>
            <a:xfrm>
              <a:off x="342900" y="5238750"/>
              <a:ext cx="6477000" cy="971550"/>
            </a:xfrm>
            <a:prstGeom prst="roundRect">
              <a:avLst>
                <a:gd name="adj" fmla="val 13725"/>
              </a:avLst>
            </a:prstGeom>
            <a:solidFill>
              <a:schemeClr val="lt1"/>
            </a:solidFill>
            <a:ln w="19050">
              <a:solidFill>
                <a:schemeClr val="accent2"/>
              </a:solidFill>
            </a:ln>
          </p:spPr>
        </p:sp>
        <p:sp>
          <p:nvSpPr>
            <p:cNvPr id="18" name="Freeform 18"/>
            <p:cNvSpPr/>
            <p:nvPr/>
          </p:nvSpPr>
          <p:spPr>
            <a:xfrm>
              <a:off x="612775" y="546554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2"/>
            </a:solidFill>
            <a:ln>
              <a:noFill/>
            </a:ln>
          </p:spPr>
        </p:sp>
        <p:sp>
          <p:nvSpPr>
            <p:cNvPr id="19" name="TextBox 19"/>
            <p:cNvSpPr txBox="1"/>
            <p:nvPr/>
          </p:nvSpPr>
          <p:spPr>
            <a:xfrm>
              <a:off x="943356" y="5463540"/>
              <a:ext cx="241129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最後に Excel で開いて、</a:t>
              </a:r>
            </a:p>
          </p:txBody>
        </p:sp>
        <p:sp>
          <p:nvSpPr>
            <p:cNvPr id="20" name="TextBox 20"/>
            <p:cNvSpPr txBox="1"/>
            <p:nvPr/>
          </p:nvSpPr>
          <p:spPr>
            <a:xfrm>
              <a:off x="943356" y="5806440"/>
              <a:ext cx="282975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マクロの動作を確認してください。</a:t>
              </a:r>
            </a:p>
          </p:txBody>
        </p:sp>
      </p:grpSp>
      <p:grpSp>
        <p:nvGrpSpPr>
          <p:cNvPr id="36" name="Group 36"/>
          <p:cNvGrpSpPr/>
          <p:nvPr/>
        </p:nvGrpSpPr>
        <p:grpSpPr>
          <a:xfrm>
            <a:off x="7010400" y="1463040"/>
            <a:ext cx="4800600" cy="3642360"/>
            <a:chOff x="7010400" y="1463040"/>
            <a:chExt cx="4800600" cy="3642360"/>
          </a:xfrm>
        </p:grpSpPr>
        <p:sp>
          <p:nvSpPr>
            <p:cNvPr id="22" name="Freeform 22"/>
            <p:cNvSpPr/>
            <p:nvPr/>
          </p:nvSpPr>
          <p:spPr>
            <a:xfrm>
              <a:off x="7034212" y="1464469"/>
              <a:ext cx="250269" cy="202406"/>
            </a:xfrm>
            <a:custGeom>
              <a:avLst/>
              <a:gdLst/>
              <a:ahLst/>
              <a:cxnLst/>
              <a:rect l="l" t="t" r="r" b="b"/>
              <a:pathLst>
                <a:path w="250269" h="202406">
                  <a:moveTo>
                    <a:pt x="0" y="35719"/>
                  </a:moveTo>
                  <a:cubicBezTo>
                    <a:pt x="0" y="26241"/>
                    <a:pt x="3762" y="17169"/>
                    <a:pt x="10466" y="10466"/>
                  </a:cubicBezTo>
                  <a:cubicBezTo>
                    <a:pt x="17169" y="3762"/>
                    <a:pt x="26241" y="0"/>
                    <a:pt x="35719" y="0"/>
                  </a:cubicBezTo>
                  <a:lnTo>
                    <a:pt x="83344" y="0"/>
                  </a:lnTo>
                  <a:lnTo>
                    <a:pt x="84522" y="60"/>
                  </a:lnTo>
                  <a:cubicBezTo>
                    <a:pt x="87249" y="333"/>
                    <a:pt x="89809" y="1536"/>
                    <a:pt x="91761" y="3489"/>
                  </a:cubicBezTo>
                  <a:lnTo>
                    <a:pt x="123992" y="35719"/>
                  </a:lnTo>
                  <a:lnTo>
                    <a:pt x="202406" y="35719"/>
                  </a:lnTo>
                  <a:cubicBezTo>
                    <a:pt x="211884" y="35719"/>
                    <a:pt x="220956" y="39481"/>
                    <a:pt x="227659" y="46184"/>
                  </a:cubicBezTo>
                  <a:cubicBezTo>
                    <a:pt x="231457" y="49982"/>
                    <a:pt x="234315" y="54554"/>
                    <a:pt x="236077" y="59531"/>
                  </a:cubicBezTo>
                  <a:lnTo>
                    <a:pt x="63163" y="59531"/>
                  </a:lnTo>
                  <a:cubicBezTo>
                    <a:pt x="58317" y="59531"/>
                    <a:pt x="53578" y="61020"/>
                    <a:pt x="49590" y="63770"/>
                  </a:cubicBezTo>
                  <a:cubicBezTo>
                    <a:pt x="46113" y="66187"/>
                    <a:pt x="43339" y="69485"/>
                    <a:pt x="41565" y="73307"/>
                  </a:cubicBezTo>
                  <a:lnTo>
                    <a:pt x="40874" y="74986"/>
                  </a:lnTo>
                  <a:lnTo>
                    <a:pt x="24455" y="118753"/>
                  </a:lnTo>
                  <a:cubicBezTo>
                    <a:pt x="22146" y="124908"/>
                    <a:pt x="25265" y="131766"/>
                    <a:pt x="31421" y="134076"/>
                  </a:cubicBezTo>
                  <a:cubicBezTo>
                    <a:pt x="37576" y="136386"/>
                    <a:pt x="44446" y="133267"/>
                    <a:pt x="46756" y="127111"/>
                  </a:cubicBezTo>
                  <a:lnTo>
                    <a:pt x="60258" y="91071"/>
                  </a:lnTo>
                  <a:cubicBezTo>
                    <a:pt x="61996" y="86427"/>
                    <a:pt x="66437" y="83344"/>
                    <a:pt x="71414" y="83344"/>
                  </a:cubicBezTo>
                  <a:lnTo>
                    <a:pt x="226219" y="83344"/>
                  </a:lnTo>
                  <a:lnTo>
                    <a:pt x="228802" y="83487"/>
                  </a:lnTo>
                  <a:cubicBezTo>
                    <a:pt x="231374" y="83772"/>
                    <a:pt x="233874" y="84463"/>
                    <a:pt x="236232" y="85546"/>
                  </a:cubicBezTo>
                  <a:cubicBezTo>
                    <a:pt x="236875" y="85844"/>
                    <a:pt x="237506" y="86177"/>
                    <a:pt x="238125" y="86535"/>
                  </a:cubicBezTo>
                  <a:cubicBezTo>
                    <a:pt x="240494" y="87904"/>
                    <a:pt x="242614" y="89666"/>
                    <a:pt x="244376" y="91761"/>
                  </a:cubicBezTo>
                  <a:cubicBezTo>
                    <a:pt x="246614" y="94405"/>
                    <a:pt x="248245" y="97500"/>
                    <a:pt x="249174" y="100834"/>
                  </a:cubicBezTo>
                  <a:cubicBezTo>
                    <a:pt x="250091" y="104168"/>
                    <a:pt x="250269" y="107656"/>
                    <a:pt x="249710" y="111061"/>
                  </a:cubicBezTo>
                  <a:cubicBezTo>
                    <a:pt x="249698" y="111157"/>
                    <a:pt x="249674" y="111252"/>
                    <a:pt x="249650" y="111347"/>
                  </a:cubicBezTo>
                  <a:lnTo>
                    <a:pt x="237804" y="173379"/>
                  </a:lnTo>
                  <a:cubicBezTo>
                    <a:pt x="236244" y="181547"/>
                    <a:pt x="231886" y="188905"/>
                    <a:pt x="225469" y="194203"/>
                  </a:cubicBezTo>
                  <a:cubicBezTo>
                    <a:pt x="219873" y="198834"/>
                    <a:pt x="213015" y="201632"/>
                    <a:pt x="205823" y="202263"/>
                  </a:cubicBezTo>
                  <a:lnTo>
                    <a:pt x="202716" y="202406"/>
                  </a:lnTo>
                  <a:lnTo>
                    <a:pt x="35719" y="202406"/>
                  </a:lnTo>
                  <a:cubicBezTo>
                    <a:pt x="26241" y="202406"/>
                    <a:pt x="17169" y="198644"/>
                    <a:pt x="10466" y="191941"/>
                  </a:cubicBezTo>
                  <a:cubicBezTo>
                    <a:pt x="3762" y="185237"/>
                    <a:pt x="0" y="176165"/>
                    <a:pt x="0" y="166688"/>
                  </a:cubicBezTo>
                  <a:lnTo>
                    <a:pt x="0" y="35719"/>
                  </a:lnTo>
                  <a:close/>
                </a:path>
              </a:pathLst>
            </a:custGeom>
            <a:solidFill>
              <a:schemeClr val="accent1"/>
            </a:solidFill>
            <a:ln>
              <a:noFill/>
            </a:ln>
          </p:spPr>
        </p:sp>
        <p:sp>
          <p:nvSpPr>
            <p:cNvPr id="23" name="TextBox 23"/>
            <p:cNvSpPr txBox="1"/>
            <p:nvPr/>
          </p:nvSpPr>
          <p:spPr>
            <a:xfrm>
              <a:off x="7382256" y="1463040"/>
              <a:ext cx="185019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できあがる 4 つのファイル</a:t>
              </a:r>
            </a:p>
          </p:txBody>
        </p:sp>
        <p:sp>
          <p:nvSpPr>
            <p:cNvPr id="24" name="Rectangle 24"/>
            <p:cNvSpPr/>
            <p:nvPr/>
          </p:nvSpPr>
          <p:spPr>
            <a:xfrm>
              <a:off x="7010400" y="1866900"/>
              <a:ext cx="4800600" cy="723900"/>
            </a:xfrm>
            <a:prstGeom prst="roundRect">
              <a:avLst>
                <a:gd name="adj" fmla="val 15789"/>
              </a:avLst>
            </a:prstGeom>
            <a:solidFill>
              <a:schemeClr val="lt2"/>
            </a:solidFill>
            <a:ln>
              <a:noFill/>
            </a:ln>
          </p:spPr>
        </p:sp>
        <p:sp>
          <p:nvSpPr>
            <p:cNvPr id="25" name="TextBox 25"/>
            <p:cNvSpPr txBox="1"/>
            <p:nvPr/>
          </p:nvSpPr>
          <p:spPr>
            <a:xfrm>
              <a:off x="7211568" y="1993582"/>
              <a:ext cx="128286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Consolas"/>
                  <a:ea typeface="Consolas"/>
                  <a:cs typeface="Consolas"/>
                </a:rPr>
                <a:t>request.md</a:t>
              </a:r>
            </a:p>
          </p:txBody>
        </p:sp>
        <p:sp>
          <p:nvSpPr>
            <p:cNvPr id="26" name="TextBox 26"/>
            <p:cNvSpPr txBox="1"/>
            <p:nvPr/>
          </p:nvSpPr>
          <p:spPr>
            <a:xfrm>
              <a:off x="7213092" y="2292668"/>
              <a:ext cx="1319479"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AI へ渡した依頼文</a:t>
              </a:r>
            </a:p>
          </p:txBody>
        </p:sp>
        <p:sp>
          <p:nvSpPr>
            <p:cNvPr id="27" name="Rectangle 27"/>
            <p:cNvSpPr/>
            <p:nvPr/>
          </p:nvSpPr>
          <p:spPr>
            <a:xfrm>
              <a:off x="7010400" y="2705100"/>
              <a:ext cx="4800600" cy="723900"/>
            </a:xfrm>
            <a:prstGeom prst="roundRect">
              <a:avLst>
                <a:gd name="adj" fmla="val 15789"/>
              </a:avLst>
            </a:prstGeom>
            <a:solidFill>
              <a:schemeClr val="lt2"/>
            </a:solidFill>
            <a:ln>
              <a:noFill/>
            </a:ln>
          </p:spPr>
        </p:sp>
        <p:sp>
          <p:nvSpPr>
            <p:cNvPr id="28" name="TextBox 28"/>
            <p:cNvSpPr txBox="1"/>
            <p:nvPr/>
          </p:nvSpPr>
          <p:spPr>
            <a:xfrm>
              <a:off x="7211568" y="2831782"/>
              <a:ext cx="1771536" cy="322707"/>
            </a:xfrm>
            <a:prstGeom prst="rect">
              <a:avLst/>
            </a:prstGeom>
            <a:noFill/>
            <a:ln>
              <a:noFill/>
            </a:ln>
          </p:spPr>
          <p:txBody>
            <a:bodyPr wrap="none" lIns="0" tIns="0" rIns="0" bIns="0" anchor="t" anchorCtr="0">
              <a:spAutoFit/>
            </a:bodyPr>
            <a:lstStyle/>
            <a:p>
              <a:pPr algn="l"/>
              <a:r>
                <a:rPr lang="en-US" sz="1650" dirty="0">
                  <a:solidFill>
                    <a:schemeClr val="dk1"/>
                  </a:solidFill>
                  <a:latin typeface="Consolas"/>
                  <a:ea typeface="Consolas"/>
                  <a:cs typeface="Consolas"/>
                </a:rPr>
                <a:t>source-code.md</a:t>
              </a:r>
            </a:p>
          </p:txBody>
        </p:sp>
        <p:sp>
          <p:nvSpPr>
            <p:cNvPr id="29" name="TextBox 29"/>
            <p:cNvSpPr txBox="1"/>
            <p:nvPr/>
          </p:nvSpPr>
          <p:spPr>
            <a:xfrm>
              <a:off x="7213092" y="3130868"/>
              <a:ext cx="1741932"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添付した VBA コード全文</a:t>
              </a:r>
            </a:p>
          </p:txBody>
        </p:sp>
        <p:sp>
          <p:nvSpPr>
            <p:cNvPr id="30" name="Rectangle 30"/>
            <p:cNvSpPr/>
            <p:nvPr/>
          </p:nvSpPr>
          <p:spPr>
            <a:xfrm>
              <a:off x="7010400" y="3543300"/>
              <a:ext cx="4800600" cy="723900"/>
            </a:xfrm>
            <a:prstGeom prst="roundRect">
              <a:avLst>
                <a:gd name="adj" fmla="val 15789"/>
              </a:avLst>
            </a:prstGeom>
            <a:solidFill>
              <a:schemeClr val="lt2"/>
            </a:solidFill>
            <a:ln>
              <a:noFill/>
            </a:ln>
          </p:spPr>
        </p:sp>
        <p:sp>
          <p:nvSpPr>
            <p:cNvPr id="31" name="TextBox 31"/>
            <p:cNvSpPr txBox="1"/>
            <p:nvPr/>
          </p:nvSpPr>
          <p:spPr>
            <a:xfrm>
              <a:off x="7211568" y="3669982"/>
              <a:ext cx="1229556"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j-lt"/>
                  <a:ea typeface="+mj-ea"/>
                  <a:cs typeface="+mj-cs"/>
                </a:rPr>
                <a:t>改修済みブック</a:t>
              </a:r>
            </a:p>
          </p:txBody>
        </p:sp>
        <p:sp>
          <p:nvSpPr>
            <p:cNvPr id="32" name="TextBox 32"/>
            <p:cNvSpPr txBox="1"/>
            <p:nvPr/>
          </p:nvSpPr>
          <p:spPr>
            <a:xfrm>
              <a:off x="7213092" y="3969068"/>
              <a:ext cx="1503959"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前の画面で決めた名前</a:t>
              </a:r>
            </a:p>
          </p:txBody>
        </p:sp>
        <p:sp>
          <p:nvSpPr>
            <p:cNvPr id="33" name="Rectangle 33"/>
            <p:cNvSpPr/>
            <p:nvPr/>
          </p:nvSpPr>
          <p:spPr>
            <a:xfrm>
              <a:off x="7010400" y="4381500"/>
              <a:ext cx="4800600" cy="723900"/>
            </a:xfrm>
            <a:prstGeom prst="roundRect">
              <a:avLst>
                <a:gd name="adj" fmla="val 15789"/>
              </a:avLst>
            </a:prstGeom>
            <a:solidFill>
              <a:schemeClr val="lt1"/>
            </a:solidFill>
            <a:ln w="19050">
              <a:solidFill>
                <a:schemeClr val="accent2"/>
              </a:solidFill>
            </a:ln>
          </p:spPr>
        </p:sp>
        <p:sp>
          <p:nvSpPr>
            <p:cNvPr id="34" name="TextBox 34"/>
            <p:cNvSpPr txBox="1"/>
            <p:nvPr/>
          </p:nvSpPr>
          <p:spPr>
            <a:xfrm>
              <a:off x="7211568" y="4508182"/>
              <a:ext cx="190481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Consolas"/>
                  <a:ea typeface="Consolas"/>
                  <a:cs typeface="Consolas"/>
                </a:rPr>
                <a:t>diff-report.html</a:t>
              </a:r>
            </a:p>
          </p:txBody>
        </p:sp>
        <p:sp>
          <p:nvSpPr>
            <p:cNvPr id="35" name="TextBox 35"/>
            <p:cNvSpPr txBox="1"/>
            <p:nvPr/>
          </p:nvSpPr>
          <p:spPr>
            <a:xfrm>
              <a:off x="7213092" y="4807268"/>
              <a:ext cx="2948769"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変更内容の確認レポート（ブラウザで開けます）</a:t>
              </a:r>
            </a:p>
          </p:txBody>
        </p:sp>
      </p:grpSp>
      <p:grpSp>
        <p:nvGrpSpPr>
          <p:cNvPr id="39" name="Group 39"/>
          <p:cNvGrpSpPr/>
          <p:nvPr/>
        </p:nvGrpSpPr>
        <p:grpSpPr>
          <a:xfrm>
            <a:off x="7010400" y="5295900"/>
            <a:ext cx="4800600" cy="918401"/>
            <a:chOff x="7010400" y="5295900"/>
            <a:chExt cx="4800600" cy="918401"/>
          </a:xfrm>
        </p:grpSpPr>
        <p:sp>
          <p:nvSpPr>
            <p:cNvPr id="37" name="Rectangle 37"/>
            <p:cNvSpPr/>
            <p:nvPr/>
          </p:nvSpPr>
          <p:spPr>
            <a:xfrm>
              <a:off x="7010400" y="5295900"/>
              <a:ext cx="4800600" cy="914400"/>
            </a:xfrm>
            <a:prstGeom prst="roundRect">
              <a:avLst>
                <a:gd name="adj" fmla="val 14583"/>
              </a:avLst>
            </a:prstGeom>
            <a:solidFill>
              <a:schemeClr val="accent5"/>
            </a:solidFill>
            <a:ln>
              <a:noFill/>
            </a:ln>
          </p:spPr>
        </p:sp>
        <p:sp>
          <p:nvSpPr>
            <p:cNvPr id="38" name="TextBox 38"/>
            <p:cNvSpPr txBox="1"/>
            <p:nvPr/>
          </p:nvSpPr>
          <p:spPr>
            <a:xfrm>
              <a:off x="7213092" y="5454968"/>
              <a:ext cx="2911221" cy="75933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失敗したときは出力ファイルが残りません。元のブック</a:t>
              </a:r>
              <a:r>
                <a:rPr lang="en-US" sz="1350" dirty="0">
                  <a:solidFill>
                    <a:schemeClr val="dk1"/>
                  </a:solidFill>
                  <a:latin typeface="+mn-lt"/>
                  <a:ea typeface="+mn-ea"/>
                  <a:cs typeface="+mn-cs"/>
                </a:rPr>
                <a:t xml:space="preserve"> </a:t>
              </a:r>
              <a:r>
                <a:rPr lang="zh-CN" sz="1350" dirty="0">
                  <a:solidFill>
                    <a:schemeClr val="dk1"/>
                  </a:solidFill>
                  <a:latin typeface="+mn-lt"/>
                  <a:ea typeface="+mn-ea"/>
                  <a:cs typeface="+mn-cs"/>
                </a:rPr>
                <a:t>は無傷なので、［もう一度ビルドする］で何度でも</a:t>
              </a:r>
              <a:r>
                <a:rPr lang="en-US" sz="1350" dirty="0">
                  <a:solidFill>
                    <a:schemeClr val="dk1"/>
                  </a:solidFill>
                  <a:latin typeface="+mn-lt"/>
                  <a:ea typeface="+mn-ea"/>
                  <a:cs typeface="+mn-cs"/>
                </a:rPr>
                <a:t xml:space="preserve"> </a:t>
              </a:r>
              <a:r>
                <a:rPr lang="zh-CN" sz="1350" dirty="0">
                  <a:solidFill>
                    <a:schemeClr val="dk1"/>
                  </a:solidFill>
                  <a:latin typeface="+mn-lt"/>
                  <a:ea typeface="+mn-ea"/>
                  <a:cs typeface="+mn-cs"/>
                </a:rPr>
                <a:t>やり直せます。</a:t>
              </a:r>
            </a:p>
          </p:txBody>
        </p:sp>
      </p:grpSp>
      <p:grpSp>
        <p:nvGrpSpPr>
          <p:cNvPr id="42" name="Group 42"/>
          <p:cNvGrpSpPr/>
          <p:nvPr/>
        </p:nvGrpSpPr>
        <p:grpSpPr>
          <a:xfrm>
            <a:off x="374904" y="6461760"/>
            <a:ext cx="11442192" cy="234696"/>
            <a:chOff x="374904" y="6461760"/>
            <a:chExt cx="11442192" cy="234696"/>
          </a:xfrm>
        </p:grpSpPr>
        <p:sp>
          <p:nvSpPr>
            <p:cNvPr id="40" name="TextBox 40"/>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41" name="TextBox 41"/>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888168" y="568642"/>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参考</a:t>
              </a:r>
            </a:p>
          </p:txBody>
        </p:sp>
        <p:sp>
          <p:nvSpPr>
            <p:cNvPr id="4" name="TextBox 4"/>
            <p:cNvSpPr txBox="1"/>
            <p:nvPr/>
          </p:nvSpPr>
          <p:spPr>
            <a:xfrm>
              <a:off x="1946148" y="479108"/>
              <a:ext cx="2236019"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j-lt"/>
                  <a:ea typeface="+mj-ea"/>
                  <a:cs typeface="+mj-cs"/>
                </a:rPr>
                <a:t>うまくいかないとき</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22" name="Group 22"/>
          <p:cNvGrpSpPr/>
          <p:nvPr/>
        </p:nvGrpSpPr>
        <p:grpSpPr>
          <a:xfrm>
            <a:off x="381000" y="1333500"/>
            <a:ext cx="5600700" cy="4267200"/>
            <a:chOff x="381000" y="1333500"/>
            <a:chExt cx="5600700" cy="4267200"/>
          </a:xfrm>
        </p:grpSpPr>
        <p:sp>
          <p:nvSpPr>
            <p:cNvPr id="7" name="Rectangle 7"/>
            <p:cNvSpPr/>
            <p:nvPr/>
          </p:nvSpPr>
          <p:spPr>
            <a:xfrm>
              <a:off x="381000" y="1333500"/>
              <a:ext cx="5600700" cy="4267200"/>
            </a:xfrm>
            <a:prstGeom prst="roundRect">
              <a:avLst>
                <a:gd name="adj" fmla="val 3571"/>
              </a:avLst>
            </a:prstGeom>
            <a:solidFill>
              <a:schemeClr val="lt2"/>
            </a:solidFill>
            <a:ln>
              <a:noFill/>
            </a:ln>
          </p:spPr>
        </p:sp>
        <p:sp>
          <p:nvSpPr>
            <p:cNvPr id="8" name="Freeform 8"/>
            <p:cNvSpPr/>
            <p:nvPr/>
          </p:nvSpPr>
          <p:spPr>
            <a:xfrm>
              <a:off x="650875" y="1565275"/>
              <a:ext cx="222299" cy="223307"/>
            </a:xfrm>
            <a:custGeom>
              <a:avLst/>
              <a:gdLst/>
              <a:ahLst/>
              <a:cxnLst/>
              <a:rect l="l" t="t" r="r" b="b"/>
              <a:pathLst>
                <a:path w="222299" h="223307">
                  <a:moveTo>
                    <a:pt x="111125" y="0"/>
                  </a:moveTo>
                  <a:cubicBezTo>
                    <a:pt x="172500" y="0"/>
                    <a:pt x="222251" y="49751"/>
                    <a:pt x="222251" y="111125"/>
                  </a:cubicBezTo>
                  <a:cubicBezTo>
                    <a:pt x="222299" y="171830"/>
                    <a:pt x="173623" y="221340"/>
                    <a:pt x="112926" y="222324"/>
                  </a:cubicBezTo>
                  <a:cubicBezTo>
                    <a:pt x="52229" y="223307"/>
                    <a:pt x="1974" y="175401"/>
                    <a:pt x="56" y="114726"/>
                  </a:cubicBezTo>
                  <a:lnTo>
                    <a:pt x="0" y="111125"/>
                  </a:lnTo>
                  <a:lnTo>
                    <a:pt x="44" y="108014"/>
                  </a:lnTo>
                  <a:cubicBezTo>
                    <a:pt x="1689" y="48084"/>
                    <a:pt x="50784" y="0"/>
                    <a:pt x="111125" y="0"/>
                  </a:cubicBezTo>
                  <a:close/>
                  <a:moveTo>
                    <a:pt x="111125" y="144463"/>
                  </a:moveTo>
                  <a:cubicBezTo>
                    <a:pt x="105492" y="144464"/>
                    <a:pt x="100750" y="148680"/>
                    <a:pt x="100091" y="154275"/>
                  </a:cubicBezTo>
                  <a:lnTo>
                    <a:pt x="100013" y="155575"/>
                  </a:lnTo>
                  <a:lnTo>
                    <a:pt x="100091" y="156987"/>
                  </a:lnTo>
                  <a:cubicBezTo>
                    <a:pt x="100756" y="162577"/>
                    <a:pt x="105496" y="166787"/>
                    <a:pt x="111125" y="166787"/>
                  </a:cubicBezTo>
                  <a:cubicBezTo>
                    <a:pt x="116755" y="166787"/>
                    <a:pt x="121495" y="162577"/>
                    <a:pt x="122160" y="156987"/>
                  </a:cubicBezTo>
                  <a:lnTo>
                    <a:pt x="122238" y="155687"/>
                  </a:lnTo>
                  <a:lnTo>
                    <a:pt x="122160" y="154275"/>
                  </a:lnTo>
                  <a:cubicBezTo>
                    <a:pt x="121501" y="148680"/>
                    <a:pt x="116759" y="144464"/>
                    <a:pt x="111125" y="144463"/>
                  </a:cubicBezTo>
                  <a:close/>
                  <a:moveTo>
                    <a:pt x="126327" y="70309"/>
                  </a:moveTo>
                  <a:cubicBezTo>
                    <a:pt x="112631" y="63307"/>
                    <a:pt x="95916" y="66658"/>
                    <a:pt x="85978" y="78399"/>
                  </a:cubicBezTo>
                  <a:cubicBezTo>
                    <a:pt x="82157" y="82874"/>
                    <a:pt x="82488" y="89553"/>
                    <a:pt x="86732" y="93629"/>
                  </a:cubicBezTo>
                  <a:cubicBezTo>
                    <a:pt x="90976" y="97705"/>
                    <a:pt x="97662" y="97766"/>
                    <a:pt x="101980" y="93768"/>
                  </a:cubicBezTo>
                  <a:lnTo>
                    <a:pt x="103880" y="91767"/>
                  </a:lnTo>
                  <a:cubicBezTo>
                    <a:pt x="107238" y="88685"/>
                    <a:pt x="112160" y="88020"/>
                    <a:pt x="116215" y="90100"/>
                  </a:cubicBezTo>
                  <a:cubicBezTo>
                    <a:pt x="120598" y="92319"/>
                    <a:pt x="123005" y="97152"/>
                    <a:pt x="122133" y="101987"/>
                  </a:cubicBezTo>
                  <a:cubicBezTo>
                    <a:pt x="121262" y="106822"/>
                    <a:pt x="117319" y="110511"/>
                    <a:pt x="112437" y="111059"/>
                  </a:cubicBezTo>
                  <a:lnTo>
                    <a:pt x="109858" y="111192"/>
                  </a:lnTo>
                  <a:cubicBezTo>
                    <a:pt x="103990" y="111838"/>
                    <a:pt x="99650" y="116960"/>
                    <a:pt x="99978" y="122856"/>
                  </a:cubicBezTo>
                  <a:cubicBezTo>
                    <a:pt x="100307" y="128751"/>
                    <a:pt x="105188" y="133360"/>
                    <a:pt x="111092" y="133350"/>
                  </a:cubicBezTo>
                  <a:cubicBezTo>
                    <a:pt x="126525" y="133397"/>
                    <a:pt x="139972" y="122845"/>
                    <a:pt x="143597" y="107844"/>
                  </a:cubicBezTo>
                  <a:cubicBezTo>
                    <a:pt x="147222" y="92843"/>
                    <a:pt x="140078" y="77315"/>
                    <a:pt x="126327" y="70309"/>
                  </a:cubicBezTo>
                  <a:close/>
                </a:path>
              </a:pathLst>
            </a:custGeom>
            <a:solidFill>
              <a:schemeClr val="accent1"/>
            </a:solidFill>
            <a:ln>
              <a:noFill/>
            </a:ln>
          </p:spPr>
        </p:sp>
        <p:sp>
          <p:nvSpPr>
            <p:cNvPr id="9" name="TextBox 9"/>
            <p:cNvSpPr txBox="1"/>
            <p:nvPr/>
          </p:nvSpPr>
          <p:spPr>
            <a:xfrm>
              <a:off x="981456" y="1558290"/>
              <a:ext cx="145582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起動・読み込み</a:t>
              </a:r>
            </a:p>
          </p:txBody>
        </p:sp>
        <p:sp>
          <p:nvSpPr>
            <p:cNvPr id="10" name="TextBox 10"/>
            <p:cNvSpPr txBox="1"/>
            <p:nvPr/>
          </p:nvSpPr>
          <p:spPr>
            <a:xfrm>
              <a:off x="620268" y="1993582"/>
              <a:ext cx="231407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j-lt"/>
                  <a:ea typeface="+mj-ea"/>
                  <a:cs typeface="+mj-cs"/>
                </a:rPr>
                <a:t>起動しない／白い画面のまま</a:t>
              </a:r>
            </a:p>
          </p:txBody>
        </p:sp>
        <p:sp>
          <p:nvSpPr>
            <p:cNvPr id="11" name="TextBox 11"/>
            <p:cNvSpPr txBox="1"/>
            <p:nvPr/>
          </p:nvSpPr>
          <p:spPr>
            <a:xfrm>
              <a:off x="621792" y="2292668"/>
              <a:ext cx="4916868"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WebView2 ランタイム未導入の可能性。起動時の案内に従ってください。</a:t>
              </a:r>
            </a:p>
          </p:txBody>
        </p:sp>
        <p:sp>
          <p:nvSpPr>
            <p:cNvPr id="12" name="Line 12"/>
            <p:cNvSpPr/>
            <p:nvPr/>
          </p:nvSpPr>
          <p:spPr>
            <a:xfrm>
              <a:off x="628650" y="2647950"/>
              <a:ext cx="5105400" cy="9525"/>
            </a:xfrm>
            <a:custGeom>
              <a:avLst/>
              <a:gdLst/>
              <a:ahLst/>
              <a:cxnLst/>
              <a:rect l="l" t="t" r="r" b="b"/>
              <a:pathLst>
                <a:path w="5105400" h="9525">
                  <a:moveTo>
                    <a:pt x="0" y="0"/>
                  </a:moveTo>
                  <a:lnTo>
                    <a:pt x="5105400" y="0"/>
                  </a:lnTo>
                </a:path>
              </a:pathLst>
            </a:custGeom>
            <a:noFill/>
            <a:ln w="9525">
              <a:solidFill>
                <a:schemeClr val="accent6"/>
              </a:solidFill>
            </a:ln>
          </p:spPr>
        </p:sp>
        <p:sp>
          <p:nvSpPr>
            <p:cNvPr id="13" name="TextBox 13"/>
            <p:cNvSpPr txBox="1"/>
            <p:nvPr/>
          </p:nvSpPr>
          <p:spPr>
            <a:xfrm>
              <a:off x="620268" y="2793682"/>
              <a:ext cx="1999212"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j-lt"/>
                  <a:ea typeface="+mj-ea"/>
                  <a:cs typeface="+mj-cs"/>
                </a:rPr>
                <a:t>「マクロが見つかりません」</a:t>
              </a:r>
            </a:p>
          </p:txBody>
        </p:sp>
        <p:sp>
          <p:nvSpPr>
            <p:cNvPr id="14" name="TextBox 14"/>
            <p:cNvSpPr txBox="1"/>
            <p:nvPr/>
          </p:nvSpPr>
          <p:spPr>
            <a:xfrm>
              <a:off x="621792" y="3092768"/>
              <a:ext cx="3422142"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そのブックにマクロ（VBAプロジェクト）が入っていません。</a:t>
              </a:r>
            </a:p>
          </p:txBody>
        </p:sp>
        <p:sp>
          <p:nvSpPr>
            <p:cNvPr id="15" name="Line 15"/>
            <p:cNvSpPr/>
            <p:nvPr/>
          </p:nvSpPr>
          <p:spPr>
            <a:xfrm>
              <a:off x="628650" y="3448050"/>
              <a:ext cx="5105400" cy="9525"/>
            </a:xfrm>
            <a:custGeom>
              <a:avLst/>
              <a:gdLst/>
              <a:ahLst/>
              <a:cxnLst/>
              <a:rect l="l" t="t" r="r" b="b"/>
              <a:pathLst>
                <a:path w="5105400" h="9525">
                  <a:moveTo>
                    <a:pt x="0" y="0"/>
                  </a:moveTo>
                  <a:lnTo>
                    <a:pt x="5105400" y="0"/>
                  </a:lnTo>
                </a:path>
              </a:pathLst>
            </a:custGeom>
            <a:noFill/>
            <a:ln w="9525">
              <a:solidFill>
                <a:schemeClr val="accent6"/>
              </a:solidFill>
            </a:ln>
          </p:spPr>
        </p:sp>
        <p:sp>
          <p:nvSpPr>
            <p:cNvPr id="16" name="TextBox 16"/>
            <p:cNvSpPr txBox="1"/>
            <p:nvPr/>
          </p:nvSpPr>
          <p:spPr>
            <a:xfrm>
              <a:off x="620268" y="3593782"/>
              <a:ext cx="150943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j-lt"/>
                  <a:ea typeface="+mj-ea"/>
                  <a:cs typeface="+mj-cs"/>
                </a:rPr>
                <a:t>ブックを添付できない</a:t>
              </a:r>
            </a:p>
          </p:txBody>
        </p:sp>
        <p:sp>
          <p:nvSpPr>
            <p:cNvPr id="17" name="TextBox 17"/>
            <p:cNvSpPr txBox="1"/>
            <p:nvPr/>
          </p:nvSpPr>
          <p:spPr>
            <a:xfrm>
              <a:off x="621792" y="3892868"/>
              <a:ext cx="3910157"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対象ブックを Excel で開いたままにしていないか確認してください。</a:t>
              </a:r>
            </a:p>
          </p:txBody>
        </p:sp>
        <p:sp>
          <p:nvSpPr>
            <p:cNvPr id="18" name="Line 18"/>
            <p:cNvSpPr/>
            <p:nvPr/>
          </p:nvSpPr>
          <p:spPr>
            <a:xfrm>
              <a:off x="628650" y="4248150"/>
              <a:ext cx="5105400" cy="9525"/>
            </a:xfrm>
            <a:custGeom>
              <a:avLst/>
              <a:gdLst/>
              <a:ahLst/>
              <a:cxnLst/>
              <a:rect l="l" t="t" r="r" b="b"/>
              <a:pathLst>
                <a:path w="5105400" h="9525">
                  <a:moveTo>
                    <a:pt x="0" y="0"/>
                  </a:moveTo>
                  <a:lnTo>
                    <a:pt x="5105400" y="0"/>
                  </a:lnTo>
                </a:path>
              </a:pathLst>
            </a:custGeom>
            <a:noFill/>
            <a:ln w="9525">
              <a:solidFill>
                <a:schemeClr val="accent6"/>
              </a:solidFill>
            </a:ln>
          </p:spPr>
        </p:sp>
        <p:sp>
          <p:nvSpPr>
            <p:cNvPr id="19" name="TextBox 19"/>
            <p:cNvSpPr txBox="1"/>
            <p:nvPr/>
          </p:nvSpPr>
          <p:spPr>
            <a:xfrm>
              <a:off x="620268" y="4393882"/>
              <a:ext cx="1637707"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j-lt"/>
                  <a:ea typeface="+mj-ea"/>
                  <a:cs typeface="+mj-cs"/>
                </a:rPr>
                <a:t>ひな形のボタンが出ない</a:t>
              </a:r>
            </a:p>
          </p:txBody>
        </p:sp>
        <p:sp>
          <p:nvSpPr>
            <p:cNvPr id="20" name="TextBox 20"/>
            <p:cNvSpPr txBox="1"/>
            <p:nvPr/>
          </p:nvSpPr>
          <p:spPr>
            <a:xfrm>
              <a:off x="621792" y="4692968"/>
              <a:ext cx="3828478" cy="511683"/>
            </a:xfrm>
            <a:prstGeom prst="rect">
              <a:avLst/>
            </a:prstGeom>
            <a:noFill/>
            <a:ln>
              <a:noFill/>
            </a:ln>
          </p:spPr>
          <p:txBody>
            <a:bodyPr wrap="square" lIns="0" tIns="0" rIns="0" bIns="0" anchor="t" anchorCtr="0"/>
            <a:lstStyle/>
            <a:p>
              <a:pPr algn="l">
                <a:lnSpc>
                  <a:spcPts val="1950"/>
                </a:lnSpc>
              </a:pPr>
              <a:r>
                <a:rPr lang="zh-CN" sz="1350" dirty="0">
                  <a:solidFill>
                    <a:srgbClr val="5D6B7A"/>
                  </a:solidFill>
                  <a:latin typeface="+mn-lt"/>
                  <a:ea typeface="+mn-ea"/>
                  <a:cs typeface="+mn-cs"/>
                </a:rPr>
                <a:t>手順2-2 の画面に理由が出ます。見出し 3 つが揃っているか、UTF-8 で保存されているかを確認してください。</a:t>
              </a:r>
            </a:p>
          </p:txBody>
        </p:sp>
        <p:sp>
          <p:nvSpPr>
            <p:cNvPr id="21" name="Line 21"/>
            <p:cNvSpPr/>
            <p:nvPr/>
          </p:nvSpPr>
          <p:spPr>
            <a:xfrm>
              <a:off x="628650" y="5295900"/>
              <a:ext cx="5105400" cy="9525"/>
            </a:xfrm>
            <a:custGeom>
              <a:avLst/>
              <a:gdLst/>
              <a:ahLst/>
              <a:cxnLst/>
              <a:rect l="l" t="t" r="r" b="b"/>
              <a:pathLst>
                <a:path w="5105400" h="9525">
                  <a:moveTo>
                    <a:pt x="0" y="0"/>
                  </a:moveTo>
                  <a:lnTo>
                    <a:pt x="5105400" y="0"/>
                  </a:lnTo>
                </a:path>
              </a:pathLst>
            </a:custGeom>
            <a:noFill/>
            <a:ln w="9525">
              <a:solidFill>
                <a:schemeClr val="accent6"/>
              </a:solidFill>
            </a:ln>
          </p:spPr>
        </p:sp>
      </p:grpSp>
      <p:grpSp>
        <p:nvGrpSpPr>
          <p:cNvPr id="39" name="Group 39"/>
          <p:cNvGrpSpPr/>
          <p:nvPr/>
        </p:nvGrpSpPr>
        <p:grpSpPr>
          <a:xfrm>
            <a:off x="6210300" y="1333500"/>
            <a:ext cx="5600700" cy="4267200"/>
            <a:chOff x="6210300" y="1333500"/>
            <a:chExt cx="5600700" cy="4267200"/>
          </a:xfrm>
        </p:grpSpPr>
        <p:sp>
          <p:nvSpPr>
            <p:cNvPr id="23" name="Rectangle 23"/>
            <p:cNvSpPr/>
            <p:nvPr/>
          </p:nvSpPr>
          <p:spPr>
            <a:xfrm>
              <a:off x="6210300" y="1333500"/>
              <a:ext cx="5600700" cy="4267200"/>
            </a:xfrm>
            <a:prstGeom prst="roundRect">
              <a:avLst>
                <a:gd name="adj" fmla="val 3571"/>
              </a:avLst>
            </a:prstGeom>
            <a:solidFill>
              <a:schemeClr val="accent5"/>
            </a:solidFill>
            <a:ln>
              <a:noFill/>
            </a:ln>
          </p:spPr>
        </p:sp>
        <p:sp>
          <p:nvSpPr>
            <p:cNvPr id="24" name="Freeform 24"/>
            <p:cNvSpPr/>
            <p:nvPr/>
          </p:nvSpPr>
          <p:spPr>
            <a:xfrm>
              <a:off x="6480175" y="1565275"/>
              <a:ext cx="222299" cy="223307"/>
            </a:xfrm>
            <a:custGeom>
              <a:avLst/>
              <a:gdLst/>
              <a:ahLst/>
              <a:cxnLst/>
              <a:rect l="l" t="t" r="r" b="b"/>
              <a:pathLst>
                <a:path w="222299" h="223307">
                  <a:moveTo>
                    <a:pt x="111125" y="0"/>
                  </a:moveTo>
                  <a:cubicBezTo>
                    <a:pt x="172500" y="0"/>
                    <a:pt x="222251" y="49751"/>
                    <a:pt x="222251" y="111125"/>
                  </a:cubicBezTo>
                  <a:cubicBezTo>
                    <a:pt x="222299" y="171830"/>
                    <a:pt x="173623" y="221340"/>
                    <a:pt x="112926" y="222324"/>
                  </a:cubicBezTo>
                  <a:cubicBezTo>
                    <a:pt x="52229" y="223307"/>
                    <a:pt x="1974" y="175401"/>
                    <a:pt x="56" y="114726"/>
                  </a:cubicBezTo>
                  <a:lnTo>
                    <a:pt x="0" y="111125"/>
                  </a:lnTo>
                  <a:lnTo>
                    <a:pt x="44" y="108014"/>
                  </a:lnTo>
                  <a:cubicBezTo>
                    <a:pt x="1689" y="48084"/>
                    <a:pt x="50784" y="0"/>
                    <a:pt x="111125" y="0"/>
                  </a:cubicBezTo>
                  <a:close/>
                  <a:moveTo>
                    <a:pt x="111125" y="144463"/>
                  </a:moveTo>
                  <a:cubicBezTo>
                    <a:pt x="105492" y="144464"/>
                    <a:pt x="100750" y="148680"/>
                    <a:pt x="100091" y="154275"/>
                  </a:cubicBezTo>
                  <a:lnTo>
                    <a:pt x="100013" y="155575"/>
                  </a:lnTo>
                  <a:lnTo>
                    <a:pt x="100091" y="156987"/>
                  </a:lnTo>
                  <a:cubicBezTo>
                    <a:pt x="100756" y="162577"/>
                    <a:pt x="105496" y="166787"/>
                    <a:pt x="111125" y="166787"/>
                  </a:cubicBezTo>
                  <a:cubicBezTo>
                    <a:pt x="116755" y="166787"/>
                    <a:pt x="121495" y="162577"/>
                    <a:pt x="122160" y="156987"/>
                  </a:cubicBezTo>
                  <a:lnTo>
                    <a:pt x="122238" y="155687"/>
                  </a:lnTo>
                  <a:lnTo>
                    <a:pt x="122160" y="154275"/>
                  </a:lnTo>
                  <a:cubicBezTo>
                    <a:pt x="121501" y="148680"/>
                    <a:pt x="116759" y="144464"/>
                    <a:pt x="111125" y="144463"/>
                  </a:cubicBezTo>
                  <a:close/>
                  <a:moveTo>
                    <a:pt x="126327" y="70309"/>
                  </a:moveTo>
                  <a:cubicBezTo>
                    <a:pt x="112631" y="63307"/>
                    <a:pt x="95916" y="66658"/>
                    <a:pt x="85978" y="78399"/>
                  </a:cubicBezTo>
                  <a:cubicBezTo>
                    <a:pt x="82157" y="82874"/>
                    <a:pt x="82488" y="89553"/>
                    <a:pt x="86732" y="93629"/>
                  </a:cubicBezTo>
                  <a:cubicBezTo>
                    <a:pt x="90976" y="97705"/>
                    <a:pt x="97662" y="97766"/>
                    <a:pt x="101980" y="93768"/>
                  </a:cubicBezTo>
                  <a:lnTo>
                    <a:pt x="103880" y="91767"/>
                  </a:lnTo>
                  <a:cubicBezTo>
                    <a:pt x="107238" y="88685"/>
                    <a:pt x="112160" y="88020"/>
                    <a:pt x="116215" y="90100"/>
                  </a:cubicBezTo>
                  <a:cubicBezTo>
                    <a:pt x="120598" y="92319"/>
                    <a:pt x="123005" y="97152"/>
                    <a:pt x="122133" y="101987"/>
                  </a:cubicBezTo>
                  <a:cubicBezTo>
                    <a:pt x="121262" y="106822"/>
                    <a:pt x="117319" y="110511"/>
                    <a:pt x="112437" y="111059"/>
                  </a:cubicBezTo>
                  <a:lnTo>
                    <a:pt x="109858" y="111192"/>
                  </a:lnTo>
                  <a:cubicBezTo>
                    <a:pt x="103990" y="111838"/>
                    <a:pt x="99650" y="116960"/>
                    <a:pt x="99978" y="122856"/>
                  </a:cubicBezTo>
                  <a:cubicBezTo>
                    <a:pt x="100307" y="128751"/>
                    <a:pt x="105188" y="133360"/>
                    <a:pt x="111092" y="133350"/>
                  </a:cubicBezTo>
                  <a:cubicBezTo>
                    <a:pt x="126525" y="133397"/>
                    <a:pt x="139972" y="122845"/>
                    <a:pt x="143597" y="107844"/>
                  </a:cubicBezTo>
                  <a:cubicBezTo>
                    <a:pt x="147222" y="92843"/>
                    <a:pt x="140078" y="77315"/>
                    <a:pt x="126327" y="70309"/>
                  </a:cubicBezTo>
                  <a:close/>
                </a:path>
              </a:pathLst>
            </a:custGeom>
            <a:solidFill>
              <a:schemeClr val="accent1"/>
            </a:solidFill>
            <a:ln>
              <a:noFill/>
            </a:ln>
          </p:spPr>
        </p:sp>
        <p:sp>
          <p:nvSpPr>
            <p:cNvPr id="25" name="TextBox 25"/>
            <p:cNvSpPr txBox="1"/>
            <p:nvPr/>
          </p:nvSpPr>
          <p:spPr>
            <a:xfrm>
              <a:off x="6810756" y="1558290"/>
              <a:ext cx="201557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依頼・取り込み・ビルド</a:t>
              </a:r>
            </a:p>
          </p:txBody>
        </p:sp>
        <p:sp>
          <p:nvSpPr>
            <p:cNvPr id="26" name="TextBox 26"/>
            <p:cNvSpPr txBox="1"/>
            <p:nvPr/>
          </p:nvSpPr>
          <p:spPr>
            <a:xfrm>
              <a:off x="6449568" y="1993582"/>
              <a:ext cx="2360717"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j-lt"/>
                  <a:ea typeface="+mj-ea"/>
                  <a:cs typeface="+mj-cs"/>
                </a:rPr>
                <a:t>依頼テンプレートを読み込めない</a:t>
              </a:r>
            </a:p>
          </p:txBody>
        </p:sp>
        <p:sp>
          <p:nvSpPr>
            <p:cNvPr id="27" name="TextBox 27"/>
            <p:cNvSpPr txBox="1"/>
            <p:nvPr/>
          </p:nvSpPr>
          <p:spPr>
            <a:xfrm>
              <a:off x="6451092" y="2292668"/>
              <a:ext cx="4628550"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templates\request-template.txt が UTF-8 で保存され、</a:t>
              </a:r>
            </a:p>
          </p:txBody>
        </p:sp>
        <p:sp>
          <p:nvSpPr>
            <p:cNvPr id="28" name="TextBox 28"/>
            <p:cNvSpPr txBox="1"/>
            <p:nvPr/>
          </p:nvSpPr>
          <p:spPr>
            <a:xfrm>
              <a:off x="6451092" y="2540318"/>
              <a:ext cx="3834994"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{{REQUEST_TEXT}} を含んでいるか確認してください。</a:t>
              </a:r>
            </a:p>
          </p:txBody>
        </p:sp>
        <p:sp>
          <p:nvSpPr>
            <p:cNvPr id="29" name="Line 29"/>
            <p:cNvSpPr/>
            <p:nvPr/>
          </p:nvSpPr>
          <p:spPr>
            <a:xfrm>
              <a:off x="6457950" y="2895600"/>
              <a:ext cx="5105400" cy="9525"/>
            </a:xfrm>
            <a:custGeom>
              <a:avLst/>
              <a:gdLst/>
              <a:ahLst/>
              <a:cxnLst/>
              <a:rect l="l" t="t" r="r" b="b"/>
              <a:pathLst>
                <a:path w="5105400" h="9525">
                  <a:moveTo>
                    <a:pt x="0" y="0"/>
                  </a:moveTo>
                  <a:lnTo>
                    <a:pt x="5105400" y="0"/>
                  </a:lnTo>
                </a:path>
              </a:pathLst>
            </a:custGeom>
            <a:noFill/>
            <a:ln w="9525">
              <a:solidFill>
                <a:schemeClr val="accent6"/>
              </a:solidFill>
            </a:ln>
          </p:spPr>
        </p:sp>
        <p:sp>
          <p:nvSpPr>
            <p:cNvPr id="30" name="TextBox 30"/>
            <p:cNvSpPr txBox="1"/>
            <p:nvPr/>
          </p:nvSpPr>
          <p:spPr>
            <a:xfrm>
              <a:off x="6449568" y="3041332"/>
              <a:ext cx="2641252"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j-lt"/>
                  <a:ea typeface="+mj-ea"/>
                  <a:cs typeface="+mj-cs"/>
                </a:rPr>
                <a:t>AI の返答が思っていたものと違う</a:t>
              </a:r>
            </a:p>
          </p:txBody>
        </p:sp>
        <p:sp>
          <p:nvSpPr>
            <p:cNvPr id="31" name="TextBox 31"/>
            <p:cNvSpPr txBox="1"/>
            <p:nvPr/>
          </p:nvSpPr>
          <p:spPr>
            <a:xfrm>
              <a:off x="6451092" y="3340418"/>
              <a:ext cx="2803379"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手順2-3 へ戻って、依頼を言い直せます。</a:t>
              </a:r>
            </a:p>
          </p:txBody>
        </p:sp>
        <p:sp>
          <p:nvSpPr>
            <p:cNvPr id="32" name="Line 32"/>
            <p:cNvSpPr/>
            <p:nvPr/>
          </p:nvSpPr>
          <p:spPr>
            <a:xfrm>
              <a:off x="6457950" y="3695700"/>
              <a:ext cx="5105400" cy="9525"/>
            </a:xfrm>
            <a:custGeom>
              <a:avLst/>
              <a:gdLst/>
              <a:ahLst/>
              <a:cxnLst/>
              <a:rect l="l" t="t" r="r" b="b"/>
              <a:pathLst>
                <a:path w="5105400" h="9525">
                  <a:moveTo>
                    <a:pt x="0" y="0"/>
                  </a:moveTo>
                  <a:lnTo>
                    <a:pt x="5105400" y="0"/>
                  </a:lnTo>
                </a:path>
              </a:pathLst>
            </a:custGeom>
            <a:noFill/>
            <a:ln w="9525">
              <a:solidFill>
                <a:schemeClr val="accent6"/>
              </a:solidFill>
            </a:ln>
          </p:spPr>
        </p:sp>
        <p:sp>
          <p:nvSpPr>
            <p:cNvPr id="33" name="TextBox 33"/>
            <p:cNvSpPr txBox="1"/>
            <p:nvPr/>
          </p:nvSpPr>
          <p:spPr>
            <a:xfrm>
              <a:off x="6449568" y="3841432"/>
              <a:ext cx="2593946"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j-lt"/>
                  <a:ea typeface="+mj-ea"/>
                  <a:cs typeface="+mj-cs"/>
                </a:rPr>
                <a:t>貼ったコードに余計な行が混ざった</a:t>
              </a:r>
            </a:p>
          </p:txBody>
        </p:sp>
        <p:sp>
          <p:nvSpPr>
            <p:cNvPr id="34" name="TextBox 34"/>
            <p:cNvSpPr txBox="1"/>
            <p:nvPr/>
          </p:nvSpPr>
          <p:spPr>
            <a:xfrm>
              <a:off x="6451092" y="4140518"/>
              <a:ext cx="3348590"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手順3-2 の［手動修正］で、その場で直せます。</a:t>
              </a:r>
            </a:p>
          </p:txBody>
        </p:sp>
        <p:sp>
          <p:nvSpPr>
            <p:cNvPr id="35" name="Line 35"/>
            <p:cNvSpPr/>
            <p:nvPr/>
          </p:nvSpPr>
          <p:spPr>
            <a:xfrm>
              <a:off x="6457950" y="4495800"/>
              <a:ext cx="5105400" cy="9525"/>
            </a:xfrm>
            <a:custGeom>
              <a:avLst/>
              <a:gdLst/>
              <a:ahLst/>
              <a:cxnLst/>
              <a:rect l="l" t="t" r="r" b="b"/>
              <a:pathLst>
                <a:path w="5105400" h="9525">
                  <a:moveTo>
                    <a:pt x="0" y="0"/>
                  </a:moveTo>
                  <a:lnTo>
                    <a:pt x="5105400" y="0"/>
                  </a:lnTo>
                </a:path>
              </a:pathLst>
            </a:custGeom>
            <a:noFill/>
            <a:ln w="9525">
              <a:solidFill>
                <a:schemeClr val="accent6"/>
              </a:solidFill>
            </a:ln>
          </p:spPr>
        </p:sp>
        <p:sp>
          <p:nvSpPr>
            <p:cNvPr id="36" name="TextBox 36"/>
            <p:cNvSpPr txBox="1"/>
            <p:nvPr/>
          </p:nvSpPr>
          <p:spPr>
            <a:xfrm>
              <a:off x="6449568" y="4641532"/>
              <a:ext cx="1252878"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j-lt"/>
                  <a:ea typeface="+mj-ea"/>
                  <a:cs typeface="+mj-cs"/>
                </a:rPr>
                <a:t>ビルドに失敗した</a:t>
              </a:r>
            </a:p>
          </p:txBody>
        </p:sp>
        <p:sp>
          <p:nvSpPr>
            <p:cNvPr id="37" name="TextBox 37"/>
            <p:cNvSpPr txBox="1"/>
            <p:nvPr/>
          </p:nvSpPr>
          <p:spPr>
            <a:xfrm>
              <a:off x="6451092" y="4940618"/>
              <a:ext cx="3430372"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画面の指示に従ってください。元のファイルは無傷です。</a:t>
              </a:r>
            </a:p>
          </p:txBody>
        </p:sp>
        <p:sp>
          <p:nvSpPr>
            <p:cNvPr id="38" name="Line 38"/>
            <p:cNvSpPr/>
            <p:nvPr/>
          </p:nvSpPr>
          <p:spPr>
            <a:xfrm>
              <a:off x="6457950" y="5295900"/>
              <a:ext cx="5105400" cy="9525"/>
            </a:xfrm>
            <a:custGeom>
              <a:avLst/>
              <a:gdLst/>
              <a:ahLst/>
              <a:cxnLst/>
              <a:rect l="l" t="t" r="r" b="b"/>
              <a:pathLst>
                <a:path w="5105400" h="9525">
                  <a:moveTo>
                    <a:pt x="0" y="0"/>
                  </a:moveTo>
                  <a:lnTo>
                    <a:pt x="5105400" y="0"/>
                  </a:lnTo>
                </a:path>
              </a:pathLst>
            </a:custGeom>
            <a:noFill/>
            <a:ln w="9525">
              <a:solidFill>
                <a:schemeClr val="accent6"/>
              </a:solidFill>
            </a:ln>
          </p:spPr>
        </p:sp>
      </p:grpSp>
      <p:grpSp>
        <p:nvGrpSpPr>
          <p:cNvPr id="42" name="Group 42"/>
          <p:cNvGrpSpPr/>
          <p:nvPr/>
        </p:nvGrpSpPr>
        <p:grpSpPr>
          <a:xfrm>
            <a:off x="381000" y="5753100"/>
            <a:ext cx="11430000" cy="457200"/>
            <a:chOff x="381000" y="5753100"/>
            <a:chExt cx="11430000" cy="457200"/>
          </a:xfrm>
        </p:grpSpPr>
        <p:sp>
          <p:nvSpPr>
            <p:cNvPr id="40" name="Rectangle 40"/>
            <p:cNvSpPr/>
            <p:nvPr/>
          </p:nvSpPr>
          <p:spPr>
            <a:xfrm>
              <a:off x="381000" y="5753100"/>
              <a:ext cx="11430000" cy="457200"/>
            </a:xfrm>
            <a:prstGeom prst="roundRect">
              <a:avLst>
                <a:gd name="adj" fmla="val 29167"/>
              </a:avLst>
            </a:prstGeom>
            <a:solidFill>
              <a:schemeClr val="lt1"/>
            </a:solidFill>
            <a:ln w="19050">
              <a:solidFill>
                <a:schemeClr val="accent1"/>
              </a:solidFill>
            </a:ln>
          </p:spPr>
        </p:sp>
        <p:sp>
          <p:nvSpPr>
            <p:cNvPr id="41" name="TextBox 41"/>
            <p:cNvSpPr txBox="1"/>
            <p:nvPr/>
          </p:nvSpPr>
          <p:spPr>
            <a:xfrm>
              <a:off x="640080" y="5886450"/>
              <a:ext cx="820264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ログ: %LOCALAPPDATA%\MacroDesk\logs\ に動作ログが残ります。問い合わせのときは添付してください。</a:t>
              </a:r>
            </a:p>
          </p:txBody>
        </p:sp>
      </p:grpSp>
      <p:grpSp>
        <p:nvGrpSpPr>
          <p:cNvPr id="45" name="Group 45"/>
          <p:cNvGrpSpPr/>
          <p:nvPr/>
        </p:nvGrpSpPr>
        <p:grpSpPr>
          <a:xfrm>
            <a:off x="374904" y="6461760"/>
            <a:ext cx="11442192" cy="234696"/>
            <a:chOff x="374904" y="6461760"/>
            <a:chExt cx="11442192" cy="234696"/>
          </a:xfrm>
        </p:grpSpPr>
        <p:sp>
          <p:nvSpPr>
            <p:cNvPr id="43" name="TextBox 43"/>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44" name="TextBox 44"/>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rgbClr val="A2701C"/>
            </a:solidFill>
            <a:ln>
              <a:noFill/>
            </a:ln>
          </p:spPr>
        </p:sp>
        <p:sp>
          <p:nvSpPr>
            <p:cNvPr id="3" name="TextBox 3"/>
            <p:cNvSpPr txBox="1"/>
            <p:nvPr/>
          </p:nvSpPr>
          <p:spPr>
            <a:xfrm>
              <a:off x="888168" y="568642"/>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j-lt"/>
                  <a:ea typeface="+mj-ea"/>
                  <a:cs typeface="+mj-cs"/>
                </a:rPr>
                <a:t>参考</a:t>
              </a:r>
            </a:p>
          </p:txBody>
        </p:sp>
        <p:sp>
          <p:nvSpPr>
            <p:cNvPr id="4" name="TextBox 4"/>
            <p:cNvSpPr txBox="1"/>
            <p:nvPr/>
          </p:nvSpPr>
          <p:spPr>
            <a:xfrm>
              <a:off x="1946148" y="479108"/>
              <a:ext cx="4863028"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この試作版で仮置きにした箇所</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chemeClr val="accent6"/>
              </a:solidFill>
            </a:ln>
          </p:spPr>
        </p:sp>
      </p:grpSp>
      <p:grpSp>
        <p:nvGrpSpPr>
          <p:cNvPr id="9" name="Group 9"/>
          <p:cNvGrpSpPr/>
          <p:nvPr/>
        </p:nvGrpSpPr>
        <p:grpSpPr>
          <a:xfrm>
            <a:off x="391219" y="1353383"/>
            <a:ext cx="7438255" cy="366451"/>
            <a:chOff x="391219" y="1353383"/>
            <a:chExt cx="7438255" cy="366451"/>
          </a:xfrm>
        </p:grpSpPr>
        <p:sp>
          <p:nvSpPr>
            <p:cNvPr id="7" name="Freeform 7"/>
            <p:cNvSpPr/>
            <p:nvPr/>
          </p:nvSpPr>
          <p:spPr>
            <a:xfrm>
              <a:off x="391219" y="1353383"/>
              <a:ext cx="265173" cy="230100"/>
            </a:xfrm>
            <a:custGeom>
              <a:avLst/>
              <a:gdLst/>
              <a:ahLst/>
              <a:cxnLst/>
              <a:rect l="l" t="t" r="r" b="b"/>
              <a:pathLst>
                <a:path w="265173" h="230100">
                  <a:moveTo>
                    <a:pt x="132656" y="0"/>
                  </a:moveTo>
                  <a:cubicBezTo>
                    <a:pt x="144026" y="0"/>
                    <a:pt x="154623" y="5560"/>
                    <a:pt x="161112" y="14847"/>
                  </a:cubicBezTo>
                  <a:lnTo>
                    <a:pt x="162362" y="16752"/>
                  </a:lnTo>
                  <a:lnTo>
                    <a:pt x="258969" y="178058"/>
                  </a:lnTo>
                  <a:cubicBezTo>
                    <a:pt x="264937" y="188394"/>
                    <a:pt x="265173" y="201073"/>
                    <a:pt x="259594" y="211624"/>
                  </a:cubicBezTo>
                  <a:cubicBezTo>
                    <a:pt x="254015" y="222175"/>
                    <a:pt x="243404" y="229118"/>
                    <a:pt x="231502" y="230005"/>
                  </a:cubicBezTo>
                  <a:lnTo>
                    <a:pt x="229180" y="230100"/>
                  </a:lnTo>
                  <a:lnTo>
                    <a:pt x="36001" y="230100"/>
                  </a:lnTo>
                  <a:cubicBezTo>
                    <a:pt x="24087" y="229966"/>
                    <a:pt x="13075" y="223728"/>
                    <a:pt x="6835" y="213578"/>
                  </a:cubicBezTo>
                  <a:cubicBezTo>
                    <a:pt x="595" y="203427"/>
                    <a:pt x="0" y="190785"/>
                    <a:pt x="5259" y="180094"/>
                  </a:cubicBezTo>
                  <a:lnTo>
                    <a:pt x="6438" y="177891"/>
                  </a:lnTo>
                  <a:lnTo>
                    <a:pt x="102997" y="16704"/>
                  </a:lnTo>
                  <a:cubicBezTo>
                    <a:pt x="109285" y="6336"/>
                    <a:pt x="120530" y="3"/>
                    <a:pt x="132656" y="0"/>
                  </a:cubicBezTo>
                  <a:close/>
                  <a:moveTo>
                    <a:pt x="132775" y="158710"/>
                  </a:moveTo>
                  <a:lnTo>
                    <a:pt x="131263" y="158794"/>
                  </a:lnTo>
                  <a:cubicBezTo>
                    <a:pt x="125273" y="159506"/>
                    <a:pt x="120763" y="164585"/>
                    <a:pt x="120763" y="170617"/>
                  </a:cubicBezTo>
                  <a:cubicBezTo>
                    <a:pt x="120763" y="176648"/>
                    <a:pt x="125273" y="181727"/>
                    <a:pt x="131263" y="182439"/>
                  </a:cubicBezTo>
                  <a:lnTo>
                    <a:pt x="132656" y="182523"/>
                  </a:lnTo>
                  <a:lnTo>
                    <a:pt x="134168" y="182439"/>
                  </a:lnTo>
                  <a:cubicBezTo>
                    <a:pt x="140157" y="181727"/>
                    <a:pt x="144668" y="176648"/>
                    <a:pt x="144668" y="170617"/>
                  </a:cubicBezTo>
                  <a:cubicBezTo>
                    <a:pt x="144668" y="164585"/>
                    <a:pt x="140157" y="159506"/>
                    <a:pt x="134168" y="158794"/>
                  </a:cubicBezTo>
                  <a:lnTo>
                    <a:pt x="132775" y="158710"/>
                  </a:lnTo>
                  <a:close/>
                  <a:moveTo>
                    <a:pt x="132656" y="75367"/>
                  </a:moveTo>
                  <a:cubicBezTo>
                    <a:pt x="126620" y="75367"/>
                    <a:pt x="121539" y="79885"/>
                    <a:pt x="120833" y="85880"/>
                  </a:cubicBezTo>
                  <a:lnTo>
                    <a:pt x="120750" y="87273"/>
                  </a:lnTo>
                  <a:lnTo>
                    <a:pt x="120750" y="134898"/>
                  </a:lnTo>
                  <a:lnTo>
                    <a:pt x="120833" y="136291"/>
                  </a:lnTo>
                  <a:cubicBezTo>
                    <a:pt x="121545" y="142280"/>
                    <a:pt x="126624" y="146791"/>
                    <a:pt x="132656" y="146791"/>
                  </a:cubicBezTo>
                  <a:cubicBezTo>
                    <a:pt x="138688" y="146791"/>
                    <a:pt x="143766" y="142280"/>
                    <a:pt x="144479" y="136291"/>
                  </a:cubicBezTo>
                  <a:lnTo>
                    <a:pt x="144562" y="134898"/>
                  </a:lnTo>
                  <a:lnTo>
                    <a:pt x="144562" y="87273"/>
                  </a:lnTo>
                  <a:lnTo>
                    <a:pt x="144479" y="85880"/>
                  </a:lnTo>
                  <a:cubicBezTo>
                    <a:pt x="143773" y="79885"/>
                    <a:pt x="138692" y="75367"/>
                    <a:pt x="132656" y="75367"/>
                  </a:cubicBezTo>
                  <a:close/>
                </a:path>
              </a:pathLst>
            </a:custGeom>
            <a:solidFill>
              <a:srgbClr val="A2701C"/>
            </a:solidFill>
            <a:ln>
              <a:noFill/>
            </a:ln>
          </p:spPr>
        </p:sp>
        <p:sp>
          <p:nvSpPr>
            <p:cNvPr id="8" name="TextBox 8"/>
            <p:cNvSpPr txBox="1"/>
            <p:nvPr/>
          </p:nvSpPr>
          <p:spPr>
            <a:xfrm>
              <a:off x="771906" y="1367790"/>
              <a:ext cx="70575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未確定は 6 点。いずれも本文の事実ではなく、名称と画面素材に関するものです。</a:t>
              </a:r>
            </a:p>
          </p:txBody>
        </p:sp>
      </p:grpSp>
      <p:grpSp>
        <p:nvGrpSpPr>
          <p:cNvPr id="22" name="Group 22"/>
          <p:cNvGrpSpPr/>
          <p:nvPr/>
        </p:nvGrpSpPr>
        <p:grpSpPr>
          <a:xfrm>
            <a:off x="381000" y="1828800"/>
            <a:ext cx="5600700" cy="3771900"/>
            <a:chOff x="381000" y="1828800"/>
            <a:chExt cx="5600700" cy="3771900"/>
          </a:xfrm>
        </p:grpSpPr>
        <p:sp>
          <p:nvSpPr>
            <p:cNvPr id="10" name="Rectangle 10"/>
            <p:cNvSpPr/>
            <p:nvPr/>
          </p:nvSpPr>
          <p:spPr>
            <a:xfrm>
              <a:off x="381000" y="1828800"/>
              <a:ext cx="5600700" cy="1143000"/>
            </a:xfrm>
            <a:prstGeom prst="roundRect">
              <a:avLst>
                <a:gd name="adj" fmla="val 13333"/>
              </a:avLst>
            </a:prstGeom>
            <a:solidFill>
              <a:schemeClr val="lt2"/>
            </a:solidFill>
            <a:ln>
              <a:noFill/>
            </a:ln>
          </p:spPr>
        </p:sp>
        <p:sp>
          <p:nvSpPr>
            <p:cNvPr id="11" name="Rectangle 11"/>
            <p:cNvSpPr/>
            <p:nvPr/>
          </p:nvSpPr>
          <p:spPr>
            <a:xfrm>
              <a:off x="381000" y="1828800"/>
              <a:ext cx="76200" cy="1143000"/>
            </a:xfrm>
            <a:prstGeom prst="roundRect">
              <a:avLst>
                <a:gd name="adj" fmla="val 50000"/>
              </a:avLst>
            </a:prstGeom>
            <a:solidFill>
              <a:srgbClr val="A2701C"/>
            </a:solidFill>
            <a:ln>
              <a:noFill/>
            </a:ln>
          </p:spPr>
        </p:sp>
        <p:sp>
          <p:nvSpPr>
            <p:cNvPr id="12" name="TextBox 12"/>
            <p:cNvSpPr txBox="1"/>
            <p:nvPr/>
          </p:nvSpPr>
          <p:spPr>
            <a:xfrm>
              <a:off x="676656" y="1977390"/>
              <a:ext cx="113778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1. 製品名</a:t>
              </a:r>
            </a:p>
          </p:txBody>
        </p:sp>
        <p:sp>
          <p:nvSpPr>
            <p:cNvPr id="13" name="TextBox 13"/>
            <p:cNvSpPr txBox="1"/>
            <p:nvPr/>
          </p:nvSpPr>
          <p:spPr>
            <a:xfrm>
              <a:off x="678942" y="2349818"/>
              <a:ext cx="4591431" cy="511683"/>
            </a:xfrm>
            <a:prstGeom prst="rect">
              <a:avLst/>
            </a:prstGeom>
            <a:noFill/>
            <a:ln>
              <a:noFill/>
            </a:ln>
          </p:spPr>
          <p:txBody>
            <a:bodyPr wrap="square" lIns="0" tIns="0" rIns="0" bIns="0" anchor="t" anchorCtr="0"/>
            <a:lstStyle/>
            <a:p>
              <a:pPr algn="l">
                <a:lnSpc>
                  <a:spcPts val="1950"/>
                </a:lnSpc>
              </a:pPr>
              <a:r>
                <a:rPr lang="zh-CN" sz="1350" dirty="0">
                  <a:solidFill>
                    <a:srgbClr val="5D6B7A"/>
                  </a:solidFill>
                  <a:latin typeface="+mn-lt"/>
                  <a:ea typeface="+mn-ea"/>
                  <a:cs typeface="+mn-cs"/>
                </a:rPr>
                <a:t>本書は「Macro Studio（仮称）」。アプリ画面・ロゴ・ログの保存先は MacroDesk のまま。改名時に画面写真の差し替えが必要。</a:t>
              </a:r>
            </a:p>
          </p:txBody>
        </p:sp>
        <p:sp>
          <p:nvSpPr>
            <p:cNvPr id="14" name="Rectangle 14"/>
            <p:cNvSpPr/>
            <p:nvPr/>
          </p:nvSpPr>
          <p:spPr>
            <a:xfrm>
              <a:off x="381000" y="3143250"/>
              <a:ext cx="5600700" cy="1143000"/>
            </a:xfrm>
            <a:prstGeom prst="roundRect">
              <a:avLst>
                <a:gd name="adj" fmla="val 13333"/>
              </a:avLst>
            </a:prstGeom>
            <a:solidFill>
              <a:schemeClr val="lt2"/>
            </a:solidFill>
            <a:ln>
              <a:noFill/>
            </a:ln>
          </p:spPr>
        </p:sp>
        <p:sp>
          <p:nvSpPr>
            <p:cNvPr id="15" name="Rectangle 15"/>
            <p:cNvSpPr/>
            <p:nvPr/>
          </p:nvSpPr>
          <p:spPr>
            <a:xfrm>
              <a:off x="381000" y="3143250"/>
              <a:ext cx="76200" cy="1143000"/>
            </a:xfrm>
            <a:prstGeom prst="roundRect">
              <a:avLst>
                <a:gd name="adj" fmla="val 50000"/>
              </a:avLst>
            </a:prstGeom>
            <a:solidFill>
              <a:srgbClr val="A2701C"/>
            </a:solidFill>
            <a:ln>
              <a:noFill/>
            </a:ln>
          </p:spPr>
        </p:sp>
        <p:sp>
          <p:nvSpPr>
            <p:cNvPr id="16" name="TextBox 16"/>
            <p:cNvSpPr txBox="1"/>
            <p:nvPr/>
          </p:nvSpPr>
          <p:spPr>
            <a:xfrm>
              <a:off x="676656" y="3291840"/>
              <a:ext cx="139222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2. 画面写真</a:t>
              </a:r>
            </a:p>
          </p:txBody>
        </p:sp>
        <p:sp>
          <p:nvSpPr>
            <p:cNvPr id="17" name="TextBox 17"/>
            <p:cNvSpPr txBox="1"/>
            <p:nvPr/>
          </p:nvSpPr>
          <p:spPr>
            <a:xfrm>
              <a:off x="678942" y="3664268"/>
              <a:ext cx="3871341" cy="511683"/>
            </a:xfrm>
            <a:prstGeom prst="rect">
              <a:avLst/>
            </a:prstGeom>
            <a:noFill/>
            <a:ln>
              <a:noFill/>
            </a:ln>
          </p:spPr>
          <p:txBody>
            <a:bodyPr wrap="square" lIns="0" tIns="0" rIns="0" bIns="0" anchor="t" anchorCtr="0"/>
            <a:lstStyle/>
            <a:p>
              <a:pPr algn="l">
                <a:lnSpc>
                  <a:spcPts val="1950"/>
                </a:lnSpc>
              </a:pPr>
              <a:r>
                <a:rPr lang="zh-CN" sz="1350" dirty="0">
                  <a:solidFill>
                    <a:srgbClr val="5D6B7A"/>
                  </a:solidFill>
                  <a:latin typeface="+mn-lt"/>
                  <a:ea typeface="+mn-ea"/>
                  <a:cs typeface="+mn-cs"/>
                </a:rPr>
                <a:t>アプリ同梱のデモ用データを表示した現行 UI。ブック名・行数・日時はデモ用の値。UI デザインは開発中のため細部は変わりうる。</a:t>
              </a:r>
            </a:p>
          </p:txBody>
        </p:sp>
        <p:sp>
          <p:nvSpPr>
            <p:cNvPr id="18" name="Rectangle 18"/>
            <p:cNvSpPr/>
            <p:nvPr/>
          </p:nvSpPr>
          <p:spPr>
            <a:xfrm>
              <a:off x="381000" y="4457700"/>
              <a:ext cx="5600700" cy="1143000"/>
            </a:xfrm>
            <a:prstGeom prst="roundRect">
              <a:avLst>
                <a:gd name="adj" fmla="val 13333"/>
              </a:avLst>
            </a:prstGeom>
            <a:solidFill>
              <a:schemeClr val="lt2"/>
            </a:solidFill>
            <a:ln>
              <a:noFill/>
            </a:ln>
          </p:spPr>
        </p:sp>
        <p:sp>
          <p:nvSpPr>
            <p:cNvPr id="19" name="Rectangle 19"/>
            <p:cNvSpPr/>
            <p:nvPr/>
          </p:nvSpPr>
          <p:spPr>
            <a:xfrm>
              <a:off x="381000" y="4457700"/>
              <a:ext cx="76200" cy="1143000"/>
            </a:xfrm>
            <a:prstGeom prst="roundRect">
              <a:avLst>
                <a:gd name="adj" fmla="val 50000"/>
              </a:avLst>
            </a:prstGeom>
            <a:solidFill>
              <a:srgbClr val="A2701C"/>
            </a:solidFill>
            <a:ln>
              <a:noFill/>
            </a:ln>
          </p:spPr>
        </p:sp>
        <p:sp>
          <p:nvSpPr>
            <p:cNvPr id="20" name="TextBox 20"/>
            <p:cNvSpPr txBox="1"/>
            <p:nvPr/>
          </p:nvSpPr>
          <p:spPr>
            <a:xfrm>
              <a:off x="676656" y="4606290"/>
              <a:ext cx="224960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3. AI チャット側の画面</a:t>
              </a:r>
            </a:p>
          </p:txBody>
        </p:sp>
        <p:sp>
          <p:nvSpPr>
            <p:cNvPr id="21" name="TextBox 21"/>
            <p:cNvSpPr txBox="1"/>
            <p:nvPr/>
          </p:nvSpPr>
          <p:spPr>
            <a:xfrm>
              <a:off x="678942" y="4978718"/>
              <a:ext cx="3751326" cy="511683"/>
            </a:xfrm>
            <a:prstGeom prst="rect">
              <a:avLst/>
            </a:prstGeom>
            <a:noFill/>
            <a:ln>
              <a:noFill/>
            </a:ln>
          </p:spPr>
          <p:txBody>
            <a:bodyPr wrap="square" lIns="0" tIns="0" rIns="0" bIns="0" anchor="t" anchorCtr="0"/>
            <a:lstStyle/>
            <a:p>
              <a:pPr algn="l">
                <a:lnSpc>
                  <a:spcPts val="1950"/>
                </a:lnSpc>
              </a:pPr>
              <a:r>
                <a:rPr lang="zh-CN" sz="1350" dirty="0">
                  <a:solidFill>
                    <a:srgbClr val="5D6B7A"/>
                  </a:solidFill>
                  <a:latin typeface="+mn-lt"/>
                  <a:ea typeface="+mn-ea"/>
                  <a:cs typeface="+mn-cs"/>
                </a:rPr>
                <a:t>外部サービスのためツールの管轄外。正確な素材を用意できず、模式図で代替（手順 2 の続きのページ）。</a:t>
              </a:r>
            </a:p>
          </p:txBody>
        </p:sp>
      </p:grpSp>
      <p:grpSp>
        <p:nvGrpSpPr>
          <p:cNvPr id="35" name="Group 35"/>
          <p:cNvGrpSpPr/>
          <p:nvPr/>
        </p:nvGrpSpPr>
        <p:grpSpPr>
          <a:xfrm>
            <a:off x="6210300" y="1828800"/>
            <a:ext cx="5600700" cy="3771900"/>
            <a:chOff x="6210300" y="1828800"/>
            <a:chExt cx="5600700" cy="3771900"/>
          </a:xfrm>
        </p:grpSpPr>
        <p:sp>
          <p:nvSpPr>
            <p:cNvPr id="23" name="Rectangle 23"/>
            <p:cNvSpPr/>
            <p:nvPr/>
          </p:nvSpPr>
          <p:spPr>
            <a:xfrm>
              <a:off x="6210300" y="1828800"/>
              <a:ext cx="5600700" cy="1143000"/>
            </a:xfrm>
            <a:prstGeom prst="roundRect">
              <a:avLst>
                <a:gd name="adj" fmla="val 13333"/>
              </a:avLst>
            </a:prstGeom>
            <a:solidFill>
              <a:schemeClr val="lt2"/>
            </a:solidFill>
            <a:ln>
              <a:noFill/>
            </a:ln>
          </p:spPr>
        </p:sp>
        <p:sp>
          <p:nvSpPr>
            <p:cNvPr id="24" name="Rectangle 24"/>
            <p:cNvSpPr/>
            <p:nvPr/>
          </p:nvSpPr>
          <p:spPr>
            <a:xfrm>
              <a:off x="6210300" y="1828800"/>
              <a:ext cx="76200" cy="1143000"/>
            </a:xfrm>
            <a:prstGeom prst="roundRect">
              <a:avLst>
                <a:gd name="adj" fmla="val 50000"/>
              </a:avLst>
            </a:prstGeom>
            <a:solidFill>
              <a:srgbClr val="A2701C"/>
            </a:solidFill>
            <a:ln>
              <a:noFill/>
            </a:ln>
          </p:spPr>
        </p:sp>
        <p:sp>
          <p:nvSpPr>
            <p:cNvPr id="25" name="TextBox 25"/>
            <p:cNvSpPr txBox="1"/>
            <p:nvPr/>
          </p:nvSpPr>
          <p:spPr>
            <a:xfrm>
              <a:off x="6505956" y="1977390"/>
              <a:ext cx="338950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4. 手動修正・新規モジュールの画面</a:t>
              </a:r>
            </a:p>
          </p:txBody>
        </p:sp>
        <p:sp>
          <p:nvSpPr>
            <p:cNvPr id="26" name="TextBox 26"/>
            <p:cNvSpPr txBox="1"/>
            <p:nvPr/>
          </p:nvSpPr>
          <p:spPr>
            <a:xfrm>
              <a:off x="6508242" y="2349818"/>
              <a:ext cx="4811573"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画面内の一時的な状態のため素材が未整備。文章と模式図で代替。</a:t>
              </a:r>
            </a:p>
          </p:txBody>
        </p:sp>
        <p:sp>
          <p:nvSpPr>
            <p:cNvPr id="27" name="Rectangle 27"/>
            <p:cNvSpPr/>
            <p:nvPr/>
          </p:nvSpPr>
          <p:spPr>
            <a:xfrm>
              <a:off x="6210300" y="3143250"/>
              <a:ext cx="5600700" cy="1143000"/>
            </a:xfrm>
            <a:prstGeom prst="roundRect">
              <a:avLst>
                <a:gd name="adj" fmla="val 13333"/>
              </a:avLst>
            </a:prstGeom>
            <a:solidFill>
              <a:schemeClr val="lt2"/>
            </a:solidFill>
            <a:ln>
              <a:noFill/>
            </a:ln>
          </p:spPr>
        </p:sp>
        <p:sp>
          <p:nvSpPr>
            <p:cNvPr id="28" name="Rectangle 28"/>
            <p:cNvSpPr/>
            <p:nvPr/>
          </p:nvSpPr>
          <p:spPr>
            <a:xfrm>
              <a:off x="6210300" y="3143250"/>
              <a:ext cx="76200" cy="1143000"/>
            </a:xfrm>
            <a:prstGeom prst="roundRect">
              <a:avLst>
                <a:gd name="adj" fmla="val 50000"/>
              </a:avLst>
            </a:prstGeom>
            <a:solidFill>
              <a:srgbClr val="A2701C"/>
            </a:solidFill>
            <a:ln>
              <a:noFill/>
            </a:ln>
          </p:spPr>
        </p:sp>
        <p:sp>
          <p:nvSpPr>
            <p:cNvPr id="29" name="TextBox 29"/>
            <p:cNvSpPr txBox="1"/>
            <p:nvPr/>
          </p:nvSpPr>
          <p:spPr>
            <a:xfrm>
              <a:off x="6505956" y="3291840"/>
              <a:ext cx="169753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5. 出力ファイル名</a:t>
              </a:r>
            </a:p>
          </p:txBody>
        </p:sp>
        <p:sp>
          <p:nvSpPr>
            <p:cNvPr id="30" name="TextBox 30"/>
            <p:cNvSpPr txBox="1"/>
            <p:nvPr/>
          </p:nvSpPr>
          <p:spPr>
            <a:xfrm>
              <a:off x="6508242" y="3664268"/>
              <a:ext cx="4334256" cy="511683"/>
            </a:xfrm>
            <a:prstGeom prst="rect">
              <a:avLst/>
            </a:prstGeom>
            <a:noFill/>
            <a:ln>
              <a:noFill/>
            </a:ln>
          </p:spPr>
          <p:txBody>
            <a:bodyPr wrap="square" lIns="0" tIns="0" rIns="0" bIns="0" anchor="t" anchorCtr="0"/>
            <a:lstStyle/>
            <a:p>
              <a:pPr algn="l">
                <a:lnSpc>
                  <a:spcPts val="1950"/>
                </a:lnSpc>
              </a:pPr>
              <a:r>
                <a:rPr lang="zh-CN" sz="1350" dirty="0">
                  <a:solidFill>
                    <a:srgbClr val="5D6B7A"/>
                  </a:solidFill>
                  <a:latin typeface="+mn-lt"/>
                  <a:ea typeface="+mn-ea"/>
                  <a:cs typeface="+mn-cs"/>
                </a:rPr>
                <a:t>現行実装の「_macrodesk」を正とした。仕様書には旧案が残って</a:t>
              </a:r>
              <a:r>
                <a:rPr lang="en-US" sz="1350" dirty="0">
                  <a:solidFill>
                    <a:srgbClr val="5D6B7A"/>
                  </a:solidFill>
                  <a:latin typeface="+mn-lt"/>
                  <a:ea typeface="+mn-ea"/>
                  <a:cs typeface="+mn-cs"/>
                </a:rPr>
                <a:t xml:space="preserve"> </a:t>
              </a:r>
              <a:r>
                <a:rPr lang="zh-CN" sz="1350" dirty="0">
                  <a:solidFill>
                    <a:srgbClr val="5D6B7A"/>
                  </a:solidFill>
                  <a:latin typeface="+mn-lt"/>
                  <a:ea typeface="+mn-ea"/>
                  <a:cs typeface="+mn-cs"/>
                </a:rPr>
                <a:t>おり、実装と文書が一致していない。</a:t>
              </a:r>
            </a:p>
          </p:txBody>
        </p:sp>
        <p:sp>
          <p:nvSpPr>
            <p:cNvPr id="31" name="Rectangle 31"/>
            <p:cNvSpPr/>
            <p:nvPr/>
          </p:nvSpPr>
          <p:spPr>
            <a:xfrm>
              <a:off x="6210300" y="4457700"/>
              <a:ext cx="5600700" cy="1143000"/>
            </a:xfrm>
            <a:prstGeom prst="roundRect">
              <a:avLst>
                <a:gd name="adj" fmla="val 13333"/>
              </a:avLst>
            </a:prstGeom>
            <a:solidFill>
              <a:schemeClr val="lt2"/>
            </a:solidFill>
            <a:ln>
              <a:noFill/>
            </a:ln>
          </p:spPr>
        </p:sp>
        <p:sp>
          <p:nvSpPr>
            <p:cNvPr id="32" name="Rectangle 32"/>
            <p:cNvSpPr/>
            <p:nvPr/>
          </p:nvSpPr>
          <p:spPr>
            <a:xfrm>
              <a:off x="6210300" y="4457700"/>
              <a:ext cx="76200" cy="1143000"/>
            </a:xfrm>
            <a:prstGeom prst="roundRect">
              <a:avLst>
                <a:gd name="adj" fmla="val 50000"/>
              </a:avLst>
            </a:prstGeom>
            <a:solidFill>
              <a:srgbClr val="A2701C"/>
            </a:solidFill>
            <a:ln>
              <a:noFill/>
            </a:ln>
          </p:spPr>
        </p:sp>
        <p:sp>
          <p:nvSpPr>
            <p:cNvPr id="33" name="TextBox 33"/>
            <p:cNvSpPr txBox="1"/>
            <p:nvPr/>
          </p:nvSpPr>
          <p:spPr>
            <a:xfrm>
              <a:off x="6505956" y="4606290"/>
              <a:ext cx="90879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j-lt"/>
                  <a:ea typeface="+mj-ea"/>
                  <a:cs typeface="+mj-cs"/>
                </a:rPr>
                <a:t>6. ひな形</a:t>
              </a:r>
            </a:p>
          </p:txBody>
        </p:sp>
        <p:sp>
          <p:nvSpPr>
            <p:cNvPr id="34" name="TextBox 34"/>
            <p:cNvSpPr txBox="1"/>
            <p:nvPr/>
          </p:nvSpPr>
          <p:spPr>
            <a:xfrm>
              <a:off x="6508242" y="4978718"/>
              <a:ext cx="4193667"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同梱は「新端末移行」の 1 件のみ。運用時に増える想定。</a:t>
              </a:r>
            </a:p>
          </p:txBody>
        </p:sp>
      </p:grpSp>
      <p:grpSp>
        <p:nvGrpSpPr>
          <p:cNvPr id="38" name="Group 38"/>
          <p:cNvGrpSpPr/>
          <p:nvPr/>
        </p:nvGrpSpPr>
        <p:grpSpPr>
          <a:xfrm>
            <a:off x="381000" y="5753100"/>
            <a:ext cx="11430000" cy="457200"/>
            <a:chOff x="381000" y="5753100"/>
            <a:chExt cx="11430000" cy="457200"/>
          </a:xfrm>
        </p:grpSpPr>
        <p:sp>
          <p:nvSpPr>
            <p:cNvPr id="36" name="Rectangle 36"/>
            <p:cNvSpPr/>
            <p:nvPr/>
          </p:nvSpPr>
          <p:spPr>
            <a:xfrm>
              <a:off x="381000" y="5753100"/>
              <a:ext cx="11430000" cy="457200"/>
            </a:xfrm>
            <a:prstGeom prst="roundRect">
              <a:avLst>
                <a:gd name="adj" fmla="val 29167"/>
              </a:avLst>
            </a:prstGeom>
            <a:solidFill>
              <a:schemeClr val="accent1"/>
            </a:solidFill>
            <a:ln>
              <a:noFill/>
            </a:ln>
          </p:spPr>
        </p:sp>
        <p:sp>
          <p:nvSpPr>
            <p:cNvPr id="37" name="TextBox 37"/>
            <p:cNvSpPr txBox="1"/>
            <p:nvPr/>
          </p:nvSpPr>
          <p:spPr>
            <a:xfrm>
              <a:off x="2225853" y="5854065"/>
              <a:ext cx="7740293"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j-lt"/>
                  <a:ea typeface="+mj-ea"/>
                  <a:cs typeface="+mj-cs"/>
                </a:rPr>
                <a:t>確定後、この試作を配布用マニュアルと社内展開資料の下敷きとして再利用します。</a:t>
              </a:r>
            </a:p>
          </p:txBody>
        </p:sp>
      </p:grpSp>
      <p:grpSp>
        <p:nvGrpSpPr>
          <p:cNvPr id="41" name="Group 41"/>
          <p:cNvGrpSpPr/>
          <p:nvPr/>
        </p:nvGrpSpPr>
        <p:grpSpPr>
          <a:xfrm>
            <a:off x="374904" y="6461760"/>
            <a:ext cx="11442192" cy="234696"/>
            <a:chOff x="374904" y="6461760"/>
            <a:chExt cx="11442192" cy="234696"/>
          </a:xfrm>
        </p:grpSpPr>
        <p:sp>
          <p:nvSpPr>
            <p:cNvPr id="39" name="TextBox 39"/>
            <p:cNvSpPr txBox="1"/>
            <p:nvPr/>
          </p:nvSpPr>
          <p:spPr>
            <a:xfrm>
              <a:off x="374904" y="6461760"/>
              <a:ext cx="30070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Macro Studio（仮称）操作マニュアル 試作版</a:t>
              </a:r>
            </a:p>
          </p:txBody>
        </p:sp>
        <p:sp>
          <p:nvSpPr>
            <p:cNvPr id="40" name="TextBox 40"/>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D6B7A"/>
                  </a:solidFill>
                  <a:latin typeface="+mn-lt"/>
                  <a:ea typeface="+mn-ea"/>
                  <a:cs typeface="+mn-cs"/>
                </a:rPr>
                <a:t>21</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nual-prototype-macro-studio">
  <a:themeElements>
    <a:clrScheme name="manual-prototype-macro-studio">
      <a:dk1>
        <a:srgbClr val="1F2A37"/>
      </a:dk1>
      <a:lt1>
        <a:srgbClr val="FFFFFF"/>
      </a:lt1>
      <a:dk2>
        <a:srgbClr val="1F2A37"/>
      </a:dk2>
      <a:lt2>
        <a:srgbClr val="F2F6FB"/>
      </a:lt2>
      <a:accent1>
        <a:srgbClr val="2B5C96"/>
      </a:accent1>
      <a:accent2>
        <a:srgbClr val="4C9155"/>
      </a:accent2>
      <a:accent3>
        <a:srgbClr val="C25560"/>
      </a:accent3>
      <a:accent4>
        <a:srgbClr val="2B5C96"/>
      </a:accent4>
      <a:accent5>
        <a:srgbClr val="F4F6F8"/>
      </a:accent5>
      <a:accent6>
        <a:srgbClr val="E2E7EC"/>
      </a:accent6>
      <a:hlink>
        <a:srgbClr val="4C9155"/>
      </a:hlink>
      <a:folHlink>
        <a:srgbClr val="C25560"/>
      </a:folHlink>
    </a:clrScheme>
    <a:fontScheme name="manual-prototype-macro-studio">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eiryo"/>
        <a:cs typeface="Segoe UI"/>
        <a:font script="Jpan" typeface="Meiryo"/>
        <a:font script="Hang" typeface="Meiryo"/>
        <a:font script="Hans" typeface="Meiryo"/>
        <a:font script="Hant" typeface="Meiryo"/>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prototype-macro-stud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nual-prototype-macro-studio">
  <a:themeElements>
    <a:clrScheme name="manual-prototype-macro-studio">
      <a:dk1>
        <a:srgbClr val="1F2A37"/>
      </a:dk1>
      <a:lt1>
        <a:srgbClr val="FFFFFF"/>
      </a:lt1>
      <a:dk2>
        <a:srgbClr val="1F2A37"/>
      </a:dk2>
      <a:lt2>
        <a:srgbClr val="F2F6FB"/>
      </a:lt2>
      <a:accent1>
        <a:srgbClr val="2B5C96"/>
      </a:accent1>
      <a:accent2>
        <a:srgbClr val="4C9155"/>
      </a:accent2>
      <a:accent3>
        <a:srgbClr val="C25560"/>
      </a:accent3>
      <a:accent4>
        <a:srgbClr val="2B5C96"/>
      </a:accent4>
      <a:accent5>
        <a:srgbClr val="F4F6F8"/>
      </a:accent5>
      <a:accent6>
        <a:srgbClr val="E2E7EC"/>
      </a:accent6>
      <a:hlink>
        <a:srgbClr val="4C9155"/>
      </a:hlink>
      <a:folHlink>
        <a:srgbClr val="C25560"/>
      </a:folHlink>
    </a:clrScheme>
    <a:fontScheme name="manual-prototype-macro-studio">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eiryo"/>
        <a:cs typeface="Segoe UI"/>
        <a:font script="Jpan" typeface="Meiryo"/>
        <a:font script="Hang" typeface="Meiryo"/>
        <a:font script="Hans" typeface="Meiryo"/>
        <a:font script="Hant" typeface="Meiryo"/>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prototype-macro-stud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2026-07-29T12:34:57Z</dcterms:created>
  <dcterms:modified xsi:type="dcterms:W3CDTF">2026-07-29T12:34:57Z</dcterms:modified>
  <cp:category/>
  <cp:contentStatus/>
</cp:coreProperties>
</file>